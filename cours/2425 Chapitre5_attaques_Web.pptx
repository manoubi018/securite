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5"/>
  </p:notesMasterIdLst>
  <p:sldIdLst>
    <p:sldId id="256" r:id="rId2"/>
    <p:sldId id="257" r:id="rId3"/>
    <p:sldId id="259" r:id="rId4"/>
    <p:sldId id="260" r:id="rId5"/>
    <p:sldId id="261" r:id="rId6"/>
    <p:sldId id="262" r:id="rId7"/>
    <p:sldId id="263" r:id="rId8"/>
    <p:sldId id="264" r:id="rId9"/>
    <p:sldId id="265" r:id="rId10"/>
    <p:sldId id="266" r:id="rId11"/>
    <p:sldId id="267" r:id="rId12"/>
    <p:sldId id="280" r:id="rId13"/>
    <p:sldId id="269" r:id="rId14"/>
    <p:sldId id="270" r:id="rId15"/>
    <p:sldId id="271" r:id="rId16"/>
    <p:sldId id="272" r:id="rId17"/>
    <p:sldId id="273" r:id="rId18"/>
    <p:sldId id="274" r:id="rId19"/>
    <p:sldId id="275" r:id="rId20"/>
    <p:sldId id="276" r:id="rId21"/>
    <p:sldId id="277" r:id="rId22"/>
    <p:sldId id="278" r:id="rId23"/>
    <p:sldId id="279" r:id="rId24"/>
  </p:sldIdLst>
  <p:sldSz cx="9144000" cy="5715000" type="screen16x10"/>
  <p:notesSz cx="6858000" cy="9144000"/>
  <p:embeddedFontLst>
    <p:embeddedFont>
      <p:font typeface="Raleway Black" pitchFamily="2" charset="0"/>
      <p:bold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80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290" autoAdjust="0"/>
  </p:normalViewPr>
  <p:slideViewPr>
    <p:cSldViewPr snapToGrid="0">
      <p:cViewPr varScale="1">
        <p:scale>
          <a:sx n="71" d="100"/>
          <a:sy n="71" d="100"/>
        </p:scale>
        <p:origin x="1944" y="60"/>
      </p:cViewPr>
      <p:guideLst>
        <p:guide orient="horz" pos="180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p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p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1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1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annexe détaille les Top 10 des attaques web, à partir desquelles chaque groupe d’étudiants choisit deux attaques à réaliser et fera les recherches supplémentaires pour ces réalisations.</a:t>
            </a:r>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63201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Reg </a:t>
            </a:r>
            <a:r>
              <a:rPr lang="fr-FR" dirty="0" err="1"/>
              <a:t>Exp</a:t>
            </a:r>
            <a:r>
              <a:rPr lang="fr-FR" dirty="0"/>
              <a:t> : Regular Expression</a:t>
            </a:r>
          </a:p>
          <a:p>
            <a:pPr marL="0" lvl="0" indent="0" algn="l" rtl="0">
              <a:lnSpc>
                <a:spcPct val="100000"/>
              </a:lnSpc>
              <a:spcBef>
                <a:spcPts val="0"/>
              </a:spcBef>
              <a:spcAft>
                <a:spcPts val="0"/>
              </a:spcAft>
              <a:buSzPts val="1400"/>
              <a:buNone/>
            </a:pPr>
            <a:r>
              <a:rPr lang="fr-FR" dirty="0" err="1"/>
              <a:t>Prepared</a:t>
            </a:r>
            <a:r>
              <a:rPr lang="fr-FR" dirty="0"/>
              <a:t> </a:t>
            </a:r>
            <a:r>
              <a:rPr lang="fr-FR" dirty="0" err="1"/>
              <a:t>Statement</a:t>
            </a:r>
            <a:r>
              <a:rPr lang="fr-FR" dirty="0"/>
              <a:t> https://www.w3schools.com/php/php_mysql_prepared_statements.asp </a:t>
            </a:r>
          </a:p>
          <a:p>
            <a:pPr marL="0" lvl="0" indent="0" algn="l" rtl="0">
              <a:lnSpc>
                <a:spcPct val="100000"/>
              </a:lnSpc>
              <a:spcBef>
                <a:spcPts val="0"/>
              </a:spcBef>
              <a:spcAft>
                <a:spcPts val="0"/>
              </a:spcAft>
              <a:buSzPts val="1400"/>
              <a:buNone/>
            </a:pPr>
            <a:endParaRPr dirty="0"/>
          </a:p>
        </p:txBody>
      </p:sp>
      <p:sp>
        <p:nvSpPr>
          <p:cNvPr id="235" name="Google Shape;235;p1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1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1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1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p1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0" name="Google Shape;270;p1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7" name="Google Shape;277;p2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2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2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2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2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143000" y="935302"/>
            <a:ext cx="6858000" cy="198966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143000" y="3001698"/>
            <a:ext cx="6858000" cy="137980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628650" y="1521354"/>
            <a:ext cx="7886700" cy="362611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629841" y="304272"/>
            <a:ext cx="7886700" cy="11046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629842" y="1400969"/>
            <a:ext cx="3868340" cy="68659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 name="Google Shape;30;p4"/>
          <p:cNvSpPr txBox="1">
            <a:spLocks noGrp="1"/>
          </p:cNvSpPr>
          <p:nvPr>
            <p:ph type="body" idx="2"/>
          </p:nvPr>
        </p:nvSpPr>
        <p:spPr>
          <a:xfrm>
            <a:off x="629842" y="2087563"/>
            <a:ext cx="3868340" cy="307049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4"/>
          <p:cNvSpPr txBox="1">
            <a:spLocks noGrp="1"/>
          </p:cNvSpPr>
          <p:nvPr>
            <p:ph type="body" idx="3"/>
          </p:nvPr>
        </p:nvSpPr>
        <p:spPr>
          <a:xfrm>
            <a:off x="4629151" y="1400969"/>
            <a:ext cx="3887391" cy="68659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2" name="Google Shape;32;p4"/>
          <p:cNvSpPr txBox="1">
            <a:spLocks noGrp="1"/>
          </p:cNvSpPr>
          <p:nvPr>
            <p:ph type="body" idx="4"/>
          </p:nvPr>
        </p:nvSpPr>
        <p:spPr>
          <a:xfrm>
            <a:off x="4629151" y="2087563"/>
            <a:ext cx="3887391" cy="307049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Only">
  <p:cSld name="Title Only">
    <p:bg>
      <p:bgPr>
        <a:solidFill>
          <a:schemeClr val="lt1"/>
        </a:solidFill>
        <a:effectLst/>
      </p:bgPr>
    </p:bg>
    <p:spTree>
      <p:nvGrpSpPr>
        <p:cNvPr id="1" name="Shape 36"/>
        <p:cNvGrpSpPr/>
        <p:nvPr/>
      </p:nvGrpSpPr>
      <p:grpSpPr>
        <a:xfrm>
          <a:off x="0" y="0"/>
          <a:ext cx="0" cy="0"/>
          <a:chOff x="0" y="0"/>
          <a:chExt cx="0" cy="0"/>
        </a:xfrm>
      </p:grpSpPr>
      <p:sp>
        <p:nvSpPr>
          <p:cNvPr id="37" name="Google Shape;37;p5"/>
          <p:cNvSpPr txBox="1">
            <a:spLocks noGrp="1"/>
          </p:cNvSpPr>
          <p:nvPr>
            <p:ph type="title"/>
          </p:nvPr>
        </p:nvSpPr>
        <p:spPr>
          <a:xfrm>
            <a:off x="628650" y="304272"/>
            <a:ext cx="7886700" cy="1104636"/>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rgbClr val="365F92"/>
              </a:buClr>
              <a:buSzPts val="3600"/>
              <a:buFont typeface="Calibri"/>
              <a:buNone/>
              <a:defRPr sz="3600" b="1" i="0">
                <a:solidFill>
                  <a:srgbClr val="365F9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028950" y="5296960"/>
            <a:ext cx="3086100" cy="304271"/>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dt" idx="10"/>
          </p:nvPr>
        </p:nvSpPr>
        <p:spPr>
          <a:xfrm>
            <a:off x="628650" y="5296960"/>
            <a:ext cx="2057400" cy="304271"/>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6457950" y="5296960"/>
            <a:ext cx="2057400" cy="304271"/>
          </a:xfrm>
          <a:prstGeom prst="rect">
            <a:avLst/>
          </a:prstGeom>
          <a:noFill/>
          <a:ln>
            <a:noFill/>
          </a:ln>
        </p:spPr>
        <p:txBody>
          <a:bodyPr spcFirstLastPara="1" wrap="square" lIns="0" tIns="0" rIns="0" bIns="0" anchor="ctr" anchorCtr="0">
            <a:noAutofit/>
          </a:bodyPr>
          <a:lstStyle>
            <a:lvl1pPr marL="20678" marR="0" lvl="0" indent="0" algn="r">
              <a:lnSpc>
                <a:spcPct val="109100"/>
              </a:lnSpc>
              <a:spcBef>
                <a:spcPts val="0"/>
              </a:spcBef>
              <a:spcAft>
                <a:spcPts val="0"/>
              </a:spcAft>
              <a:buClr>
                <a:srgbClr val="000000"/>
              </a:buClr>
              <a:buSzPts val="1000"/>
              <a:buFont typeface="Arial"/>
              <a:buNone/>
              <a:defRPr sz="1000" b="0" i="0" u="none" strike="noStrike" cap="none">
                <a:solidFill>
                  <a:srgbClr val="898989"/>
                </a:solidFill>
                <a:latin typeface="Arial"/>
                <a:ea typeface="Arial"/>
                <a:cs typeface="Arial"/>
                <a:sym typeface="Arial"/>
              </a:defRPr>
            </a:lvl1pPr>
            <a:lvl2pPr marL="20678" marR="0" lvl="1" indent="0" algn="r">
              <a:lnSpc>
                <a:spcPct val="109100"/>
              </a:lnSpc>
              <a:spcBef>
                <a:spcPts val="0"/>
              </a:spcBef>
              <a:spcAft>
                <a:spcPts val="0"/>
              </a:spcAft>
              <a:buClr>
                <a:srgbClr val="000000"/>
              </a:buClr>
              <a:buSzPts val="1000"/>
              <a:buFont typeface="Arial"/>
              <a:buNone/>
              <a:defRPr sz="1000" b="0" i="0" u="none" strike="noStrike" cap="none">
                <a:solidFill>
                  <a:srgbClr val="898989"/>
                </a:solidFill>
                <a:latin typeface="Arial"/>
                <a:ea typeface="Arial"/>
                <a:cs typeface="Arial"/>
                <a:sym typeface="Arial"/>
              </a:defRPr>
            </a:lvl2pPr>
            <a:lvl3pPr marL="20678" marR="0" lvl="2" indent="0" algn="r">
              <a:lnSpc>
                <a:spcPct val="109100"/>
              </a:lnSpc>
              <a:spcBef>
                <a:spcPts val="0"/>
              </a:spcBef>
              <a:spcAft>
                <a:spcPts val="0"/>
              </a:spcAft>
              <a:buClr>
                <a:srgbClr val="000000"/>
              </a:buClr>
              <a:buSzPts val="1000"/>
              <a:buFont typeface="Arial"/>
              <a:buNone/>
              <a:defRPr sz="1000" b="0" i="0" u="none" strike="noStrike" cap="none">
                <a:solidFill>
                  <a:srgbClr val="898989"/>
                </a:solidFill>
                <a:latin typeface="Arial"/>
                <a:ea typeface="Arial"/>
                <a:cs typeface="Arial"/>
                <a:sym typeface="Arial"/>
              </a:defRPr>
            </a:lvl3pPr>
            <a:lvl4pPr marL="20678" marR="0" lvl="3" indent="0" algn="r">
              <a:lnSpc>
                <a:spcPct val="109100"/>
              </a:lnSpc>
              <a:spcBef>
                <a:spcPts val="0"/>
              </a:spcBef>
              <a:spcAft>
                <a:spcPts val="0"/>
              </a:spcAft>
              <a:buClr>
                <a:srgbClr val="000000"/>
              </a:buClr>
              <a:buSzPts val="1000"/>
              <a:buFont typeface="Arial"/>
              <a:buNone/>
              <a:defRPr sz="1000" b="0" i="0" u="none" strike="noStrike" cap="none">
                <a:solidFill>
                  <a:srgbClr val="898989"/>
                </a:solidFill>
                <a:latin typeface="Arial"/>
                <a:ea typeface="Arial"/>
                <a:cs typeface="Arial"/>
                <a:sym typeface="Arial"/>
              </a:defRPr>
            </a:lvl4pPr>
            <a:lvl5pPr marL="20678" marR="0" lvl="4" indent="0" algn="r">
              <a:lnSpc>
                <a:spcPct val="109100"/>
              </a:lnSpc>
              <a:spcBef>
                <a:spcPts val="0"/>
              </a:spcBef>
              <a:spcAft>
                <a:spcPts val="0"/>
              </a:spcAft>
              <a:buClr>
                <a:srgbClr val="000000"/>
              </a:buClr>
              <a:buSzPts val="1000"/>
              <a:buFont typeface="Arial"/>
              <a:buNone/>
              <a:defRPr sz="1000" b="0" i="0" u="none" strike="noStrike" cap="none">
                <a:solidFill>
                  <a:srgbClr val="898989"/>
                </a:solidFill>
                <a:latin typeface="Arial"/>
                <a:ea typeface="Arial"/>
                <a:cs typeface="Arial"/>
                <a:sym typeface="Arial"/>
              </a:defRPr>
            </a:lvl5pPr>
            <a:lvl6pPr marL="20678" marR="0" lvl="5" indent="0" algn="r">
              <a:lnSpc>
                <a:spcPct val="109100"/>
              </a:lnSpc>
              <a:spcBef>
                <a:spcPts val="0"/>
              </a:spcBef>
              <a:spcAft>
                <a:spcPts val="0"/>
              </a:spcAft>
              <a:buClr>
                <a:srgbClr val="000000"/>
              </a:buClr>
              <a:buSzPts val="1000"/>
              <a:buFont typeface="Arial"/>
              <a:buNone/>
              <a:defRPr sz="1000" b="0" i="0" u="none" strike="noStrike" cap="none">
                <a:solidFill>
                  <a:srgbClr val="898989"/>
                </a:solidFill>
                <a:latin typeface="Arial"/>
                <a:ea typeface="Arial"/>
                <a:cs typeface="Arial"/>
                <a:sym typeface="Arial"/>
              </a:defRPr>
            </a:lvl6pPr>
            <a:lvl7pPr marL="20678" marR="0" lvl="6" indent="0" algn="r">
              <a:lnSpc>
                <a:spcPct val="109100"/>
              </a:lnSpc>
              <a:spcBef>
                <a:spcPts val="0"/>
              </a:spcBef>
              <a:spcAft>
                <a:spcPts val="0"/>
              </a:spcAft>
              <a:buClr>
                <a:srgbClr val="000000"/>
              </a:buClr>
              <a:buSzPts val="1000"/>
              <a:buFont typeface="Arial"/>
              <a:buNone/>
              <a:defRPr sz="1000" b="0" i="0" u="none" strike="noStrike" cap="none">
                <a:solidFill>
                  <a:srgbClr val="898989"/>
                </a:solidFill>
                <a:latin typeface="Arial"/>
                <a:ea typeface="Arial"/>
                <a:cs typeface="Arial"/>
                <a:sym typeface="Arial"/>
              </a:defRPr>
            </a:lvl7pPr>
            <a:lvl8pPr marL="20678" marR="0" lvl="7" indent="0" algn="r">
              <a:lnSpc>
                <a:spcPct val="109100"/>
              </a:lnSpc>
              <a:spcBef>
                <a:spcPts val="0"/>
              </a:spcBef>
              <a:spcAft>
                <a:spcPts val="0"/>
              </a:spcAft>
              <a:buClr>
                <a:srgbClr val="000000"/>
              </a:buClr>
              <a:buSzPts val="1000"/>
              <a:buFont typeface="Arial"/>
              <a:buNone/>
              <a:defRPr sz="1000" b="0" i="0" u="none" strike="noStrike" cap="none">
                <a:solidFill>
                  <a:srgbClr val="898989"/>
                </a:solidFill>
                <a:latin typeface="Arial"/>
                <a:ea typeface="Arial"/>
                <a:cs typeface="Arial"/>
                <a:sym typeface="Arial"/>
              </a:defRPr>
            </a:lvl8pPr>
            <a:lvl9pPr marL="20678" marR="0" lvl="8" indent="0" algn="r">
              <a:lnSpc>
                <a:spcPct val="109100"/>
              </a:lnSpc>
              <a:spcBef>
                <a:spcPts val="0"/>
              </a:spcBef>
              <a:spcAft>
                <a:spcPts val="0"/>
              </a:spcAft>
              <a:buClr>
                <a:srgbClr val="000000"/>
              </a:buClr>
              <a:buSzPts val="1000"/>
              <a:buFont typeface="Arial"/>
              <a:buNone/>
              <a:defRPr sz="1000" b="0" i="0" u="none" strike="noStrike" cap="none">
                <a:solidFill>
                  <a:srgbClr val="898989"/>
                </a:solidFill>
                <a:latin typeface="Arial"/>
                <a:ea typeface="Arial"/>
                <a:cs typeface="Arial"/>
                <a:sym typeface="Arial"/>
              </a:defRPr>
            </a:lvl9pPr>
          </a:lstStyle>
          <a:p>
            <a:pPr marL="20678"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623888" y="1424783"/>
            <a:ext cx="7886700" cy="237728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623888" y="3824554"/>
            <a:ext cx="7886700" cy="125015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4" name="Google Shape;44;p6"/>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628650" y="1521354"/>
            <a:ext cx="3886200" cy="362611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body" idx="2"/>
          </p:nvPr>
        </p:nvSpPr>
        <p:spPr>
          <a:xfrm>
            <a:off x="4629150" y="1521354"/>
            <a:ext cx="3886200" cy="362611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9"/>
        <p:cNvGrpSpPr/>
        <p:nvPr/>
      </p:nvGrpSpPr>
      <p:grpSpPr>
        <a:xfrm>
          <a:off x="0" y="0"/>
          <a:ext cx="0" cy="0"/>
          <a:chOff x="0" y="0"/>
          <a:chExt cx="0" cy="0"/>
        </a:xfrm>
      </p:grpSpPr>
      <p:sp>
        <p:nvSpPr>
          <p:cNvPr id="60" name="Google Shape;60;p9"/>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629841" y="381000"/>
            <a:ext cx="2949178" cy="13335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0"/>
          <p:cNvSpPr txBox="1">
            <a:spLocks noGrp="1"/>
          </p:cNvSpPr>
          <p:nvPr>
            <p:ph type="body" idx="1"/>
          </p:nvPr>
        </p:nvSpPr>
        <p:spPr>
          <a:xfrm>
            <a:off x="3887391" y="822856"/>
            <a:ext cx="4629150" cy="4061354"/>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6" name="Google Shape;66;p10"/>
          <p:cNvSpPr txBox="1">
            <a:spLocks noGrp="1"/>
          </p:cNvSpPr>
          <p:nvPr>
            <p:ph type="body" idx="2"/>
          </p:nvPr>
        </p:nvSpPr>
        <p:spPr>
          <a:xfrm>
            <a:off x="629841" y="1714500"/>
            <a:ext cx="2949178" cy="31763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10"/>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0"/>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629841" y="381000"/>
            <a:ext cx="2949178" cy="13335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a:spLocks noGrp="1"/>
          </p:cNvSpPr>
          <p:nvPr>
            <p:ph type="pic" idx="2"/>
          </p:nvPr>
        </p:nvSpPr>
        <p:spPr>
          <a:xfrm>
            <a:off x="3887391" y="822856"/>
            <a:ext cx="4629150" cy="4061354"/>
          </a:xfrm>
          <a:prstGeom prst="rect">
            <a:avLst/>
          </a:prstGeom>
          <a:noFill/>
          <a:ln>
            <a:noFill/>
          </a:ln>
        </p:spPr>
      </p:sp>
      <p:sp>
        <p:nvSpPr>
          <p:cNvPr id="73" name="Google Shape;73;p11"/>
          <p:cNvSpPr txBox="1">
            <a:spLocks noGrp="1"/>
          </p:cNvSpPr>
          <p:nvPr>
            <p:ph type="body" idx="1"/>
          </p:nvPr>
        </p:nvSpPr>
        <p:spPr>
          <a:xfrm>
            <a:off x="629841" y="1714500"/>
            <a:ext cx="2949178" cy="31763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11"/>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2758943" y="-608938"/>
            <a:ext cx="3626115"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rot="5400000">
            <a:off x="5107915" y="1740033"/>
            <a:ext cx="484319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3"/>
          <p:cNvSpPr txBox="1">
            <a:spLocks noGrp="1"/>
          </p:cNvSpPr>
          <p:nvPr>
            <p:ph type="body" idx="1"/>
          </p:nvPr>
        </p:nvSpPr>
        <p:spPr>
          <a:xfrm rot="5400000">
            <a:off x="1107415" y="-174492"/>
            <a:ext cx="484319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13"/>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3"/>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3"/>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_Number title">
  <p:cSld name="3_Number title">
    <p:spTree>
      <p:nvGrpSpPr>
        <p:cNvPr id="1" name="Shape 89"/>
        <p:cNvGrpSpPr/>
        <p:nvPr/>
      </p:nvGrpSpPr>
      <p:grpSpPr>
        <a:xfrm>
          <a:off x="0" y="0"/>
          <a:ext cx="0" cy="0"/>
          <a:chOff x="0" y="0"/>
          <a:chExt cx="0" cy="0"/>
        </a:xfrm>
      </p:grpSpPr>
      <p:sp>
        <p:nvSpPr>
          <p:cNvPr id="90" name="Google Shape;90;p14"/>
          <p:cNvSpPr txBox="1">
            <a:spLocks noGrp="1"/>
          </p:cNvSpPr>
          <p:nvPr>
            <p:ph type="body" idx="1"/>
          </p:nvPr>
        </p:nvSpPr>
        <p:spPr>
          <a:xfrm>
            <a:off x="2550807" y="605691"/>
            <a:ext cx="4059970" cy="507997"/>
          </a:xfrm>
          <a:prstGeom prst="rect">
            <a:avLst/>
          </a:prstGeom>
          <a:noFill/>
          <a:ln>
            <a:noFill/>
          </a:ln>
        </p:spPr>
        <p:txBody>
          <a:bodyPr spcFirstLastPara="1" wrap="square" lIns="0" tIns="0" rIns="0" bIns="0" anchor="ctr" anchorCtr="0">
            <a:normAutofit/>
          </a:bodyPr>
          <a:lstStyle>
            <a:lvl1pPr marL="457200" lvl="0" indent="-228600" algn="ctr">
              <a:lnSpc>
                <a:spcPct val="90000"/>
              </a:lnSpc>
              <a:spcBef>
                <a:spcPts val="1000"/>
              </a:spcBef>
              <a:spcAft>
                <a:spcPts val="0"/>
              </a:spcAft>
              <a:buClr>
                <a:schemeClr val="accent1"/>
              </a:buClr>
              <a:buSzPts val="4667"/>
              <a:buNone/>
              <a:defRPr sz="4667" b="1" i="0">
                <a:solidFill>
                  <a:schemeClr val="accent1"/>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4"/>
          <p:cNvSpPr txBox="1">
            <a:spLocks noGrp="1"/>
          </p:cNvSpPr>
          <p:nvPr>
            <p:ph type="body" idx="2"/>
          </p:nvPr>
        </p:nvSpPr>
        <p:spPr>
          <a:xfrm>
            <a:off x="2550807" y="1182071"/>
            <a:ext cx="4059969" cy="283310"/>
          </a:xfrm>
          <a:prstGeom prst="rect">
            <a:avLst/>
          </a:prstGeom>
          <a:noFill/>
          <a:ln>
            <a:noFill/>
          </a:ln>
        </p:spPr>
        <p:txBody>
          <a:bodyPr spcFirstLastPara="1" wrap="square" lIns="0" tIns="0" rIns="0" bIns="0" anchor="ctr" anchorCtr="0">
            <a:normAutofit/>
          </a:bodyPr>
          <a:lstStyle>
            <a:lvl1pPr marL="457200" lvl="0" indent="-228600" algn="ctr">
              <a:lnSpc>
                <a:spcPct val="90000"/>
              </a:lnSpc>
              <a:spcBef>
                <a:spcPts val="1000"/>
              </a:spcBef>
              <a:spcAft>
                <a:spcPts val="0"/>
              </a:spcAft>
              <a:buClr>
                <a:srgbClr val="262626"/>
              </a:buClr>
              <a:buSzPts val="1600"/>
              <a:buNone/>
              <a:defRPr sz="1600" b="1" i="0">
                <a:solidFill>
                  <a:srgbClr val="262626"/>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92" name="Google Shape;92;p14"/>
          <p:cNvCxnSpPr/>
          <p:nvPr/>
        </p:nvCxnSpPr>
        <p:spPr>
          <a:xfrm rot="10800000">
            <a:off x="4580790" y="1778001"/>
            <a:ext cx="0" cy="3087217"/>
          </a:xfrm>
          <a:prstGeom prst="straightConnector1">
            <a:avLst/>
          </a:prstGeom>
          <a:noFill/>
          <a:ln w="9525" cap="flat" cmpd="sng">
            <a:solidFill>
              <a:srgbClr val="2F5496"/>
            </a:solidFill>
            <a:prstDash val="solid"/>
            <a:miter lim="800000"/>
            <a:headEnd type="oval" w="med" len="med"/>
            <a:tailEnd type="none" w="sm" len="sm"/>
          </a:ln>
        </p:spPr>
      </p:cxnSp>
      <p:sp>
        <p:nvSpPr>
          <p:cNvPr id="93" name="Google Shape;93;p14"/>
          <p:cNvSpPr txBox="1">
            <a:spLocks noGrp="1"/>
          </p:cNvSpPr>
          <p:nvPr>
            <p:ph type="body" idx="3"/>
          </p:nvPr>
        </p:nvSpPr>
        <p:spPr>
          <a:xfrm>
            <a:off x="2550807" y="1778001"/>
            <a:ext cx="1915686" cy="283310"/>
          </a:xfrm>
          <a:prstGeom prst="rect">
            <a:avLst/>
          </a:prstGeom>
          <a:noFill/>
          <a:ln>
            <a:noFill/>
          </a:ln>
        </p:spPr>
        <p:txBody>
          <a:bodyPr spcFirstLastPara="1" wrap="square" lIns="0" tIns="0" rIns="0" bIns="0" anchor="ctr" anchorCtr="0">
            <a:normAutofit/>
          </a:bodyPr>
          <a:lstStyle>
            <a:lvl1pPr marL="457200" lvl="0" indent="-228600" algn="r">
              <a:lnSpc>
                <a:spcPct val="90000"/>
              </a:lnSpc>
              <a:spcBef>
                <a:spcPts val="1000"/>
              </a:spcBef>
              <a:spcAft>
                <a:spcPts val="0"/>
              </a:spcAft>
              <a:buClr>
                <a:schemeClr val="accent2"/>
              </a:buClr>
              <a:buSzPts val="4000"/>
              <a:buNone/>
              <a:defRPr sz="4000" b="1" i="0">
                <a:solidFill>
                  <a:schemeClr val="accent2"/>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14"/>
          <p:cNvSpPr txBox="1">
            <a:spLocks noGrp="1"/>
          </p:cNvSpPr>
          <p:nvPr>
            <p:ph type="body" idx="4"/>
          </p:nvPr>
        </p:nvSpPr>
        <p:spPr>
          <a:xfrm>
            <a:off x="4695089" y="1778001"/>
            <a:ext cx="1915686" cy="283310"/>
          </a:xfrm>
          <a:prstGeom prst="rect">
            <a:avLst/>
          </a:prstGeom>
          <a:noFill/>
          <a:ln>
            <a:noFill/>
          </a:ln>
        </p:spPr>
        <p:txBody>
          <a:bodyPr spcFirstLastPara="1" wrap="square" lIns="0" tIns="0" rIns="0" bIns="0" anchor="ctr" anchorCtr="0">
            <a:normAutofit/>
          </a:bodyPr>
          <a:lstStyle>
            <a:lvl1pPr marL="457200" lvl="0" indent="-228600" algn="l">
              <a:lnSpc>
                <a:spcPct val="90000"/>
              </a:lnSpc>
              <a:spcBef>
                <a:spcPts val="1000"/>
              </a:spcBef>
              <a:spcAft>
                <a:spcPts val="0"/>
              </a:spcAft>
              <a:buClr>
                <a:schemeClr val="accent2"/>
              </a:buClr>
              <a:buSzPts val="1600"/>
              <a:buNone/>
              <a:defRPr sz="1600" b="1" i="0">
                <a:solidFill>
                  <a:schemeClr val="accent2"/>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14"/>
          <p:cNvSpPr txBox="1">
            <a:spLocks noGrp="1"/>
          </p:cNvSpPr>
          <p:nvPr>
            <p:ph type="body" idx="5"/>
          </p:nvPr>
        </p:nvSpPr>
        <p:spPr>
          <a:xfrm>
            <a:off x="2550807" y="2627922"/>
            <a:ext cx="1915686" cy="283310"/>
          </a:xfrm>
          <a:prstGeom prst="rect">
            <a:avLst/>
          </a:prstGeom>
          <a:noFill/>
          <a:ln>
            <a:noFill/>
          </a:ln>
        </p:spPr>
        <p:txBody>
          <a:bodyPr spcFirstLastPara="1" wrap="square" lIns="0" tIns="0" rIns="0" bIns="0" anchor="ctr" anchorCtr="0">
            <a:normAutofit/>
          </a:bodyPr>
          <a:lstStyle>
            <a:lvl1pPr marL="457200" lvl="0" indent="-228600" algn="r">
              <a:lnSpc>
                <a:spcPct val="90000"/>
              </a:lnSpc>
              <a:spcBef>
                <a:spcPts val="1000"/>
              </a:spcBef>
              <a:spcAft>
                <a:spcPts val="0"/>
              </a:spcAft>
              <a:buClr>
                <a:schemeClr val="accent3"/>
              </a:buClr>
              <a:buSzPts val="4000"/>
              <a:buNone/>
              <a:defRPr sz="4000" b="1" i="0">
                <a:solidFill>
                  <a:schemeClr val="accent3"/>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14"/>
          <p:cNvSpPr txBox="1">
            <a:spLocks noGrp="1"/>
          </p:cNvSpPr>
          <p:nvPr>
            <p:ph type="body" idx="6"/>
          </p:nvPr>
        </p:nvSpPr>
        <p:spPr>
          <a:xfrm>
            <a:off x="4695089" y="2627922"/>
            <a:ext cx="1915686" cy="283310"/>
          </a:xfrm>
          <a:prstGeom prst="rect">
            <a:avLst/>
          </a:prstGeom>
          <a:noFill/>
          <a:ln>
            <a:noFill/>
          </a:ln>
        </p:spPr>
        <p:txBody>
          <a:bodyPr spcFirstLastPara="1" wrap="square" lIns="0" tIns="0" rIns="0" bIns="0" anchor="ctr" anchorCtr="0">
            <a:normAutofit/>
          </a:bodyPr>
          <a:lstStyle>
            <a:lvl1pPr marL="457200" lvl="0" indent="-228600" algn="l">
              <a:lnSpc>
                <a:spcPct val="90000"/>
              </a:lnSpc>
              <a:spcBef>
                <a:spcPts val="1000"/>
              </a:spcBef>
              <a:spcAft>
                <a:spcPts val="0"/>
              </a:spcAft>
              <a:buClr>
                <a:schemeClr val="accent3"/>
              </a:buClr>
              <a:buSzPts val="1600"/>
              <a:buNone/>
              <a:defRPr sz="1600" b="1" i="0">
                <a:solidFill>
                  <a:schemeClr val="accent3"/>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14"/>
          <p:cNvSpPr txBox="1">
            <a:spLocks noGrp="1"/>
          </p:cNvSpPr>
          <p:nvPr>
            <p:ph type="body" idx="7"/>
          </p:nvPr>
        </p:nvSpPr>
        <p:spPr>
          <a:xfrm>
            <a:off x="4695089" y="2198078"/>
            <a:ext cx="1915686" cy="283310"/>
          </a:xfrm>
          <a:prstGeom prst="rect">
            <a:avLst/>
          </a:prstGeom>
          <a:noFill/>
          <a:ln>
            <a:noFill/>
          </a:ln>
        </p:spPr>
        <p:txBody>
          <a:bodyPr spcFirstLastPara="1" wrap="square" lIns="0" tIns="0" rIns="0" bIns="0" anchor="ctr" anchorCtr="0">
            <a:normAutofit/>
          </a:bodyPr>
          <a:lstStyle>
            <a:lvl1pPr marL="457200" lvl="0" indent="-228600" algn="l">
              <a:lnSpc>
                <a:spcPct val="90000"/>
              </a:lnSpc>
              <a:spcBef>
                <a:spcPts val="1000"/>
              </a:spcBef>
              <a:spcAft>
                <a:spcPts val="0"/>
              </a:spcAft>
              <a:buClr>
                <a:srgbClr val="A5A5A5"/>
              </a:buClr>
              <a:buSzPts val="4000"/>
              <a:buNone/>
              <a:defRPr sz="4000" b="1" i="0">
                <a:solidFill>
                  <a:srgbClr val="A5A5A5"/>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14"/>
          <p:cNvSpPr txBox="1">
            <a:spLocks noGrp="1"/>
          </p:cNvSpPr>
          <p:nvPr>
            <p:ph type="body" idx="8"/>
          </p:nvPr>
        </p:nvSpPr>
        <p:spPr>
          <a:xfrm>
            <a:off x="2542014" y="2198078"/>
            <a:ext cx="1915686" cy="283310"/>
          </a:xfrm>
          <a:prstGeom prst="rect">
            <a:avLst/>
          </a:prstGeom>
          <a:noFill/>
          <a:ln>
            <a:noFill/>
          </a:ln>
        </p:spPr>
        <p:txBody>
          <a:bodyPr spcFirstLastPara="1" wrap="square" lIns="0" tIns="0" rIns="0" bIns="0" anchor="ctr" anchorCtr="0">
            <a:normAutofit/>
          </a:bodyPr>
          <a:lstStyle>
            <a:lvl1pPr marL="457200" lvl="0" indent="-228600" algn="r">
              <a:lnSpc>
                <a:spcPct val="90000"/>
              </a:lnSpc>
              <a:spcBef>
                <a:spcPts val="1000"/>
              </a:spcBef>
              <a:spcAft>
                <a:spcPts val="0"/>
              </a:spcAft>
              <a:buClr>
                <a:srgbClr val="A5A5A5"/>
              </a:buClr>
              <a:buSzPts val="1600"/>
              <a:buNone/>
              <a:defRPr sz="1600" b="1" i="0">
                <a:solidFill>
                  <a:srgbClr val="A5A5A5"/>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14"/>
          <p:cNvSpPr txBox="1">
            <a:spLocks noGrp="1"/>
          </p:cNvSpPr>
          <p:nvPr>
            <p:ph type="body" idx="9"/>
          </p:nvPr>
        </p:nvSpPr>
        <p:spPr>
          <a:xfrm>
            <a:off x="4695089" y="3057771"/>
            <a:ext cx="1915686" cy="283310"/>
          </a:xfrm>
          <a:prstGeom prst="rect">
            <a:avLst/>
          </a:prstGeom>
          <a:noFill/>
          <a:ln>
            <a:noFill/>
          </a:ln>
        </p:spPr>
        <p:txBody>
          <a:bodyPr spcFirstLastPara="1" wrap="square" lIns="0" tIns="0" rIns="0" bIns="0" anchor="ctr" anchorCtr="0">
            <a:normAutofit/>
          </a:bodyPr>
          <a:lstStyle>
            <a:lvl1pPr marL="457200" lvl="0" indent="-228600" algn="l">
              <a:lnSpc>
                <a:spcPct val="90000"/>
              </a:lnSpc>
              <a:spcBef>
                <a:spcPts val="1000"/>
              </a:spcBef>
              <a:spcAft>
                <a:spcPts val="0"/>
              </a:spcAft>
              <a:buClr>
                <a:srgbClr val="A5A5A5"/>
              </a:buClr>
              <a:buSzPts val="4000"/>
              <a:buNone/>
              <a:defRPr sz="4000" b="1" i="0">
                <a:solidFill>
                  <a:srgbClr val="A5A5A5"/>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14"/>
          <p:cNvSpPr txBox="1">
            <a:spLocks noGrp="1"/>
          </p:cNvSpPr>
          <p:nvPr>
            <p:ph type="body" idx="13"/>
          </p:nvPr>
        </p:nvSpPr>
        <p:spPr>
          <a:xfrm>
            <a:off x="2542014" y="3057771"/>
            <a:ext cx="1915686" cy="283310"/>
          </a:xfrm>
          <a:prstGeom prst="rect">
            <a:avLst/>
          </a:prstGeom>
          <a:noFill/>
          <a:ln>
            <a:noFill/>
          </a:ln>
        </p:spPr>
        <p:txBody>
          <a:bodyPr spcFirstLastPara="1" wrap="square" lIns="0" tIns="0" rIns="0" bIns="0" anchor="ctr" anchorCtr="0">
            <a:normAutofit/>
          </a:bodyPr>
          <a:lstStyle>
            <a:lvl1pPr marL="457200" lvl="0" indent="-228600" algn="r">
              <a:lnSpc>
                <a:spcPct val="90000"/>
              </a:lnSpc>
              <a:spcBef>
                <a:spcPts val="1000"/>
              </a:spcBef>
              <a:spcAft>
                <a:spcPts val="0"/>
              </a:spcAft>
              <a:buClr>
                <a:srgbClr val="A5A5A5"/>
              </a:buClr>
              <a:buSzPts val="1600"/>
              <a:buNone/>
              <a:defRPr sz="1600" b="1" i="0">
                <a:solidFill>
                  <a:srgbClr val="A5A5A5"/>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14"/>
          <p:cNvSpPr txBox="1">
            <a:spLocks noGrp="1"/>
          </p:cNvSpPr>
          <p:nvPr>
            <p:ph type="body" idx="14"/>
          </p:nvPr>
        </p:nvSpPr>
        <p:spPr>
          <a:xfrm>
            <a:off x="2550807" y="3497386"/>
            <a:ext cx="1915686" cy="283310"/>
          </a:xfrm>
          <a:prstGeom prst="rect">
            <a:avLst/>
          </a:prstGeom>
          <a:noFill/>
          <a:ln>
            <a:noFill/>
          </a:ln>
        </p:spPr>
        <p:txBody>
          <a:bodyPr spcFirstLastPara="1" wrap="square" lIns="0" tIns="0" rIns="0" bIns="0" anchor="ctr" anchorCtr="0">
            <a:normAutofit/>
          </a:bodyPr>
          <a:lstStyle>
            <a:lvl1pPr marL="457200" lvl="0" indent="-228600" algn="r">
              <a:lnSpc>
                <a:spcPct val="90000"/>
              </a:lnSpc>
              <a:spcBef>
                <a:spcPts val="1000"/>
              </a:spcBef>
              <a:spcAft>
                <a:spcPts val="0"/>
              </a:spcAft>
              <a:buClr>
                <a:schemeClr val="accent5"/>
              </a:buClr>
              <a:buSzPts val="4000"/>
              <a:buNone/>
              <a:defRPr sz="4000" b="1" i="0">
                <a:solidFill>
                  <a:schemeClr val="accent5"/>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14"/>
          <p:cNvSpPr txBox="1">
            <a:spLocks noGrp="1"/>
          </p:cNvSpPr>
          <p:nvPr>
            <p:ph type="body" idx="15"/>
          </p:nvPr>
        </p:nvSpPr>
        <p:spPr>
          <a:xfrm>
            <a:off x="4695089" y="3497386"/>
            <a:ext cx="1915686" cy="283310"/>
          </a:xfrm>
          <a:prstGeom prst="rect">
            <a:avLst/>
          </a:prstGeom>
          <a:noFill/>
          <a:ln>
            <a:noFill/>
          </a:ln>
        </p:spPr>
        <p:txBody>
          <a:bodyPr spcFirstLastPara="1" wrap="square" lIns="0" tIns="0" rIns="0" bIns="0" anchor="ctr" anchorCtr="0">
            <a:normAutofit/>
          </a:bodyPr>
          <a:lstStyle>
            <a:lvl1pPr marL="457200" lvl="0" indent="-228600" algn="l">
              <a:lnSpc>
                <a:spcPct val="90000"/>
              </a:lnSpc>
              <a:spcBef>
                <a:spcPts val="1000"/>
              </a:spcBef>
              <a:spcAft>
                <a:spcPts val="0"/>
              </a:spcAft>
              <a:buClr>
                <a:schemeClr val="accent5"/>
              </a:buClr>
              <a:buSzPts val="1600"/>
              <a:buNone/>
              <a:defRPr sz="1600" b="1" i="0">
                <a:solidFill>
                  <a:schemeClr val="accent5"/>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14"/>
          <p:cNvSpPr txBox="1">
            <a:spLocks noGrp="1"/>
          </p:cNvSpPr>
          <p:nvPr>
            <p:ph type="body" idx="16"/>
          </p:nvPr>
        </p:nvSpPr>
        <p:spPr>
          <a:xfrm>
            <a:off x="4695089" y="3937003"/>
            <a:ext cx="1915686" cy="283310"/>
          </a:xfrm>
          <a:prstGeom prst="rect">
            <a:avLst/>
          </a:prstGeom>
          <a:noFill/>
          <a:ln>
            <a:noFill/>
          </a:ln>
        </p:spPr>
        <p:txBody>
          <a:bodyPr spcFirstLastPara="1" wrap="square" lIns="0" tIns="0" rIns="0" bIns="0" anchor="ctr" anchorCtr="0">
            <a:normAutofit/>
          </a:bodyPr>
          <a:lstStyle>
            <a:lvl1pPr marL="457200" lvl="0" indent="-228600" algn="l">
              <a:lnSpc>
                <a:spcPct val="90000"/>
              </a:lnSpc>
              <a:spcBef>
                <a:spcPts val="1000"/>
              </a:spcBef>
              <a:spcAft>
                <a:spcPts val="0"/>
              </a:spcAft>
              <a:buClr>
                <a:srgbClr val="A5A5A5"/>
              </a:buClr>
              <a:buSzPts val="4000"/>
              <a:buNone/>
              <a:defRPr sz="4000" b="1" i="0">
                <a:solidFill>
                  <a:srgbClr val="A5A5A5"/>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14"/>
          <p:cNvSpPr txBox="1">
            <a:spLocks noGrp="1"/>
          </p:cNvSpPr>
          <p:nvPr>
            <p:ph type="body" idx="17"/>
          </p:nvPr>
        </p:nvSpPr>
        <p:spPr>
          <a:xfrm>
            <a:off x="2542014" y="3937003"/>
            <a:ext cx="1915686" cy="283310"/>
          </a:xfrm>
          <a:prstGeom prst="rect">
            <a:avLst/>
          </a:prstGeom>
          <a:noFill/>
          <a:ln>
            <a:noFill/>
          </a:ln>
        </p:spPr>
        <p:txBody>
          <a:bodyPr spcFirstLastPara="1" wrap="square" lIns="0" tIns="0" rIns="0" bIns="0" anchor="ctr" anchorCtr="0">
            <a:normAutofit/>
          </a:bodyPr>
          <a:lstStyle>
            <a:lvl1pPr marL="457200" lvl="0" indent="-228600" algn="r">
              <a:lnSpc>
                <a:spcPct val="90000"/>
              </a:lnSpc>
              <a:spcBef>
                <a:spcPts val="1000"/>
              </a:spcBef>
              <a:spcAft>
                <a:spcPts val="0"/>
              </a:spcAft>
              <a:buClr>
                <a:srgbClr val="A5A5A5"/>
              </a:buClr>
              <a:buSzPts val="1600"/>
              <a:buNone/>
              <a:defRPr sz="1600" b="1" i="0">
                <a:solidFill>
                  <a:srgbClr val="A5A5A5"/>
                </a:solidFill>
                <a:latin typeface="Raleway Black"/>
                <a:ea typeface="Raleway Black"/>
                <a:cs typeface="Raleway Black"/>
                <a:sym typeface="Raleway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pos="2880">
          <p15:clr>
            <a:srgbClr val="FBAE40"/>
          </p15:clr>
        </p15:guide>
        <p15:guide id="2" pos="317">
          <p15:clr>
            <a:srgbClr val="FBAE40"/>
          </p15:clr>
        </p15:guide>
        <p15:guide id="3" pos="553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628650" y="1521354"/>
            <a:ext cx="7886700" cy="362611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5296960"/>
            <a:ext cx="2057400" cy="304271"/>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5296960"/>
            <a:ext cx="3086100" cy="304271"/>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txBox="1">
            <a:spLocks noGrp="1"/>
          </p:cNvSpPr>
          <p:nvPr>
            <p:ph type="ctrTitle"/>
          </p:nvPr>
        </p:nvSpPr>
        <p:spPr>
          <a:xfrm>
            <a:off x="1115615" y="1849388"/>
            <a:ext cx="7135249" cy="143562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C00000"/>
              </a:buClr>
              <a:buSzPts val="4400"/>
              <a:buFont typeface="Times New Roman"/>
              <a:buNone/>
            </a:pPr>
            <a:r>
              <a:rPr lang="fr-FR" sz="4400" b="1" dirty="0">
                <a:solidFill>
                  <a:srgbClr val="C00000"/>
                </a:solidFill>
                <a:latin typeface="Times New Roman"/>
                <a:ea typeface="Times New Roman"/>
                <a:cs typeface="Times New Roman"/>
                <a:sym typeface="Times New Roman"/>
              </a:rPr>
              <a:t>Chapitre 5: </a:t>
            </a:r>
            <a:br>
              <a:rPr lang="fr-FR" sz="4400" b="1" dirty="0">
                <a:solidFill>
                  <a:srgbClr val="C00000"/>
                </a:solidFill>
                <a:latin typeface="Times New Roman"/>
                <a:ea typeface="Times New Roman"/>
                <a:cs typeface="Times New Roman"/>
                <a:sym typeface="Times New Roman"/>
              </a:rPr>
            </a:br>
            <a:r>
              <a:rPr lang="fr-FR" sz="4400" b="1" dirty="0">
                <a:solidFill>
                  <a:srgbClr val="C00000"/>
                </a:solidFill>
                <a:latin typeface="Times New Roman"/>
                <a:ea typeface="Times New Roman"/>
                <a:cs typeface="Times New Roman"/>
                <a:sym typeface="Times New Roman"/>
              </a:rPr>
              <a:t>Les attaques web</a:t>
            </a:r>
            <a:endParaRPr sz="4400" b="1" dirty="0">
              <a:solidFill>
                <a:srgbClr val="C00000"/>
              </a:solidFill>
              <a:latin typeface="Times New Roman"/>
              <a:ea typeface="Times New Roman"/>
              <a:cs typeface="Times New Roman"/>
              <a:sym typeface="Times New Roman"/>
            </a:endParaRPr>
          </a:p>
        </p:txBody>
      </p:sp>
      <p:sp>
        <p:nvSpPr>
          <p:cNvPr id="110" name="Google Shape;110;p15"/>
          <p:cNvSpPr txBox="1">
            <a:spLocks noGrp="1"/>
          </p:cNvSpPr>
          <p:nvPr>
            <p:ph type="subTitle" idx="1"/>
          </p:nvPr>
        </p:nvSpPr>
        <p:spPr>
          <a:xfrm>
            <a:off x="1143000" y="3709946"/>
            <a:ext cx="6858000" cy="137980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000"/>
              <a:buNone/>
            </a:pPr>
            <a:endParaRPr sz="2000" dirty="0">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2000"/>
              <a:buNone/>
            </a:pPr>
            <a:r>
              <a:rPr lang="fr-FR" sz="2000" dirty="0">
                <a:latin typeface="Times New Roman"/>
                <a:ea typeface="Times New Roman"/>
                <a:cs typeface="Times New Roman"/>
                <a:sym typeface="Times New Roman"/>
              </a:rPr>
              <a:t>4</a:t>
            </a:r>
            <a:r>
              <a:rPr lang="fr-FR" sz="2000" baseline="30000" dirty="0">
                <a:latin typeface="Times New Roman"/>
                <a:ea typeface="Times New Roman"/>
                <a:cs typeface="Times New Roman"/>
                <a:sym typeface="Times New Roman"/>
              </a:rPr>
              <a:t>ème</a:t>
            </a:r>
            <a:r>
              <a:rPr lang="fr-FR" sz="2000" dirty="0">
                <a:latin typeface="Times New Roman"/>
                <a:ea typeface="Times New Roman"/>
                <a:cs typeface="Times New Roman"/>
                <a:sym typeface="Times New Roman"/>
              </a:rPr>
              <a:t> Année</a:t>
            </a:r>
            <a:endParaRPr sz="2000" dirty="0">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2000"/>
              <a:buNone/>
            </a:pPr>
            <a:r>
              <a:rPr lang="fr-FR" sz="2000" dirty="0">
                <a:latin typeface="Times New Roman"/>
                <a:ea typeface="Times New Roman"/>
                <a:cs typeface="Times New Roman"/>
                <a:sym typeface="Times New Roman"/>
              </a:rPr>
              <a:t>Esprit 2024/2025</a:t>
            </a:r>
            <a:endParaRPr sz="2000" dirty="0">
              <a:latin typeface="Times New Roman"/>
              <a:ea typeface="Times New Roman"/>
              <a:cs typeface="Times New Roman"/>
              <a:sym typeface="Times New Roman"/>
            </a:endParaRPr>
          </a:p>
        </p:txBody>
      </p:sp>
      <p:sp>
        <p:nvSpPr>
          <p:cNvPr id="111" name="Google Shape;111;p15"/>
          <p:cNvSpPr/>
          <p:nvPr/>
        </p:nvSpPr>
        <p:spPr>
          <a:xfrm>
            <a:off x="2771800" y="759976"/>
            <a:ext cx="3655854"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E20000"/>
                </a:solidFill>
                <a:latin typeface="Calibri"/>
                <a:ea typeface="Calibri"/>
                <a:cs typeface="Calibri"/>
                <a:sym typeface="Calibri"/>
              </a:rPr>
              <a:t>Sécurité Informatique</a:t>
            </a:r>
            <a:endParaRPr sz="2400" b="0" i="0" u="none" strike="noStrike" cap="none">
              <a:solidFill>
                <a:schemeClr val="dk1"/>
              </a:solidFill>
              <a:latin typeface="Calibri"/>
              <a:ea typeface="Calibri"/>
              <a:cs typeface="Calibri"/>
              <a:sym typeface="Calibri"/>
            </a:endParaRPr>
          </a:p>
        </p:txBody>
      </p:sp>
      <p:sp>
        <p:nvSpPr>
          <p:cNvPr id="112" name="Google Shape;112;p15"/>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6"/>
          <p:cNvSpPr txBox="1">
            <a:spLocks noGrp="1"/>
          </p:cNvSpPr>
          <p:nvPr>
            <p:ph type="title"/>
          </p:nvPr>
        </p:nvSpPr>
        <p:spPr>
          <a:xfrm>
            <a:off x="634997" y="509416"/>
            <a:ext cx="7772400" cy="61989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0000"/>
              </a:buClr>
              <a:buSzPts val="1800"/>
              <a:buFont typeface="Times New Roman"/>
              <a:buNone/>
            </a:pPr>
            <a:r>
              <a:rPr lang="fr-FR" sz="4000" b="1">
                <a:solidFill>
                  <a:srgbClr val="C00000"/>
                </a:solidFill>
                <a:latin typeface="Times New Roman"/>
                <a:ea typeface="Times New Roman"/>
                <a:cs typeface="Times New Roman"/>
                <a:sym typeface="Times New Roman"/>
              </a:rPr>
              <a:t>Plan du chapitre</a:t>
            </a:r>
            <a:endParaRPr/>
          </a:p>
        </p:txBody>
      </p:sp>
      <p:sp>
        <p:nvSpPr>
          <p:cNvPr id="118" name="Google Shape;118;p16"/>
          <p:cNvSpPr txBox="1">
            <a:spLocks noGrp="1"/>
          </p:cNvSpPr>
          <p:nvPr>
            <p:ph type="body" idx="1"/>
          </p:nvPr>
        </p:nvSpPr>
        <p:spPr>
          <a:xfrm>
            <a:off x="478256" y="1273324"/>
            <a:ext cx="8208545" cy="4241150"/>
          </a:xfrm>
          <a:prstGeom prst="rect">
            <a:avLst/>
          </a:prstGeom>
          <a:noFill/>
          <a:ln>
            <a:noFill/>
          </a:ln>
        </p:spPr>
        <p:txBody>
          <a:bodyPr spcFirstLastPara="1" wrap="square" lIns="91425" tIns="45700" rIns="91425" bIns="45700" anchor="t" anchorCtr="0">
            <a:normAutofit/>
          </a:bodyPr>
          <a:lstStyle/>
          <a:p>
            <a:pPr marL="228600" lvl="0" indent="-228600" algn="l" rtl="0">
              <a:lnSpc>
                <a:spcPct val="200000"/>
              </a:lnSpc>
              <a:spcBef>
                <a:spcPts val="0"/>
              </a:spcBef>
              <a:spcAft>
                <a:spcPts val="0"/>
              </a:spcAft>
              <a:buClr>
                <a:schemeClr val="dk1"/>
              </a:buClr>
              <a:buSzPts val="2800"/>
              <a:buFont typeface="Noto Sans Symbols"/>
              <a:buChar char="▪"/>
            </a:pPr>
            <a:r>
              <a:rPr lang="fr-FR" dirty="0"/>
              <a:t>Introduction</a:t>
            </a:r>
            <a:endParaRPr dirty="0"/>
          </a:p>
          <a:p>
            <a:pPr marL="228600" lvl="0" indent="-228600" algn="l" rtl="0">
              <a:lnSpc>
                <a:spcPct val="200000"/>
              </a:lnSpc>
              <a:spcBef>
                <a:spcPts val="468"/>
              </a:spcBef>
              <a:spcAft>
                <a:spcPts val="0"/>
              </a:spcAft>
              <a:buClr>
                <a:schemeClr val="dk1"/>
              </a:buClr>
              <a:buSzPts val="2800"/>
              <a:buFont typeface="Noto Sans Symbols"/>
              <a:buChar char="▪"/>
            </a:pPr>
            <a:r>
              <a:rPr lang="fr-FR" dirty="0"/>
              <a:t>Les menaces dans les applications web.</a:t>
            </a:r>
            <a:endParaRPr dirty="0"/>
          </a:p>
          <a:p>
            <a:pPr marL="228600" lvl="0" indent="-228600" algn="l" rtl="0">
              <a:lnSpc>
                <a:spcPct val="200000"/>
              </a:lnSpc>
              <a:spcBef>
                <a:spcPts val="468"/>
              </a:spcBef>
              <a:spcAft>
                <a:spcPts val="0"/>
              </a:spcAft>
              <a:buClr>
                <a:schemeClr val="dk1"/>
              </a:buClr>
              <a:buSzPts val="2800"/>
              <a:buFont typeface="Noto Sans Symbols"/>
              <a:buChar char="▪"/>
            </a:pPr>
            <a:r>
              <a:rPr lang="fr-FR" dirty="0"/>
              <a:t>Exemples </a:t>
            </a:r>
            <a:r>
              <a:rPr lang="fr-FR"/>
              <a:t>d’attaques Web (Annexe)</a:t>
            </a:r>
            <a:endParaRPr dirty="0"/>
          </a:p>
        </p:txBody>
      </p:sp>
      <p:sp>
        <p:nvSpPr>
          <p:cNvPr id="119" name="Google Shape;119;p16"/>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8"/>
          <p:cNvSpPr txBox="1">
            <a:spLocks noGrp="1"/>
          </p:cNvSpPr>
          <p:nvPr>
            <p:ph type="title"/>
          </p:nvPr>
        </p:nvSpPr>
        <p:spPr>
          <a:xfrm>
            <a:off x="629841"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Application Web</a:t>
            </a:r>
            <a:endParaRPr sz="4000" b="1" dirty="0">
              <a:solidFill>
                <a:srgbClr val="C00000"/>
              </a:solidFill>
              <a:latin typeface="Times New Roman"/>
              <a:ea typeface="Times New Roman"/>
              <a:cs typeface="Times New Roman"/>
              <a:sym typeface="Times New Roman"/>
            </a:endParaRPr>
          </a:p>
        </p:txBody>
      </p:sp>
      <p:sp>
        <p:nvSpPr>
          <p:cNvPr id="135" name="Google Shape;135;p18"/>
          <p:cNvSpPr txBox="1">
            <a:spLocks noGrp="1"/>
          </p:cNvSpPr>
          <p:nvPr>
            <p:ph type="body" idx="4"/>
          </p:nvPr>
        </p:nvSpPr>
        <p:spPr>
          <a:xfrm>
            <a:off x="435935" y="1938708"/>
            <a:ext cx="8456545" cy="307049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fr-FR" sz="2400" dirty="0"/>
              <a:t>Développée autour d’un serveur Web.</a:t>
            </a:r>
            <a:endParaRPr dirty="0"/>
          </a:p>
          <a:p>
            <a:pPr marL="228600" lvl="0" indent="-228600" algn="l" rtl="0">
              <a:lnSpc>
                <a:spcPct val="90000"/>
              </a:lnSpc>
              <a:spcBef>
                <a:spcPts val="1000"/>
              </a:spcBef>
              <a:spcAft>
                <a:spcPts val="0"/>
              </a:spcAft>
              <a:buClr>
                <a:schemeClr val="dk1"/>
              </a:buClr>
              <a:buSzPts val="2400"/>
              <a:buChar char="•"/>
            </a:pPr>
            <a:r>
              <a:rPr lang="fr-FR" sz="2400" dirty="0"/>
              <a:t>Prend des « </a:t>
            </a:r>
            <a:r>
              <a:rPr lang="fr-FR" sz="2400" i="1" dirty="0"/>
              <a:t>inputs</a:t>
            </a:r>
            <a:r>
              <a:rPr lang="fr-FR" sz="2400" dirty="0"/>
              <a:t>» de l’utilisateur qui affectent le «</a:t>
            </a:r>
            <a:r>
              <a:rPr lang="fr-FR" sz="2400" i="1" dirty="0"/>
              <a:t>backend  business</a:t>
            </a:r>
            <a:r>
              <a:rPr lang="fr-FR" sz="2400" dirty="0"/>
              <a:t>».</a:t>
            </a:r>
            <a:endParaRPr dirty="0"/>
          </a:p>
          <a:p>
            <a:pPr marL="228600" lvl="0" indent="-228600" algn="l" rtl="0">
              <a:lnSpc>
                <a:spcPct val="90000"/>
              </a:lnSpc>
              <a:spcBef>
                <a:spcPts val="1000"/>
              </a:spcBef>
              <a:spcAft>
                <a:spcPts val="0"/>
              </a:spcAft>
              <a:buClr>
                <a:schemeClr val="dk1"/>
              </a:buClr>
              <a:buSzPts val="2400"/>
              <a:buChar char="•"/>
            </a:pPr>
            <a:r>
              <a:rPr lang="fr-FR" sz="2400" dirty="0"/>
              <a:t>Le serveur Web interagit avec un serveur d’application ou un serveur  de BD.</a:t>
            </a:r>
            <a:endParaRPr dirty="0"/>
          </a:p>
          <a:p>
            <a:pPr marL="228600" lvl="0" indent="-101600" algn="l" rtl="0">
              <a:lnSpc>
                <a:spcPct val="90000"/>
              </a:lnSpc>
              <a:spcBef>
                <a:spcPts val="1000"/>
              </a:spcBef>
              <a:spcAft>
                <a:spcPts val="0"/>
              </a:spcAft>
              <a:buClr>
                <a:schemeClr val="dk1"/>
              </a:buClr>
              <a:buSzPts val="2000"/>
              <a:buNone/>
            </a:pPr>
            <a:endParaRPr sz="2000" dirty="0"/>
          </a:p>
        </p:txBody>
      </p:sp>
      <p:sp>
        <p:nvSpPr>
          <p:cNvPr id="136" name="Google Shape;136;p18"/>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5">
                                            <p:txEl>
                                              <p:pRg st="0" end="0"/>
                                            </p:txEl>
                                          </p:spTgt>
                                        </p:tgtEl>
                                        <p:attrNameLst>
                                          <p:attrName>style.visibility</p:attrName>
                                        </p:attrNameLst>
                                      </p:cBhvr>
                                      <p:to>
                                        <p:strVal val="visible"/>
                                      </p:to>
                                    </p:set>
                                    <p:animEffect transition="in" filter="fade">
                                      <p:cBhvr>
                                        <p:cTn id="7" dur="500"/>
                                        <p:tgtEl>
                                          <p:spTgt spid="13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5">
                                            <p:txEl>
                                              <p:pRg st="1" end="1"/>
                                            </p:txEl>
                                          </p:spTgt>
                                        </p:tgtEl>
                                        <p:attrNameLst>
                                          <p:attrName>style.visibility</p:attrName>
                                        </p:attrNameLst>
                                      </p:cBhvr>
                                      <p:to>
                                        <p:strVal val="visible"/>
                                      </p:to>
                                    </p:set>
                                    <p:animEffect transition="in" filter="fade">
                                      <p:cBhvr>
                                        <p:cTn id="11" dur="500"/>
                                        <p:tgtEl>
                                          <p:spTgt spid="135">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5">
                                            <p:txEl>
                                              <p:pRg st="2" end="2"/>
                                            </p:txEl>
                                          </p:spTgt>
                                        </p:tgtEl>
                                        <p:attrNameLst>
                                          <p:attrName>style.visibility</p:attrName>
                                        </p:attrNameLst>
                                      </p:cBhvr>
                                      <p:to>
                                        <p:strVal val="visible"/>
                                      </p:to>
                                    </p:set>
                                    <p:animEffect transition="in" filter="fade">
                                      <p:cBhvr>
                                        <p:cTn id="15" dur="500"/>
                                        <p:tgtEl>
                                          <p:spTgt spid="1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0"/>
        <p:cNvGrpSpPr/>
        <p:nvPr/>
      </p:nvGrpSpPr>
      <p:grpSpPr>
        <a:xfrm>
          <a:off x="0" y="0"/>
          <a:ext cx="0" cy="0"/>
          <a:chOff x="0" y="0"/>
          <a:chExt cx="0" cy="0"/>
        </a:xfrm>
      </p:grpSpPr>
      <p:sp>
        <p:nvSpPr>
          <p:cNvPr id="141" name="Google Shape;141;p19"/>
          <p:cNvSpPr txBox="1">
            <a:spLocks noGrp="1"/>
          </p:cNvSpPr>
          <p:nvPr>
            <p:ph type="title"/>
          </p:nvPr>
        </p:nvSpPr>
        <p:spPr>
          <a:xfrm>
            <a:off x="827584" y="574632"/>
            <a:ext cx="7886700" cy="56391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0000"/>
              </a:buClr>
              <a:buSzPts val="1800"/>
              <a:buFont typeface="Times New Roman"/>
              <a:buNone/>
            </a:pPr>
            <a:r>
              <a:rPr lang="fr-FR" sz="4000" b="1">
                <a:solidFill>
                  <a:srgbClr val="C00000"/>
                </a:solidFill>
                <a:latin typeface="Times New Roman"/>
                <a:ea typeface="Times New Roman"/>
                <a:cs typeface="Times New Roman"/>
                <a:sym typeface="Times New Roman"/>
              </a:rPr>
              <a:t>Fonctionnement de l’application Web</a:t>
            </a:r>
            <a:endParaRPr/>
          </a:p>
        </p:txBody>
      </p:sp>
      <p:sp>
        <p:nvSpPr>
          <p:cNvPr id="142" name="Google Shape;142;p19"/>
          <p:cNvSpPr txBox="1">
            <a:spLocks noGrp="1"/>
          </p:cNvSpPr>
          <p:nvPr>
            <p:ph type="body" idx="1"/>
          </p:nvPr>
        </p:nvSpPr>
        <p:spPr>
          <a:xfrm>
            <a:off x="628650" y="1521354"/>
            <a:ext cx="7886700" cy="362611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fr-FR"/>
              <a:t>Comprendre le problème</a:t>
            </a:r>
            <a:endParaRPr/>
          </a:p>
          <a:p>
            <a:pPr marL="228600" lvl="0" indent="-50800" algn="l" rtl="0">
              <a:lnSpc>
                <a:spcPct val="90000"/>
              </a:lnSpc>
              <a:spcBef>
                <a:spcPts val="1000"/>
              </a:spcBef>
              <a:spcAft>
                <a:spcPts val="0"/>
              </a:spcAft>
              <a:buClr>
                <a:schemeClr val="dk1"/>
              </a:buClr>
              <a:buSzPts val="2800"/>
              <a:buNone/>
            </a:pPr>
            <a:endParaRPr/>
          </a:p>
        </p:txBody>
      </p:sp>
      <p:sp>
        <p:nvSpPr>
          <p:cNvPr id="143" name="Google Shape;143;p19"/>
          <p:cNvSpPr/>
          <p:nvPr/>
        </p:nvSpPr>
        <p:spPr>
          <a:xfrm>
            <a:off x="1061990" y="2041264"/>
            <a:ext cx="6773945" cy="310050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4" name="Google Shape;144;p19"/>
          <p:cNvSpPr txBox="1"/>
          <p:nvPr/>
        </p:nvSpPr>
        <p:spPr>
          <a:xfrm>
            <a:off x="1110648" y="5131175"/>
            <a:ext cx="116200" cy="147328"/>
          </a:xfrm>
          <a:prstGeom prst="rect">
            <a:avLst/>
          </a:prstGeom>
          <a:noFill/>
          <a:ln>
            <a:noFill/>
          </a:ln>
        </p:spPr>
        <p:txBody>
          <a:bodyPr spcFirstLastPara="1" wrap="square" lIns="0" tIns="6200" rIns="0" bIns="0" anchor="t" anchorCtr="0">
            <a:spAutoFit/>
          </a:bodyPr>
          <a:lstStyle/>
          <a:p>
            <a:pPr marL="20678" marR="0" lvl="0" indent="0" algn="l" rtl="0">
              <a:lnSpc>
                <a:spcPct val="109100"/>
              </a:lnSpc>
              <a:spcBef>
                <a:spcPts val="0"/>
              </a:spcBef>
              <a:spcAft>
                <a:spcPts val="0"/>
              </a:spcAft>
              <a:buClr>
                <a:srgbClr val="000000"/>
              </a:buClr>
              <a:buSzPts val="1000"/>
              <a:buFont typeface="Arial"/>
              <a:buNone/>
            </a:pPr>
            <a:fld id="{00000000-1234-1234-1234-123412341234}" type="slidenum">
              <a:rPr lang="fr-FR" sz="1000" b="0" i="0" u="none" strike="noStrike" cap="none">
                <a:solidFill>
                  <a:srgbClr val="898989"/>
                </a:solidFill>
                <a:latin typeface="Arial"/>
                <a:ea typeface="Arial"/>
                <a:cs typeface="Arial"/>
                <a:sym typeface="Arial"/>
              </a:rPr>
              <a:t>4</a:t>
            </a:fld>
            <a:endParaRPr sz="1000" b="0" i="0" u="none" strike="noStrike" cap="none">
              <a:solidFill>
                <a:schemeClr val="dk1"/>
              </a:solidFill>
              <a:latin typeface="Arial"/>
              <a:ea typeface="Arial"/>
              <a:cs typeface="Arial"/>
              <a:sym typeface="Arial"/>
            </a:endParaRPr>
          </a:p>
        </p:txBody>
      </p:sp>
      <p:sp>
        <p:nvSpPr>
          <p:cNvPr id="145" name="Google Shape;145;p19"/>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0000"/>
              </a:buClr>
              <a:buSzPts val="1800"/>
              <a:buFont typeface="Times New Roman"/>
              <a:buNone/>
            </a:pPr>
            <a:r>
              <a:rPr lang="fr-FR" sz="4000" b="1">
                <a:solidFill>
                  <a:srgbClr val="C00000"/>
                </a:solidFill>
                <a:latin typeface="Times New Roman"/>
                <a:ea typeface="Times New Roman"/>
                <a:cs typeface="Times New Roman"/>
                <a:sym typeface="Times New Roman"/>
              </a:rPr>
              <a:t>La réalité: ce qui peut arriver</a:t>
            </a:r>
            <a:endParaRPr/>
          </a:p>
        </p:txBody>
      </p:sp>
      <p:sp>
        <p:nvSpPr>
          <p:cNvPr id="151" name="Google Shape;151;p20"/>
          <p:cNvSpPr txBox="1">
            <a:spLocks noGrp="1"/>
          </p:cNvSpPr>
          <p:nvPr>
            <p:ph type="body" idx="1"/>
          </p:nvPr>
        </p:nvSpPr>
        <p:spPr>
          <a:xfrm>
            <a:off x="628650" y="1521354"/>
            <a:ext cx="7886700" cy="3626115"/>
          </a:xfrm>
          <a:prstGeom prst="rect">
            <a:avLst/>
          </a:prstGeom>
          <a:noFill/>
          <a:ln>
            <a:noFill/>
          </a:ln>
        </p:spPr>
        <p:txBody>
          <a:bodyPr spcFirstLastPara="1" wrap="square" lIns="91425" tIns="45700" rIns="91425" bIns="45700" anchor="t" anchorCtr="0">
            <a:normAutofit fontScale="70000" lnSpcReduction="20000"/>
          </a:bodyPr>
          <a:lstStyle/>
          <a:p>
            <a:pPr marL="289494" lvl="0" indent="-279155" algn="l" rtl="0">
              <a:lnSpc>
                <a:spcPct val="120000"/>
              </a:lnSpc>
              <a:spcBef>
                <a:spcPts val="0"/>
              </a:spcBef>
              <a:spcAft>
                <a:spcPts val="0"/>
              </a:spcAft>
              <a:buClr>
                <a:schemeClr val="dk1"/>
              </a:buClr>
              <a:buSzPct val="100000"/>
              <a:buFont typeface="Arial"/>
              <a:buChar char="•"/>
            </a:pPr>
            <a:r>
              <a:rPr lang="fr-FR"/>
              <a:t>Affichage/fuites des données sensibles</a:t>
            </a:r>
            <a:endParaRPr/>
          </a:p>
          <a:p>
            <a:pPr marL="289494" lvl="0" indent="-279155" algn="l" rtl="0">
              <a:lnSpc>
                <a:spcPct val="120000"/>
              </a:lnSpc>
              <a:spcBef>
                <a:spcPts val="468"/>
              </a:spcBef>
              <a:spcAft>
                <a:spcPts val="0"/>
              </a:spcAft>
              <a:buClr>
                <a:schemeClr val="dk1"/>
              </a:buClr>
              <a:buSzPct val="100000"/>
              <a:buFont typeface="Arial"/>
              <a:buChar char="•"/>
            </a:pPr>
            <a:r>
              <a:rPr lang="fr-FR"/>
              <a:t>Vol des identités des comptes utilisateurs</a:t>
            </a:r>
            <a:endParaRPr/>
          </a:p>
          <a:p>
            <a:pPr marL="289494" lvl="0" indent="-279155" algn="l" rtl="0">
              <a:lnSpc>
                <a:spcPct val="120000"/>
              </a:lnSpc>
              <a:spcBef>
                <a:spcPts val="468"/>
              </a:spcBef>
              <a:spcAft>
                <a:spcPts val="0"/>
              </a:spcAft>
              <a:buClr>
                <a:schemeClr val="dk1"/>
              </a:buClr>
              <a:buSzPct val="100000"/>
              <a:buFont typeface="Arial"/>
              <a:buChar char="•"/>
            </a:pPr>
            <a:r>
              <a:rPr lang="fr-FR"/>
              <a:t>Accès illégal à des applications</a:t>
            </a:r>
            <a:endParaRPr/>
          </a:p>
          <a:p>
            <a:pPr marL="289494" lvl="0" indent="-279155" algn="l" rtl="0">
              <a:lnSpc>
                <a:spcPct val="120000"/>
              </a:lnSpc>
              <a:spcBef>
                <a:spcPts val="468"/>
              </a:spcBef>
              <a:spcAft>
                <a:spcPts val="0"/>
              </a:spcAft>
              <a:buClr>
                <a:schemeClr val="dk1"/>
              </a:buClr>
              <a:buSzPct val="100000"/>
              <a:buFont typeface="Arial"/>
              <a:buChar char="•"/>
            </a:pPr>
            <a:r>
              <a:rPr lang="fr-FR"/>
              <a:t>Exécution illégale de code arbitraire sur le serveur</a:t>
            </a:r>
            <a:endParaRPr/>
          </a:p>
          <a:p>
            <a:pPr marL="289494" lvl="0" indent="-279155" algn="l" rtl="0">
              <a:lnSpc>
                <a:spcPct val="120000"/>
              </a:lnSpc>
              <a:spcBef>
                <a:spcPts val="472"/>
              </a:spcBef>
              <a:spcAft>
                <a:spcPts val="0"/>
              </a:spcAft>
              <a:buClr>
                <a:schemeClr val="dk1"/>
              </a:buClr>
              <a:buSzPct val="100000"/>
              <a:buFont typeface="Arial"/>
              <a:buChar char="•"/>
            </a:pPr>
            <a:r>
              <a:rPr lang="fr-FR"/>
              <a:t>Modification du contenu</a:t>
            </a:r>
            <a:endParaRPr/>
          </a:p>
          <a:p>
            <a:pPr marL="289494" lvl="0" indent="-279155" algn="l" rtl="0">
              <a:lnSpc>
                <a:spcPct val="120000"/>
              </a:lnSpc>
              <a:spcBef>
                <a:spcPts val="468"/>
              </a:spcBef>
              <a:spcAft>
                <a:spcPts val="0"/>
              </a:spcAft>
              <a:buClr>
                <a:schemeClr val="dk1"/>
              </a:buClr>
              <a:buSzPct val="100000"/>
              <a:buFont typeface="Arial"/>
              <a:buChar char="•"/>
            </a:pPr>
            <a:r>
              <a:rPr lang="fr-FR"/>
              <a:t>Arrêt de l’application Web</a:t>
            </a:r>
            <a:endParaRPr/>
          </a:p>
          <a:p>
            <a:pPr marL="289494" lvl="0" indent="-279155" algn="l" rtl="0">
              <a:lnSpc>
                <a:spcPct val="120000"/>
              </a:lnSpc>
              <a:spcBef>
                <a:spcPts val="468"/>
              </a:spcBef>
              <a:spcAft>
                <a:spcPts val="0"/>
              </a:spcAft>
              <a:buClr>
                <a:schemeClr val="dk1"/>
              </a:buClr>
              <a:buSzPct val="100000"/>
              <a:buFont typeface="Arial"/>
              <a:buChar char="•"/>
            </a:pPr>
            <a:r>
              <a:rPr lang="fr-FR"/>
              <a:t>Prise de contrôle de l’application Web</a:t>
            </a:r>
            <a:endParaRPr/>
          </a:p>
          <a:p>
            <a:pPr marL="289494" lvl="0" indent="-279155" algn="l" rtl="0">
              <a:lnSpc>
                <a:spcPct val="120000"/>
              </a:lnSpc>
              <a:spcBef>
                <a:spcPts val="468"/>
              </a:spcBef>
              <a:spcAft>
                <a:spcPts val="0"/>
              </a:spcAft>
              <a:buClr>
                <a:schemeClr val="dk1"/>
              </a:buClr>
              <a:buSzPct val="100000"/>
              <a:buFont typeface="Arial"/>
              <a:buChar char="•"/>
            </a:pPr>
            <a:r>
              <a:rPr lang="fr-FR"/>
              <a:t>…</a:t>
            </a:r>
            <a:endParaRPr/>
          </a:p>
          <a:p>
            <a:pPr marL="228600" lvl="0" indent="-104140" algn="l" rtl="0">
              <a:lnSpc>
                <a:spcPct val="90000"/>
              </a:lnSpc>
              <a:spcBef>
                <a:spcPts val="4"/>
              </a:spcBef>
              <a:spcAft>
                <a:spcPts val="0"/>
              </a:spcAft>
              <a:buClr>
                <a:schemeClr val="dk1"/>
              </a:buClr>
              <a:buSzPct val="100000"/>
              <a:buNone/>
            </a:pPr>
            <a:endParaRPr/>
          </a:p>
          <a:p>
            <a:pPr marL="467539" lvl="0" indent="-457200" algn="l" rtl="0">
              <a:lnSpc>
                <a:spcPct val="90000"/>
              </a:lnSpc>
              <a:spcBef>
                <a:spcPts val="4"/>
              </a:spcBef>
              <a:spcAft>
                <a:spcPts val="0"/>
              </a:spcAft>
              <a:buClr>
                <a:schemeClr val="dk1"/>
              </a:buClr>
              <a:buSzPct val="100000"/>
              <a:buFont typeface="Noto Sans Symbols"/>
              <a:buChar char="❑"/>
            </a:pPr>
            <a:r>
              <a:rPr lang="fr-FR" b="1"/>
              <a:t>La réalité</a:t>
            </a:r>
            <a:r>
              <a:rPr lang="fr-FR"/>
              <a:t> : 2/3 des applications Web présentent des vulnérabilités.</a:t>
            </a:r>
            <a:endParaRPr/>
          </a:p>
        </p:txBody>
      </p:sp>
      <p:sp>
        <p:nvSpPr>
          <p:cNvPr id="152" name="Google Shape;152;p20"/>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1"/>
          <p:cNvSpPr txBox="1">
            <a:spLocks noGrp="1"/>
          </p:cNvSpPr>
          <p:nvPr>
            <p:ph type="title"/>
          </p:nvPr>
        </p:nvSpPr>
        <p:spPr>
          <a:xfrm>
            <a:off x="634997" y="509416"/>
            <a:ext cx="7772400" cy="61989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0000"/>
              </a:buClr>
              <a:buSzPts val="1800"/>
              <a:buFont typeface="Times New Roman"/>
              <a:buNone/>
            </a:pPr>
            <a:r>
              <a:rPr lang="fr-FR" sz="4000" b="1">
                <a:solidFill>
                  <a:srgbClr val="C00000"/>
                </a:solidFill>
                <a:latin typeface="Times New Roman"/>
                <a:ea typeface="Times New Roman"/>
                <a:cs typeface="Times New Roman"/>
                <a:sym typeface="Times New Roman"/>
              </a:rPr>
              <a:t>Plan du chapitre</a:t>
            </a:r>
            <a:endParaRPr/>
          </a:p>
        </p:txBody>
      </p:sp>
      <p:sp>
        <p:nvSpPr>
          <p:cNvPr id="158" name="Google Shape;158;p21"/>
          <p:cNvSpPr txBox="1">
            <a:spLocks noGrp="1"/>
          </p:cNvSpPr>
          <p:nvPr>
            <p:ph type="body" idx="1"/>
          </p:nvPr>
        </p:nvSpPr>
        <p:spPr>
          <a:xfrm>
            <a:off x="478256" y="1273324"/>
            <a:ext cx="8208545" cy="4241150"/>
          </a:xfrm>
          <a:prstGeom prst="rect">
            <a:avLst/>
          </a:prstGeom>
          <a:noFill/>
          <a:ln>
            <a:noFill/>
          </a:ln>
        </p:spPr>
        <p:txBody>
          <a:bodyPr spcFirstLastPara="1" wrap="square" lIns="91425" tIns="45700" rIns="91425" bIns="45700" anchor="t" anchorCtr="0">
            <a:normAutofit/>
          </a:bodyPr>
          <a:lstStyle/>
          <a:p>
            <a:pPr marL="228600" lvl="0" indent="-228600" algn="l" rtl="0">
              <a:lnSpc>
                <a:spcPct val="200000"/>
              </a:lnSpc>
              <a:spcBef>
                <a:spcPts val="0"/>
              </a:spcBef>
              <a:spcAft>
                <a:spcPts val="0"/>
              </a:spcAft>
              <a:buClr>
                <a:schemeClr val="dk1"/>
              </a:buClr>
              <a:buSzPts val="2800"/>
              <a:buFont typeface="Noto Sans Symbols"/>
              <a:buChar char="▪"/>
            </a:pPr>
            <a:r>
              <a:rPr lang="fr-FR" dirty="0"/>
              <a:t>Introduction</a:t>
            </a:r>
            <a:endParaRPr dirty="0"/>
          </a:p>
          <a:p>
            <a:pPr marL="228600" lvl="0" indent="-228600" algn="l" rtl="0">
              <a:lnSpc>
                <a:spcPct val="200000"/>
              </a:lnSpc>
              <a:spcBef>
                <a:spcPts val="468"/>
              </a:spcBef>
              <a:spcAft>
                <a:spcPts val="0"/>
              </a:spcAft>
              <a:buClr>
                <a:schemeClr val="dk1"/>
              </a:buClr>
              <a:buSzPts val="2800"/>
              <a:buFont typeface="Noto Sans Symbols"/>
              <a:buChar char="▪"/>
            </a:pPr>
            <a:r>
              <a:rPr lang="fr-FR" dirty="0"/>
              <a:t>Les menaces dans les applications web.</a:t>
            </a:r>
            <a:endParaRPr dirty="0"/>
          </a:p>
          <a:p>
            <a:pPr marL="228600" lvl="0" indent="-228600" algn="l" rtl="0">
              <a:lnSpc>
                <a:spcPct val="200000"/>
              </a:lnSpc>
              <a:spcBef>
                <a:spcPts val="468"/>
              </a:spcBef>
              <a:spcAft>
                <a:spcPts val="0"/>
              </a:spcAft>
              <a:buClr>
                <a:schemeClr val="dk1"/>
              </a:buClr>
              <a:buSzPts val="2800"/>
              <a:buFont typeface="Noto Sans Symbols"/>
              <a:buChar char="▪"/>
            </a:pPr>
            <a:r>
              <a:rPr lang="fr-FR" dirty="0"/>
              <a:t>Exemples d’attaques Web</a:t>
            </a:r>
            <a:endParaRPr dirty="0"/>
          </a:p>
        </p:txBody>
      </p:sp>
      <p:sp>
        <p:nvSpPr>
          <p:cNvPr id="159" name="Google Shape;159;p21"/>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6</a:t>
            </a:fld>
            <a:endParaRPr/>
          </a:p>
        </p:txBody>
      </p:sp>
      <p:sp>
        <p:nvSpPr>
          <p:cNvPr id="160" name="Google Shape;160;p21"/>
          <p:cNvSpPr/>
          <p:nvPr/>
        </p:nvSpPr>
        <p:spPr>
          <a:xfrm>
            <a:off x="732836" y="2559509"/>
            <a:ext cx="6552728" cy="576064"/>
          </a:xfrm>
          <a:prstGeom prst="rect">
            <a:avLst/>
          </a:prstGeom>
          <a:solidFill>
            <a:srgbClr val="FF7C80">
              <a:alpha val="4470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2"/>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0000"/>
              </a:buClr>
              <a:buSzPts val="1800"/>
              <a:buFont typeface="Times New Roman"/>
              <a:buNone/>
            </a:pPr>
            <a:r>
              <a:rPr lang="fr-FR" sz="4000" b="1">
                <a:solidFill>
                  <a:srgbClr val="C00000"/>
                </a:solidFill>
                <a:latin typeface="Times New Roman"/>
                <a:ea typeface="Times New Roman"/>
                <a:cs typeface="Times New Roman"/>
                <a:sym typeface="Times New Roman"/>
              </a:rPr>
              <a:t>Types de vulnérabilités</a:t>
            </a:r>
            <a:endParaRPr sz="4000" b="1">
              <a:solidFill>
                <a:srgbClr val="C00000"/>
              </a:solidFill>
              <a:latin typeface="Times New Roman"/>
              <a:ea typeface="Times New Roman"/>
              <a:cs typeface="Times New Roman"/>
              <a:sym typeface="Times New Roman"/>
            </a:endParaRPr>
          </a:p>
        </p:txBody>
      </p:sp>
      <p:grpSp>
        <p:nvGrpSpPr>
          <p:cNvPr id="166" name="Google Shape;166;p22"/>
          <p:cNvGrpSpPr/>
          <p:nvPr/>
        </p:nvGrpSpPr>
        <p:grpSpPr>
          <a:xfrm>
            <a:off x="234315" y="1577510"/>
            <a:ext cx="8675369" cy="3524368"/>
            <a:chOff x="0" y="431615"/>
            <a:chExt cx="8675369" cy="3524368"/>
          </a:xfrm>
        </p:grpSpPr>
        <p:sp>
          <p:nvSpPr>
            <p:cNvPr id="167" name="Google Shape;167;p22"/>
            <p:cNvSpPr/>
            <p:nvPr/>
          </p:nvSpPr>
          <p:spPr>
            <a:xfrm>
              <a:off x="0" y="431615"/>
              <a:ext cx="2711053" cy="1626631"/>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22"/>
            <p:cNvSpPr txBox="1"/>
            <p:nvPr/>
          </p:nvSpPr>
          <p:spPr>
            <a:xfrm>
              <a:off x="0" y="431615"/>
              <a:ext cx="2711053" cy="1626631"/>
            </a:xfrm>
            <a:prstGeom prst="rect">
              <a:avLst/>
            </a:prstGeom>
            <a:noFill/>
            <a:ln>
              <a:noFill/>
            </a:ln>
          </p:spPr>
          <p:txBody>
            <a:bodyPr spcFirstLastPara="1" wrap="square" lIns="83800" tIns="83800" rIns="83800" bIns="83800" anchor="t" anchorCtr="0">
              <a:noAutofit/>
            </a:bodyPr>
            <a:lstStyle/>
            <a:p>
              <a:pPr marL="0" marR="0" lvl="0" indent="0" algn="l" rtl="0">
                <a:lnSpc>
                  <a:spcPct val="90000"/>
                </a:lnSpc>
                <a:spcBef>
                  <a:spcPts val="0"/>
                </a:spcBef>
                <a:spcAft>
                  <a:spcPts val="0"/>
                </a:spcAft>
                <a:buClr>
                  <a:srgbClr val="000000"/>
                </a:buClr>
                <a:buSzPts val="2200"/>
                <a:buFont typeface="Arial"/>
                <a:buNone/>
              </a:pPr>
              <a:r>
                <a:rPr lang="fr-FR" sz="2200" b="0" i="0" u="none" strike="noStrike" cap="none">
                  <a:solidFill>
                    <a:schemeClr val="lt1"/>
                  </a:solidFill>
                  <a:latin typeface="Calibri"/>
                  <a:ea typeface="Calibri"/>
                  <a:cs typeface="Calibri"/>
                  <a:sym typeface="Calibri"/>
                </a:rPr>
                <a:t>Authentification</a:t>
              </a:r>
              <a:endParaRPr sz="22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770"/>
                </a:spcBef>
                <a:spcAft>
                  <a:spcPts val="0"/>
                </a:spcAft>
                <a:buClr>
                  <a:schemeClr val="lt1"/>
                </a:buClr>
                <a:buSzPts val="1700"/>
                <a:buFont typeface="Calibri"/>
                <a:buChar char="•"/>
              </a:pPr>
              <a:r>
                <a:rPr lang="fr-FR" sz="1700" b="0" i="0" u="none" strike="noStrike" cap="none">
                  <a:solidFill>
                    <a:schemeClr val="lt1"/>
                  </a:solidFill>
                  <a:latin typeface="Calibri"/>
                  <a:ea typeface="Calibri"/>
                  <a:cs typeface="Calibri"/>
                  <a:sym typeface="Calibri"/>
                </a:rPr>
                <a:t>Brute Force, Authentification insuffisante, Restauration de mdp</a:t>
              </a:r>
              <a:endParaRPr sz="1700" b="0" i="0" u="none" strike="noStrike" cap="none">
                <a:solidFill>
                  <a:schemeClr val="lt1"/>
                </a:solidFill>
                <a:latin typeface="Calibri"/>
                <a:ea typeface="Calibri"/>
                <a:cs typeface="Calibri"/>
                <a:sym typeface="Calibri"/>
              </a:endParaRPr>
            </a:p>
          </p:txBody>
        </p:sp>
        <p:sp>
          <p:nvSpPr>
            <p:cNvPr id="169" name="Google Shape;169;p22"/>
            <p:cNvSpPr/>
            <p:nvPr/>
          </p:nvSpPr>
          <p:spPr>
            <a:xfrm>
              <a:off x="2982158" y="431615"/>
              <a:ext cx="2711053" cy="1626631"/>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22"/>
            <p:cNvSpPr txBox="1"/>
            <p:nvPr/>
          </p:nvSpPr>
          <p:spPr>
            <a:xfrm>
              <a:off x="2982158" y="431615"/>
              <a:ext cx="2711053" cy="1626631"/>
            </a:xfrm>
            <a:prstGeom prst="rect">
              <a:avLst/>
            </a:prstGeom>
            <a:noFill/>
            <a:ln>
              <a:noFill/>
            </a:ln>
          </p:spPr>
          <p:txBody>
            <a:bodyPr spcFirstLastPara="1" wrap="square" lIns="83800" tIns="83800" rIns="83800" bIns="83800" anchor="t" anchorCtr="0">
              <a:noAutofit/>
            </a:bodyPr>
            <a:lstStyle/>
            <a:p>
              <a:pPr marL="0" marR="0" lvl="0" indent="0" algn="l" rtl="0">
                <a:lnSpc>
                  <a:spcPct val="90000"/>
                </a:lnSpc>
                <a:spcBef>
                  <a:spcPts val="0"/>
                </a:spcBef>
                <a:spcAft>
                  <a:spcPts val="0"/>
                </a:spcAft>
                <a:buClr>
                  <a:srgbClr val="000000"/>
                </a:buClr>
                <a:buSzPts val="2200"/>
                <a:buFont typeface="Arial"/>
                <a:buNone/>
              </a:pPr>
              <a:r>
                <a:rPr lang="fr-FR" sz="2200" b="0" i="0" u="none" strike="noStrike" cap="none">
                  <a:solidFill>
                    <a:schemeClr val="lt1"/>
                  </a:solidFill>
                  <a:latin typeface="Calibri"/>
                  <a:ea typeface="Calibri"/>
                  <a:cs typeface="Calibri"/>
                  <a:sym typeface="Calibri"/>
                </a:rPr>
                <a:t>Autorisation</a:t>
              </a:r>
              <a:endParaRPr sz="22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770"/>
                </a:spcBef>
                <a:spcAft>
                  <a:spcPts val="0"/>
                </a:spcAft>
                <a:buClr>
                  <a:schemeClr val="lt1"/>
                </a:buClr>
                <a:buSzPts val="1700"/>
                <a:buFont typeface="Calibri"/>
                <a:buChar char="•"/>
              </a:pPr>
              <a:r>
                <a:rPr lang="fr-FR" sz="1700" b="0" i="0" u="none" strike="noStrike" cap="none">
                  <a:solidFill>
                    <a:schemeClr val="lt1"/>
                  </a:solidFill>
                  <a:latin typeface="Calibri"/>
                  <a:ea typeface="Calibri"/>
                  <a:cs typeface="Calibri"/>
                  <a:sym typeface="Calibri"/>
                </a:rPr>
                <a:t>Prédiction de session, Autorisation insuffisante, Expiration de session</a:t>
              </a:r>
              <a:endParaRPr sz="1700" b="0" i="0" u="none" strike="noStrike" cap="none">
                <a:solidFill>
                  <a:schemeClr val="lt1"/>
                </a:solidFill>
                <a:latin typeface="Calibri"/>
                <a:ea typeface="Calibri"/>
                <a:cs typeface="Calibri"/>
                <a:sym typeface="Calibri"/>
              </a:endParaRPr>
            </a:p>
          </p:txBody>
        </p:sp>
        <p:sp>
          <p:nvSpPr>
            <p:cNvPr id="171" name="Google Shape;171;p22"/>
            <p:cNvSpPr/>
            <p:nvPr/>
          </p:nvSpPr>
          <p:spPr>
            <a:xfrm>
              <a:off x="5964316" y="431615"/>
              <a:ext cx="2711053" cy="1626631"/>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22"/>
            <p:cNvSpPr txBox="1"/>
            <p:nvPr/>
          </p:nvSpPr>
          <p:spPr>
            <a:xfrm>
              <a:off x="5964316" y="431615"/>
              <a:ext cx="2711053" cy="1626631"/>
            </a:xfrm>
            <a:prstGeom prst="rect">
              <a:avLst/>
            </a:prstGeom>
            <a:noFill/>
            <a:ln>
              <a:noFill/>
            </a:ln>
          </p:spPr>
          <p:txBody>
            <a:bodyPr spcFirstLastPara="1" wrap="square" lIns="83800" tIns="83800" rIns="83800" bIns="83800" anchor="t" anchorCtr="0">
              <a:noAutofit/>
            </a:bodyPr>
            <a:lstStyle/>
            <a:p>
              <a:pPr marL="0" marR="0" lvl="0" indent="0" algn="l" rtl="0">
                <a:lnSpc>
                  <a:spcPct val="90000"/>
                </a:lnSpc>
                <a:spcBef>
                  <a:spcPts val="0"/>
                </a:spcBef>
                <a:spcAft>
                  <a:spcPts val="0"/>
                </a:spcAft>
                <a:buClr>
                  <a:srgbClr val="000000"/>
                </a:buClr>
                <a:buSzPts val="2200"/>
                <a:buFont typeface="Arial"/>
                <a:buNone/>
              </a:pPr>
              <a:r>
                <a:rPr lang="fr-FR" sz="2200" b="0" i="0" u="none" strike="noStrike" cap="none">
                  <a:solidFill>
                    <a:schemeClr val="lt1"/>
                  </a:solidFill>
                  <a:latin typeface="Calibri"/>
                  <a:ea typeface="Calibri"/>
                  <a:cs typeface="Calibri"/>
                  <a:sym typeface="Calibri"/>
                </a:rPr>
                <a:t>Attaque coté client</a:t>
              </a:r>
              <a:endParaRPr sz="22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770"/>
                </a:spcBef>
                <a:spcAft>
                  <a:spcPts val="0"/>
                </a:spcAft>
                <a:buClr>
                  <a:schemeClr val="lt1"/>
                </a:buClr>
                <a:buSzPts val="1700"/>
                <a:buFont typeface="Calibri"/>
                <a:buChar char="•"/>
              </a:pPr>
              <a:r>
                <a:rPr lang="fr-FR" sz="1700" b="0" i="0" u="none" strike="noStrike" cap="none">
                  <a:solidFill>
                    <a:schemeClr val="lt1"/>
                  </a:solidFill>
                  <a:latin typeface="Calibri"/>
                  <a:ea typeface="Calibri"/>
                  <a:cs typeface="Calibri"/>
                  <a:sym typeface="Calibri"/>
                </a:rPr>
                <a:t>Usurpation de contenu, XSS</a:t>
              </a:r>
              <a:endParaRPr sz="1700" b="0" i="0" u="none" strike="noStrike" cap="none">
                <a:solidFill>
                  <a:schemeClr val="lt1"/>
                </a:solidFill>
                <a:latin typeface="Calibri"/>
                <a:ea typeface="Calibri"/>
                <a:cs typeface="Calibri"/>
                <a:sym typeface="Calibri"/>
              </a:endParaRPr>
            </a:p>
          </p:txBody>
        </p:sp>
        <p:sp>
          <p:nvSpPr>
            <p:cNvPr id="173" name="Google Shape;173;p22"/>
            <p:cNvSpPr/>
            <p:nvPr/>
          </p:nvSpPr>
          <p:spPr>
            <a:xfrm>
              <a:off x="0" y="2329352"/>
              <a:ext cx="2711053" cy="1626631"/>
            </a:xfrm>
            <a:prstGeom prst="rect">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22"/>
            <p:cNvSpPr txBox="1"/>
            <p:nvPr/>
          </p:nvSpPr>
          <p:spPr>
            <a:xfrm>
              <a:off x="0" y="2329352"/>
              <a:ext cx="2711053" cy="1626631"/>
            </a:xfrm>
            <a:prstGeom prst="rect">
              <a:avLst/>
            </a:prstGeom>
            <a:noFill/>
            <a:ln>
              <a:noFill/>
            </a:ln>
          </p:spPr>
          <p:txBody>
            <a:bodyPr spcFirstLastPara="1" wrap="square" lIns="83800" tIns="83800" rIns="83800" bIns="83800" anchor="t" anchorCtr="0">
              <a:noAutofit/>
            </a:bodyPr>
            <a:lstStyle/>
            <a:p>
              <a:pPr marL="0" marR="0" lvl="0" indent="0" algn="l" rtl="0">
                <a:lnSpc>
                  <a:spcPct val="90000"/>
                </a:lnSpc>
                <a:spcBef>
                  <a:spcPts val="0"/>
                </a:spcBef>
                <a:spcAft>
                  <a:spcPts val="0"/>
                </a:spcAft>
                <a:buClr>
                  <a:srgbClr val="000000"/>
                </a:buClr>
                <a:buSzPts val="2200"/>
                <a:buFont typeface="Arial"/>
                <a:buNone/>
              </a:pPr>
              <a:r>
                <a:rPr lang="fr-FR" sz="2200" b="0" i="0" u="none" strike="noStrike" cap="none">
                  <a:solidFill>
                    <a:schemeClr val="lt1"/>
                  </a:solidFill>
                  <a:latin typeface="Calibri"/>
                  <a:ea typeface="Calibri"/>
                  <a:cs typeface="Calibri"/>
                  <a:sym typeface="Calibri"/>
                </a:rPr>
                <a:t>Exécution de commandes</a:t>
              </a:r>
              <a:endParaRPr sz="22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770"/>
                </a:spcBef>
                <a:spcAft>
                  <a:spcPts val="0"/>
                </a:spcAft>
                <a:buClr>
                  <a:schemeClr val="lt1"/>
                </a:buClr>
                <a:buSzPts val="1700"/>
                <a:buFont typeface="Calibri"/>
                <a:buChar char="•"/>
              </a:pPr>
              <a:r>
                <a:rPr lang="fr-FR" sz="1700" b="0" i="0" u="none" strike="noStrike" cap="none">
                  <a:solidFill>
                    <a:schemeClr val="lt1"/>
                  </a:solidFill>
                  <a:latin typeface="Calibri"/>
                  <a:ea typeface="Calibri"/>
                  <a:cs typeface="Calibri"/>
                  <a:sym typeface="Calibri"/>
                </a:rPr>
                <a:t>Buffer Overflow, Injection, prise de contrôle</a:t>
              </a:r>
              <a:endParaRPr sz="1700" b="0" i="0" u="none" strike="noStrike" cap="none">
                <a:solidFill>
                  <a:schemeClr val="lt1"/>
                </a:solidFill>
                <a:latin typeface="Calibri"/>
                <a:ea typeface="Calibri"/>
                <a:cs typeface="Calibri"/>
                <a:sym typeface="Calibri"/>
              </a:endParaRPr>
            </a:p>
          </p:txBody>
        </p:sp>
        <p:sp>
          <p:nvSpPr>
            <p:cNvPr id="175" name="Google Shape;175;p22"/>
            <p:cNvSpPr/>
            <p:nvPr/>
          </p:nvSpPr>
          <p:spPr>
            <a:xfrm>
              <a:off x="2982158" y="2329352"/>
              <a:ext cx="2711053" cy="1626631"/>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22"/>
            <p:cNvSpPr txBox="1"/>
            <p:nvPr/>
          </p:nvSpPr>
          <p:spPr>
            <a:xfrm>
              <a:off x="2982158" y="2329352"/>
              <a:ext cx="2711053" cy="1626631"/>
            </a:xfrm>
            <a:prstGeom prst="rect">
              <a:avLst/>
            </a:prstGeom>
            <a:noFill/>
            <a:ln>
              <a:noFill/>
            </a:ln>
          </p:spPr>
          <p:txBody>
            <a:bodyPr spcFirstLastPara="1" wrap="square" lIns="83800" tIns="83800" rIns="83800" bIns="83800" anchor="t" anchorCtr="0">
              <a:noAutofit/>
            </a:bodyPr>
            <a:lstStyle/>
            <a:p>
              <a:pPr marL="0" marR="0" lvl="0" indent="0" algn="l" rtl="0">
                <a:lnSpc>
                  <a:spcPct val="90000"/>
                </a:lnSpc>
                <a:spcBef>
                  <a:spcPts val="0"/>
                </a:spcBef>
                <a:spcAft>
                  <a:spcPts val="0"/>
                </a:spcAft>
                <a:buClr>
                  <a:srgbClr val="000000"/>
                </a:buClr>
                <a:buSzPts val="2200"/>
                <a:buFont typeface="Arial"/>
                <a:buNone/>
              </a:pPr>
              <a:r>
                <a:rPr lang="fr-FR" sz="2200" b="0" i="0" u="none" strike="noStrike" cap="none">
                  <a:solidFill>
                    <a:schemeClr val="lt1"/>
                  </a:solidFill>
                  <a:latin typeface="Calibri"/>
                  <a:ea typeface="Calibri"/>
                  <a:cs typeface="Calibri"/>
                  <a:sym typeface="Calibri"/>
                </a:rPr>
                <a:t>Fuites d’informations</a:t>
              </a:r>
              <a:endParaRPr sz="22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770"/>
                </a:spcBef>
                <a:spcAft>
                  <a:spcPts val="0"/>
                </a:spcAft>
                <a:buClr>
                  <a:schemeClr val="lt1"/>
                </a:buClr>
                <a:buSzPts val="1700"/>
                <a:buFont typeface="Calibri"/>
                <a:buChar char="•"/>
              </a:pPr>
              <a:r>
                <a:rPr lang="fr-FR" sz="1700" b="0" i="0" u="none" strike="noStrike" cap="none">
                  <a:solidFill>
                    <a:schemeClr val="lt1"/>
                  </a:solidFill>
                  <a:latin typeface="Calibri"/>
                  <a:ea typeface="Calibri"/>
                  <a:cs typeface="Calibri"/>
                  <a:sym typeface="Calibri"/>
                </a:rPr>
                <a:t>Indexation de répertoires, commentaires, requêtes prévisibles</a:t>
              </a:r>
              <a:endParaRPr sz="1700" b="0" i="0" u="none" strike="noStrike" cap="none">
                <a:solidFill>
                  <a:schemeClr val="lt1"/>
                </a:solidFill>
                <a:latin typeface="Calibri"/>
                <a:ea typeface="Calibri"/>
                <a:cs typeface="Calibri"/>
                <a:sym typeface="Calibri"/>
              </a:endParaRPr>
            </a:p>
          </p:txBody>
        </p:sp>
        <p:sp>
          <p:nvSpPr>
            <p:cNvPr id="177" name="Google Shape;177;p22"/>
            <p:cNvSpPr/>
            <p:nvPr/>
          </p:nvSpPr>
          <p:spPr>
            <a:xfrm>
              <a:off x="5964316" y="2329352"/>
              <a:ext cx="2711053" cy="1626631"/>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22"/>
            <p:cNvSpPr txBox="1"/>
            <p:nvPr/>
          </p:nvSpPr>
          <p:spPr>
            <a:xfrm>
              <a:off x="5964316" y="2329352"/>
              <a:ext cx="2711053" cy="1626631"/>
            </a:xfrm>
            <a:prstGeom prst="rect">
              <a:avLst/>
            </a:prstGeom>
            <a:noFill/>
            <a:ln>
              <a:noFill/>
            </a:ln>
          </p:spPr>
          <p:txBody>
            <a:bodyPr spcFirstLastPara="1" wrap="square" lIns="83800" tIns="83800" rIns="83800" bIns="83800" anchor="t" anchorCtr="0">
              <a:noAutofit/>
            </a:bodyPr>
            <a:lstStyle/>
            <a:p>
              <a:pPr marL="0" marR="0" lvl="0" indent="0" algn="l" rtl="0">
                <a:lnSpc>
                  <a:spcPct val="90000"/>
                </a:lnSpc>
                <a:spcBef>
                  <a:spcPts val="0"/>
                </a:spcBef>
                <a:spcAft>
                  <a:spcPts val="0"/>
                </a:spcAft>
                <a:buClr>
                  <a:srgbClr val="000000"/>
                </a:buClr>
                <a:buSzPts val="2200"/>
                <a:buFont typeface="Arial"/>
                <a:buNone/>
              </a:pPr>
              <a:r>
                <a:rPr lang="fr-FR" sz="2200" b="0" i="0" u="none" strike="noStrike" cap="none">
                  <a:solidFill>
                    <a:schemeClr val="lt1"/>
                  </a:solidFill>
                  <a:latin typeface="Calibri"/>
                  <a:ea typeface="Calibri"/>
                  <a:cs typeface="Calibri"/>
                  <a:sym typeface="Calibri"/>
                </a:rPr>
                <a:t>Attaque logiques</a:t>
              </a:r>
              <a:endParaRPr sz="22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770"/>
                </a:spcBef>
                <a:spcAft>
                  <a:spcPts val="0"/>
                </a:spcAft>
                <a:buClr>
                  <a:schemeClr val="lt1"/>
                </a:buClr>
                <a:buSzPts val="1700"/>
                <a:buFont typeface="Calibri"/>
                <a:buChar char="•"/>
              </a:pPr>
              <a:r>
                <a:rPr lang="fr-FR" sz="1700" b="0" i="0" u="none" strike="noStrike" cap="none">
                  <a:solidFill>
                    <a:schemeClr val="lt1"/>
                  </a:solidFill>
                  <a:latin typeface="Calibri"/>
                  <a:ea typeface="Calibri"/>
                  <a:cs typeface="Calibri"/>
                  <a:sym typeface="Calibri"/>
                </a:rPr>
                <a:t>Déni de service, abus de fonctionnalités, validation insuffisante</a:t>
              </a:r>
              <a:endParaRPr sz="1700" b="0" i="0" u="none" strike="noStrike" cap="none">
                <a:solidFill>
                  <a:schemeClr val="lt1"/>
                </a:solidFill>
                <a:latin typeface="Calibri"/>
                <a:ea typeface="Calibri"/>
                <a:cs typeface="Calibri"/>
                <a:sym typeface="Calibri"/>
              </a:endParaRPr>
            </a:p>
          </p:txBody>
        </p:sp>
      </p:grpSp>
      <p:sp>
        <p:nvSpPr>
          <p:cNvPr id="179" name="Google Shape;179;p22"/>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3"/>
        <p:cNvGrpSpPr/>
        <p:nvPr/>
      </p:nvGrpSpPr>
      <p:grpSpPr>
        <a:xfrm>
          <a:off x="0" y="0"/>
          <a:ext cx="0" cy="0"/>
          <a:chOff x="0" y="0"/>
          <a:chExt cx="0" cy="0"/>
        </a:xfrm>
      </p:grpSpPr>
      <p:sp>
        <p:nvSpPr>
          <p:cNvPr id="184" name="Google Shape;184;p23"/>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a:solidFill>
                  <a:srgbClr val="C00000"/>
                </a:solidFill>
                <a:latin typeface="Times New Roman"/>
                <a:ea typeface="Times New Roman"/>
                <a:cs typeface="Times New Roman"/>
                <a:sym typeface="Times New Roman"/>
              </a:rPr>
              <a:t>Principe des attaques</a:t>
            </a:r>
            <a:endParaRPr/>
          </a:p>
        </p:txBody>
      </p:sp>
      <p:sp>
        <p:nvSpPr>
          <p:cNvPr id="185" name="Google Shape;185;p23"/>
          <p:cNvSpPr txBox="1">
            <a:spLocks noGrp="1"/>
          </p:cNvSpPr>
          <p:nvPr>
            <p:ph type="body" idx="1"/>
          </p:nvPr>
        </p:nvSpPr>
        <p:spPr>
          <a:xfrm>
            <a:off x="628650" y="1521354"/>
            <a:ext cx="7886700" cy="3626115"/>
          </a:xfrm>
          <a:prstGeom prst="rect">
            <a:avLst/>
          </a:prstGeom>
          <a:noFill/>
          <a:ln>
            <a:noFill/>
          </a:ln>
        </p:spPr>
        <p:txBody>
          <a:bodyPr spcFirstLastPara="1" wrap="square" lIns="91425" tIns="45700" rIns="91425" bIns="45700" anchor="t" anchorCtr="0">
            <a:normAutofit/>
          </a:bodyPr>
          <a:lstStyle/>
          <a:p>
            <a:pPr marL="288977" marR="4136" lvl="0" indent="-279155" algn="l" rtl="0">
              <a:lnSpc>
                <a:spcPct val="90000"/>
              </a:lnSpc>
              <a:spcBef>
                <a:spcPts val="0"/>
              </a:spcBef>
              <a:spcAft>
                <a:spcPts val="0"/>
              </a:spcAft>
              <a:buClr>
                <a:schemeClr val="dk1"/>
              </a:buClr>
              <a:buSzPts val="2300"/>
              <a:buFont typeface="Arial"/>
              <a:buChar char="•"/>
            </a:pPr>
            <a:r>
              <a:rPr lang="fr-FR" sz="2300" dirty="0"/>
              <a:t>Les attaques s’appuient généralement sur l’injection  des fautes:</a:t>
            </a:r>
            <a:endParaRPr sz="2300" dirty="0"/>
          </a:p>
          <a:p>
            <a:pPr marL="615692" marR="135442" lvl="1" indent="-233663" algn="l" rtl="0">
              <a:lnSpc>
                <a:spcPct val="90000"/>
              </a:lnSpc>
              <a:spcBef>
                <a:spcPts val="493"/>
              </a:spcBef>
              <a:spcAft>
                <a:spcPts val="0"/>
              </a:spcAft>
              <a:buClr>
                <a:schemeClr val="dk1"/>
              </a:buClr>
              <a:buSzPts val="2000"/>
              <a:buFont typeface="Arial"/>
              <a:buChar char="–"/>
            </a:pPr>
            <a:r>
              <a:rPr lang="fr-FR" sz="2000" dirty="0"/>
              <a:t>Une techniques permettant d’exploiter les vulnérabilités  de la syntaxe sémantique d’une application Web</a:t>
            </a:r>
            <a:endParaRPr dirty="0"/>
          </a:p>
          <a:p>
            <a:pPr marL="382029" marR="135442" lvl="1" indent="0" algn="l" rtl="0">
              <a:lnSpc>
                <a:spcPct val="90000"/>
              </a:lnSpc>
              <a:spcBef>
                <a:spcPts val="493"/>
              </a:spcBef>
              <a:spcAft>
                <a:spcPts val="0"/>
              </a:spcAft>
              <a:buClr>
                <a:schemeClr val="dk1"/>
              </a:buClr>
              <a:buSzPts val="2000"/>
              <a:buNone/>
            </a:pPr>
            <a:endParaRPr sz="2000" dirty="0"/>
          </a:p>
          <a:p>
            <a:pPr marL="288977" marR="4136" lvl="0" indent="-279155" algn="l" rtl="0">
              <a:lnSpc>
                <a:spcPct val="90000"/>
              </a:lnSpc>
              <a:spcBef>
                <a:spcPts val="77"/>
              </a:spcBef>
              <a:spcAft>
                <a:spcPts val="0"/>
              </a:spcAft>
              <a:buClr>
                <a:schemeClr val="dk1"/>
              </a:buClr>
              <a:buSzPts val="2300"/>
              <a:buFont typeface="Arial"/>
              <a:buChar char="•"/>
            </a:pPr>
            <a:r>
              <a:rPr lang="fr-FR" sz="2300" dirty="0"/>
              <a:t>Les vulnérabilités de sécurité au sein d’une application Web sont liées à:</a:t>
            </a:r>
            <a:endParaRPr dirty="0"/>
          </a:p>
          <a:p>
            <a:pPr marL="615692" marR="34636" lvl="1" indent="-233663" algn="l" rtl="0">
              <a:lnSpc>
                <a:spcPct val="90000"/>
              </a:lnSpc>
              <a:spcBef>
                <a:spcPts val="493"/>
              </a:spcBef>
              <a:spcAft>
                <a:spcPts val="0"/>
              </a:spcAft>
              <a:buClr>
                <a:schemeClr val="dk1"/>
              </a:buClr>
              <a:buSzPts val="2000"/>
              <a:buFont typeface="Arial"/>
              <a:buChar char="–"/>
            </a:pPr>
            <a:r>
              <a:rPr lang="fr-FR" sz="2000" dirty="0"/>
              <a:t>Des erreurs de programmation avec le langage de  l’application web ( exemple : .NET, PHP, Python, JSP, CGI…)</a:t>
            </a:r>
            <a:endParaRPr sz="2000" dirty="0"/>
          </a:p>
        </p:txBody>
      </p:sp>
      <p:sp>
        <p:nvSpPr>
          <p:cNvPr id="186" name="Google Shape;186;p23"/>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8</a:t>
            </a:fld>
            <a:endParaRPr/>
          </a:p>
        </p:txBody>
      </p:sp>
      <p:sp>
        <p:nvSpPr>
          <p:cNvPr id="187" name="Google Shape;187;p23"/>
          <p:cNvSpPr txBox="1"/>
          <p:nvPr/>
        </p:nvSpPr>
        <p:spPr>
          <a:xfrm>
            <a:off x="1110648" y="5131175"/>
            <a:ext cx="116200" cy="147328"/>
          </a:xfrm>
          <a:prstGeom prst="rect">
            <a:avLst/>
          </a:prstGeom>
          <a:noFill/>
          <a:ln>
            <a:noFill/>
          </a:ln>
        </p:spPr>
        <p:txBody>
          <a:bodyPr spcFirstLastPara="1" wrap="square" lIns="0" tIns="6200" rIns="0" bIns="0" anchor="t" anchorCtr="0">
            <a:spAutoFit/>
          </a:bodyPr>
          <a:lstStyle/>
          <a:p>
            <a:pPr marL="20678" marR="0" lvl="0" indent="0" algn="l" rtl="0">
              <a:lnSpc>
                <a:spcPct val="109100"/>
              </a:lnSpc>
              <a:spcBef>
                <a:spcPts val="0"/>
              </a:spcBef>
              <a:spcAft>
                <a:spcPts val="0"/>
              </a:spcAft>
              <a:buClr>
                <a:srgbClr val="000000"/>
              </a:buClr>
              <a:buSzPts val="1000"/>
              <a:buFont typeface="Arial"/>
              <a:buNone/>
            </a:pPr>
            <a:fld id="{00000000-1234-1234-1234-123412341234}" type="slidenum">
              <a:rPr lang="fr-FR" sz="1000" b="0" i="0" u="none" strike="noStrike" cap="none">
                <a:solidFill>
                  <a:srgbClr val="898989"/>
                </a:solidFill>
                <a:latin typeface="Arial"/>
                <a:ea typeface="Arial"/>
                <a:cs typeface="Arial"/>
                <a:sym typeface="Arial"/>
              </a:rPr>
              <a:t>8</a:t>
            </a:fld>
            <a:endParaRPr sz="10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4"/>
          <p:cNvSpPr txBox="1">
            <a:spLocks noGrp="1"/>
          </p:cNvSpPr>
          <p:nvPr>
            <p:ph type="title"/>
          </p:nvPr>
        </p:nvSpPr>
        <p:spPr>
          <a:xfrm>
            <a:off x="1183382" y="313543"/>
            <a:ext cx="6781058" cy="11184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a:solidFill>
                  <a:srgbClr val="C00000"/>
                </a:solidFill>
                <a:latin typeface="Times New Roman"/>
                <a:ea typeface="Times New Roman"/>
                <a:cs typeface="Times New Roman"/>
                <a:sym typeface="Times New Roman"/>
              </a:rPr>
              <a:t>Référencement des documents</a:t>
            </a:r>
            <a:endParaRPr/>
          </a:p>
        </p:txBody>
      </p:sp>
      <p:sp>
        <p:nvSpPr>
          <p:cNvPr id="193" name="Google Shape;193;p24"/>
          <p:cNvSpPr txBox="1"/>
          <p:nvPr/>
        </p:nvSpPr>
        <p:spPr>
          <a:xfrm>
            <a:off x="1129327" y="1858767"/>
            <a:ext cx="6715736" cy="256661"/>
          </a:xfrm>
          <a:prstGeom prst="rect">
            <a:avLst/>
          </a:prstGeom>
          <a:noFill/>
          <a:ln>
            <a:noFill/>
          </a:ln>
        </p:spPr>
        <p:txBody>
          <a:bodyPr spcFirstLastPara="1" wrap="square" lIns="0" tIns="10325" rIns="0" bIns="0" anchor="t" anchorCtr="0">
            <a:spAutoFit/>
          </a:bodyPr>
          <a:lstStyle/>
          <a:p>
            <a:pPr marL="10339" marR="0" lvl="0" indent="0" algn="l" rtl="0">
              <a:lnSpc>
                <a:spcPct val="100000"/>
              </a:lnSpc>
              <a:spcBef>
                <a:spcPts val="0"/>
              </a:spcBef>
              <a:spcAft>
                <a:spcPts val="0"/>
              </a:spcAft>
              <a:buClr>
                <a:srgbClr val="000000"/>
              </a:buClr>
              <a:buSzPts val="1600"/>
              <a:buFont typeface="Arial"/>
              <a:buNone/>
            </a:pPr>
            <a:r>
              <a:rPr lang="fr-FR" sz="1600" b="1" i="0" u="none" strike="noStrike" cap="none">
                <a:solidFill>
                  <a:srgbClr val="365F92"/>
                </a:solidFill>
                <a:latin typeface="Calibri"/>
                <a:ea typeface="Calibri"/>
                <a:cs typeface="Calibri"/>
                <a:sym typeface="Calibri"/>
              </a:rPr>
              <a:t>http://</a:t>
            </a:r>
            <a:r>
              <a:rPr lang="fr-FR" sz="1600" b="1" i="0" u="none" strike="noStrike" cap="none">
                <a:solidFill>
                  <a:srgbClr val="FF0000"/>
                </a:solidFill>
                <a:latin typeface="Calibri"/>
                <a:ea typeface="Calibri"/>
                <a:cs typeface="Calibri"/>
                <a:sym typeface="Calibri"/>
              </a:rPr>
              <a:t>www.watchfire.com</a:t>
            </a:r>
            <a:r>
              <a:rPr lang="fr-FR" sz="1600" b="0" i="0" u="none" strike="noStrike" cap="none">
                <a:solidFill>
                  <a:schemeClr val="dk1"/>
                </a:solidFill>
                <a:latin typeface="Calibri"/>
                <a:ea typeface="Calibri"/>
                <a:cs typeface="Calibri"/>
                <a:sym typeface="Calibri"/>
              </a:rPr>
              <a:t>:</a:t>
            </a:r>
            <a:r>
              <a:rPr lang="fr-FR" sz="1600" b="1" i="0" u="none" strike="noStrike" cap="none">
                <a:solidFill>
                  <a:srgbClr val="00B04F"/>
                </a:solidFill>
                <a:latin typeface="Calibri"/>
                <a:ea typeface="Calibri"/>
                <a:cs typeface="Calibri"/>
                <a:sym typeface="Calibri"/>
              </a:rPr>
              <a:t>80</a:t>
            </a:r>
            <a:r>
              <a:rPr lang="fr-FR" sz="1600" b="0" i="0" u="none" strike="noStrike" cap="none">
                <a:solidFill>
                  <a:schemeClr val="dk1"/>
                </a:solidFill>
                <a:latin typeface="Calibri"/>
                <a:ea typeface="Calibri"/>
                <a:cs typeface="Calibri"/>
                <a:sym typeface="Calibri"/>
              </a:rPr>
              <a:t>/</a:t>
            </a:r>
            <a:r>
              <a:rPr lang="fr-FR" sz="1600" b="1" i="0" u="none" strike="noStrike" cap="none">
                <a:solidFill>
                  <a:srgbClr val="006FC0"/>
                </a:solidFill>
                <a:latin typeface="Calibri"/>
                <a:ea typeface="Calibri"/>
                <a:cs typeface="Calibri"/>
                <a:sym typeface="Calibri"/>
              </a:rPr>
              <a:t>products/appscan/default.aspx</a:t>
            </a:r>
            <a:r>
              <a:rPr lang="fr-FR" sz="1600" b="1" i="0" u="none" strike="noStrike" cap="none">
                <a:solidFill>
                  <a:srgbClr val="984706"/>
                </a:solidFill>
                <a:latin typeface="Calibri"/>
                <a:ea typeface="Calibri"/>
                <a:cs typeface="Calibri"/>
                <a:sym typeface="Calibri"/>
              </a:rPr>
              <a:t>?articleId=4</a:t>
            </a:r>
            <a:endParaRPr sz="1600" b="0" i="0" u="none" strike="noStrike" cap="none">
              <a:solidFill>
                <a:schemeClr val="dk1"/>
              </a:solidFill>
              <a:latin typeface="Calibri"/>
              <a:ea typeface="Calibri"/>
              <a:cs typeface="Calibri"/>
              <a:sym typeface="Calibri"/>
            </a:endParaRPr>
          </a:p>
        </p:txBody>
      </p:sp>
      <p:sp>
        <p:nvSpPr>
          <p:cNvPr id="194" name="Google Shape;194;p24"/>
          <p:cNvSpPr/>
          <p:nvPr/>
        </p:nvSpPr>
        <p:spPr>
          <a:xfrm>
            <a:off x="1271805" y="2120793"/>
            <a:ext cx="104255" cy="545566"/>
          </a:xfrm>
          <a:custGeom>
            <a:avLst/>
            <a:gdLst/>
            <a:ahLst/>
            <a:cxnLst/>
            <a:rect l="l" t="t" r="r" b="b"/>
            <a:pathLst>
              <a:path w="121919" h="721360" extrusionOk="0">
                <a:moveTo>
                  <a:pt x="40497" y="684395"/>
                </a:moveTo>
                <a:lnTo>
                  <a:pt x="13716" y="626364"/>
                </a:lnTo>
                <a:lnTo>
                  <a:pt x="12192" y="623316"/>
                </a:lnTo>
                <a:lnTo>
                  <a:pt x="7620" y="621792"/>
                </a:lnTo>
                <a:lnTo>
                  <a:pt x="1524" y="624840"/>
                </a:lnTo>
                <a:lnTo>
                  <a:pt x="0" y="627888"/>
                </a:lnTo>
                <a:lnTo>
                  <a:pt x="1524" y="630936"/>
                </a:lnTo>
                <a:lnTo>
                  <a:pt x="38096" y="710860"/>
                </a:lnTo>
                <a:lnTo>
                  <a:pt x="38096" y="708660"/>
                </a:lnTo>
                <a:lnTo>
                  <a:pt x="40497" y="684395"/>
                </a:lnTo>
                <a:close/>
              </a:path>
              <a:path w="121919" h="721360" extrusionOk="0">
                <a:moveTo>
                  <a:pt x="46133" y="696608"/>
                </a:moveTo>
                <a:lnTo>
                  <a:pt x="40497" y="684395"/>
                </a:lnTo>
                <a:lnTo>
                  <a:pt x="38096" y="708660"/>
                </a:lnTo>
                <a:lnTo>
                  <a:pt x="39620" y="708850"/>
                </a:lnTo>
                <a:lnTo>
                  <a:pt x="39620" y="705612"/>
                </a:lnTo>
                <a:lnTo>
                  <a:pt x="46133" y="696608"/>
                </a:lnTo>
                <a:close/>
              </a:path>
              <a:path w="121919" h="721360" extrusionOk="0">
                <a:moveTo>
                  <a:pt x="103628" y="638556"/>
                </a:moveTo>
                <a:lnTo>
                  <a:pt x="102104" y="633984"/>
                </a:lnTo>
                <a:lnTo>
                  <a:pt x="100580" y="632460"/>
                </a:lnTo>
                <a:lnTo>
                  <a:pt x="97532" y="630936"/>
                </a:lnTo>
                <a:lnTo>
                  <a:pt x="92960" y="630936"/>
                </a:lnTo>
                <a:lnTo>
                  <a:pt x="91436" y="633984"/>
                </a:lnTo>
                <a:lnTo>
                  <a:pt x="52558" y="687727"/>
                </a:lnTo>
                <a:lnTo>
                  <a:pt x="50288" y="710184"/>
                </a:lnTo>
                <a:lnTo>
                  <a:pt x="38096" y="708660"/>
                </a:lnTo>
                <a:lnTo>
                  <a:pt x="38096" y="710860"/>
                </a:lnTo>
                <a:lnTo>
                  <a:pt x="42668" y="720852"/>
                </a:lnTo>
                <a:lnTo>
                  <a:pt x="100580" y="641604"/>
                </a:lnTo>
                <a:lnTo>
                  <a:pt x="103628" y="638556"/>
                </a:lnTo>
                <a:close/>
              </a:path>
              <a:path w="121919" h="721360" extrusionOk="0">
                <a:moveTo>
                  <a:pt x="50288" y="705612"/>
                </a:moveTo>
                <a:lnTo>
                  <a:pt x="46133" y="696608"/>
                </a:lnTo>
                <a:lnTo>
                  <a:pt x="39620" y="705612"/>
                </a:lnTo>
                <a:lnTo>
                  <a:pt x="50288" y="705612"/>
                </a:lnTo>
                <a:close/>
              </a:path>
              <a:path w="121919" h="721360" extrusionOk="0">
                <a:moveTo>
                  <a:pt x="50288" y="710184"/>
                </a:moveTo>
                <a:lnTo>
                  <a:pt x="50288" y="705612"/>
                </a:lnTo>
                <a:lnTo>
                  <a:pt x="39620" y="705612"/>
                </a:lnTo>
                <a:lnTo>
                  <a:pt x="39620" y="708850"/>
                </a:lnTo>
                <a:lnTo>
                  <a:pt x="50288" y="710184"/>
                </a:lnTo>
                <a:close/>
              </a:path>
              <a:path w="121919" h="721360" extrusionOk="0">
                <a:moveTo>
                  <a:pt x="121916" y="1524"/>
                </a:moveTo>
                <a:lnTo>
                  <a:pt x="108200" y="0"/>
                </a:lnTo>
                <a:lnTo>
                  <a:pt x="40497" y="684395"/>
                </a:lnTo>
                <a:lnTo>
                  <a:pt x="46133" y="696608"/>
                </a:lnTo>
                <a:lnTo>
                  <a:pt x="52558" y="687727"/>
                </a:lnTo>
                <a:lnTo>
                  <a:pt x="121916" y="1524"/>
                </a:lnTo>
                <a:close/>
              </a:path>
              <a:path w="121919" h="721360" extrusionOk="0">
                <a:moveTo>
                  <a:pt x="52558" y="687727"/>
                </a:moveTo>
                <a:lnTo>
                  <a:pt x="46133" y="696608"/>
                </a:lnTo>
                <a:lnTo>
                  <a:pt x="50288" y="705612"/>
                </a:lnTo>
                <a:lnTo>
                  <a:pt x="50288" y="710184"/>
                </a:lnTo>
                <a:lnTo>
                  <a:pt x="52558" y="687727"/>
                </a:lnTo>
                <a:close/>
              </a:path>
            </a:pathLst>
          </a:custGeom>
          <a:solidFill>
            <a:srgbClr val="497E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5" name="Google Shape;195;p24"/>
          <p:cNvSpPr/>
          <p:nvPr/>
        </p:nvSpPr>
        <p:spPr>
          <a:xfrm>
            <a:off x="2724851" y="2067774"/>
            <a:ext cx="0" cy="789534"/>
          </a:xfrm>
          <a:custGeom>
            <a:avLst/>
            <a:gdLst/>
            <a:ahLst/>
            <a:cxnLst/>
            <a:rect l="l" t="t" r="r" b="b"/>
            <a:pathLst>
              <a:path w="120000" h="1043939" extrusionOk="0">
                <a:moveTo>
                  <a:pt x="0" y="0"/>
                </a:moveTo>
                <a:lnTo>
                  <a:pt x="0" y="1043940"/>
                </a:lnTo>
              </a:path>
            </a:pathLst>
          </a:custGeom>
          <a:noFill/>
          <a:ln w="12175" cap="flat" cmpd="sng">
            <a:solidFill>
              <a:srgbClr val="497EB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6" name="Google Shape;196;p24"/>
          <p:cNvSpPr/>
          <p:nvPr/>
        </p:nvSpPr>
        <p:spPr>
          <a:xfrm>
            <a:off x="3710057" y="2121946"/>
            <a:ext cx="0" cy="735745"/>
          </a:xfrm>
          <a:custGeom>
            <a:avLst/>
            <a:gdLst/>
            <a:ahLst/>
            <a:cxnLst/>
            <a:rect l="l" t="t" r="r" b="b"/>
            <a:pathLst>
              <a:path w="120000" h="972820" extrusionOk="0">
                <a:moveTo>
                  <a:pt x="0" y="0"/>
                </a:moveTo>
                <a:lnTo>
                  <a:pt x="0" y="972312"/>
                </a:lnTo>
              </a:path>
            </a:pathLst>
          </a:custGeom>
          <a:noFill/>
          <a:ln w="12175" cap="flat" cmpd="sng">
            <a:solidFill>
              <a:srgbClr val="497EB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7" name="Google Shape;197;p24"/>
          <p:cNvSpPr/>
          <p:nvPr/>
        </p:nvSpPr>
        <p:spPr>
          <a:xfrm>
            <a:off x="5141487" y="2121946"/>
            <a:ext cx="0" cy="735745"/>
          </a:xfrm>
          <a:custGeom>
            <a:avLst/>
            <a:gdLst/>
            <a:ahLst/>
            <a:cxnLst/>
            <a:rect l="l" t="t" r="r" b="b"/>
            <a:pathLst>
              <a:path w="120000" h="972820" extrusionOk="0">
                <a:moveTo>
                  <a:pt x="0" y="0"/>
                </a:moveTo>
                <a:lnTo>
                  <a:pt x="0" y="972312"/>
                </a:lnTo>
              </a:path>
            </a:pathLst>
          </a:custGeom>
          <a:noFill/>
          <a:ln w="46950" cap="flat" cmpd="sng">
            <a:solidFill>
              <a:srgbClr val="497EB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8" name="Google Shape;198;p24"/>
          <p:cNvSpPr/>
          <p:nvPr/>
        </p:nvSpPr>
        <p:spPr>
          <a:xfrm>
            <a:off x="7175221" y="2121946"/>
            <a:ext cx="89050" cy="653623"/>
          </a:xfrm>
          <a:custGeom>
            <a:avLst/>
            <a:gdLst/>
            <a:ahLst/>
            <a:cxnLst/>
            <a:rect l="l" t="t" r="r" b="b"/>
            <a:pathLst>
              <a:path w="104140" h="864235" extrusionOk="0">
                <a:moveTo>
                  <a:pt x="52578" y="838147"/>
                </a:moveTo>
                <a:lnTo>
                  <a:pt x="13716" y="771144"/>
                </a:lnTo>
                <a:lnTo>
                  <a:pt x="10668" y="768096"/>
                </a:lnTo>
                <a:lnTo>
                  <a:pt x="7620" y="768096"/>
                </a:lnTo>
                <a:lnTo>
                  <a:pt x="1524" y="771144"/>
                </a:lnTo>
                <a:lnTo>
                  <a:pt x="0" y="775716"/>
                </a:lnTo>
                <a:lnTo>
                  <a:pt x="1524" y="778764"/>
                </a:lnTo>
                <a:lnTo>
                  <a:pt x="45720" y="853763"/>
                </a:lnTo>
                <a:lnTo>
                  <a:pt x="45720" y="851916"/>
                </a:lnTo>
                <a:lnTo>
                  <a:pt x="47244" y="851916"/>
                </a:lnTo>
                <a:lnTo>
                  <a:pt x="47244" y="847344"/>
                </a:lnTo>
                <a:lnTo>
                  <a:pt x="52578" y="838147"/>
                </a:lnTo>
                <a:close/>
              </a:path>
              <a:path w="104140" h="864235" extrusionOk="0">
                <a:moveTo>
                  <a:pt x="57912" y="828950"/>
                </a:moveTo>
                <a:lnTo>
                  <a:pt x="57912" y="0"/>
                </a:lnTo>
                <a:lnTo>
                  <a:pt x="45720" y="0"/>
                </a:lnTo>
                <a:lnTo>
                  <a:pt x="45720" y="826323"/>
                </a:lnTo>
                <a:lnTo>
                  <a:pt x="52578" y="838147"/>
                </a:lnTo>
                <a:lnTo>
                  <a:pt x="57912" y="828950"/>
                </a:lnTo>
                <a:close/>
              </a:path>
              <a:path w="104140" h="864235" extrusionOk="0">
                <a:moveTo>
                  <a:pt x="57912" y="853763"/>
                </a:moveTo>
                <a:lnTo>
                  <a:pt x="57912" y="851916"/>
                </a:lnTo>
                <a:lnTo>
                  <a:pt x="45720" y="851916"/>
                </a:lnTo>
                <a:lnTo>
                  <a:pt x="45720" y="853763"/>
                </a:lnTo>
                <a:lnTo>
                  <a:pt x="51816" y="864108"/>
                </a:lnTo>
                <a:lnTo>
                  <a:pt x="57912" y="853763"/>
                </a:lnTo>
                <a:close/>
              </a:path>
              <a:path w="104140" h="864235" extrusionOk="0">
                <a:moveTo>
                  <a:pt x="57912" y="847344"/>
                </a:moveTo>
                <a:lnTo>
                  <a:pt x="52578" y="838147"/>
                </a:lnTo>
                <a:lnTo>
                  <a:pt x="47244" y="847344"/>
                </a:lnTo>
                <a:lnTo>
                  <a:pt x="57912" y="847344"/>
                </a:lnTo>
                <a:close/>
              </a:path>
              <a:path w="104140" h="864235" extrusionOk="0">
                <a:moveTo>
                  <a:pt x="57912" y="851916"/>
                </a:moveTo>
                <a:lnTo>
                  <a:pt x="57912" y="847344"/>
                </a:lnTo>
                <a:lnTo>
                  <a:pt x="47244" y="847344"/>
                </a:lnTo>
                <a:lnTo>
                  <a:pt x="47244" y="851916"/>
                </a:lnTo>
                <a:lnTo>
                  <a:pt x="57912" y="851916"/>
                </a:lnTo>
                <a:close/>
              </a:path>
              <a:path w="104140" h="864235" extrusionOk="0">
                <a:moveTo>
                  <a:pt x="103632" y="775716"/>
                </a:moveTo>
                <a:lnTo>
                  <a:pt x="102108" y="771144"/>
                </a:lnTo>
                <a:lnTo>
                  <a:pt x="96012" y="768096"/>
                </a:lnTo>
                <a:lnTo>
                  <a:pt x="92964" y="768096"/>
                </a:lnTo>
                <a:lnTo>
                  <a:pt x="91440" y="771144"/>
                </a:lnTo>
                <a:lnTo>
                  <a:pt x="52578" y="838147"/>
                </a:lnTo>
                <a:lnTo>
                  <a:pt x="57912" y="847344"/>
                </a:lnTo>
                <a:lnTo>
                  <a:pt x="57912" y="853763"/>
                </a:lnTo>
                <a:lnTo>
                  <a:pt x="102108" y="778764"/>
                </a:lnTo>
                <a:lnTo>
                  <a:pt x="103632" y="775716"/>
                </a:lnTo>
                <a:close/>
              </a:path>
            </a:pathLst>
          </a:custGeom>
          <a:solidFill>
            <a:srgbClr val="497E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9" name="Google Shape;199;p24"/>
          <p:cNvSpPr txBox="1"/>
          <p:nvPr/>
        </p:nvSpPr>
        <p:spPr>
          <a:xfrm>
            <a:off x="1129327" y="2778545"/>
            <a:ext cx="1009424" cy="241272"/>
          </a:xfrm>
          <a:prstGeom prst="rect">
            <a:avLst/>
          </a:prstGeom>
          <a:noFill/>
          <a:ln>
            <a:noFill/>
          </a:ln>
        </p:spPr>
        <p:txBody>
          <a:bodyPr spcFirstLastPara="1" wrap="square" lIns="0" tIns="10325" rIns="0" bIns="0" anchor="t" anchorCtr="0">
            <a:spAutoFit/>
          </a:bodyPr>
          <a:lstStyle/>
          <a:p>
            <a:pPr marL="10339" marR="0" lvl="0" indent="0" algn="l" rtl="0">
              <a:lnSpc>
                <a:spcPct val="100000"/>
              </a:lnSpc>
              <a:spcBef>
                <a:spcPts val="0"/>
              </a:spcBef>
              <a:spcAft>
                <a:spcPts val="0"/>
              </a:spcAft>
              <a:buClr>
                <a:srgbClr val="000000"/>
              </a:buClr>
              <a:buSzPts val="1500"/>
              <a:buFont typeface="Arial"/>
              <a:buNone/>
            </a:pPr>
            <a:r>
              <a:rPr lang="fr-FR" sz="1500" b="0" i="0" u="none" strike="noStrike" cap="none">
                <a:solidFill>
                  <a:schemeClr val="dk1"/>
                </a:solidFill>
                <a:latin typeface="Calibri"/>
                <a:ea typeface="Calibri"/>
                <a:cs typeface="Calibri"/>
                <a:sym typeface="Calibri"/>
              </a:rPr>
              <a:t>Le protocole</a:t>
            </a:r>
            <a:endParaRPr sz="1500" b="0" i="0" u="none" strike="noStrike" cap="none">
              <a:solidFill>
                <a:schemeClr val="dk1"/>
              </a:solidFill>
              <a:latin typeface="Calibri"/>
              <a:ea typeface="Calibri"/>
              <a:cs typeface="Calibri"/>
              <a:sym typeface="Calibri"/>
            </a:endParaRPr>
          </a:p>
        </p:txBody>
      </p:sp>
      <p:sp>
        <p:nvSpPr>
          <p:cNvPr id="200" name="Google Shape;200;p24"/>
          <p:cNvSpPr/>
          <p:nvPr/>
        </p:nvSpPr>
        <p:spPr>
          <a:xfrm>
            <a:off x="2680543" y="2857308"/>
            <a:ext cx="89050" cy="299677"/>
          </a:xfrm>
          <a:custGeom>
            <a:avLst/>
            <a:gdLst/>
            <a:ahLst/>
            <a:cxnLst/>
            <a:rect l="l" t="t" r="r" b="b"/>
            <a:pathLst>
              <a:path w="104139" h="396239" extrusionOk="0">
                <a:moveTo>
                  <a:pt x="51816" y="369315"/>
                </a:moveTo>
                <a:lnTo>
                  <a:pt x="12192" y="303275"/>
                </a:lnTo>
                <a:lnTo>
                  <a:pt x="10668" y="300227"/>
                </a:lnTo>
                <a:lnTo>
                  <a:pt x="7620" y="300227"/>
                </a:lnTo>
                <a:lnTo>
                  <a:pt x="1524" y="303275"/>
                </a:lnTo>
                <a:lnTo>
                  <a:pt x="0" y="306323"/>
                </a:lnTo>
                <a:lnTo>
                  <a:pt x="1524" y="309371"/>
                </a:lnTo>
                <a:lnTo>
                  <a:pt x="45720" y="385710"/>
                </a:lnTo>
                <a:lnTo>
                  <a:pt x="45720" y="379475"/>
                </a:lnTo>
                <a:lnTo>
                  <a:pt x="51816" y="369315"/>
                </a:lnTo>
                <a:close/>
              </a:path>
              <a:path w="104139" h="396239" extrusionOk="0">
                <a:moveTo>
                  <a:pt x="57912" y="359155"/>
                </a:moveTo>
                <a:lnTo>
                  <a:pt x="57912" y="0"/>
                </a:lnTo>
                <a:lnTo>
                  <a:pt x="45720" y="0"/>
                </a:lnTo>
                <a:lnTo>
                  <a:pt x="45720" y="359155"/>
                </a:lnTo>
                <a:lnTo>
                  <a:pt x="51816" y="369315"/>
                </a:lnTo>
                <a:lnTo>
                  <a:pt x="57912" y="359155"/>
                </a:lnTo>
                <a:close/>
              </a:path>
              <a:path w="104139" h="396239" extrusionOk="0">
                <a:moveTo>
                  <a:pt x="57912" y="379475"/>
                </a:moveTo>
                <a:lnTo>
                  <a:pt x="51816" y="369315"/>
                </a:lnTo>
                <a:lnTo>
                  <a:pt x="45720" y="379475"/>
                </a:lnTo>
                <a:lnTo>
                  <a:pt x="57912" y="379475"/>
                </a:lnTo>
                <a:close/>
              </a:path>
              <a:path w="104139" h="396239" extrusionOk="0">
                <a:moveTo>
                  <a:pt x="57912" y="382523"/>
                </a:moveTo>
                <a:lnTo>
                  <a:pt x="57912" y="379475"/>
                </a:lnTo>
                <a:lnTo>
                  <a:pt x="45720" y="379475"/>
                </a:lnTo>
                <a:lnTo>
                  <a:pt x="45720" y="382523"/>
                </a:lnTo>
                <a:lnTo>
                  <a:pt x="57912" y="382523"/>
                </a:lnTo>
                <a:close/>
              </a:path>
              <a:path w="104139" h="396239" extrusionOk="0">
                <a:moveTo>
                  <a:pt x="57912" y="385710"/>
                </a:moveTo>
                <a:lnTo>
                  <a:pt x="57912" y="382523"/>
                </a:lnTo>
                <a:lnTo>
                  <a:pt x="45720" y="382523"/>
                </a:lnTo>
                <a:lnTo>
                  <a:pt x="45720" y="385710"/>
                </a:lnTo>
                <a:lnTo>
                  <a:pt x="51816" y="396239"/>
                </a:lnTo>
                <a:lnTo>
                  <a:pt x="57912" y="385710"/>
                </a:lnTo>
                <a:close/>
              </a:path>
              <a:path w="104139" h="396239" extrusionOk="0">
                <a:moveTo>
                  <a:pt x="103632" y="306323"/>
                </a:moveTo>
                <a:lnTo>
                  <a:pt x="102108" y="303275"/>
                </a:lnTo>
                <a:lnTo>
                  <a:pt x="96012" y="300227"/>
                </a:lnTo>
                <a:lnTo>
                  <a:pt x="92964" y="300227"/>
                </a:lnTo>
                <a:lnTo>
                  <a:pt x="91440" y="303275"/>
                </a:lnTo>
                <a:lnTo>
                  <a:pt x="51816" y="369315"/>
                </a:lnTo>
                <a:lnTo>
                  <a:pt x="57912" y="379475"/>
                </a:lnTo>
                <a:lnTo>
                  <a:pt x="57912" y="385710"/>
                </a:lnTo>
                <a:lnTo>
                  <a:pt x="102108" y="309371"/>
                </a:lnTo>
                <a:lnTo>
                  <a:pt x="103632" y="306323"/>
                </a:lnTo>
                <a:close/>
              </a:path>
            </a:pathLst>
          </a:custGeom>
          <a:solidFill>
            <a:srgbClr val="497E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1" name="Google Shape;201;p24"/>
          <p:cNvSpPr txBox="1"/>
          <p:nvPr/>
        </p:nvSpPr>
        <p:spPr>
          <a:xfrm>
            <a:off x="1929481" y="3441293"/>
            <a:ext cx="1264630" cy="241272"/>
          </a:xfrm>
          <a:prstGeom prst="rect">
            <a:avLst/>
          </a:prstGeom>
          <a:noFill/>
          <a:ln>
            <a:noFill/>
          </a:ln>
        </p:spPr>
        <p:txBody>
          <a:bodyPr spcFirstLastPara="1" wrap="square" lIns="0" tIns="10325" rIns="0" bIns="0" anchor="t" anchorCtr="0">
            <a:spAutoFit/>
          </a:bodyPr>
          <a:lstStyle/>
          <a:p>
            <a:pPr marL="10339" marR="0" lvl="0" indent="0" algn="l" rtl="0">
              <a:lnSpc>
                <a:spcPct val="100000"/>
              </a:lnSpc>
              <a:spcBef>
                <a:spcPts val="0"/>
              </a:spcBef>
              <a:spcAft>
                <a:spcPts val="0"/>
              </a:spcAft>
              <a:buClr>
                <a:srgbClr val="000000"/>
              </a:buClr>
              <a:buSzPts val="1500"/>
              <a:buFont typeface="Arial"/>
              <a:buNone/>
            </a:pPr>
            <a:r>
              <a:rPr lang="fr-FR" sz="1500" b="0" i="0" u="none" strike="noStrike" cap="none">
                <a:solidFill>
                  <a:schemeClr val="dk1"/>
                </a:solidFill>
                <a:latin typeface="Calibri"/>
                <a:ea typeface="Calibri"/>
                <a:cs typeface="Calibri"/>
                <a:sym typeface="Calibri"/>
              </a:rPr>
              <a:t>Le nom de hôte</a:t>
            </a:r>
            <a:endParaRPr sz="1500" b="0" i="0" u="none" strike="noStrike" cap="none">
              <a:solidFill>
                <a:schemeClr val="dk1"/>
              </a:solidFill>
              <a:latin typeface="Calibri"/>
              <a:ea typeface="Calibri"/>
              <a:cs typeface="Calibri"/>
              <a:sym typeface="Calibri"/>
            </a:endParaRPr>
          </a:p>
        </p:txBody>
      </p:sp>
      <p:sp>
        <p:nvSpPr>
          <p:cNvPr id="202" name="Google Shape;202;p24"/>
          <p:cNvSpPr/>
          <p:nvPr/>
        </p:nvSpPr>
        <p:spPr>
          <a:xfrm>
            <a:off x="3665749" y="2857308"/>
            <a:ext cx="88616" cy="8183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3" name="Google Shape;203;p24"/>
          <p:cNvSpPr txBox="1"/>
          <p:nvPr/>
        </p:nvSpPr>
        <p:spPr>
          <a:xfrm>
            <a:off x="3284790" y="3060933"/>
            <a:ext cx="1074040" cy="241272"/>
          </a:xfrm>
          <a:prstGeom prst="rect">
            <a:avLst/>
          </a:prstGeom>
          <a:noFill/>
          <a:ln>
            <a:noFill/>
          </a:ln>
        </p:spPr>
        <p:txBody>
          <a:bodyPr spcFirstLastPara="1" wrap="square" lIns="0" tIns="10325" rIns="0" bIns="0" anchor="t" anchorCtr="0">
            <a:spAutoFit/>
          </a:bodyPr>
          <a:lstStyle/>
          <a:p>
            <a:pPr marL="10339" marR="0" lvl="0" indent="0" algn="l" rtl="0">
              <a:lnSpc>
                <a:spcPct val="100000"/>
              </a:lnSpc>
              <a:spcBef>
                <a:spcPts val="0"/>
              </a:spcBef>
              <a:spcAft>
                <a:spcPts val="0"/>
              </a:spcAft>
              <a:buClr>
                <a:srgbClr val="000000"/>
              </a:buClr>
              <a:buSzPts val="1500"/>
              <a:buFont typeface="Arial"/>
              <a:buNone/>
            </a:pPr>
            <a:r>
              <a:rPr lang="fr-FR" sz="1500" b="0" i="0" u="none" strike="noStrike" cap="none">
                <a:solidFill>
                  <a:schemeClr val="dk1"/>
                </a:solidFill>
                <a:latin typeface="Calibri"/>
                <a:ea typeface="Calibri"/>
                <a:cs typeface="Calibri"/>
                <a:sym typeface="Calibri"/>
              </a:rPr>
              <a:t>Le N° du port</a:t>
            </a:r>
            <a:endParaRPr sz="1500" b="0" i="0" u="none" strike="noStrike" cap="none">
              <a:solidFill>
                <a:schemeClr val="dk1"/>
              </a:solidFill>
              <a:latin typeface="Calibri"/>
              <a:ea typeface="Calibri"/>
              <a:cs typeface="Calibri"/>
              <a:sym typeface="Calibri"/>
            </a:endParaRPr>
          </a:p>
        </p:txBody>
      </p:sp>
      <p:sp>
        <p:nvSpPr>
          <p:cNvPr id="204" name="Google Shape;204;p24"/>
          <p:cNvSpPr/>
          <p:nvPr/>
        </p:nvSpPr>
        <p:spPr>
          <a:xfrm>
            <a:off x="5140953" y="2857308"/>
            <a:ext cx="89050" cy="789534"/>
          </a:xfrm>
          <a:custGeom>
            <a:avLst/>
            <a:gdLst/>
            <a:ahLst/>
            <a:cxnLst/>
            <a:rect l="l" t="t" r="r" b="b"/>
            <a:pathLst>
              <a:path w="104139" h="1043939" extrusionOk="0">
                <a:moveTo>
                  <a:pt x="60960" y="1032730"/>
                </a:moveTo>
                <a:lnTo>
                  <a:pt x="60960" y="1030223"/>
                </a:lnTo>
                <a:lnTo>
                  <a:pt x="48768" y="1031747"/>
                </a:lnTo>
                <a:lnTo>
                  <a:pt x="47956" y="1009029"/>
                </a:lnTo>
                <a:lnTo>
                  <a:pt x="12192" y="952499"/>
                </a:lnTo>
                <a:lnTo>
                  <a:pt x="10668" y="949451"/>
                </a:lnTo>
                <a:lnTo>
                  <a:pt x="6096" y="949451"/>
                </a:lnTo>
                <a:lnTo>
                  <a:pt x="4572" y="950975"/>
                </a:lnTo>
                <a:lnTo>
                  <a:pt x="1524" y="952499"/>
                </a:lnTo>
                <a:lnTo>
                  <a:pt x="0" y="957071"/>
                </a:lnTo>
                <a:lnTo>
                  <a:pt x="1524" y="960119"/>
                </a:lnTo>
                <a:lnTo>
                  <a:pt x="54864" y="1043939"/>
                </a:lnTo>
                <a:lnTo>
                  <a:pt x="60960" y="1032730"/>
                </a:lnTo>
                <a:close/>
              </a:path>
              <a:path w="104139" h="1043939" extrusionOk="0">
                <a:moveTo>
                  <a:pt x="60137" y="1007224"/>
                </a:moveTo>
                <a:lnTo>
                  <a:pt x="24110" y="0"/>
                </a:lnTo>
                <a:lnTo>
                  <a:pt x="11891" y="0"/>
                </a:lnTo>
                <a:lnTo>
                  <a:pt x="47956" y="1009029"/>
                </a:lnTo>
                <a:lnTo>
                  <a:pt x="54067" y="1018689"/>
                </a:lnTo>
                <a:lnTo>
                  <a:pt x="60137" y="1007224"/>
                </a:lnTo>
                <a:close/>
              </a:path>
              <a:path w="104139" h="1043939" extrusionOk="0">
                <a:moveTo>
                  <a:pt x="54067" y="1018689"/>
                </a:moveTo>
                <a:lnTo>
                  <a:pt x="47956" y="1009029"/>
                </a:lnTo>
                <a:lnTo>
                  <a:pt x="48768" y="1031747"/>
                </a:lnTo>
                <a:lnTo>
                  <a:pt x="48768" y="1028699"/>
                </a:lnTo>
                <a:lnTo>
                  <a:pt x="54067" y="1018689"/>
                </a:lnTo>
                <a:close/>
              </a:path>
              <a:path w="104139" h="1043939" extrusionOk="0">
                <a:moveTo>
                  <a:pt x="59436" y="1027175"/>
                </a:moveTo>
                <a:lnTo>
                  <a:pt x="54067" y="1018689"/>
                </a:lnTo>
                <a:lnTo>
                  <a:pt x="48768" y="1028699"/>
                </a:lnTo>
                <a:lnTo>
                  <a:pt x="59436" y="1027175"/>
                </a:lnTo>
                <a:close/>
              </a:path>
              <a:path w="104139" h="1043939" extrusionOk="0">
                <a:moveTo>
                  <a:pt x="59436" y="1030414"/>
                </a:moveTo>
                <a:lnTo>
                  <a:pt x="59436" y="1027175"/>
                </a:lnTo>
                <a:lnTo>
                  <a:pt x="48768" y="1028699"/>
                </a:lnTo>
                <a:lnTo>
                  <a:pt x="48768" y="1031747"/>
                </a:lnTo>
                <a:lnTo>
                  <a:pt x="59436" y="1030414"/>
                </a:lnTo>
                <a:close/>
              </a:path>
              <a:path w="104139" h="1043939" extrusionOk="0">
                <a:moveTo>
                  <a:pt x="60960" y="1030223"/>
                </a:moveTo>
                <a:lnTo>
                  <a:pt x="60137" y="1007224"/>
                </a:lnTo>
                <a:lnTo>
                  <a:pt x="54067" y="1018689"/>
                </a:lnTo>
                <a:lnTo>
                  <a:pt x="59436" y="1027175"/>
                </a:lnTo>
                <a:lnTo>
                  <a:pt x="59436" y="1030414"/>
                </a:lnTo>
                <a:lnTo>
                  <a:pt x="60960" y="1030223"/>
                </a:lnTo>
                <a:close/>
              </a:path>
              <a:path w="104139" h="1043939" extrusionOk="0">
                <a:moveTo>
                  <a:pt x="103632" y="954023"/>
                </a:moveTo>
                <a:lnTo>
                  <a:pt x="102108" y="949451"/>
                </a:lnTo>
                <a:lnTo>
                  <a:pt x="96012" y="946403"/>
                </a:lnTo>
                <a:lnTo>
                  <a:pt x="91440" y="947927"/>
                </a:lnTo>
                <a:lnTo>
                  <a:pt x="89916" y="950975"/>
                </a:lnTo>
                <a:lnTo>
                  <a:pt x="60137" y="1007224"/>
                </a:lnTo>
                <a:lnTo>
                  <a:pt x="60960" y="1030223"/>
                </a:lnTo>
                <a:lnTo>
                  <a:pt x="60960" y="1032730"/>
                </a:lnTo>
                <a:lnTo>
                  <a:pt x="102108" y="957071"/>
                </a:lnTo>
                <a:lnTo>
                  <a:pt x="103632" y="954023"/>
                </a:lnTo>
                <a:close/>
              </a:path>
            </a:pathLst>
          </a:custGeom>
          <a:solidFill>
            <a:srgbClr val="497E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5" name="Google Shape;205;p24"/>
          <p:cNvSpPr txBox="1"/>
          <p:nvPr/>
        </p:nvSpPr>
        <p:spPr>
          <a:xfrm>
            <a:off x="3838643" y="3659135"/>
            <a:ext cx="2388626" cy="241272"/>
          </a:xfrm>
          <a:prstGeom prst="rect">
            <a:avLst/>
          </a:prstGeom>
          <a:noFill/>
          <a:ln>
            <a:noFill/>
          </a:ln>
        </p:spPr>
        <p:txBody>
          <a:bodyPr spcFirstLastPara="1" wrap="square" lIns="0" tIns="10325" rIns="0" bIns="0" anchor="t" anchorCtr="0">
            <a:spAutoFit/>
          </a:bodyPr>
          <a:lstStyle/>
          <a:p>
            <a:pPr marL="10339" marR="0" lvl="0" indent="0" algn="l" rtl="0">
              <a:lnSpc>
                <a:spcPct val="100000"/>
              </a:lnSpc>
              <a:spcBef>
                <a:spcPts val="0"/>
              </a:spcBef>
              <a:spcAft>
                <a:spcPts val="0"/>
              </a:spcAft>
              <a:buClr>
                <a:srgbClr val="000000"/>
              </a:buClr>
              <a:buSzPts val="1500"/>
              <a:buFont typeface="Arial"/>
              <a:buNone/>
            </a:pPr>
            <a:r>
              <a:rPr lang="fr-FR" sz="1500" b="0" i="0" u="none" strike="noStrike" cap="none">
                <a:solidFill>
                  <a:schemeClr val="dk1"/>
                </a:solidFill>
                <a:latin typeface="Calibri"/>
                <a:ea typeface="Calibri"/>
                <a:cs typeface="Calibri"/>
                <a:sym typeface="Calibri"/>
              </a:rPr>
              <a:t>Chemin d’accès au document</a:t>
            </a:r>
            <a:endParaRPr sz="1500" b="0" i="0" u="none" strike="noStrike" cap="none">
              <a:solidFill>
                <a:schemeClr val="dk1"/>
              </a:solidFill>
              <a:latin typeface="Calibri"/>
              <a:ea typeface="Calibri"/>
              <a:cs typeface="Calibri"/>
              <a:sym typeface="Calibri"/>
            </a:endParaRPr>
          </a:p>
        </p:txBody>
      </p:sp>
      <p:sp>
        <p:nvSpPr>
          <p:cNvPr id="206" name="Google Shape;206;p24"/>
          <p:cNvSpPr txBox="1"/>
          <p:nvPr/>
        </p:nvSpPr>
        <p:spPr>
          <a:xfrm>
            <a:off x="1110648" y="5131175"/>
            <a:ext cx="116200" cy="147328"/>
          </a:xfrm>
          <a:prstGeom prst="rect">
            <a:avLst/>
          </a:prstGeom>
          <a:noFill/>
          <a:ln>
            <a:noFill/>
          </a:ln>
        </p:spPr>
        <p:txBody>
          <a:bodyPr spcFirstLastPara="1" wrap="square" lIns="0" tIns="6200" rIns="0" bIns="0" anchor="t" anchorCtr="0">
            <a:spAutoFit/>
          </a:bodyPr>
          <a:lstStyle/>
          <a:p>
            <a:pPr marL="20678" marR="0" lvl="0" indent="0" algn="l" rtl="0">
              <a:lnSpc>
                <a:spcPct val="109100"/>
              </a:lnSpc>
              <a:spcBef>
                <a:spcPts val="0"/>
              </a:spcBef>
              <a:spcAft>
                <a:spcPts val="0"/>
              </a:spcAft>
              <a:buClr>
                <a:srgbClr val="000000"/>
              </a:buClr>
              <a:buSzPts val="1000"/>
              <a:buFont typeface="Arial"/>
              <a:buNone/>
            </a:pPr>
            <a:fld id="{00000000-1234-1234-1234-123412341234}" type="slidenum">
              <a:rPr lang="fr-FR" sz="1000" b="0" i="0" u="none" strike="noStrike" cap="none">
                <a:solidFill>
                  <a:srgbClr val="898989"/>
                </a:solidFill>
                <a:latin typeface="Arial"/>
                <a:ea typeface="Arial"/>
                <a:cs typeface="Arial"/>
                <a:sym typeface="Arial"/>
              </a:rPr>
              <a:t>9</a:t>
            </a:fld>
            <a:endParaRPr sz="1000" b="0" i="0" u="none" strike="noStrike" cap="none">
              <a:solidFill>
                <a:schemeClr val="dk1"/>
              </a:solidFill>
              <a:latin typeface="Arial"/>
              <a:ea typeface="Arial"/>
              <a:cs typeface="Arial"/>
              <a:sym typeface="Arial"/>
            </a:endParaRPr>
          </a:p>
        </p:txBody>
      </p:sp>
      <p:sp>
        <p:nvSpPr>
          <p:cNvPr id="207" name="Google Shape;207;p24"/>
          <p:cNvSpPr txBox="1"/>
          <p:nvPr/>
        </p:nvSpPr>
        <p:spPr>
          <a:xfrm>
            <a:off x="6794260" y="3005608"/>
            <a:ext cx="1069696" cy="1164602"/>
          </a:xfrm>
          <a:prstGeom prst="rect">
            <a:avLst/>
          </a:prstGeom>
          <a:noFill/>
          <a:ln>
            <a:noFill/>
          </a:ln>
        </p:spPr>
        <p:txBody>
          <a:bodyPr spcFirstLastPara="1" wrap="square" lIns="0" tIns="10325" rIns="0" bIns="0" anchor="t" anchorCtr="0">
            <a:spAutoFit/>
          </a:bodyPr>
          <a:lstStyle/>
          <a:p>
            <a:pPr marL="10339" marR="4136" lvl="0" indent="0" algn="l" rtl="0">
              <a:lnSpc>
                <a:spcPct val="100000"/>
              </a:lnSpc>
              <a:spcBef>
                <a:spcPts val="0"/>
              </a:spcBef>
              <a:spcAft>
                <a:spcPts val="0"/>
              </a:spcAft>
              <a:buClr>
                <a:srgbClr val="000000"/>
              </a:buClr>
              <a:buSzPts val="1500"/>
              <a:buFont typeface="Arial"/>
              <a:buNone/>
            </a:pPr>
            <a:r>
              <a:rPr lang="fr-FR" sz="1500" b="0" i="0" u="none" strike="noStrike" cap="none">
                <a:solidFill>
                  <a:schemeClr val="dk1"/>
                </a:solidFill>
                <a:latin typeface="Calibri"/>
                <a:ea typeface="Calibri"/>
                <a:cs typeface="Calibri"/>
                <a:sym typeface="Calibri"/>
              </a:rPr>
              <a:t>Tout ce qui  après le « ? »  est la partie  requête de  l’URL</a:t>
            </a:r>
            <a:endParaRPr sz="1500" b="0" i="0" u="none" strike="noStrike" cap="none">
              <a:solidFill>
                <a:schemeClr val="dk1"/>
              </a:solidFill>
              <a:latin typeface="Calibri"/>
              <a:ea typeface="Calibri"/>
              <a:cs typeface="Calibri"/>
              <a:sym typeface="Calibri"/>
            </a:endParaRPr>
          </a:p>
        </p:txBody>
      </p:sp>
      <p:sp>
        <p:nvSpPr>
          <p:cNvPr id="208" name="Google Shape;208;p24"/>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2"/>
        <p:cNvGrpSpPr/>
        <p:nvPr/>
      </p:nvGrpSpPr>
      <p:grpSpPr>
        <a:xfrm>
          <a:off x="0" y="0"/>
          <a:ext cx="0" cy="0"/>
          <a:chOff x="0" y="0"/>
          <a:chExt cx="0" cy="0"/>
        </a:xfrm>
      </p:grpSpPr>
      <p:sp>
        <p:nvSpPr>
          <p:cNvPr id="213" name="Google Shape;213;p25"/>
          <p:cNvSpPr txBox="1">
            <a:spLocks noGrp="1"/>
          </p:cNvSpPr>
          <p:nvPr>
            <p:ph type="title"/>
          </p:nvPr>
        </p:nvSpPr>
        <p:spPr>
          <a:xfrm>
            <a:off x="1853831" y="317002"/>
            <a:ext cx="5439940" cy="11184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a:solidFill>
                  <a:srgbClr val="C00000"/>
                </a:solidFill>
                <a:latin typeface="Times New Roman"/>
                <a:ea typeface="Times New Roman"/>
                <a:cs typeface="Times New Roman"/>
                <a:sym typeface="Times New Roman"/>
              </a:rPr>
              <a:t>Exemples d’attaques</a:t>
            </a:r>
            <a:endParaRPr/>
          </a:p>
        </p:txBody>
      </p:sp>
      <p:sp>
        <p:nvSpPr>
          <p:cNvPr id="214" name="Google Shape;214;p25"/>
          <p:cNvSpPr txBox="1">
            <a:spLocks noGrp="1"/>
          </p:cNvSpPr>
          <p:nvPr>
            <p:ph type="sldNum" idx="12"/>
          </p:nvPr>
        </p:nvSpPr>
        <p:spPr>
          <a:xfrm>
            <a:off x="6457950" y="5296960"/>
            <a:ext cx="2057400" cy="304271"/>
          </a:xfrm>
          <a:prstGeom prst="rect">
            <a:avLst/>
          </a:prstGeom>
          <a:noFill/>
          <a:ln>
            <a:noFill/>
          </a:ln>
        </p:spPr>
        <p:txBody>
          <a:bodyPr spcFirstLastPara="1" wrap="square" lIns="0" tIns="0" rIns="0" bIns="0" anchor="ctr" anchorCtr="0">
            <a:noAutofit/>
          </a:bodyPr>
          <a:lstStyle/>
          <a:p>
            <a:pPr marL="20678" lvl="0" indent="0" algn="r" rtl="0">
              <a:lnSpc>
                <a:spcPct val="109100"/>
              </a:lnSpc>
              <a:spcBef>
                <a:spcPts val="0"/>
              </a:spcBef>
              <a:spcAft>
                <a:spcPts val="0"/>
              </a:spcAft>
              <a:buSzPts val="1000"/>
              <a:buNone/>
            </a:pPr>
            <a:fld id="{00000000-1234-1234-1234-123412341234}" type="slidenum">
              <a:rPr lang="fr-FR"/>
              <a:t>10</a:t>
            </a:fld>
            <a:endParaRPr/>
          </a:p>
        </p:txBody>
      </p:sp>
      <p:sp>
        <p:nvSpPr>
          <p:cNvPr id="215" name="Google Shape;215;p25"/>
          <p:cNvSpPr/>
          <p:nvPr/>
        </p:nvSpPr>
        <p:spPr>
          <a:xfrm>
            <a:off x="1061991" y="1387736"/>
            <a:ext cx="4618479" cy="2126556"/>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6" name="Google Shape;216;p25"/>
          <p:cNvSpPr/>
          <p:nvPr/>
        </p:nvSpPr>
        <p:spPr>
          <a:xfrm>
            <a:off x="1061991" y="3632042"/>
            <a:ext cx="4926031" cy="138755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6"/>
          <p:cNvSpPr txBox="1">
            <a:spLocks noGrp="1"/>
          </p:cNvSpPr>
          <p:nvPr>
            <p:ph type="title"/>
          </p:nvPr>
        </p:nvSpPr>
        <p:spPr>
          <a:xfrm>
            <a:off x="634997" y="509416"/>
            <a:ext cx="7772400" cy="61989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0000"/>
              </a:buClr>
              <a:buSzPts val="1800"/>
              <a:buFont typeface="Times New Roman"/>
              <a:buNone/>
            </a:pPr>
            <a:r>
              <a:rPr lang="fr-FR" sz="4000" b="1">
                <a:solidFill>
                  <a:srgbClr val="C00000"/>
                </a:solidFill>
                <a:latin typeface="Times New Roman"/>
                <a:ea typeface="Times New Roman"/>
                <a:cs typeface="Times New Roman"/>
                <a:sym typeface="Times New Roman"/>
              </a:rPr>
              <a:t>Plan du chapitre</a:t>
            </a:r>
            <a:endParaRPr/>
          </a:p>
        </p:txBody>
      </p:sp>
      <p:sp>
        <p:nvSpPr>
          <p:cNvPr id="222" name="Google Shape;222;p26"/>
          <p:cNvSpPr txBox="1">
            <a:spLocks noGrp="1"/>
          </p:cNvSpPr>
          <p:nvPr>
            <p:ph type="body" idx="1"/>
          </p:nvPr>
        </p:nvSpPr>
        <p:spPr>
          <a:xfrm>
            <a:off x="478256" y="1273324"/>
            <a:ext cx="8208545" cy="4241150"/>
          </a:xfrm>
          <a:prstGeom prst="rect">
            <a:avLst/>
          </a:prstGeom>
          <a:noFill/>
          <a:ln>
            <a:noFill/>
          </a:ln>
        </p:spPr>
        <p:txBody>
          <a:bodyPr spcFirstLastPara="1" wrap="square" lIns="91425" tIns="45700" rIns="91425" bIns="45700" anchor="t" anchorCtr="0">
            <a:normAutofit/>
          </a:bodyPr>
          <a:lstStyle/>
          <a:p>
            <a:pPr marL="228600" lvl="0" indent="-228600" algn="l" rtl="0">
              <a:lnSpc>
                <a:spcPct val="200000"/>
              </a:lnSpc>
              <a:spcBef>
                <a:spcPts val="0"/>
              </a:spcBef>
              <a:spcAft>
                <a:spcPts val="0"/>
              </a:spcAft>
              <a:buClr>
                <a:schemeClr val="dk1"/>
              </a:buClr>
              <a:buSzPts val="2800"/>
              <a:buFont typeface="Noto Sans Symbols"/>
              <a:buChar char="▪"/>
            </a:pPr>
            <a:r>
              <a:rPr lang="fr-FR" dirty="0"/>
              <a:t>Introduction</a:t>
            </a:r>
            <a:endParaRPr dirty="0"/>
          </a:p>
          <a:p>
            <a:pPr marL="228600" lvl="0" indent="-228600" algn="l" rtl="0">
              <a:lnSpc>
                <a:spcPct val="200000"/>
              </a:lnSpc>
              <a:spcBef>
                <a:spcPts val="468"/>
              </a:spcBef>
              <a:spcAft>
                <a:spcPts val="0"/>
              </a:spcAft>
              <a:buClr>
                <a:schemeClr val="dk1"/>
              </a:buClr>
              <a:buSzPts val="2800"/>
              <a:buFont typeface="Noto Sans Symbols"/>
              <a:buChar char="▪"/>
            </a:pPr>
            <a:r>
              <a:rPr lang="fr-FR" dirty="0"/>
              <a:t>Les menaces dans les applications web.</a:t>
            </a:r>
            <a:endParaRPr dirty="0"/>
          </a:p>
          <a:p>
            <a:pPr marL="228600" lvl="0" indent="-228600" algn="l" rtl="0">
              <a:lnSpc>
                <a:spcPct val="200000"/>
              </a:lnSpc>
              <a:spcBef>
                <a:spcPts val="468"/>
              </a:spcBef>
              <a:spcAft>
                <a:spcPts val="0"/>
              </a:spcAft>
              <a:buClr>
                <a:schemeClr val="dk1"/>
              </a:buClr>
              <a:buSzPts val="2800"/>
              <a:buFont typeface="Noto Sans Symbols"/>
              <a:buChar char="▪"/>
            </a:pPr>
            <a:r>
              <a:rPr lang="fr-FR" dirty="0"/>
              <a:t>Exemples d’attaques Web</a:t>
            </a:r>
            <a:endParaRPr dirty="0"/>
          </a:p>
        </p:txBody>
      </p:sp>
      <p:sp>
        <p:nvSpPr>
          <p:cNvPr id="223" name="Google Shape;223;p26"/>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11</a:t>
            </a:fld>
            <a:endParaRPr/>
          </a:p>
        </p:txBody>
      </p:sp>
      <p:sp>
        <p:nvSpPr>
          <p:cNvPr id="224" name="Google Shape;224;p26"/>
          <p:cNvSpPr/>
          <p:nvPr/>
        </p:nvSpPr>
        <p:spPr>
          <a:xfrm>
            <a:off x="150902" y="3393899"/>
            <a:ext cx="6720545" cy="576064"/>
          </a:xfrm>
          <a:prstGeom prst="rect">
            <a:avLst/>
          </a:prstGeom>
          <a:solidFill>
            <a:srgbClr val="FF7C80">
              <a:alpha val="4470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A6E6BC-D62A-979C-7648-55C180B47555}"/>
              </a:ext>
            </a:extLst>
          </p:cNvPr>
          <p:cNvSpPr>
            <a:spLocks noGrp="1"/>
          </p:cNvSpPr>
          <p:nvPr>
            <p:ph type="title"/>
          </p:nvPr>
        </p:nvSpPr>
        <p:spPr>
          <a:xfrm>
            <a:off x="469161" y="1596297"/>
            <a:ext cx="7886700" cy="1104636"/>
          </a:xfrm>
        </p:spPr>
        <p:txBody>
          <a:bodyPr/>
          <a:lstStyle/>
          <a:p>
            <a:pPr algn="ctr"/>
            <a:r>
              <a:rPr lang="fr-FR" sz="6000" b="1" dirty="0"/>
              <a:t>Annexe</a:t>
            </a:r>
            <a:endParaRPr lang="fr-FR" b="1" dirty="0"/>
          </a:p>
        </p:txBody>
      </p:sp>
      <p:sp>
        <p:nvSpPr>
          <p:cNvPr id="4" name="Espace réservé du numéro de diapositive 3">
            <a:extLst>
              <a:ext uri="{FF2B5EF4-FFF2-40B4-BE49-F238E27FC236}">
                <a16:creationId xmlns:a16="http://schemas.microsoft.com/office/drawing/2014/main" id="{3E7FA15C-0F81-AABA-DE3B-D0215D6781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12</a:t>
            </a:fld>
            <a:endParaRPr lang="fr-FR"/>
          </a:p>
        </p:txBody>
      </p:sp>
      <p:sp>
        <p:nvSpPr>
          <p:cNvPr id="5" name="Google Shape;229;p27">
            <a:extLst>
              <a:ext uri="{FF2B5EF4-FFF2-40B4-BE49-F238E27FC236}">
                <a16:creationId xmlns:a16="http://schemas.microsoft.com/office/drawing/2014/main" id="{14875009-761A-6AE7-896A-222ED6857280}"/>
              </a:ext>
            </a:extLst>
          </p:cNvPr>
          <p:cNvSpPr txBox="1">
            <a:spLocks/>
          </p:cNvSpPr>
          <p:nvPr/>
        </p:nvSpPr>
        <p:spPr>
          <a:xfrm>
            <a:off x="479794" y="2515844"/>
            <a:ext cx="7886700" cy="110463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C00000"/>
              </a:buClr>
              <a:buSzPts val="4000"/>
              <a:buFont typeface="Times New Roman"/>
              <a:buNone/>
            </a:pPr>
            <a:r>
              <a:rPr lang="en-US" sz="4000" b="1" dirty="0" err="1">
                <a:solidFill>
                  <a:srgbClr val="C00000"/>
                </a:solidFill>
                <a:latin typeface="Times New Roman"/>
                <a:ea typeface="Times New Roman"/>
                <a:cs typeface="Times New Roman"/>
                <a:sym typeface="Times New Roman"/>
              </a:rPr>
              <a:t>Exemple</a:t>
            </a:r>
            <a:r>
              <a:rPr lang="en-US" sz="4000" b="1" dirty="0">
                <a:solidFill>
                  <a:srgbClr val="C00000"/>
                </a:solidFill>
                <a:latin typeface="Times New Roman"/>
                <a:ea typeface="Times New Roman"/>
                <a:cs typeface="Times New Roman"/>
                <a:sym typeface="Times New Roman"/>
              </a:rPr>
              <a:t> </a:t>
            </a:r>
            <a:r>
              <a:rPr lang="en-US" sz="4000" b="1" dirty="0" err="1">
                <a:solidFill>
                  <a:srgbClr val="C00000"/>
                </a:solidFill>
                <a:latin typeface="Times New Roman"/>
                <a:ea typeface="Times New Roman"/>
                <a:cs typeface="Times New Roman"/>
                <a:sym typeface="Times New Roman"/>
              </a:rPr>
              <a:t>d’attaques</a:t>
            </a:r>
            <a:r>
              <a:rPr lang="en-US" sz="4000" b="1" dirty="0">
                <a:solidFill>
                  <a:srgbClr val="C00000"/>
                </a:solidFill>
                <a:latin typeface="Times New Roman"/>
                <a:ea typeface="Times New Roman"/>
                <a:cs typeface="Times New Roman"/>
                <a:sym typeface="Times New Roman"/>
              </a:rPr>
              <a:t> web</a:t>
            </a:r>
            <a:endParaRPr lang="en-US" dirty="0"/>
          </a:p>
        </p:txBody>
      </p:sp>
    </p:spTree>
    <p:extLst>
      <p:ext uri="{BB962C8B-B14F-4D97-AF65-F5344CB8AC3E}">
        <p14:creationId xmlns:p14="http://schemas.microsoft.com/office/powerpoint/2010/main" val="1152091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8"/>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Injection</a:t>
            </a:r>
            <a:endParaRPr dirty="0"/>
          </a:p>
        </p:txBody>
      </p:sp>
      <p:sp>
        <p:nvSpPr>
          <p:cNvPr id="238" name="Google Shape;238;p28"/>
          <p:cNvSpPr txBox="1">
            <a:spLocks noGrp="1"/>
          </p:cNvSpPr>
          <p:nvPr>
            <p:ph type="body" idx="1"/>
          </p:nvPr>
        </p:nvSpPr>
        <p:spPr>
          <a:xfrm>
            <a:off x="107504" y="1345332"/>
            <a:ext cx="9036496" cy="4193646"/>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just" rtl="0">
              <a:lnSpc>
                <a:spcPct val="120000"/>
              </a:lnSpc>
              <a:spcBef>
                <a:spcPts val="0"/>
              </a:spcBef>
              <a:spcAft>
                <a:spcPts val="0"/>
              </a:spcAft>
              <a:buClr>
                <a:schemeClr val="dk1"/>
              </a:buClr>
              <a:buSzPct val="100000"/>
              <a:buChar char="•"/>
            </a:pPr>
            <a:r>
              <a:rPr lang="fr-FR" dirty="0"/>
              <a:t>Une faille d'injection, telle l'injection SQL, OS et LDAP, se produit  quand une donnée non fiable est envoyée à un interpréteur en  tant qu'élément d'une commande ou d'une requête. </a:t>
            </a:r>
            <a:endParaRPr dirty="0"/>
          </a:p>
          <a:p>
            <a:pPr marL="228600" lvl="0" indent="-228600" algn="just" rtl="0">
              <a:lnSpc>
                <a:spcPct val="120000"/>
              </a:lnSpc>
              <a:spcBef>
                <a:spcPts val="1000"/>
              </a:spcBef>
              <a:spcAft>
                <a:spcPts val="0"/>
              </a:spcAft>
              <a:buClr>
                <a:schemeClr val="dk1"/>
              </a:buClr>
              <a:buSzPct val="100000"/>
              <a:buChar char="•"/>
            </a:pPr>
            <a:r>
              <a:rPr lang="fr-FR" dirty="0"/>
              <a:t>Les données  hostiles de l'attaquant peuvent duper l'interpréteur afin de  l'amener à exécuter des commandes fortuites ou accéder à des  données non autorisées.</a:t>
            </a:r>
            <a:endParaRPr dirty="0"/>
          </a:p>
          <a:p>
            <a:pPr marL="0" lvl="0" indent="0" algn="just" rtl="0">
              <a:lnSpc>
                <a:spcPct val="120000"/>
              </a:lnSpc>
              <a:spcBef>
                <a:spcPts val="1000"/>
              </a:spcBef>
              <a:spcAft>
                <a:spcPts val="0"/>
              </a:spcAft>
              <a:buClr>
                <a:schemeClr val="accent1"/>
              </a:buClr>
              <a:buSzPct val="100000"/>
              <a:buNone/>
            </a:pPr>
            <a:r>
              <a:rPr lang="fr-FR" b="1" dirty="0">
                <a:solidFill>
                  <a:schemeClr val="accent1"/>
                </a:solidFill>
              </a:rPr>
              <a:t>Exemple</a:t>
            </a:r>
            <a:endParaRPr dirty="0"/>
          </a:p>
          <a:p>
            <a:pPr marL="457200" lvl="1" indent="0" algn="just" rtl="0">
              <a:lnSpc>
                <a:spcPct val="120000"/>
              </a:lnSpc>
              <a:spcBef>
                <a:spcPts val="500"/>
              </a:spcBef>
              <a:spcAft>
                <a:spcPts val="0"/>
              </a:spcAft>
              <a:buClr>
                <a:schemeClr val="dk1"/>
              </a:buClr>
              <a:buSzPct val="100000"/>
              <a:buNone/>
            </a:pPr>
            <a:r>
              <a:rPr lang="fr-FR" sz="2100" dirty="0"/>
              <a:t>String </a:t>
            </a:r>
            <a:r>
              <a:rPr lang="fr-FR" sz="2100" dirty="0" err="1"/>
              <a:t>query</a:t>
            </a:r>
            <a:r>
              <a:rPr lang="fr-FR" sz="2100" dirty="0"/>
              <a:t> = "SELECT * FROM </a:t>
            </a:r>
            <a:r>
              <a:rPr lang="fr-FR" sz="2100" dirty="0" err="1"/>
              <a:t>accounts</a:t>
            </a:r>
            <a:r>
              <a:rPr lang="fr-FR" sz="2100" dirty="0"/>
              <a:t> WHERE </a:t>
            </a:r>
            <a:r>
              <a:rPr lang="fr-FR" sz="2100" dirty="0" err="1"/>
              <a:t>custID</a:t>
            </a:r>
            <a:r>
              <a:rPr lang="fr-FR" sz="2100" dirty="0"/>
              <a:t>='" + </a:t>
            </a:r>
            <a:r>
              <a:rPr lang="fr-FR" sz="2100" dirty="0" err="1"/>
              <a:t>request.getParameter</a:t>
            </a:r>
            <a:r>
              <a:rPr lang="fr-FR" sz="2100" dirty="0"/>
              <a:t>("id") +"'";</a:t>
            </a:r>
            <a:endParaRPr sz="2100" dirty="0"/>
          </a:p>
          <a:p>
            <a:pPr marL="685800" lvl="1" indent="-121919" algn="just" rtl="0">
              <a:lnSpc>
                <a:spcPct val="120000"/>
              </a:lnSpc>
              <a:spcBef>
                <a:spcPts val="500"/>
              </a:spcBef>
              <a:spcAft>
                <a:spcPts val="0"/>
              </a:spcAft>
              <a:buClr>
                <a:schemeClr val="dk1"/>
              </a:buClr>
              <a:buSzPct val="100000"/>
              <a:buNone/>
            </a:pPr>
            <a:endParaRPr dirty="0"/>
          </a:p>
          <a:p>
            <a:pPr marL="0" lvl="0" indent="0" algn="just" rtl="0">
              <a:lnSpc>
                <a:spcPct val="120000"/>
              </a:lnSpc>
              <a:spcBef>
                <a:spcPts val="1000"/>
              </a:spcBef>
              <a:spcAft>
                <a:spcPts val="0"/>
              </a:spcAft>
              <a:buClr>
                <a:schemeClr val="accent1"/>
              </a:buClr>
              <a:buSzPct val="100000"/>
              <a:buNone/>
            </a:pPr>
            <a:r>
              <a:rPr lang="fr-FR" b="1" dirty="0">
                <a:solidFill>
                  <a:schemeClr val="accent1"/>
                </a:solidFill>
              </a:rPr>
              <a:t>Solutions</a:t>
            </a:r>
            <a:endParaRPr dirty="0"/>
          </a:p>
          <a:p>
            <a:pPr marL="685800" lvl="1" indent="-228600" algn="just" rtl="0">
              <a:lnSpc>
                <a:spcPct val="120000"/>
              </a:lnSpc>
              <a:spcBef>
                <a:spcPts val="500"/>
              </a:spcBef>
              <a:spcAft>
                <a:spcPts val="0"/>
              </a:spcAft>
              <a:buClr>
                <a:schemeClr val="dk1"/>
              </a:buClr>
              <a:buSzPct val="100000"/>
              <a:buChar char="•"/>
            </a:pPr>
            <a:r>
              <a:rPr lang="fr-FR" dirty="0"/>
              <a:t>Utiliser les </a:t>
            </a:r>
            <a:r>
              <a:rPr lang="fr-FR" dirty="0" err="1"/>
              <a:t>RegExp</a:t>
            </a:r>
            <a:r>
              <a:rPr lang="fr-FR" dirty="0"/>
              <a:t> pour contrôler les données</a:t>
            </a:r>
            <a:endParaRPr dirty="0"/>
          </a:p>
          <a:p>
            <a:pPr marL="685800" lvl="1" indent="-228600" algn="just" rtl="0">
              <a:lnSpc>
                <a:spcPct val="120000"/>
              </a:lnSpc>
              <a:spcBef>
                <a:spcPts val="500"/>
              </a:spcBef>
              <a:spcAft>
                <a:spcPts val="0"/>
              </a:spcAft>
              <a:buClr>
                <a:schemeClr val="dk1"/>
              </a:buClr>
              <a:buSzPct val="100000"/>
              <a:buChar char="•"/>
            </a:pPr>
            <a:r>
              <a:rPr lang="fr-FR" dirty="0"/>
              <a:t>Utiliser les </a:t>
            </a:r>
            <a:r>
              <a:rPr lang="fr-FR" i="1" dirty="0" err="1"/>
              <a:t>prepared</a:t>
            </a:r>
            <a:r>
              <a:rPr lang="fr-FR" i="1" dirty="0"/>
              <a:t> </a:t>
            </a:r>
            <a:r>
              <a:rPr lang="fr-FR" i="1" dirty="0" err="1"/>
              <a:t>Statement</a:t>
            </a:r>
            <a:endParaRPr i="1" dirty="0"/>
          </a:p>
          <a:p>
            <a:pPr marL="685800" lvl="1" indent="-228600" algn="just" rtl="0">
              <a:lnSpc>
                <a:spcPct val="120000"/>
              </a:lnSpc>
              <a:spcBef>
                <a:spcPts val="500"/>
              </a:spcBef>
              <a:spcAft>
                <a:spcPts val="0"/>
              </a:spcAft>
              <a:buClr>
                <a:schemeClr val="dk1"/>
              </a:buClr>
              <a:buSzPct val="100000"/>
              <a:buChar char="•"/>
            </a:pPr>
            <a:r>
              <a:rPr lang="fr-FR" dirty="0"/>
              <a:t>Limiter les droits de l’utilisateur</a:t>
            </a:r>
            <a:endParaRPr dirty="0"/>
          </a:p>
        </p:txBody>
      </p:sp>
      <p:sp>
        <p:nvSpPr>
          <p:cNvPr id="239" name="Google Shape;239;p28"/>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9"/>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  Violation de Gestion d’Authentification et de Session</a:t>
            </a:r>
            <a:endParaRPr sz="4000" b="1" dirty="0">
              <a:solidFill>
                <a:srgbClr val="C00000"/>
              </a:solidFill>
              <a:latin typeface="Times New Roman"/>
              <a:ea typeface="Times New Roman"/>
              <a:cs typeface="Times New Roman"/>
              <a:sym typeface="Times New Roman"/>
            </a:endParaRPr>
          </a:p>
        </p:txBody>
      </p:sp>
      <p:sp>
        <p:nvSpPr>
          <p:cNvPr id="245" name="Google Shape;245;p29"/>
          <p:cNvSpPr txBox="1">
            <a:spLocks noGrp="1"/>
          </p:cNvSpPr>
          <p:nvPr>
            <p:ph type="body" idx="1"/>
          </p:nvPr>
        </p:nvSpPr>
        <p:spPr>
          <a:xfrm>
            <a:off x="0" y="1521354"/>
            <a:ext cx="9144000" cy="4193646"/>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200"/>
              <a:buChar char="•"/>
            </a:pPr>
            <a:r>
              <a:rPr lang="fr-FR" sz="2200"/>
              <a:t>Les fonctions applicatives relatives à l'authentification et la  gestion de session ne sont souvent pas mises en œuvre  correctement</a:t>
            </a:r>
            <a:endParaRPr/>
          </a:p>
          <a:p>
            <a:pPr marL="0" lvl="0" indent="0" algn="just" rtl="0">
              <a:lnSpc>
                <a:spcPct val="90000"/>
              </a:lnSpc>
              <a:spcBef>
                <a:spcPts val="1000"/>
              </a:spcBef>
              <a:spcAft>
                <a:spcPts val="0"/>
              </a:spcAft>
              <a:buClr>
                <a:schemeClr val="dk1"/>
              </a:buClr>
              <a:buSzPts val="2200"/>
              <a:buNone/>
            </a:pPr>
            <a:r>
              <a:rPr lang="fr-FR" sz="2200"/>
              <a:t>🡺 Permettre aux attaquants de compromettre les  mots de passe, clés, jetons de session, ou d'exploiter d'autres  failles d'implémentation pour s'approprier les identités d'autres  utilisateurs.</a:t>
            </a:r>
            <a:endParaRPr/>
          </a:p>
          <a:p>
            <a:pPr marL="0" lvl="0" indent="0" algn="just" rtl="0">
              <a:lnSpc>
                <a:spcPct val="90000"/>
              </a:lnSpc>
              <a:spcBef>
                <a:spcPts val="1000"/>
              </a:spcBef>
              <a:spcAft>
                <a:spcPts val="0"/>
              </a:spcAft>
              <a:buClr>
                <a:schemeClr val="accent1"/>
              </a:buClr>
              <a:buSzPts val="2200"/>
              <a:buNone/>
            </a:pPr>
            <a:r>
              <a:rPr lang="fr-FR" sz="2200" b="1">
                <a:solidFill>
                  <a:schemeClr val="accent1"/>
                </a:solidFill>
              </a:rPr>
              <a:t>Exemple</a:t>
            </a:r>
            <a:endParaRPr/>
          </a:p>
          <a:p>
            <a:pPr marL="457200" lvl="1" indent="0" algn="just" rtl="0">
              <a:lnSpc>
                <a:spcPct val="90000"/>
              </a:lnSpc>
              <a:spcBef>
                <a:spcPts val="500"/>
              </a:spcBef>
              <a:spcAft>
                <a:spcPts val="0"/>
              </a:spcAft>
              <a:buClr>
                <a:schemeClr val="dk1"/>
              </a:buClr>
              <a:buSzPts val="2200"/>
              <a:buNone/>
            </a:pPr>
            <a:r>
              <a:rPr lang="fr-FR" sz="2200"/>
              <a:t>http://example.com/sale/saleitems;masessionid=45131215?dest=Hawaii</a:t>
            </a:r>
            <a:endParaRPr/>
          </a:p>
          <a:p>
            <a:pPr marL="0" lvl="0" indent="0" algn="just" rtl="0">
              <a:lnSpc>
                <a:spcPct val="90000"/>
              </a:lnSpc>
              <a:spcBef>
                <a:spcPts val="1000"/>
              </a:spcBef>
              <a:spcAft>
                <a:spcPts val="0"/>
              </a:spcAft>
              <a:buClr>
                <a:schemeClr val="accent1"/>
              </a:buClr>
              <a:buSzPts val="2200"/>
              <a:buNone/>
            </a:pPr>
            <a:r>
              <a:rPr lang="fr-FR" sz="2200" b="1">
                <a:solidFill>
                  <a:schemeClr val="accent1"/>
                </a:solidFill>
              </a:rPr>
              <a:t>Solutions</a:t>
            </a:r>
            <a:endParaRPr/>
          </a:p>
          <a:p>
            <a:pPr marL="685800" lvl="1" indent="-228600" algn="just" rtl="0">
              <a:lnSpc>
                <a:spcPct val="90000"/>
              </a:lnSpc>
              <a:spcBef>
                <a:spcPts val="500"/>
              </a:spcBef>
              <a:spcAft>
                <a:spcPts val="0"/>
              </a:spcAft>
              <a:buClr>
                <a:schemeClr val="dk1"/>
              </a:buClr>
              <a:buSzPts val="2200"/>
              <a:buChar char="•"/>
            </a:pPr>
            <a:r>
              <a:rPr lang="fr-FR" sz="2200"/>
              <a:t>Utiliser un framework éprouvé qui gère correctement les sessions, et ne développer/tester qui si c’est réellement nécessaire</a:t>
            </a:r>
            <a:endParaRPr/>
          </a:p>
          <a:p>
            <a:pPr marL="685800" lvl="1" indent="-228600" algn="just" rtl="0">
              <a:lnSpc>
                <a:spcPct val="90000"/>
              </a:lnSpc>
              <a:spcBef>
                <a:spcPts val="500"/>
              </a:spcBef>
              <a:spcAft>
                <a:spcPts val="0"/>
              </a:spcAft>
              <a:buClr>
                <a:schemeClr val="dk1"/>
              </a:buClr>
              <a:buSzPts val="2200"/>
              <a:buChar char="•"/>
            </a:pPr>
            <a:r>
              <a:rPr lang="fr-FR" sz="2200"/>
              <a:t>Mécanismes pour sécuriser les mots de passe, les sessions</a:t>
            </a:r>
            <a:endParaRPr sz="2200"/>
          </a:p>
        </p:txBody>
      </p:sp>
      <p:sp>
        <p:nvSpPr>
          <p:cNvPr id="246" name="Google Shape;246;p29"/>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0"/>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Cross-Site Scripting (XSS)</a:t>
            </a:r>
            <a:endParaRPr sz="4000" b="1" dirty="0">
              <a:solidFill>
                <a:srgbClr val="C00000"/>
              </a:solidFill>
              <a:latin typeface="Times New Roman"/>
              <a:ea typeface="Times New Roman"/>
              <a:cs typeface="Times New Roman"/>
              <a:sym typeface="Times New Roman"/>
            </a:endParaRPr>
          </a:p>
        </p:txBody>
      </p:sp>
      <p:sp>
        <p:nvSpPr>
          <p:cNvPr id="252" name="Google Shape;252;p30"/>
          <p:cNvSpPr txBox="1">
            <a:spLocks noGrp="1"/>
          </p:cNvSpPr>
          <p:nvPr>
            <p:ph type="body" idx="1"/>
          </p:nvPr>
        </p:nvSpPr>
        <p:spPr>
          <a:xfrm>
            <a:off x="179512" y="1521354"/>
            <a:ext cx="8964488" cy="3856426"/>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200"/>
              <a:buChar char="•"/>
            </a:pPr>
            <a:r>
              <a:rPr lang="fr-FR" sz="2200"/>
              <a:t>Les failles XSS se produisent chaque fois qu'une application accepte des données non fiables et les envoie à un browser sans validation appropriée.</a:t>
            </a:r>
            <a:endParaRPr/>
          </a:p>
          <a:p>
            <a:pPr marL="0" lvl="0" indent="0" algn="just" rtl="0">
              <a:lnSpc>
                <a:spcPct val="90000"/>
              </a:lnSpc>
              <a:spcBef>
                <a:spcPts val="1000"/>
              </a:spcBef>
              <a:spcAft>
                <a:spcPts val="0"/>
              </a:spcAft>
              <a:buClr>
                <a:schemeClr val="accent1"/>
              </a:buClr>
              <a:buSzPts val="2200"/>
              <a:buNone/>
            </a:pPr>
            <a:r>
              <a:rPr lang="fr-FR" sz="2200" b="1">
                <a:solidFill>
                  <a:schemeClr val="accent1"/>
                </a:solidFill>
              </a:rPr>
              <a:t>Exemple</a:t>
            </a:r>
            <a:endParaRPr/>
          </a:p>
          <a:p>
            <a:pPr marL="457200" lvl="1" indent="0" algn="just" rtl="0">
              <a:lnSpc>
                <a:spcPct val="90000"/>
              </a:lnSpc>
              <a:spcBef>
                <a:spcPts val="500"/>
              </a:spcBef>
              <a:spcAft>
                <a:spcPts val="0"/>
              </a:spcAft>
              <a:buClr>
                <a:schemeClr val="dk1"/>
              </a:buClr>
              <a:buSzPts val="2200"/>
              <a:buNone/>
            </a:pPr>
            <a:r>
              <a:rPr lang="fr-FR" sz="2200">
                <a:latin typeface="Courier New"/>
                <a:ea typeface="Courier New"/>
                <a:cs typeface="Courier New"/>
                <a:sym typeface="Courier New"/>
              </a:rPr>
              <a:t>(String) page += "&lt;inpuAt name='creditcard' type='TEXT‘ value='" + request.getParameter("CC") + "'&gt;";</a:t>
            </a:r>
            <a:endParaRPr/>
          </a:p>
          <a:p>
            <a:pPr marL="0" lvl="0" indent="0" algn="just" rtl="0">
              <a:lnSpc>
                <a:spcPct val="90000"/>
              </a:lnSpc>
              <a:spcBef>
                <a:spcPts val="1000"/>
              </a:spcBef>
              <a:spcAft>
                <a:spcPts val="0"/>
              </a:spcAft>
              <a:buClr>
                <a:schemeClr val="accent1"/>
              </a:buClr>
              <a:buSzPts val="2200"/>
              <a:buNone/>
            </a:pPr>
            <a:r>
              <a:rPr lang="fr-FR" sz="2200" b="1">
                <a:solidFill>
                  <a:schemeClr val="accent1"/>
                </a:solidFill>
              </a:rPr>
              <a:t>Solutions</a:t>
            </a:r>
            <a:endParaRPr/>
          </a:p>
          <a:p>
            <a:pPr marL="685800" lvl="1" indent="-228600" algn="just" rtl="0">
              <a:lnSpc>
                <a:spcPct val="90000"/>
              </a:lnSpc>
              <a:spcBef>
                <a:spcPts val="500"/>
              </a:spcBef>
              <a:spcAft>
                <a:spcPts val="0"/>
              </a:spcAft>
              <a:buClr>
                <a:schemeClr val="dk1"/>
              </a:buClr>
              <a:buSzPts val="2200"/>
              <a:buChar char="•"/>
            </a:pPr>
            <a:r>
              <a:rPr lang="fr-FR" sz="2200"/>
              <a:t>Contrôler les saisies utilisateurs</a:t>
            </a:r>
            <a:endParaRPr/>
          </a:p>
          <a:p>
            <a:pPr marL="685800" lvl="1" indent="-228600" algn="just" rtl="0">
              <a:lnSpc>
                <a:spcPct val="90000"/>
              </a:lnSpc>
              <a:spcBef>
                <a:spcPts val="500"/>
              </a:spcBef>
              <a:spcAft>
                <a:spcPts val="0"/>
              </a:spcAft>
              <a:buClr>
                <a:schemeClr val="dk1"/>
              </a:buClr>
              <a:buSzPts val="2200"/>
              <a:buChar char="•"/>
            </a:pPr>
            <a:r>
              <a:rPr lang="fr-FR" sz="2200"/>
              <a:t>Encoder lors de la présentation ou de la persistance</a:t>
            </a:r>
            <a:endParaRPr/>
          </a:p>
          <a:p>
            <a:pPr marL="685800" lvl="1" indent="-228600" algn="just" rtl="0">
              <a:lnSpc>
                <a:spcPct val="90000"/>
              </a:lnSpc>
              <a:spcBef>
                <a:spcPts val="500"/>
              </a:spcBef>
              <a:spcAft>
                <a:spcPts val="0"/>
              </a:spcAft>
              <a:buClr>
                <a:schemeClr val="dk1"/>
              </a:buClr>
              <a:buSzPts val="2200"/>
              <a:buChar char="•"/>
            </a:pPr>
            <a:r>
              <a:rPr lang="fr-FR" sz="2200"/>
              <a:t>Utiliser des librairies ou des Framework</a:t>
            </a:r>
            <a:endParaRPr sz="2200"/>
          </a:p>
        </p:txBody>
      </p:sp>
      <p:sp>
        <p:nvSpPr>
          <p:cNvPr id="253" name="Google Shape;253;p30"/>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1"/>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Références directes non sécurisées à un objet</a:t>
            </a:r>
            <a:endParaRPr sz="4000" b="1" dirty="0">
              <a:solidFill>
                <a:srgbClr val="C00000"/>
              </a:solidFill>
              <a:latin typeface="Times New Roman"/>
              <a:ea typeface="Times New Roman"/>
              <a:cs typeface="Times New Roman"/>
              <a:sym typeface="Times New Roman"/>
            </a:endParaRPr>
          </a:p>
        </p:txBody>
      </p:sp>
      <p:sp>
        <p:nvSpPr>
          <p:cNvPr id="259" name="Google Shape;259;p31"/>
          <p:cNvSpPr txBox="1">
            <a:spLocks noGrp="1"/>
          </p:cNvSpPr>
          <p:nvPr>
            <p:ph type="body" idx="1"/>
          </p:nvPr>
        </p:nvSpPr>
        <p:spPr>
          <a:xfrm>
            <a:off x="35496" y="1561356"/>
            <a:ext cx="9073008" cy="3626115"/>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just" rtl="0">
              <a:lnSpc>
                <a:spcPct val="90000"/>
              </a:lnSpc>
              <a:spcBef>
                <a:spcPts val="0"/>
              </a:spcBef>
              <a:spcAft>
                <a:spcPts val="0"/>
              </a:spcAft>
              <a:buClr>
                <a:schemeClr val="dk1"/>
              </a:buClr>
              <a:buSzPct val="100000"/>
              <a:buChar char="•"/>
            </a:pPr>
            <a:r>
              <a:rPr lang="fr-FR"/>
              <a:t>Une référence directe à un objet se produit quand un développeur expose une référence à un objet d'exécution interne, tel un fichier, un dossier, un enregistrement de base de données ou une clé de base de données. </a:t>
            </a:r>
            <a:endParaRPr/>
          </a:p>
          <a:p>
            <a:pPr marL="228600" lvl="0" indent="-228600" algn="just" rtl="0">
              <a:lnSpc>
                <a:spcPct val="90000"/>
              </a:lnSpc>
              <a:spcBef>
                <a:spcPts val="1000"/>
              </a:spcBef>
              <a:spcAft>
                <a:spcPts val="0"/>
              </a:spcAft>
              <a:buClr>
                <a:schemeClr val="dk1"/>
              </a:buClr>
              <a:buSzPct val="100000"/>
              <a:buChar char="•"/>
            </a:pPr>
            <a:r>
              <a:rPr lang="fr-FR"/>
              <a:t>Sans un contrôle d'accès ou autre  protection, les attaquants peuvent manipuler ces références pour  accéder à des données non autorisées.</a:t>
            </a:r>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Exemple</a:t>
            </a:r>
            <a:endParaRPr/>
          </a:p>
          <a:p>
            <a:pPr marL="685800" lvl="1" indent="-228662" algn="l" rtl="0">
              <a:lnSpc>
                <a:spcPct val="90000"/>
              </a:lnSpc>
              <a:spcBef>
                <a:spcPts val="500"/>
              </a:spcBef>
              <a:spcAft>
                <a:spcPts val="0"/>
              </a:spcAft>
              <a:buClr>
                <a:schemeClr val="dk1"/>
              </a:buClr>
              <a:buSzPct val="100000"/>
              <a:buChar char="•"/>
            </a:pPr>
            <a:r>
              <a:rPr lang="fr-FR" sz="1700">
                <a:latin typeface="Courier New"/>
                <a:ea typeface="Courier New"/>
                <a:cs typeface="Courier New"/>
                <a:sym typeface="Courier New"/>
              </a:rPr>
              <a:t>http://example.com/app/accountInfo?acct=notmyacct</a:t>
            </a:r>
            <a:endParaRPr/>
          </a:p>
          <a:p>
            <a:pPr marL="0" lvl="0" indent="0" algn="just" rtl="0">
              <a:lnSpc>
                <a:spcPct val="90000"/>
              </a:lnSpc>
              <a:spcBef>
                <a:spcPts val="1000"/>
              </a:spcBef>
              <a:spcAft>
                <a:spcPts val="0"/>
              </a:spcAft>
              <a:buClr>
                <a:schemeClr val="accent1"/>
              </a:buClr>
              <a:buSzPct val="100000"/>
              <a:buNone/>
            </a:pPr>
            <a:r>
              <a:rPr lang="fr-FR" b="1">
                <a:solidFill>
                  <a:schemeClr val="accent1"/>
                </a:solidFill>
              </a:rPr>
              <a:t>Solutions</a:t>
            </a:r>
            <a:endParaRPr/>
          </a:p>
          <a:p>
            <a:pPr marL="685800" lvl="1" indent="-228600" algn="l" rtl="0">
              <a:lnSpc>
                <a:spcPct val="90000"/>
              </a:lnSpc>
              <a:spcBef>
                <a:spcPts val="500"/>
              </a:spcBef>
              <a:spcAft>
                <a:spcPts val="0"/>
              </a:spcAft>
              <a:buClr>
                <a:schemeClr val="dk1"/>
              </a:buClr>
              <a:buSzPct val="100000"/>
              <a:buChar char="•"/>
            </a:pPr>
            <a:r>
              <a:rPr lang="fr-FR"/>
              <a:t>Eviter d’exposer les références aux objets (clés primaires, nom  de fichiers,…)</a:t>
            </a:r>
            <a:endParaRPr/>
          </a:p>
          <a:p>
            <a:pPr marL="685800" lvl="1" indent="-228600" algn="l" rtl="0">
              <a:lnSpc>
                <a:spcPct val="90000"/>
              </a:lnSpc>
              <a:spcBef>
                <a:spcPts val="500"/>
              </a:spcBef>
              <a:spcAft>
                <a:spcPts val="0"/>
              </a:spcAft>
              <a:buClr>
                <a:schemeClr val="dk1"/>
              </a:buClr>
              <a:buSzPct val="100000"/>
              <a:buChar char="•"/>
            </a:pPr>
            <a:r>
              <a:rPr lang="fr-FR"/>
              <a:t>Valider toutes les références aux objets.</a:t>
            </a:r>
            <a:endParaRPr/>
          </a:p>
          <a:p>
            <a:pPr marL="685800" lvl="1" indent="-228600" algn="l" rtl="0">
              <a:lnSpc>
                <a:spcPct val="90000"/>
              </a:lnSpc>
              <a:spcBef>
                <a:spcPts val="500"/>
              </a:spcBef>
              <a:spcAft>
                <a:spcPts val="0"/>
              </a:spcAft>
              <a:buClr>
                <a:schemeClr val="dk1"/>
              </a:buClr>
              <a:buSzPct val="100000"/>
              <a:buChar char="•"/>
            </a:pPr>
            <a:r>
              <a:rPr lang="fr-FR"/>
              <a:t>Vérifier toujours l’autorisation aux objets référencés.</a:t>
            </a:r>
            <a:endParaRPr/>
          </a:p>
          <a:p>
            <a:pPr marL="685800" lvl="1" indent="-228600" algn="l" rtl="0">
              <a:lnSpc>
                <a:spcPct val="90000"/>
              </a:lnSpc>
              <a:spcBef>
                <a:spcPts val="500"/>
              </a:spcBef>
              <a:spcAft>
                <a:spcPts val="0"/>
              </a:spcAft>
              <a:buClr>
                <a:schemeClr val="dk1"/>
              </a:buClr>
              <a:buSzPct val="100000"/>
              <a:buChar char="•"/>
            </a:pPr>
            <a:r>
              <a:rPr lang="fr-FR"/>
              <a:t>Utiliser le modèle de sécurité positives pour accepter  uniquement les bonnes références aux objets.</a:t>
            </a:r>
            <a:endParaRPr/>
          </a:p>
        </p:txBody>
      </p:sp>
      <p:sp>
        <p:nvSpPr>
          <p:cNvPr id="260" name="Google Shape;260;p31"/>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2"/>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Mauvaise configuration de sécurité</a:t>
            </a:r>
            <a:endParaRPr sz="4000" b="1" dirty="0">
              <a:solidFill>
                <a:srgbClr val="C00000"/>
              </a:solidFill>
              <a:latin typeface="Times New Roman"/>
              <a:ea typeface="Times New Roman"/>
              <a:cs typeface="Times New Roman"/>
              <a:sym typeface="Times New Roman"/>
            </a:endParaRPr>
          </a:p>
        </p:txBody>
      </p:sp>
      <p:sp>
        <p:nvSpPr>
          <p:cNvPr id="266" name="Google Shape;266;p32"/>
          <p:cNvSpPr txBox="1">
            <a:spLocks noGrp="1"/>
          </p:cNvSpPr>
          <p:nvPr>
            <p:ph type="body" idx="1"/>
          </p:nvPr>
        </p:nvSpPr>
        <p:spPr>
          <a:xfrm>
            <a:off x="251520" y="1345332"/>
            <a:ext cx="8892480" cy="4464496"/>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just" rtl="0">
              <a:lnSpc>
                <a:spcPct val="90000"/>
              </a:lnSpc>
              <a:spcBef>
                <a:spcPts val="0"/>
              </a:spcBef>
              <a:spcAft>
                <a:spcPts val="0"/>
              </a:spcAft>
              <a:buClr>
                <a:schemeClr val="dk1"/>
              </a:buClr>
              <a:buSzPct val="100000"/>
              <a:buChar char="•"/>
            </a:pPr>
            <a:r>
              <a:rPr lang="fr-FR"/>
              <a:t>Une bonne sécurité nécessite de disposer d'une configuration sécurisée définie et déployée pour l'application, les contextes, le serveur d'application, le serveur web, le serveur de base de données et la plate-forme. </a:t>
            </a:r>
            <a:endParaRPr/>
          </a:p>
          <a:p>
            <a:pPr marL="228600" lvl="0" indent="-228600" algn="just" rtl="0">
              <a:lnSpc>
                <a:spcPct val="90000"/>
              </a:lnSpc>
              <a:spcBef>
                <a:spcPts val="1000"/>
              </a:spcBef>
              <a:spcAft>
                <a:spcPts val="0"/>
              </a:spcAft>
              <a:buClr>
                <a:schemeClr val="dk1"/>
              </a:buClr>
              <a:buSzPct val="100000"/>
              <a:buChar char="•"/>
            </a:pPr>
            <a:r>
              <a:rPr lang="fr-FR"/>
              <a:t>Tous ces paramètres doivent être définis, mis en  œuvre et maintenus, car beaucoup ne sont pas livrés sécurisés  par défaut. Cela implique de tenir tous les logiciels à jour</a:t>
            </a:r>
            <a:endParaRPr/>
          </a:p>
          <a:p>
            <a:pPr marL="0" lvl="0" indent="0" algn="just" rtl="0">
              <a:lnSpc>
                <a:spcPct val="90000"/>
              </a:lnSpc>
              <a:spcBef>
                <a:spcPts val="1000"/>
              </a:spcBef>
              <a:spcAft>
                <a:spcPts val="0"/>
              </a:spcAft>
              <a:buClr>
                <a:schemeClr val="accent1"/>
              </a:buClr>
              <a:buSzPct val="100000"/>
              <a:buNone/>
            </a:pPr>
            <a:r>
              <a:rPr lang="fr-FR" b="1">
                <a:solidFill>
                  <a:schemeClr val="accent1"/>
                </a:solidFill>
              </a:rPr>
              <a:t>Exemple</a:t>
            </a:r>
            <a:endParaRPr/>
          </a:p>
          <a:p>
            <a:pPr marL="685800" lvl="1" indent="-228600" algn="just" rtl="0">
              <a:lnSpc>
                <a:spcPct val="90000"/>
              </a:lnSpc>
              <a:spcBef>
                <a:spcPts val="500"/>
              </a:spcBef>
              <a:spcAft>
                <a:spcPts val="0"/>
              </a:spcAft>
              <a:buClr>
                <a:schemeClr val="dk1"/>
              </a:buClr>
              <a:buSzPct val="100000"/>
              <a:buChar char="•"/>
            </a:pPr>
            <a:r>
              <a:rPr lang="fr-FR"/>
              <a:t>Journaux sur / ou c:</a:t>
            </a:r>
            <a:endParaRPr/>
          </a:p>
          <a:p>
            <a:pPr marL="685800" lvl="1" indent="-228600" algn="just" rtl="0">
              <a:lnSpc>
                <a:spcPct val="90000"/>
              </a:lnSpc>
              <a:spcBef>
                <a:spcPts val="500"/>
              </a:spcBef>
              <a:spcAft>
                <a:spcPts val="0"/>
              </a:spcAft>
              <a:buClr>
                <a:schemeClr val="dk1"/>
              </a:buClr>
              <a:buSzPct val="100000"/>
              <a:buChar char="•"/>
            </a:pPr>
            <a:r>
              <a:rPr lang="fr-FR"/>
              <a:t>Option autodeploy</a:t>
            </a:r>
            <a:endParaRPr/>
          </a:p>
          <a:p>
            <a:pPr marL="685800" lvl="1" indent="-228600" algn="just" rtl="0">
              <a:lnSpc>
                <a:spcPct val="90000"/>
              </a:lnSpc>
              <a:spcBef>
                <a:spcPts val="500"/>
              </a:spcBef>
              <a:spcAft>
                <a:spcPts val="0"/>
              </a:spcAft>
              <a:buClr>
                <a:schemeClr val="dk1"/>
              </a:buClr>
              <a:buSzPct val="100000"/>
              <a:buChar char="•"/>
            </a:pPr>
            <a:r>
              <a:rPr lang="fr-FR"/>
              <a:t>Sources jsp compilés au runtime</a:t>
            </a:r>
            <a:endParaRPr/>
          </a:p>
          <a:p>
            <a:pPr marL="0" lvl="0" indent="0" algn="just" rtl="0">
              <a:lnSpc>
                <a:spcPct val="90000"/>
              </a:lnSpc>
              <a:spcBef>
                <a:spcPts val="1000"/>
              </a:spcBef>
              <a:spcAft>
                <a:spcPts val="0"/>
              </a:spcAft>
              <a:buClr>
                <a:schemeClr val="accent1"/>
              </a:buClr>
              <a:buSzPct val="100000"/>
              <a:buNone/>
            </a:pPr>
            <a:r>
              <a:rPr lang="fr-FR" b="1">
                <a:solidFill>
                  <a:schemeClr val="accent1"/>
                </a:solidFill>
              </a:rPr>
              <a:t>Solutions</a:t>
            </a:r>
            <a:endParaRPr/>
          </a:p>
          <a:p>
            <a:pPr marL="685800" lvl="1" indent="-228600" algn="just" rtl="0">
              <a:lnSpc>
                <a:spcPct val="90000"/>
              </a:lnSpc>
              <a:spcBef>
                <a:spcPts val="500"/>
              </a:spcBef>
              <a:spcAft>
                <a:spcPts val="0"/>
              </a:spcAft>
              <a:buClr>
                <a:schemeClr val="dk1"/>
              </a:buClr>
              <a:buSzPct val="100000"/>
              <a:buChar char="•"/>
            </a:pPr>
            <a:r>
              <a:rPr lang="fr-FR"/>
              <a:t>Utiliser des scans et les audits pour détecter les mauvaises configurations.</a:t>
            </a:r>
            <a:endParaRPr/>
          </a:p>
          <a:p>
            <a:pPr marL="685800" lvl="1" indent="-228600" algn="just" rtl="0">
              <a:lnSpc>
                <a:spcPct val="90000"/>
              </a:lnSpc>
              <a:spcBef>
                <a:spcPts val="500"/>
              </a:spcBef>
              <a:spcAft>
                <a:spcPts val="0"/>
              </a:spcAft>
              <a:buClr>
                <a:schemeClr val="dk1"/>
              </a:buClr>
              <a:buSzPct val="100000"/>
              <a:buChar char="•"/>
            </a:pPr>
            <a:r>
              <a:rPr lang="fr-FR"/>
              <a:t>Déployer les nouvelles versions et des correctifs de sécurité.</a:t>
            </a:r>
            <a:endParaRPr/>
          </a:p>
          <a:p>
            <a:pPr marL="685800" lvl="1" indent="-228600" algn="just" rtl="0">
              <a:lnSpc>
                <a:spcPct val="90000"/>
              </a:lnSpc>
              <a:spcBef>
                <a:spcPts val="500"/>
              </a:spcBef>
              <a:spcAft>
                <a:spcPts val="0"/>
              </a:spcAft>
              <a:buClr>
                <a:schemeClr val="dk1"/>
              </a:buClr>
              <a:buSzPct val="100000"/>
              <a:buChar char="•"/>
            </a:pPr>
            <a:r>
              <a:rPr lang="fr-FR"/>
              <a:t>Ne pas afficher les messages d’erreurs et les exceptions dans un environnement de  production : personnalisation des erreurs</a:t>
            </a:r>
            <a:endParaRPr/>
          </a:p>
          <a:p>
            <a:pPr marL="756285" lvl="1" indent="-169544" algn="just" rtl="0">
              <a:lnSpc>
                <a:spcPct val="100000"/>
              </a:lnSpc>
              <a:spcBef>
                <a:spcPts val="430"/>
              </a:spcBef>
              <a:spcAft>
                <a:spcPts val="0"/>
              </a:spcAft>
              <a:buClr>
                <a:schemeClr val="dk1"/>
              </a:buClr>
              <a:buSzPct val="100000"/>
              <a:buFont typeface="Arial"/>
              <a:buNone/>
            </a:pPr>
            <a:endParaRPr/>
          </a:p>
        </p:txBody>
      </p:sp>
      <p:sp>
        <p:nvSpPr>
          <p:cNvPr id="267" name="Google Shape;267;p32"/>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3"/>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Exposition de données sensibles</a:t>
            </a:r>
            <a:endParaRPr sz="4000" b="1" dirty="0">
              <a:solidFill>
                <a:srgbClr val="C00000"/>
              </a:solidFill>
              <a:latin typeface="Times New Roman"/>
              <a:ea typeface="Times New Roman"/>
              <a:cs typeface="Times New Roman"/>
              <a:sym typeface="Times New Roman"/>
            </a:endParaRPr>
          </a:p>
        </p:txBody>
      </p:sp>
      <p:sp>
        <p:nvSpPr>
          <p:cNvPr id="273" name="Google Shape;273;p33"/>
          <p:cNvSpPr txBox="1">
            <a:spLocks noGrp="1"/>
          </p:cNvSpPr>
          <p:nvPr>
            <p:ph type="body" idx="1"/>
          </p:nvPr>
        </p:nvSpPr>
        <p:spPr>
          <a:xfrm>
            <a:off x="107504" y="1417340"/>
            <a:ext cx="8856984" cy="4297660"/>
          </a:xfrm>
          <a:prstGeom prst="rect">
            <a:avLst/>
          </a:prstGeom>
          <a:noFill/>
          <a:ln>
            <a:noFill/>
          </a:ln>
        </p:spPr>
        <p:txBody>
          <a:bodyPr spcFirstLastPara="1" wrap="square" lIns="91425" tIns="45700" rIns="91425" bIns="45700" anchor="t" anchorCtr="0">
            <a:normAutofit fontScale="70000" lnSpcReduction="20000"/>
          </a:bodyPr>
          <a:lstStyle/>
          <a:p>
            <a:pPr marL="91440" marR="83185" lvl="0" indent="-124460" algn="just" rtl="0">
              <a:lnSpc>
                <a:spcPct val="100000"/>
              </a:lnSpc>
              <a:spcBef>
                <a:spcPts val="0"/>
              </a:spcBef>
              <a:spcAft>
                <a:spcPts val="0"/>
              </a:spcAft>
              <a:buClr>
                <a:schemeClr val="dk1"/>
              </a:buClr>
              <a:buSzPct val="100000"/>
              <a:buChar char="•"/>
            </a:pPr>
            <a:r>
              <a:rPr lang="fr-FR"/>
              <a:t>Beaucoup d'applications web ne protègent pas correctement les  données sensibles telles que les cartes de crédit, identifiants  d'impôt et informations d'authentification. </a:t>
            </a:r>
            <a:endParaRPr/>
          </a:p>
          <a:p>
            <a:pPr marL="91440" marR="83185" lvl="0" indent="-124460" algn="just" rtl="0">
              <a:lnSpc>
                <a:spcPct val="100000"/>
              </a:lnSpc>
              <a:spcBef>
                <a:spcPts val="100"/>
              </a:spcBef>
              <a:spcAft>
                <a:spcPts val="0"/>
              </a:spcAft>
              <a:buClr>
                <a:schemeClr val="dk1"/>
              </a:buClr>
              <a:buSzPct val="100000"/>
              <a:buChar char="•"/>
            </a:pPr>
            <a:r>
              <a:rPr lang="fr-FR"/>
              <a:t>Les pirates peuvent  voler ou modifier ces données faiblement protégées pour  effectuer un vol d'identité, de la fraude à la carte de crédit ou  autres crimes. </a:t>
            </a:r>
            <a:endParaRPr/>
          </a:p>
          <a:p>
            <a:pPr marL="91440" marR="83185" lvl="0" indent="-124460" algn="just" rtl="0">
              <a:lnSpc>
                <a:spcPct val="100000"/>
              </a:lnSpc>
              <a:spcBef>
                <a:spcPts val="100"/>
              </a:spcBef>
              <a:spcAft>
                <a:spcPts val="0"/>
              </a:spcAft>
              <a:buClr>
                <a:schemeClr val="dk1"/>
              </a:buClr>
              <a:buSzPct val="100000"/>
              <a:buChar char="•"/>
            </a:pPr>
            <a:r>
              <a:rPr lang="fr-FR"/>
              <a:t>Les données sensibles méritent une protection  supplémentaire tel un chiffrement statique ou en transit, ainsi  que des précautions particulières lors de l'échange avec le  navigateur.</a:t>
            </a:r>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Exemple</a:t>
            </a:r>
            <a:endParaRPr/>
          </a:p>
          <a:p>
            <a:pPr marL="685800" lvl="1" indent="-228600" algn="l" rtl="0">
              <a:lnSpc>
                <a:spcPct val="90000"/>
              </a:lnSpc>
              <a:spcBef>
                <a:spcPts val="500"/>
              </a:spcBef>
              <a:spcAft>
                <a:spcPts val="0"/>
              </a:spcAft>
              <a:buClr>
                <a:schemeClr val="dk1"/>
              </a:buClr>
              <a:buSzPct val="100000"/>
              <a:buChar char="•"/>
            </a:pPr>
            <a:r>
              <a:rPr lang="fr-FR"/>
              <a:t>Les données stockées/archivées et circulent en clair</a:t>
            </a:r>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Solutions</a:t>
            </a:r>
            <a:endParaRPr/>
          </a:p>
          <a:p>
            <a:pPr marL="685800" lvl="1" indent="-228600" algn="l" rtl="0">
              <a:lnSpc>
                <a:spcPct val="90000"/>
              </a:lnSpc>
              <a:spcBef>
                <a:spcPts val="500"/>
              </a:spcBef>
              <a:spcAft>
                <a:spcPts val="0"/>
              </a:spcAft>
              <a:buClr>
                <a:schemeClr val="dk1"/>
              </a:buClr>
              <a:buSzPct val="100000"/>
              <a:buChar char="•"/>
            </a:pPr>
            <a:r>
              <a:rPr lang="fr-FR"/>
              <a:t>Choisir des algorithmes éprouvés et générer des clés robustes.  S'assurer qu'une gestion des clés est en place. Privilégier des  modules cryptographiques certifiés.</a:t>
            </a:r>
            <a:endParaRPr/>
          </a:p>
          <a:p>
            <a:pPr marL="685800" lvl="1" indent="-228600" algn="l" rtl="0">
              <a:lnSpc>
                <a:spcPct val="90000"/>
              </a:lnSpc>
              <a:spcBef>
                <a:spcPts val="500"/>
              </a:spcBef>
              <a:spcAft>
                <a:spcPts val="0"/>
              </a:spcAft>
              <a:buClr>
                <a:schemeClr val="dk1"/>
              </a:buClr>
              <a:buSzPct val="100000"/>
              <a:buChar char="•"/>
            </a:pPr>
            <a:r>
              <a:rPr lang="fr-FR"/>
              <a:t>Ne pas conserver que les données sensibles cryptés avec des  algorithmes forts </a:t>
            </a:r>
            <a:r>
              <a:rPr lang="fr-FR" b="1"/>
              <a:t>bycrypt</a:t>
            </a:r>
            <a:r>
              <a:rPr lang="fr-FR"/>
              <a:t>, </a:t>
            </a:r>
            <a:r>
              <a:rPr lang="fr-FR" b="1"/>
              <a:t>PBKDF2</a:t>
            </a:r>
            <a:r>
              <a:rPr lang="fr-FR"/>
              <a:t>, </a:t>
            </a:r>
            <a:r>
              <a:rPr lang="fr-FR" b="1"/>
              <a:t>scrypt</a:t>
            </a:r>
            <a:r>
              <a:rPr lang="fr-FR"/>
              <a:t>.</a:t>
            </a:r>
            <a:endParaRPr/>
          </a:p>
        </p:txBody>
      </p:sp>
      <p:sp>
        <p:nvSpPr>
          <p:cNvPr id="274" name="Google Shape;274;p33"/>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4"/>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Manque de contrôle d’accès au niveau fonctionnel</a:t>
            </a:r>
            <a:endParaRPr sz="4000" b="1" dirty="0">
              <a:solidFill>
                <a:srgbClr val="C00000"/>
              </a:solidFill>
              <a:latin typeface="Times New Roman"/>
              <a:ea typeface="Times New Roman"/>
              <a:cs typeface="Times New Roman"/>
              <a:sym typeface="Times New Roman"/>
            </a:endParaRPr>
          </a:p>
        </p:txBody>
      </p:sp>
      <p:sp>
        <p:nvSpPr>
          <p:cNvPr id="280" name="Google Shape;280;p34"/>
          <p:cNvSpPr txBox="1">
            <a:spLocks noGrp="1"/>
          </p:cNvSpPr>
          <p:nvPr>
            <p:ph type="body" idx="1"/>
          </p:nvPr>
        </p:nvSpPr>
        <p:spPr>
          <a:xfrm>
            <a:off x="179512" y="1489348"/>
            <a:ext cx="8856984" cy="4032448"/>
          </a:xfrm>
          <a:prstGeom prst="rect">
            <a:avLst/>
          </a:prstGeom>
          <a:noFill/>
          <a:ln>
            <a:noFill/>
          </a:ln>
        </p:spPr>
        <p:txBody>
          <a:bodyPr spcFirstLastPara="1" wrap="square" lIns="91425" tIns="45700" rIns="91425" bIns="45700" anchor="t" anchorCtr="0">
            <a:normAutofit fontScale="62500" lnSpcReduction="20000"/>
          </a:bodyPr>
          <a:lstStyle/>
          <a:p>
            <a:pPr marL="91440" marR="83185" lvl="0" indent="-124460" algn="just" rtl="0">
              <a:lnSpc>
                <a:spcPct val="100000"/>
              </a:lnSpc>
              <a:spcBef>
                <a:spcPts val="0"/>
              </a:spcBef>
              <a:spcAft>
                <a:spcPts val="0"/>
              </a:spcAft>
              <a:buClr>
                <a:schemeClr val="dk1"/>
              </a:buClr>
              <a:buSzPct val="100000"/>
              <a:buChar char="•"/>
            </a:pPr>
            <a:r>
              <a:rPr lang="fr-FR"/>
              <a:t>Pratiquement toutes les applications web vérifient les droits  d'accès au niveau fonctionnel avant de rendre cette fonctionnalité  visible dans l'interface utilisateur.</a:t>
            </a:r>
            <a:endParaRPr/>
          </a:p>
          <a:p>
            <a:pPr marL="91440" marR="83185" lvl="0" indent="-124460" algn="just" rtl="0">
              <a:lnSpc>
                <a:spcPct val="100000"/>
              </a:lnSpc>
              <a:spcBef>
                <a:spcPts val="100"/>
              </a:spcBef>
              <a:spcAft>
                <a:spcPts val="0"/>
              </a:spcAft>
              <a:buClr>
                <a:schemeClr val="dk1"/>
              </a:buClr>
              <a:buSzPct val="100000"/>
              <a:buChar char="•"/>
            </a:pPr>
            <a:r>
              <a:rPr lang="fr-FR"/>
              <a:t>Cependant, les applications  doivent effectuer les mêmes vérifications de contrôle d'accès sur  le serveur lors de l'accès à chaque fonction. </a:t>
            </a:r>
            <a:endParaRPr/>
          </a:p>
          <a:p>
            <a:pPr marL="91440" marR="83185" lvl="0" indent="-124460" algn="just" rtl="0">
              <a:lnSpc>
                <a:spcPct val="100000"/>
              </a:lnSpc>
              <a:spcBef>
                <a:spcPts val="100"/>
              </a:spcBef>
              <a:spcAft>
                <a:spcPts val="0"/>
              </a:spcAft>
              <a:buClr>
                <a:schemeClr val="dk1"/>
              </a:buClr>
              <a:buSzPct val="100000"/>
              <a:buChar char="•"/>
            </a:pPr>
            <a:r>
              <a:rPr lang="fr-FR"/>
              <a:t>Si les demandes ne  sont pas vérifiées, les attaquants seront en mesure de forger des  demandes afin d'accéder à une fonctionnalité non autorisée.</a:t>
            </a:r>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Exemple</a:t>
            </a:r>
            <a:endParaRPr/>
          </a:p>
          <a:p>
            <a:pPr marL="457200" lvl="1" indent="0" algn="l" rtl="0">
              <a:lnSpc>
                <a:spcPct val="90000"/>
              </a:lnSpc>
              <a:spcBef>
                <a:spcPts val="500"/>
              </a:spcBef>
              <a:spcAft>
                <a:spcPts val="0"/>
              </a:spcAft>
              <a:buClr>
                <a:schemeClr val="dk1"/>
              </a:buClr>
              <a:buSzPct val="100000"/>
              <a:buNone/>
            </a:pPr>
            <a:r>
              <a:rPr lang="fr-FR" sz="1900">
                <a:latin typeface="Courier New"/>
                <a:ea typeface="Courier New"/>
                <a:cs typeface="Courier New"/>
                <a:sym typeface="Courier New"/>
              </a:rPr>
              <a:t>&lt;img src="http://example.com/app/transferFunds?amount=1500&amp;destinationAccount=attackersAcct#“width="0"height="0" /&gt;</a:t>
            </a:r>
            <a:endParaRPr sz="1700">
              <a:latin typeface="Courier New"/>
              <a:ea typeface="Courier New"/>
              <a:cs typeface="Courier New"/>
              <a:sym typeface="Courier New"/>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Solutions</a:t>
            </a:r>
            <a:endParaRPr/>
          </a:p>
          <a:p>
            <a:pPr marL="685800" lvl="1" indent="-228600" algn="l" rtl="0">
              <a:lnSpc>
                <a:spcPct val="90000"/>
              </a:lnSpc>
              <a:spcBef>
                <a:spcPts val="500"/>
              </a:spcBef>
              <a:spcAft>
                <a:spcPts val="0"/>
              </a:spcAft>
              <a:buClr>
                <a:schemeClr val="dk1"/>
              </a:buClr>
              <a:buSzPct val="100000"/>
              <a:buChar char="•"/>
            </a:pPr>
            <a:r>
              <a:rPr lang="fr-FR"/>
              <a:t>Faites en sorte que la gestion des droits soit facile à mettre à jour  et à auditer.</a:t>
            </a:r>
            <a:endParaRPr/>
          </a:p>
          <a:p>
            <a:pPr marL="685800" lvl="1" indent="-228600" algn="l" rtl="0">
              <a:lnSpc>
                <a:spcPct val="90000"/>
              </a:lnSpc>
              <a:spcBef>
                <a:spcPts val="500"/>
              </a:spcBef>
              <a:spcAft>
                <a:spcPts val="0"/>
              </a:spcAft>
              <a:buClr>
                <a:schemeClr val="dk1"/>
              </a:buClr>
              <a:buSzPct val="100000"/>
              <a:buChar char="•"/>
            </a:pPr>
            <a:r>
              <a:rPr lang="fr-FR"/>
              <a:t>La gestion des droits doit par défaut interdire tout accès . Ceci  impose l’autorisation explicite de certains rôles pour chacune des  fonctionnalités proposées.</a:t>
            </a:r>
            <a:endParaRPr/>
          </a:p>
          <a:p>
            <a:pPr marL="685800" lvl="1" indent="-228600" algn="l" rtl="0">
              <a:lnSpc>
                <a:spcPct val="90000"/>
              </a:lnSpc>
              <a:spcBef>
                <a:spcPts val="500"/>
              </a:spcBef>
              <a:spcAft>
                <a:spcPts val="0"/>
              </a:spcAft>
              <a:buClr>
                <a:schemeClr val="dk1"/>
              </a:buClr>
              <a:buSzPct val="100000"/>
              <a:buChar char="•"/>
            </a:pPr>
            <a:r>
              <a:rPr lang="fr-FR"/>
              <a:t>Si la fonctionnalité fait partie d’un Workflow, vérifier que les  conditions requises pour accéder cet état sont réunies.</a:t>
            </a:r>
            <a:endParaRPr/>
          </a:p>
        </p:txBody>
      </p:sp>
      <p:sp>
        <p:nvSpPr>
          <p:cNvPr id="281" name="Google Shape;281;p34"/>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5"/>
          <p:cNvSpPr txBox="1">
            <a:spLocks noGrp="1"/>
          </p:cNvSpPr>
          <p:nvPr>
            <p:ph type="title"/>
          </p:nvPr>
        </p:nvSpPr>
        <p:spPr>
          <a:xfrm>
            <a:off x="611560" y="193204"/>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Falsification de requête </a:t>
            </a:r>
            <a:r>
              <a:rPr lang="fr-FR" sz="4000" b="1" dirty="0" err="1">
                <a:solidFill>
                  <a:srgbClr val="C00000"/>
                </a:solidFill>
                <a:latin typeface="Times New Roman"/>
                <a:ea typeface="Times New Roman"/>
                <a:cs typeface="Times New Roman"/>
                <a:sym typeface="Times New Roman"/>
              </a:rPr>
              <a:t>intersite</a:t>
            </a:r>
            <a:r>
              <a:rPr lang="fr-FR" sz="4000" b="1" dirty="0">
                <a:solidFill>
                  <a:srgbClr val="C00000"/>
                </a:solidFill>
                <a:latin typeface="Times New Roman"/>
                <a:ea typeface="Times New Roman"/>
                <a:cs typeface="Times New Roman"/>
                <a:sym typeface="Times New Roman"/>
              </a:rPr>
              <a:t> (CSRF)</a:t>
            </a:r>
            <a:endParaRPr sz="4000" b="1" dirty="0">
              <a:solidFill>
                <a:srgbClr val="C00000"/>
              </a:solidFill>
              <a:latin typeface="Times New Roman"/>
              <a:ea typeface="Times New Roman"/>
              <a:cs typeface="Times New Roman"/>
              <a:sym typeface="Times New Roman"/>
            </a:endParaRPr>
          </a:p>
        </p:txBody>
      </p:sp>
      <p:sp>
        <p:nvSpPr>
          <p:cNvPr id="287" name="Google Shape;287;p35"/>
          <p:cNvSpPr txBox="1">
            <a:spLocks noGrp="1"/>
          </p:cNvSpPr>
          <p:nvPr>
            <p:ph type="body" idx="1"/>
          </p:nvPr>
        </p:nvSpPr>
        <p:spPr>
          <a:xfrm>
            <a:off x="0" y="1489348"/>
            <a:ext cx="9144000" cy="4536503"/>
          </a:xfrm>
          <a:prstGeom prst="rect">
            <a:avLst/>
          </a:prstGeom>
          <a:noFill/>
          <a:ln>
            <a:noFill/>
          </a:ln>
        </p:spPr>
        <p:txBody>
          <a:bodyPr spcFirstLastPara="1" wrap="square" lIns="91425" tIns="45700" rIns="91425" bIns="45700" anchor="t" anchorCtr="0">
            <a:normAutofit fontScale="70000" lnSpcReduction="20000"/>
          </a:bodyPr>
          <a:lstStyle/>
          <a:p>
            <a:pPr marL="91440" marR="84455" lvl="0" indent="-124460" algn="just" rtl="0">
              <a:lnSpc>
                <a:spcPct val="100000"/>
              </a:lnSpc>
              <a:spcBef>
                <a:spcPts val="0"/>
              </a:spcBef>
              <a:spcAft>
                <a:spcPts val="0"/>
              </a:spcAft>
              <a:buClr>
                <a:schemeClr val="dk1"/>
              </a:buClr>
              <a:buSzPct val="100000"/>
              <a:buChar char="•"/>
            </a:pPr>
            <a:r>
              <a:rPr lang="fr-FR"/>
              <a:t>Une attaque CSRF (Cross Site Request Forgery) force le navigateur  d'une victime authentifiée à envoyer une requête HTTP forgée,  comprenant le cookie de session de la victime ainsi que toute  autre information automatiquement inclue, à une application  web vulnérable. </a:t>
            </a:r>
            <a:endParaRPr/>
          </a:p>
          <a:p>
            <a:pPr marL="91440" marR="84455" lvl="0" indent="-124460" algn="just" rtl="0">
              <a:lnSpc>
                <a:spcPct val="100000"/>
              </a:lnSpc>
              <a:spcBef>
                <a:spcPts val="100"/>
              </a:spcBef>
              <a:spcAft>
                <a:spcPts val="0"/>
              </a:spcAft>
              <a:buClr>
                <a:schemeClr val="dk1"/>
              </a:buClr>
              <a:buSzPct val="100000"/>
              <a:buChar char="•"/>
            </a:pPr>
            <a:r>
              <a:rPr lang="fr-FR"/>
              <a:t>Ceci permet à l'attaquant de forcer le navigateur  de la victime à générer des requêtes dont l'application vulnérable  pense qu'elles émanent légitimement de la victime.</a:t>
            </a:r>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Exemple</a:t>
            </a:r>
            <a:endParaRPr/>
          </a:p>
          <a:p>
            <a:pPr marL="685800" lvl="1" indent="-228600" algn="l" rtl="0">
              <a:lnSpc>
                <a:spcPct val="90000"/>
              </a:lnSpc>
              <a:spcBef>
                <a:spcPts val="500"/>
              </a:spcBef>
              <a:spcAft>
                <a:spcPts val="0"/>
              </a:spcAft>
              <a:buClr>
                <a:schemeClr val="dk1"/>
              </a:buClr>
              <a:buSzPct val="100000"/>
              <a:buChar char="•"/>
            </a:pPr>
            <a:r>
              <a:rPr lang="fr-FR" sz="2200">
                <a:latin typeface="Courier New"/>
                <a:ea typeface="Courier New"/>
                <a:cs typeface="Courier New"/>
                <a:sym typeface="Courier New"/>
              </a:rPr>
              <a:t>&lt;img src=" amount=1500&amp;destinationAccount=attackersAcct#“ width="0" height="0" /&gt;</a:t>
            </a:r>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Solutions</a:t>
            </a:r>
            <a:endParaRPr/>
          </a:p>
          <a:p>
            <a:pPr marL="685800" lvl="1" indent="-228600" algn="l" rtl="0">
              <a:lnSpc>
                <a:spcPct val="90000"/>
              </a:lnSpc>
              <a:spcBef>
                <a:spcPts val="500"/>
              </a:spcBef>
              <a:spcAft>
                <a:spcPts val="0"/>
              </a:spcAft>
              <a:buClr>
                <a:schemeClr val="dk1"/>
              </a:buClr>
              <a:buSzPct val="100000"/>
              <a:buChar char="•"/>
            </a:pPr>
            <a:r>
              <a:rPr lang="fr-FR"/>
              <a:t>S’assurer que l’utilisateur est l’auteur de la requête, soit par la  réauthentification, soit par la vérification que la demande n’est pas  automatisée.</a:t>
            </a:r>
            <a:endParaRPr/>
          </a:p>
          <a:p>
            <a:pPr marL="685800" lvl="1" indent="-228600" algn="l" rtl="0">
              <a:lnSpc>
                <a:spcPct val="90000"/>
              </a:lnSpc>
              <a:spcBef>
                <a:spcPts val="500"/>
              </a:spcBef>
              <a:spcAft>
                <a:spcPts val="0"/>
              </a:spcAft>
              <a:buClr>
                <a:schemeClr val="dk1"/>
              </a:buClr>
              <a:buSzPct val="100000"/>
              <a:buChar char="•"/>
            </a:pPr>
            <a:r>
              <a:rPr lang="fr-FR"/>
              <a:t>La meilleure option est d’inclure un jeton unique dans un champ caché.  Ce jeton, envoyé dans le corps de la requête HTTP, et non inséré à l’URL  sera ainsi potentiellement moins exposé.</a:t>
            </a:r>
            <a:endParaRPr/>
          </a:p>
          <a:p>
            <a:pPr marL="685800" lvl="1" indent="-228600" algn="l" rtl="0">
              <a:lnSpc>
                <a:spcPct val="90000"/>
              </a:lnSpc>
              <a:spcBef>
                <a:spcPts val="500"/>
              </a:spcBef>
              <a:spcAft>
                <a:spcPts val="0"/>
              </a:spcAft>
              <a:buClr>
                <a:schemeClr val="dk1"/>
              </a:buClr>
              <a:buSzPct val="100000"/>
              <a:buChar char="•"/>
            </a:pPr>
            <a:r>
              <a:rPr lang="fr-FR" sz="2800"/>
              <a:t>Le projet CSRF Guard de l’OWASP fournit des bibliothèques pour  insérer de tels jetons dans les applications Java EE, .NET, ou PHP.</a:t>
            </a:r>
            <a:endParaRPr sz="2800"/>
          </a:p>
        </p:txBody>
      </p:sp>
      <p:sp>
        <p:nvSpPr>
          <p:cNvPr id="288" name="Google Shape;288;p35"/>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6"/>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Utilisation de composants avec  des vulnérabilités connues</a:t>
            </a:r>
            <a:endParaRPr sz="4000" b="1" dirty="0">
              <a:solidFill>
                <a:srgbClr val="C00000"/>
              </a:solidFill>
              <a:latin typeface="Times New Roman"/>
              <a:ea typeface="Times New Roman"/>
              <a:cs typeface="Times New Roman"/>
              <a:sym typeface="Times New Roman"/>
            </a:endParaRPr>
          </a:p>
        </p:txBody>
      </p:sp>
      <p:sp>
        <p:nvSpPr>
          <p:cNvPr id="294" name="Google Shape;294;p36"/>
          <p:cNvSpPr txBox="1">
            <a:spLocks noGrp="1"/>
          </p:cNvSpPr>
          <p:nvPr>
            <p:ph type="body" idx="1"/>
          </p:nvPr>
        </p:nvSpPr>
        <p:spPr>
          <a:xfrm>
            <a:off x="0" y="1521354"/>
            <a:ext cx="9144000" cy="4193646"/>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90000"/>
              </a:lnSpc>
              <a:spcBef>
                <a:spcPts val="0"/>
              </a:spcBef>
              <a:spcAft>
                <a:spcPts val="0"/>
              </a:spcAft>
              <a:buClr>
                <a:schemeClr val="dk1"/>
              </a:buClr>
              <a:buSzPct val="100000"/>
              <a:buChar char="•"/>
            </a:pPr>
            <a:r>
              <a:rPr lang="fr-FR"/>
              <a:t>Les composants vulnérables, tels que bibliothèques, contextes et  autres modules logiciels fonctionnent presque toujours avec des  privilèges maximum. Ainsi, si exploités, ils peuvent causer des  pertes de données sérieuses ou une prise de contrôle du serveur.  Les applications utilisant ces composants vulnérables peuvent  compromettre leurs défenses et permettre une série d'attaques  et d'impacts potentiels.</a:t>
            </a:r>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Exemple</a:t>
            </a:r>
            <a:endParaRPr/>
          </a:p>
          <a:p>
            <a:pPr marL="685800" lvl="1" indent="-228600" algn="l" rtl="0">
              <a:lnSpc>
                <a:spcPct val="90000"/>
              </a:lnSpc>
              <a:spcBef>
                <a:spcPts val="500"/>
              </a:spcBef>
              <a:spcAft>
                <a:spcPts val="0"/>
              </a:spcAft>
              <a:buClr>
                <a:schemeClr val="dk1"/>
              </a:buClr>
              <a:buSzPct val="100000"/>
              <a:buChar char="•"/>
            </a:pPr>
            <a:r>
              <a:rPr lang="fr-FR"/>
              <a:t>CXF Authentification Bypass –ne fourni pas de jeton d’authentification</a:t>
            </a:r>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Solutions</a:t>
            </a:r>
            <a:endParaRPr/>
          </a:p>
          <a:p>
            <a:pPr marL="756285" marR="8255" lvl="1" indent="-287019" algn="just" rtl="0">
              <a:lnSpc>
                <a:spcPct val="100000"/>
              </a:lnSpc>
              <a:spcBef>
                <a:spcPts val="525"/>
              </a:spcBef>
              <a:spcAft>
                <a:spcPts val="0"/>
              </a:spcAft>
              <a:buClr>
                <a:schemeClr val="dk1"/>
              </a:buClr>
              <a:buSzPct val="100000"/>
              <a:buFont typeface="Arial"/>
              <a:buChar char="–"/>
            </a:pPr>
            <a:r>
              <a:rPr lang="fr-FR" sz="2200"/>
              <a:t>Identifier tous les composants et les versions utilisées, ainsi que les  dépendances (ex: le plugin des versions).</a:t>
            </a:r>
            <a:endParaRPr sz="2200"/>
          </a:p>
          <a:p>
            <a:pPr marL="756285" marR="6350" lvl="1" indent="-287019" algn="just" rtl="0">
              <a:lnSpc>
                <a:spcPct val="100000"/>
              </a:lnSpc>
              <a:spcBef>
                <a:spcPts val="530"/>
              </a:spcBef>
              <a:spcAft>
                <a:spcPts val="0"/>
              </a:spcAft>
              <a:buClr>
                <a:schemeClr val="dk1"/>
              </a:buClr>
              <a:buSzPct val="100000"/>
              <a:buFont typeface="Arial"/>
              <a:buChar char="–"/>
            </a:pPr>
            <a:r>
              <a:rPr lang="fr-FR" sz="2200"/>
              <a:t>Surveiller les bases de données publiques, les listes de diffusion des  projets et les listes de diffusion de sécurité afin de s’assurer de la  sécurité de ces composants afin de les maintenir à jour.</a:t>
            </a:r>
            <a:endParaRPr sz="2200"/>
          </a:p>
          <a:p>
            <a:pPr marL="756285" marR="5080" lvl="1" indent="-287019" algn="just" rtl="0">
              <a:lnSpc>
                <a:spcPct val="100000"/>
              </a:lnSpc>
              <a:spcBef>
                <a:spcPts val="525"/>
              </a:spcBef>
              <a:spcAft>
                <a:spcPts val="0"/>
              </a:spcAft>
              <a:buClr>
                <a:schemeClr val="dk1"/>
              </a:buClr>
              <a:buSzPct val="100000"/>
              <a:buFont typeface="Arial"/>
              <a:buChar char="–"/>
            </a:pPr>
            <a:r>
              <a:rPr lang="fr-FR" sz="2200"/>
              <a:t>Établir des politiques de sécurité pour l’utilisation des composants,  telles que la mise en place de pratiques de développement sécurisé,  le passage avec succès des recettes sécurité et l’utilisation de  composants sous License.</a:t>
            </a:r>
            <a:endParaRPr sz="2200"/>
          </a:p>
          <a:p>
            <a:pPr marL="228600" lvl="0" indent="-104140" algn="l" rtl="0">
              <a:lnSpc>
                <a:spcPct val="90000"/>
              </a:lnSpc>
              <a:spcBef>
                <a:spcPts val="1000"/>
              </a:spcBef>
              <a:spcAft>
                <a:spcPts val="0"/>
              </a:spcAft>
              <a:buClr>
                <a:schemeClr val="dk1"/>
              </a:buClr>
              <a:buSzPct val="100000"/>
              <a:buNone/>
            </a:pPr>
            <a:endParaRPr/>
          </a:p>
        </p:txBody>
      </p:sp>
      <p:sp>
        <p:nvSpPr>
          <p:cNvPr id="295" name="Google Shape;295;p36"/>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7"/>
          <p:cNvSpPr txBox="1">
            <a:spLocks noGrp="1"/>
          </p:cNvSpPr>
          <p:nvPr>
            <p:ph type="title"/>
          </p:nvPr>
        </p:nvSpPr>
        <p:spPr>
          <a:xfrm>
            <a:off x="628650" y="304272"/>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dirty="0">
                <a:solidFill>
                  <a:srgbClr val="C00000"/>
                </a:solidFill>
                <a:latin typeface="Times New Roman"/>
                <a:ea typeface="Times New Roman"/>
                <a:cs typeface="Times New Roman"/>
                <a:sym typeface="Times New Roman"/>
              </a:rPr>
              <a:t> Redirections et renvois non validés</a:t>
            </a:r>
            <a:endParaRPr sz="4000" b="1" dirty="0">
              <a:solidFill>
                <a:srgbClr val="C00000"/>
              </a:solidFill>
              <a:latin typeface="Times New Roman"/>
              <a:ea typeface="Times New Roman"/>
              <a:cs typeface="Times New Roman"/>
              <a:sym typeface="Times New Roman"/>
            </a:endParaRPr>
          </a:p>
        </p:txBody>
      </p:sp>
      <p:sp>
        <p:nvSpPr>
          <p:cNvPr id="301" name="Google Shape;301;p37"/>
          <p:cNvSpPr txBox="1">
            <a:spLocks noGrp="1"/>
          </p:cNvSpPr>
          <p:nvPr>
            <p:ph type="body" idx="1"/>
          </p:nvPr>
        </p:nvSpPr>
        <p:spPr>
          <a:xfrm>
            <a:off x="0" y="1521354"/>
            <a:ext cx="9144000" cy="4072450"/>
          </a:xfrm>
          <a:prstGeom prst="rect">
            <a:avLst/>
          </a:prstGeom>
          <a:noFill/>
          <a:ln>
            <a:noFill/>
          </a:ln>
        </p:spPr>
        <p:txBody>
          <a:bodyPr spcFirstLastPara="1" wrap="square" lIns="91425" tIns="45700" rIns="91425" bIns="45700" anchor="t" anchorCtr="0">
            <a:normAutofit fontScale="70000" lnSpcReduction="20000"/>
          </a:bodyPr>
          <a:lstStyle/>
          <a:p>
            <a:pPr marL="91440" marR="83820" lvl="0" indent="-124460" algn="just" rtl="0">
              <a:lnSpc>
                <a:spcPct val="100000"/>
              </a:lnSpc>
              <a:spcBef>
                <a:spcPts val="0"/>
              </a:spcBef>
              <a:spcAft>
                <a:spcPts val="0"/>
              </a:spcAft>
              <a:buClr>
                <a:schemeClr val="dk1"/>
              </a:buClr>
              <a:buSzPct val="100000"/>
              <a:buChar char="•"/>
            </a:pPr>
            <a:r>
              <a:rPr lang="fr-FR"/>
              <a:t>Les applications web réorientent et redirigent fréquemment les  utilisateurs vers d'autres pages et sites internet, et utilisent des  données non fiables pour déterminer les pages de destination.  </a:t>
            </a:r>
            <a:endParaRPr/>
          </a:p>
          <a:p>
            <a:pPr marL="91440" marR="83820" lvl="0" indent="-124460" algn="just" rtl="0">
              <a:lnSpc>
                <a:spcPct val="100000"/>
              </a:lnSpc>
              <a:spcBef>
                <a:spcPts val="100"/>
              </a:spcBef>
              <a:spcAft>
                <a:spcPts val="0"/>
              </a:spcAft>
              <a:buClr>
                <a:schemeClr val="dk1"/>
              </a:buClr>
              <a:buSzPct val="100000"/>
              <a:buChar char="•"/>
            </a:pPr>
            <a:r>
              <a:rPr lang="fr-FR"/>
              <a:t>Sans validation appropriée, les attaquants peuvent réorienter les  victimes vers des sites de phishing ou de malware, ou utiliser les  renvois pour accéder à des pages non autorisées.</a:t>
            </a:r>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Exemple</a:t>
            </a:r>
            <a:endParaRPr/>
          </a:p>
          <a:p>
            <a:pPr marL="685800" lvl="1" indent="-228600" algn="l" rtl="0">
              <a:lnSpc>
                <a:spcPct val="90000"/>
              </a:lnSpc>
              <a:spcBef>
                <a:spcPts val="500"/>
              </a:spcBef>
              <a:spcAft>
                <a:spcPts val="0"/>
              </a:spcAft>
              <a:buClr>
                <a:schemeClr val="dk1"/>
              </a:buClr>
              <a:buSzPct val="100000"/>
              <a:buChar char="•"/>
            </a:pPr>
            <a:r>
              <a:rPr lang="fr-FR" sz="1900">
                <a:latin typeface="Courier New"/>
                <a:ea typeface="Courier New"/>
                <a:cs typeface="Courier New"/>
                <a:sym typeface="Courier New"/>
              </a:rPr>
              <a:t>http://www.example.com/redirect.jsp?url=evil.com</a:t>
            </a:r>
            <a:endParaRPr/>
          </a:p>
          <a:p>
            <a:pPr marL="0" lvl="0" indent="0" algn="l" rtl="0">
              <a:lnSpc>
                <a:spcPct val="90000"/>
              </a:lnSpc>
              <a:spcBef>
                <a:spcPts val="1000"/>
              </a:spcBef>
              <a:spcAft>
                <a:spcPts val="0"/>
              </a:spcAft>
              <a:buClr>
                <a:schemeClr val="accent1"/>
              </a:buClr>
              <a:buSzPct val="100000"/>
              <a:buNone/>
            </a:pPr>
            <a:r>
              <a:rPr lang="fr-FR" b="1">
                <a:solidFill>
                  <a:schemeClr val="accent1"/>
                </a:solidFill>
              </a:rPr>
              <a:t>Solutions</a:t>
            </a:r>
            <a:endParaRPr/>
          </a:p>
          <a:p>
            <a:pPr marL="685800" lvl="1" indent="-228600" algn="l" rtl="0">
              <a:lnSpc>
                <a:spcPct val="90000"/>
              </a:lnSpc>
              <a:spcBef>
                <a:spcPts val="500"/>
              </a:spcBef>
              <a:spcAft>
                <a:spcPts val="0"/>
              </a:spcAft>
              <a:buClr>
                <a:schemeClr val="dk1"/>
              </a:buClr>
              <a:buSzPct val="100000"/>
              <a:buChar char="•"/>
            </a:pPr>
            <a:r>
              <a:rPr lang="fr-FR"/>
              <a:t>Eviter l’utilisation des redirections et des renvois.</a:t>
            </a:r>
            <a:endParaRPr/>
          </a:p>
          <a:p>
            <a:pPr marL="685800" lvl="1" indent="-228600" algn="l" rtl="0">
              <a:lnSpc>
                <a:spcPct val="90000"/>
              </a:lnSpc>
              <a:spcBef>
                <a:spcPts val="500"/>
              </a:spcBef>
              <a:spcAft>
                <a:spcPts val="0"/>
              </a:spcAft>
              <a:buClr>
                <a:schemeClr val="dk1"/>
              </a:buClr>
              <a:buSzPct val="100000"/>
              <a:buChar char="•"/>
            </a:pPr>
            <a:r>
              <a:rPr lang="fr-FR"/>
              <a:t>En cas d’utilisation, ne pas utiliser de valeur de destination dans les  paramètres utilisateur. Ceci est généralement réalisable.</a:t>
            </a:r>
            <a:endParaRPr/>
          </a:p>
          <a:p>
            <a:pPr marL="685800" lvl="1" indent="-228600" algn="l" rtl="0">
              <a:lnSpc>
                <a:spcPct val="90000"/>
              </a:lnSpc>
              <a:spcBef>
                <a:spcPts val="500"/>
              </a:spcBef>
              <a:spcAft>
                <a:spcPts val="0"/>
              </a:spcAft>
              <a:buClr>
                <a:schemeClr val="dk1"/>
              </a:buClr>
              <a:buSzPct val="100000"/>
              <a:buChar char="•"/>
            </a:pPr>
            <a:r>
              <a:rPr lang="fr-FR"/>
              <a:t>Il est recommandé de ne pas utiliser d’URL dans les paramètres,  mais plutôt une valeur abstraite qui sera traduite côté serveur par  une URL cible. Les applications peuvent utiliser ESAPI afin de  bénéficier de la fonction </a:t>
            </a:r>
            <a:r>
              <a:rPr lang="fr-FR" b="1" i="1"/>
              <a:t>sendRedirect() </a:t>
            </a:r>
            <a:r>
              <a:rPr lang="fr-FR"/>
              <a:t>permettant de s’assurer  que les redirections soient sûre</a:t>
            </a:r>
            <a:endParaRPr/>
          </a:p>
        </p:txBody>
      </p:sp>
      <p:sp>
        <p:nvSpPr>
          <p:cNvPr id="302" name="Google Shape;302;p37"/>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8"/>
          <p:cNvSpPr txBox="1">
            <a:spLocks noGrp="1"/>
          </p:cNvSpPr>
          <p:nvPr>
            <p:ph type="title"/>
          </p:nvPr>
        </p:nvSpPr>
        <p:spPr>
          <a:xfrm>
            <a:off x="827584" y="2497460"/>
            <a:ext cx="7886700" cy="110463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C00000"/>
              </a:buClr>
              <a:buSzPts val="4000"/>
              <a:buFont typeface="Times New Roman"/>
              <a:buNone/>
            </a:pPr>
            <a:r>
              <a:rPr lang="fr-FR" sz="4000" b="1">
                <a:solidFill>
                  <a:srgbClr val="C00000"/>
                </a:solidFill>
                <a:latin typeface="Times New Roman"/>
                <a:ea typeface="Times New Roman"/>
                <a:cs typeface="Times New Roman"/>
                <a:sym typeface="Times New Roman"/>
              </a:rPr>
              <a:t> Fin de chapitre </a:t>
            </a:r>
            <a:endParaRPr sz="4000" b="1">
              <a:solidFill>
                <a:srgbClr val="C00000"/>
              </a:solidFill>
              <a:latin typeface="Times New Roman"/>
              <a:ea typeface="Times New Roman"/>
              <a:cs typeface="Times New Roman"/>
              <a:sym typeface="Times New Roman"/>
            </a:endParaRPr>
          </a:p>
        </p:txBody>
      </p:sp>
      <p:sp>
        <p:nvSpPr>
          <p:cNvPr id="308" name="Google Shape;308;p38"/>
          <p:cNvSpPr txBox="1">
            <a:spLocks noGrp="1"/>
          </p:cNvSpPr>
          <p:nvPr>
            <p:ph type="sldNum" idx="12"/>
          </p:nvPr>
        </p:nvSpPr>
        <p:spPr>
          <a:xfrm>
            <a:off x="6457950" y="5296960"/>
            <a:ext cx="2057400" cy="30427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23</a:t>
            </a:fld>
            <a:endParaRPr/>
          </a:p>
        </p:txBody>
      </p:sp>
    </p:spTree>
  </p:cSld>
  <p:clrMapOvr>
    <a:masterClrMapping/>
  </p:clrMapOvr>
</p:sld>
</file>

<file path=ppt/theme/theme1.xml><?xml version="1.0" encoding="utf-8"?>
<a:theme xmlns:a="http://schemas.openxmlformats.org/drawingml/2006/main" name="Espri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604</TotalTime>
  <Words>1791</Words>
  <Application>Microsoft Office PowerPoint</Application>
  <PresentationFormat>Affichage à l'écran (16:10)</PresentationFormat>
  <Paragraphs>186</Paragraphs>
  <Slides>23</Slides>
  <Notes>23</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23</vt:i4>
      </vt:variant>
    </vt:vector>
  </HeadingPairs>
  <TitlesOfParts>
    <vt:vector size="30" baseType="lpstr">
      <vt:lpstr>Noto Sans Symbols</vt:lpstr>
      <vt:lpstr>Courier New</vt:lpstr>
      <vt:lpstr>Arial</vt:lpstr>
      <vt:lpstr>Raleway Black</vt:lpstr>
      <vt:lpstr>Calibri</vt:lpstr>
      <vt:lpstr>Times New Roman</vt:lpstr>
      <vt:lpstr>Esprit</vt:lpstr>
      <vt:lpstr>Chapitre 5:  Les attaques web</vt:lpstr>
      <vt:lpstr>Plan du chapitre</vt:lpstr>
      <vt:lpstr>Application Web</vt:lpstr>
      <vt:lpstr>Fonctionnement de l’application Web</vt:lpstr>
      <vt:lpstr>La réalité: ce qui peut arriver</vt:lpstr>
      <vt:lpstr>Plan du chapitre</vt:lpstr>
      <vt:lpstr>Types de vulnérabilités</vt:lpstr>
      <vt:lpstr>Principe des attaques</vt:lpstr>
      <vt:lpstr>Référencement des documents</vt:lpstr>
      <vt:lpstr>Exemples d’attaques</vt:lpstr>
      <vt:lpstr>Plan du chapitre</vt:lpstr>
      <vt:lpstr>Annexe</vt:lpstr>
      <vt:lpstr>Injection</vt:lpstr>
      <vt:lpstr>  Violation de Gestion d’Authentification et de Session</vt:lpstr>
      <vt:lpstr>Cross-Site Scripting (XSS)</vt:lpstr>
      <vt:lpstr>Références directes non sécurisées à un objet</vt:lpstr>
      <vt:lpstr>Mauvaise configuration de sécurité</vt:lpstr>
      <vt:lpstr>Exposition de données sensibles</vt:lpstr>
      <vt:lpstr>Manque de contrôle d’accès au niveau fonctionnel</vt:lpstr>
      <vt:lpstr>Falsification de requête intersite (CSRF)</vt:lpstr>
      <vt:lpstr>Utilisation de composants avec  des vulnérabilités connues</vt:lpstr>
      <vt:lpstr> Redirections et renvois non validés</vt:lpstr>
      <vt:lpstr> Fin de chapitre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Chapitre 5: Sécurité des applications Web</dc:title>
  <dc:creator>MILADI</dc:creator>
  <cp:lastModifiedBy>sirajeddine miladi</cp:lastModifiedBy>
  <cp:revision>18</cp:revision>
  <dcterms:modified xsi:type="dcterms:W3CDTF">2024-10-14T05:20:37Z</dcterms:modified>
</cp:coreProperties>
</file>