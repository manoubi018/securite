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3" r:id="rId38"/>
    <p:sldId id="294" r:id="rId39"/>
    <p:sldId id="292" r:id="rId40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407"/>
    <p:restoredTop sz="94709"/>
  </p:normalViewPr>
  <p:slideViewPr>
    <p:cSldViewPr>
      <p:cViewPr varScale="1">
        <p:scale>
          <a:sx n="46" d="100"/>
          <a:sy n="46" d="100"/>
        </p:scale>
        <p:origin x="96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313185" y="530200"/>
            <a:ext cx="9845040" cy="1587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>
                <a:solidFill>
                  <a:srgbClr val="BE000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9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95" dirty="0"/>
              <a:t>‹N°›</a:t>
            </a:fld>
            <a:endParaRPr spc="-9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BE000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9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95" dirty="0"/>
              <a:t>‹N°›</a:t>
            </a:fld>
            <a:endParaRPr spc="-9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58108" y="0"/>
            <a:ext cx="3029890" cy="1671874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028612" y="512176"/>
            <a:ext cx="904240" cy="1033780"/>
          </a:xfrm>
          <a:custGeom>
            <a:avLst/>
            <a:gdLst/>
            <a:ahLst/>
            <a:cxnLst/>
            <a:rect l="l" t="t" r="r" b="b"/>
            <a:pathLst>
              <a:path w="904239" h="1033780">
                <a:moveTo>
                  <a:pt x="0" y="1033158"/>
                </a:moveTo>
                <a:lnTo>
                  <a:pt x="0" y="0"/>
                </a:lnTo>
                <a:lnTo>
                  <a:pt x="904014" y="516579"/>
                </a:lnTo>
                <a:lnTo>
                  <a:pt x="0" y="1033158"/>
                </a:lnTo>
                <a:close/>
              </a:path>
            </a:pathLst>
          </a:custGeom>
          <a:solidFill>
            <a:srgbClr val="B40C1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153484" y="2610646"/>
            <a:ext cx="0" cy="6463665"/>
          </a:xfrm>
          <a:custGeom>
            <a:avLst/>
            <a:gdLst/>
            <a:ahLst/>
            <a:cxnLst/>
            <a:rect l="l" t="t" r="r" b="b"/>
            <a:pathLst>
              <a:path h="6463665">
                <a:moveTo>
                  <a:pt x="0" y="0"/>
                </a:moveTo>
                <a:lnTo>
                  <a:pt x="0" y="6463239"/>
                </a:lnTo>
              </a:path>
            </a:pathLst>
          </a:custGeom>
          <a:ln w="19049">
            <a:solidFill>
              <a:srgbClr val="9D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028700" y="3469886"/>
            <a:ext cx="16230600" cy="0"/>
          </a:xfrm>
          <a:custGeom>
            <a:avLst/>
            <a:gdLst/>
            <a:ahLst/>
            <a:cxnLst/>
            <a:rect l="l" t="t" r="r" b="b"/>
            <a:pathLst>
              <a:path w="16230600">
                <a:moveTo>
                  <a:pt x="16230598" y="0"/>
                </a:moveTo>
                <a:lnTo>
                  <a:pt x="0" y="0"/>
                </a:lnTo>
              </a:path>
            </a:pathLst>
          </a:custGeom>
          <a:ln w="19049">
            <a:solidFill>
              <a:srgbClr val="9D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4338791" y="2228108"/>
            <a:ext cx="971550" cy="971550"/>
          </a:xfrm>
          <a:custGeom>
            <a:avLst/>
            <a:gdLst/>
            <a:ahLst/>
            <a:cxnLst/>
            <a:rect l="l" t="t" r="r" b="b"/>
            <a:pathLst>
              <a:path w="971550" h="971550">
                <a:moveTo>
                  <a:pt x="485774" y="971549"/>
                </a:moveTo>
                <a:lnTo>
                  <a:pt x="438160" y="969210"/>
                </a:lnTo>
                <a:lnTo>
                  <a:pt x="391004" y="962215"/>
                </a:lnTo>
                <a:lnTo>
                  <a:pt x="344761" y="950632"/>
                </a:lnTo>
                <a:lnTo>
                  <a:pt x="299876" y="934572"/>
                </a:lnTo>
                <a:lnTo>
                  <a:pt x="256782" y="914190"/>
                </a:lnTo>
                <a:lnTo>
                  <a:pt x="215892" y="889681"/>
                </a:lnTo>
                <a:lnTo>
                  <a:pt x="177602" y="861283"/>
                </a:lnTo>
                <a:lnTo>
                  <a:pt x="142280" y="829269"/>
                </a:lnTo>
                <a:lnTo>
                  <a:pt x="110265" y="793947"/>
                </a:lnTo>
                <a:lnTo>
                  <a:pt x="81867" y="755656"/>
                </a:lnTo>
                <a:lnTo>
                  <a:pt x="57359" y="714767"/>
                </a:lnTo>
                <a:lnTo>
                  <a:pt x="36977" y="671672"/>
                </a:lnTo>
                <a:lnTo>
                  <a:pt x="20917" y="626787"/>
                </a:lnTo>
                <a:lnTo>
                  <a:pt x="9333" y="580544"/>
                </a:lnTo>
                <a:lnTo>
                  <a:pt x="2339" y="533389"/>
                </a:lnTo>
                <a:lnTo>
                  <a:pt x="0" y="485774"/>
                </a:lnTo>
                <a:lnTo>
                  <a:pt x="146" y="473849"/>
                </a:lnTo>
                <a:lnTo>
                  <a:pt x="3653" y="426307"/>
                </a:lnTo>
                <a:lnTo>
                  <a:pt x="11803" y="379337"/>
                </a:lnTo>
                <a:lnTo>
                  <a:pt x="24518" y="333392"/>
                </a:lnTo>
                <a:lnTo>
                  <a:pt x="41675" y="288915"/>
                </a:lnTo>
                <a:lnTo>
                  <a:pt x="63110" y="246334"/>
                </a:lnTo>
                <a:lnTo>
                  <a:pt x="88614" y="206058"/>
                </a:lnTo>
                <a:lnTo>
                  <a:pt x="117944" y="168477"/>
                </a:lnTo>
                <a:lnTo>
                  <a:pt x="150815" y="133951"/>
                </a:lnTo>
                <a:lnTo>
                  <a:pt x="186913" y="102813"/>
                </a:lnTo>
                <a:lnTo>
                  <a:pt x="225889" y="75364"/>
                </a:lnTo>
                <a:lnTo>
                  <a:pt x="267368" y="51867"/>
                </a:lnTo>
                <a:lnTo>
                  <a:pt x="310950" y="32548"/>
                </a:lnTo>
                <a:lnTo>
                  <a:pt x="356215" y="17595"/>
                </a:lnTo>
                <a:lnTo>
                  <a:pt x="402729" y="7150"/>
                </a:lnTo>
                <a:lnTo>
                  <a:pt x="450042" y="1315"/>
                </a:lnTo>
                <a:lnTo>
                  <a:pt x="485774" y="0"/>
                </a:lnTo>
                <a:lnTo>
                  <a:pt x="497700" y="146"/>
                </a:lnTo>
                <a:lnTo>
                  <a:pt x="545242" y="3653"/>
                </a:lnTo>
                <a:lnTo>
                  <a:pt x="592212" y="11803"/>
                </a:lnTo>
                <a:lnTo>
                  <a:pt x="638157" y="24518"/>
                </a:lnTo>
                <a:lnTo>
                  <a:pt x="682634" y="41675"/>
                </a:lnTo>
                <a:lnTo>
                  <a:pt x="725215" y="63110"/>
                </a:lnTo>
                <a:lnTo>
                  <a:pt x="765491" y="88614"/>
                </a:lnTo>
                <a:lnTo>
                  <a:pt x="803072" y="117944"/>
                </a:lnTo>
                <a:lnTo>
                  <a:pt x="837598" y="150815"/>
                </a:lnTo>
                <a:lnTo>
                  <a:pt x="868736" y="186913"/>
                </a:lnTo>
                <a:lnTo>
                  <a:pt x="896185" y="225889"/>
                </a:lnTo>
                <a:lnTo>
                  <a:pt x="919682" y="267368"/>
                </a:lnTo>
                <a:lnTo>
                  <a:pt x="939001" y="310950"/>
                </a:lnTo>
                <a:lnTo>
                  <a:pt x="953954" y="356215"/>
                </a:lnTo>
                <a:lnTo>
                  <a:pt x="964398" y="402729"/>
                </a:lnTo>
                <a:lnTo>
                  <a:pt x="970234" y="450042"/>
                </a:lnTo>
                <a:lnTo>
                  <a:pt x="971549" y="485774"/>
                </a:lnTo>
                <a:lnTo>
                  <a:pt x="971403" y="497700"/>
                </a:lnTo>
                <a:lnTo>
                  <a:pt x="967896" y="545242"/>
                </a:lnTo>
                <a:lnTo>
                  <a:pt x="959746" y="592212"/>
                </a:lnTo>
                <a:lnTo>
                  <a:pt x="947031" y="638157"/>
                </a:lnTo>
                <a:lnTo>
                  <a:pt x="929873" y="682634"/>
                </a:lnTo>
                <a:lnTo>
                  <a:pt x="908439" y="725215"/>
                </a:lnTo>
                <a:lnTo>
                  <a:pt x="882935" y="765491"/>
                </a:lnTo>
                <a:lnTo>
                  <a:pt x="853605" y="803072"/>
                </a:lnTo>
                <a:lnTo>
                  <a:pt x="820734" y="837598"/>
                </a:lnTo>
                <a:lnTo>
                  <a:pt x="784636" y="868736"/>
                </a:lnTo>
                <a:lnTo>
                  <a:pt x="745660" y="896185"/>
                </a:lnTo>
                <a:lnTo>
                  <a:pt x="704181" y="919682"/>
                </a:lnTo>
                <a:lnTo>
                  <a:pt x="660599" y="939001"/>
                </a:lnTo>
                <a:lnTo>
                  <a:pt x="615333" y="953954"/>
                </a:lnTo>
                <a:lnTo>
                  <a:pt x="568820" y="964399"/>
                </a:lnTo>
                <a:lnTo>
                  <a:pt x="521507" y="970234"/>
                </a:lnTo>
                <a:lnTo>
                  <a:pt x="485774" y="971549"/>
                </a:lnTo>
                <a:close/>
              </a:path>
            </a:pathLst>
          </a:custGeom>
          <a:solidFill>
            <a:srgbClr val="45A7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4537897" y="2508451"/>
            <a:ext cx="573405" cy="411480"/>
          </a:xfrm>
          <a:custGeom>
            <a:avLst/>
            <a:gdLst/>
            <a:ahLst/>
            <a:cxnLst/>
            <a:rect l="l" t="t" r="r" b="b"/>
            <a:pathLst>
              <a:path w="573404" h="411480">
                <a:moveTo>
                  <a:pt x="228742" y="410861"/>
                </a:moveTo>
                <a:lnTo>
                  <a:pt x="191794" y="399675"/>
                </a:lnTo>
                <a:lnTo>
                  <a:pt x="19502" y="229210"/>
                </a:lnTo>
                <a:lnTo>
                  <a:pt x="0" y="182124"/>
                </a:lnTo>
                <a:lnTo>
                  <a:pt x="4875" y="157066"/>
                </a:lnTo>
                <a:lnTo>
                  <a:pt x="19502" y="135038"/>
                </a:lnTo>
                <a:lnTo>
                  <a:pt x="41530" y="120412"/>
                </a:lnTo>
                <a:lnTo>
                  <a:pt x="66588" y="115536"/>
                </a:lnTo>
                <a:lnTo>
                  <a:pt x="91646" y="120412"/>
                </a:lnTo>
                <a:lnTo>
                  <a:pt x="113674" y="135038"/>
                </a:lnTo>
                <a:lnTo>
                  <a:pt x="228722" y="250086"/>
                </a:lnTo>
                <a:lnTo>
                  <a:pt x="459190" y="19518"/>
                </a:lnTo>
                <a:lnTo>
                  <a:pt x="481214" y="4882"/>
                </a:lnTo>
                <a:lnTo>
                  <a:pt x="506271" y="0"/>
                </a:lnTo>
                <a:lnTo>
                  <a:pt x="531330" y="4869"/>
                </a:lnTo>
                <a:lnTo>
                  <a:pt x="553362" y="19491"/>
                </a:lnTo>
                <a:lnTo>
                  <a:pt x="567994" y="41518"/>
                </a:lnTo>
                <a:lnTo>
                  <a:pt x="572874" y="66575"/>
                </a:lnTo>
                <a:lnTo>
                  <a:pt x="568004" y="91632"/>
                </a:lnTo>
                <a:lnTo>
                  <a:pt x="275834" y="391344"/>
                </a:lnTo>
                <a:lnTo>
                  <a:pt x="241797" y="409569"/>
                </a:lnTo>
                <a:lnTo>
                  <a:pt x="228742" y="410861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bg object 2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90720" y="2118882"/>
            <a:ext cx="1066799" cy="108584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BE000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172240" y="3899457"/>
            <a:ext cx="7656830" cy="5464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9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95" dirty="0"/>
              <a:t>‹N°›</a:t>
            </a:fld>
            <a:endParaRPr spc="-9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58108" y="0"/>
            <a:ext cx="3029890" cy="1671874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028612" y="512176"/>
            <a:ext cx="904240" cy="1033780"/>
          </a:xfrm>
          <a:custGeom>
            <a:avLst/>
            <a:gdLst/>
            <a:ahLst/>
            <a:cxnLst/>
            <a:rect l="l" t="t" r="r" b="b"/>
            <a:pathLst>
              <a:path w="904239" h="1033780">
                <a:moveTo>
                  <a:pt x="0" y="1033158"/>
                </a:moveTo>
                <a:lnTo>
                  <a:pt x="0" y="0"/>
                </a:lnTo>
                <a:lnTo>
                  <a:pt x="904014" y="516579"/>
                </a:lnTo>
                <a:lnTo>
                  <a:pt x="0" y="1033158"/>
                </a:lnTo>
                <a:close/>
              </a:path>
            </a:pathLst>
          </a:custGeom>
          <a:solidFill>
            <a:srgbClr val="B40C1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BE000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9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95" dirty="0"/>
              <a:t>‹N°›</a:t>
            </a:fld>
            <a:endParaRPr spc="-9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9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95" dirty="0"/>
              <a:t>‹N°›</a:t>
            </a:fld>
            <a:endParaRPr spc="-9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258108" y="0"/>
            <a:ext cx="3029890" cy="167187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66532" y="465797"/>
            <a:ext cx="12987019" cy="16599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>
                <a:solidFill>
                  <a:srgbClr val="BE000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16000" y="2277005"/>
            <a:ext cx="15878810" cy="33458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7414910" y="9554081"/>
            <a:ext cx="301625" cy="3543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95" dirty="0"/>
              <a:t>‹N°›</a:t>
            </a:fld>
            <a:endParaRPr spc="-9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28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35.png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jp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6.png"/><Relationship Id="rId7" Type="http://schemas.openxmlformats.org/officeDocument/2006/relationships/image" Target="../media/image68.png"/><Relationship Id="rId12" Type="http://schemas.openxmlformats.org/officeDocument/2006/relationships/image" Target="../media/image56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5" Type="http://schemas.openxmlformats.org/officeDocument/2006/relationships/image" Target="../media/image63.png"/><Relationship Id="rId10" Type="http://schemas.openxmlformats.org/officeDocument/2006/relationships/image" Target="../media/image71.png"/><Relationship Id="rId4" Type="http://schemas.openxmlformats.org/officeDocument/2006/relationships/image" Target="../media/image62.png"/><Relationship Id="rId9" Type="http://schemas.openxmlformats.org/officeDocument/2006/relationships/image" Target="../media/image70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620" y="634400"/>
            <a:ext cx="1087755" cy="1243330"/>
          </a:xfrm>
          <a:custGeom>
            <a:avLst/>
            <a:gdLst/>
            <a:ahLst/>
            <a:cxnLst/>
            <a:rect l="l" t="t" r="r" b="b"/>
            <a:pathLst>
              <a:path w="1087755" h="1243330">
                <a:moveTo>
                  <a:pt x="0" y="1243097"/>
                </a:moveTo>
                <a:lnTo>
                  <a:pt x="0" y="0"/>
                </a:lnTo>
                <a:lnTo>
                  <a:pt x="1087710" y="621548"/>
                </a:lnTo>
                <a:lnTo>
                  <a:pt x="0" y="1243097"/>
                </a:lnTo>
                <a:close/>
              </a:path>
            </a:pathLst>
          </a:custGeom>
          <a:solidFill>
            <a:srgbClr val="B40C1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5316" rIns="0" bIns="0" rtlCol="0">
            <a:spAutoFit/>
          </a:bodyPr>
          <a:lstStyle/>
          <a:p>
            <a:pPr marL="296545">
              <a:lnSpc>
                <a:spcPct val="100000"/>
              </a:lnSpc>
              <a:spcBef>
                <a:spcPts val="110"/>
              </a:spcBef>
            </a:pPr>
            <a:r>
              <a:rPr sz="3850" spc="90" dirty="0">
                <a:solidFill>
                  <a:srgbClr val="B40C18"/>
                </a:solidFill>
                <a:latin typeface="Times New Roman"/>
                <a:cs typeface="Times New Roman"/>
              </a:rPr>
              <a:t>Module</a:t>
            </a:r>
            <a:r>
              <a:rPr sz="3850" spc="275" dirty="0">
                <a:solidFill>
                  <a:srgbClr val="B40C18"/>
                </a:solidFill>
                <a:latin typeface="Times New Roman"/>
                <a:cs typeface="Times New Roman"/>
              </a:rPr>
              <a:t> </a:t>
            </a:r>
            <a:r>
              <a:rPr sz="3850" dirty="0">
                <a:solidFill>
                  <a:srgbClr val="B40C18"/>
                </a:solidFill>
                <a:latin typeface="Times New Roman"/>
                <a:cs typeface="Times New Roman"/>
              </a:rPr>
              <a:t>:</a:t>
            </a:r>
            <a:r>
              <a:rPr sz="3850" spc="290" dirty="0">
                <a:solidFill>
                  <a:srgbClr val="B40C18"/>
                </a:solidFill>
                <a:latin typeface="Times New Roman"/>
                <a:cs typeface="Times New Roman"/>
              </a:rPr>
              <a:t> </a:t>
            </a:r>
            <a:r>
              <a:rPr sz="3850" spc="100" dirty="0">
                <a:solidFill>
                  <a:srgbClr val="B40C18"/>
                </a:solidFill>
                <a:latin typeface="Times New Roman"/>
                <a:cs typeface="Times New Roman"/>
              </a:rPr>
              <a:t>Sécurité</a:t>
            </a:r>
            <a:r>
              <a:rPr sz="3850" spc="285" dirty="0">
                <a:solidFill>
                  <a:srgbClr val="B40C18"/>
                </a:solidFill>
                <a:latin typeface="Times New Roman"/>
                <a:cs typeface="Times New Roman"/>
              </a:rPr>
              <a:t> </a:t>
            </a:r>
            <a:r>
              <a:rPr sz="3850" spc="45" dirty="0">
                <a:solidFill>
                  <a:srgbClr val="B40C18"/>
                </a:solidFill>
                <a:latin typeface="Times New Roman"/>
                <a:cs typeface="Times New Roman"/>
              </a:rPr>
              <a:t>Informatique</a:t>
            </a:r>
            <a:endParaRPr sz="385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65384" y="3431811"/>
            <a:ext cx="8920480" cy="89344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700" b="1" spc="-145" dirty="0">
                <a:solidFill>
                  <a:srgbClr val="BE0000"/>
                </a:solidFill>
                <a:latin typeface="Times New Roman"/>
                <a:cs typeface="Times New Roman"/>
              </a:rPr>
              <a:t>Chapitre</a:t>
            </a:r>
            <a:r>
              <a:rPr sz="5700" b="1" spc="-140" dirty="0">
                <a:solidFill>
                  <a:srgbClr val="BE0000"/>
                </a:solidFill>
                <a:latin typeface="Times New Roman"/>
                <a:cs typeface="Times New Roman"/>
              </a:rPr>
              <a:t> </a:t>
            </a:r>
            <a:r>
              <a:rPr sz="5700" b="1" dirty="0">
                <a:solidFill>
                  <a:srgbClr val="BE0000"/>
                </a:solidFill>
                <a:latin typeface="Times New Roman"/>
                <a:cs typeface="Times New Roman"/>
              </a:rPr>
              <a:t>3</a:t>
            </a:r>
            <a:r>
              <a:rPr sz="5700" b="1" spc="-80" dirty="0">
                <a:solidFill>
                  <a:srgbClr val="BE0000"/>
                </a:solidFill>
                <a:latin typeface="Times New Roman"/>
                <a:cs typeface="Times New Roman"/>
              </a:rPr>
              <a:t> </a:t>
            </a:r>
            <a:r>
              <a:rPr sz="5700" b="1" spc="-365" dirty="0">
                <a:solidFill>
                  <a:srgbClr val="BE0000"/>
                </a:solidFill>
                <a:latin typeface="Times New Roman"/>
                <a:cs typeface="Times New Roman"/>
              </a:rPr>
              <a:t>:</a:t>
            </a:r>
            <a:r>
              <a:rPr sz="5700" b="1" spc="-15" dirty="0">
                <a:solidFill>
                  <a:srgbClr val="BE0000"/>
                </a:solidFill>
                <a:latin typeface="Times New Roman"/>
                <a:cs typeface="Times New Roman"/>
              </a:rPr>
              <a:t> </a:t>
            </a:r>
            <a:r>
              <a:rPr sz="5700" b="1" dirty="0">
                <a:solidFill>
                  <a:srgbClr val="BE0000"/>
                </a:solidFill>
                <a:latin typeface="Times New Roman"/>
                <a:cs typeface="Times New Roman"/>
              </a:rPr>
              <a:t>La</a:t>
            </a:r>
            <a:r>
              <a:rPr sz="5700" b="1" spc="-75" dirty="0">
                <a:solidFill>
                  <a:srgbClr val="BE0000"/>
                </a:solidFill>
                <a:latin typeface="Times New Roman"/>
                <a:cs typeface="Times New Roman"/>
              </a:rPr>
              <a:t> </a:t>
            </a:r>
            <a:r>
              <a:rPr sz="5700" b="1" spc="-125" dirty="0">
                <a:solidFill>
                  <a:srgbClr val="BE0000"/>
                </a:solidFill>
                <a:latin typeface="Times New Roman"/>
                <a:cs typeface="Times New Roman"/>
              </a:rPr>
              <a:t>cryptographie</a:t>
            </a:r>
            <a:endParaRPr sz="57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49097" y="5036763"/>
            <a:ext cx="3157220" cy="5638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0" b="1" dirty="0">
                <a:solidFill>
                  <a:srgbClr val="BE0000"/>
                </a:solidFill>
                <a:latin typeface="Times New Roman"/>
                <a:cs typeface="Times New Roman"/>
              </a:rPr>
              <a:t>Classe</a:t>
            </a:r>
            <a:r>
              <a:rPr sz="3500" b="1" spc="-75" dirty="0">
                <a:solidFill>
                  <a:srgbClr val="BE0000"/>
                </a:solidFill>
                <a:latin typeface="Times New Roman"/>
                <a:cs typeface="Times New Roman"/>
              </a:rPr>
              <a:t> </a:t>
            </a:r>
            <a:r>
              <a:rPr sz="3500" b="1" dirty="0">
                <a:solidFill>
                  <a:srgbClr val="BE0000"/>
                </a:solidFill>
                <a:latin typeface="Times New Roman"/>
                <a:cs typeface="Times New Roman"/>
              </a:rPr>
              <a:t>:</a:t>
            </a:r>
            <a:r>
              <a:rPr sz="3500" b="1" spc="-70" dirty="0">
                <a:solidFill>
                  <a:srgbClr val="BE0000"/>
                </a:solidFill>
                <a:latin typeface="Times New Roman"/>
                <a:cs typeface="Times New Roman"/>
              </a:rPr>
              <a:t> </a:t>
            </a:r>
            <a:r>
              <a:rPr sz="3500" b="1" dirty="0">
                <a:solidFill>
                  <a:srgbClr val="BE0000"/>
                </a:solidFill>
                <a:latin typeface="Times New Roman"/>
                <a:cs typeface="Times New Roman"/>
              </a:rPr>
              <a:t>4</a:t>
            </a:r>
            <a:r>
              <a:rPr sz="3500" b="1" dirty="0">
                <a:solidFill>
                  <a:srgbClr val="BE0000"/>
                </a:solidFill>
                <a:latin typeface="Arial"/>
                <a:cs typeface="Arial"/>
              </a:rPr>
              <a:t>ᵉ</a:t>
            </a:r>
            <a:r>
              <a:rPr sz="3500" b="1" spc="-170" dirty="0">
                <a:solidFill>
                  <a:srgbClr val="BE0000"/>
                </a:solidFill>
                <a:latin typeface="Arial"/>
                <a:cs typeface="Arial"/>
              </a:rPr>
              <a:t> </a:t>
            </a:r>
            <a:r>
              <a:rPr sz="3500" b="1" spc="-50" dirty="0">
                <a:solidFill>
                  <a:srgbClr val="BE0000"/>
                </a:solidFill>
                <a:latin typeface="Times New Roman"/>
                <a:cs typeface="Times New Roman"/>
              </a:rPr>
              <a:t>année</a:t>
            </a:r>
            <a:endParaRPr sz="35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37973" y="8275495"/>
            <a:ext cx="5840095" cy="5334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300" b="1" i="1" spc="-10" dirty="0">
                <a:latin typeface="Times New Roman"/>
                <a:cs typeface="Times New Roman"/>
              </a:rPr>
              <a:t>Année</a:t>
            </a:r>
            <a:r>
              <a:rPr sz="3300" b="1" i="1" spc="-40" dirty="0">
                <a:latin typeface="Times New Roman"/>
                <a:cs typeface="Times New Roman"/>
              </a:rPr>
              <a:t> </a:t>
            </a:r>
            <a:r>
              <a:rPr sz="3300" b="1" i="1" spc="-35" dirty="0">
                <a:latin typeface="Times New Roman"/>
                <a:cs typeface="Times New Roman"/>
              </a:rPr>
              <a:t>universitaire </a:t>
            </a:r>
            <a:r>
              <a:rPr sz="3300" b="1" i="1" dirty="0">
                <a:latin typeface="Times New Roman"/>
                <a:cs typeface="Times New Roman"/>
              </a:rPr>
              <a:t>:</a:t>
            </a:r>
            <a:r>
              <a:rPr sz="3300" b="1" i="1" spc="-40" dirty="0">
                <a:latin typeface="Times New Roman"/>
                <a:cs typeface="Times New Roman"/>
              </a:rPr>
              <a:t> </a:t>
            </a:r>
            <a:r>
              <a:rPr sz="3300" b="1" i="1" dirty="0">
                <a:latin typeface="Times New Roman"/>
                <a:cs typeface="Times New Roman"/>
              </a:rPr>
              <a:t>202</a:t>
            </a:r>
            <a:r>
              <a:rPr lang="fr-FR" sz="3300" b="1" i="1" dirty="0">
                <a:latin typeface="Times New Roman"/>
                <a:cs typeface="Times New Roman"/>
              </a:rPr>
              <a:t>5</a:t>
            </a:r>
            <a:r>
              <a:rPr sz="3300" b="1" i="1" spc="-35" dirty="0">
                <a:latin typeface="Times New Roman"/>
                <a:cs typeface="Times New Roman"/>
              </a:rPr>
              <a:t> </a:t>
            </a:r>
            <a:r>
              <a:rPr sz="3300" b="1" i="1" dirty="0">
                <a:latin typeface="Times New Roman"/>
                <a:cs typeface="Times New Roman"/>
              </a:rPr>
              <a:t>–</a:t>
            </a:r>
            <a:r>
              <a:rPr sz="3300" b="1" i="1" spc="-35" dirty="0">
                <a:latin typeface="Times New Roman"/>
                <a:cs typeface="Times New Roman"/>
              </a:rPr>
              <a:t> </a:t>
            </a:r>
            <a:r>
              <a:rPr sz="3300" b="1" i="1" spc="-20" dirty="0">
                <a:latin typeface="Times New Roman"/>
                <a:cs typeface="Times New Roman"/>
              </a:rPr>
              <a:t>202</a:t>
            </a:r>
            <a:r>
              <a:rPr lang="fr-FR" sz="3300" b="1" i="1" spc="-20">
                <a:latin typeface="Times New Roman"/>
                <a:cs typeface="Times New Roman"/>
              </a:rPr>
              <a:t>6</a:t>
            </a:r>
            <a:endParaRPr sz="3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612" y="634450"/>
            <a:ext cx="904240" cy="1033780"/>
          </a:xfrm>
          <a:custGeom>
            <a:avLst/>
            <a:gdLst/>
            <a:ahLst/>
            <a:cxnLst/>
            <a:rect l="l" t="t" r="r" b="b"/>
            <a:pathLst>
              <a:path w="904239" h="1033780">
                <a:moveTo>
                  <a:pt x="0" y="1033158"/>
                </a:moveTo>
                <a:lnTo>
                  <a:pt x="0" y="0"/>
                </a:lnTo>
                <a:lnTo>
                  <a:pt x="904014" y="516579"/>
                </a:lnTo>
                <a:lnTo>
                  <a:pt x="0" y="1033158"/>
                </a:lnTo>
                <a:close/>
              </a:path>
            </a:pathLst>
          </a:custGeom>
          <a:solidFill>
            <a:srgbClr val="B40C1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3160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40"/>
              </a:spcBef>
            </a:pPr>
            <a:r>
              <a:rPr sz="4700" dirty="0"/>
              <a:t>Plan</a:t>
            </a:r>
            <a:r>
              <a:rPr sz="4700" spc="-10" dirty="0"/>
              <a:t> </a:t>
            </a:r>
            <a:r>
              <a:rPr sz="4700" dirty="0"/>
              <a:t>du </a:t>
            </a:r>
            <a:r>
              <a:rPr sz="4700" spc="-10" dirty="0"/>
              <a:t>chapitre</a:t>
            </a:r>
            <a:endParaRPr sz="4700"/>
          </a:p>
        </p:txBody>
      </p:sp>
      <p:grpSp>
        <p:nvGrpSpPr>
          <p:cNvPr id="4" name="object 4"/>
          <p:cNvGrpSpPr/>
          <p:nvPr/>
        </p:nvGrpSpPr>
        <p:grpSpPr>
          <a:xfrm>
            <a:off x="3281029" y="2814274"/>
            <a:ext cx="314325" cy="357505"/>
            <a:chOff x="3281029" y="2814274"/>
            <a:chExt cx="314325" cy="357505"/>
          </a:xfrm>
        </p:grpSpPr>
        <p:sp>
          <p:nvSpPr>
            <p:cNvPr id="5" name="object 5"/>
            <p:cNvSpPr/>
            <p:nvPr/>
          </p:nvSpPr>
          <p:spPr>
            <a:xfrm>
              <a:off x="3281029" y="2814274"/>
              <a:ext cx="193040" cy="357505"/>
            </a:xfrm>
            <a:custGeom>
              <a:avLst/>
              <a:gdLst/>
              <a:ahLst/>
              <a:cxnLst/>
              <a:rect l="l" t="t" r="r" b="b"/>
              <a:pathLst>
                <a:path w="193039" h="357505">
                  <a:moveTo>
                    <a:pt x="0" y="307634"/>
                  </a:moveTo>
                  <a:lnTo>
                    <a:pt x="0" y="45582"/>
                  </a:lnTo>
                  <a:lnTo>
                    <a:pt x="49523" y="79207"/>
                  </a:lnTo>
                  <a:lnTo>
                    <a:pt x="49523" y="0"/>
                  </a:lnTo>
                  <a:lnTo>
                    <a:pt x="61897" y="8394"/>
                  </a:lnTo>
                  <a:lnTo>
                    <a:pt x="61897" y="87602"/>
                  </a:lnTo>
                  <a:lnTo>
                    <a:pt x="80434" y="100191"/>
                  </a:lnTo>
                  <a:lnTo>
                    <a:pt x="80434" y="20983"/>
                  </a:lnTo>
                  <a:lnTo>
                    <a:pt x="92800" y="29378"/>
                  </a:lnTo>
                  <a:lnTo>
                    <a:pt x="92800" y="108585"/>
                  </a:lnTo>
                  <a:lnTo>
                    <a:pt x="111345" y="121174"/>
                  </a:lnTo>
                  <a:lnTo>
                    <a:pt x="111345" y="41966"/>
                  </a:lnTo>
                  <a:lnTo>
                    <a:pt x="123711" y="50369"/>
                  </a:lnTo>
                  <a:lnTo>
                    <a:pt x="123711" y="129577"/>
                  </a:lnTo>
                  <a:lnTo>
                    <a:pt x="142248" y="142165"/>
                  </a:lnTo>
                  <a:lnTo>
                    <a:pt x="142248" y="62957"/>
                  </a:lnTo>
                  <a:lnTo>
                    <a:pt x="154614" y="71352"/>
                  </a:lnTo>
                  <a:lnTo>
                    <a:pt x="154614" y="150560"/>
                  </a:lnTo>
                  <a:lnTo>
                    <a:pt x="173159" y="163149"/>
                  </a:lnTo>
                  <a:lnTo>
                    <a:pt x="173159" y="83941"/>
                  </a:lnTo>
                  <a:lnTo>
                    <a:pt x="185526" y="92336"/>
                  </a:lnTo>
                  <a:lnTo>
                    <a:pt x="185526" y="171543"/>
                  </a:lnTo>
                  <a:lnTo>
                    <a:pt x="192959" y="176595"/>
                  </a:lnTo>
                  <a:lnTo>
                    <a:pt x="185526" y="181646"/>
                  </a:lnTo>
                  <a:lnTo>
                    <a:pt x="185526" y="265047"/>
                  </a:lnTo>
                  <a:lnTo>
                    <a:pt x="173159" y="273442"/>
                  </a:lnTo>
                  <a:lnTo>
                    <a:pt x="173159" y="190049"/>
                  </a:lnTo>
                  <a:lnTo>
                    <a:pt x="154614" y="202637"/>
                  </a:lnTo>
                  <a:lnTo>
                    <a:pt x="154614" y="286030"/>
                  </a:lnTo>
                  <a:lnTo>
                    <a:pt x="142248" y="294425"/>
                  </a:lnTo>
                  <a:lnTo>
                    <a:pt x="142248" y="211032"/>
                  </a:lnTo>
                  <a:lnTo>
                    <a:pt x="123711" y="223621"/>
                  </a:lnTo>
                  <a:lnTo>
                    <a:pt x="123711" y="307022"/>
                  </a:lnTo>
                  <a:lnTo>
                    <a:pt x="111345" y="315417"/>
                  </a:lnTo>
                  <a:lnTo>
                    <a:pt x="111345" y="232023"/>
                  </a:lnTo>
                  <a:lnTo>
                    <a:pt x="92800" y="244620"/>
                  </a:lnTo>
                  <a:lnTo>
                    <a:pt x="92800" y="328013"/>
                  </a:lnTo>
                  <a:lnTo>
                    <a:pt x="80434" y="336408"/>
                  </a:lnTo>
                  <a:lnTo>
                    <a:pt x="80434" y="253015"/>
                  </a:lnTo>
                  <a:lnTo>
                    <a:pt x="61897" y="265603"/>
                  </a:lnTo>
                  <a:lnTo>
                    <a:pt x="61897" y="349004"/>
                  </a:lnTo>
                  <a:lnTo>
                    <a:pt x="49523" y="357399"/>
                  </a:lnTo>
                  <a:lnTo>
                    <a:pt x="49523" y="274006"/>
                  </a:lnTo>
                  <a:lnTo>
                    <a:pt x="0" y="307634"/>
                  </a:lnTo>
                  <a:close/>
                </a:path>
              </a:pathLst>
            </a:custGeom>
            <a:solidFill>
              <a:srgbClr val="9411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85092" y="2919199"/>
              <a:ext cx="110261" cy="147526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3281029" y="3635644"/>
            <a:ext cx="314325" cy="357505"/>
            <a:chOff x="3281029" y="3635644"/>
            <a:chExt cx="314325" cy="357505"/>
          </a:xfrm>
        </p:grpSpPr>
        <p:sp>
          <p:nvSpPr>
            <p:cNvPr id="8" name="object 8"/>
            <p:cNvSpPr/>
            <p:nvPr/>
          </p:nvSpPr>
          <p:spPr>
            <a:xfrm>
              <a:off x="3281029" y="3635644"/>
              <a:ext cx="193040" cy="357505"/>
            </a:xfrm>
            <a:custGeom>
              <a:avLst/>
              <a:gdLst/>
              <a:ahLst/>
              <a:cxnLst/>
              <a:rect l="l" t="t" r="r" b="b"/>
              <a:pathLst>
                <a:path w="193039" h="357504">
                  <a:moveTo>
                    <a:pt x="0" y="307634"/>
                  </a:moveTo>
                  <a:lnTo>
                    <a:pt x="0" y="45582"/>
                  </a:lnTo>
                  <a:lnTo>
                    <a:pt x="49523" y="79207"/>
                  </a:lnTo>
                  <a:lnTo>
                    <a:pt x="49523" y="0"/>
                  </a:lnTo>
                  <a:lnTo>
                    <a:pt x="61897" y="8394"/>
                  </a:lnTo>
                  <a:lnTo>
                    <a:pt x="61897" y="87602"/>
                  </a:lnTo>
                  <a:lnTo>
                    <a:pt x="80434" y="100191"/>
                  </a:lnTo>
                  <a:lnTo>
                    <a:pt x="80434" y="20983"/>
                  </a:lnTo>
                  <a:lnTo>
                    <a:pt x="92800" y="29378"/>
                  </a:lnTo>
                  <a:lnTo>
                    <a:pt x="92800" y="108585"/>
                  </a:lnTo>
                  <a:lnTo>
                    <a:pt x="111345" y="121174"/>
                  </a:lnTo>
                  <a:lnTo>
                    <a:pt x="111345" y="41966"/>
                  </a:lnTo>
                  <a:lnTo>
                    <a:pt x="123711" y="50369"/>
                  </a:lnTo>
                  <a:lnTo>
                    <a:pt x="123711" y="129577"/>
                  </a:lnTo>
                  <a:lnTo>
                    <a:pt x="142248" y="142165"/>
                  </a:lnTo>
                  <a:lnTo>
                    <a:pt x="142248" y="62957"/>
                  </a:lnTo>
                  <a:lnTo>
                    <a:pt x="154614" y="71352"/>
                  </a:lnTo>
                  <a:lnTo>
                    <a:pt x="154614" y="150560"/>
                  </a:lnTo>
                  <a:lnTo>
                    <a:pt x="173159" y="163149"/>
                  </a:lnTo>
                  <a:lnTo>
                    <a:pt x="173159" y="83941"/>
                  </a:lnTo>
                  <a:lnTo>
                    <a:pt x="185526" y="92336"/>
                  </a:lnTo>
                  <a:lnTo>
                    <a:pt x="185526" y="171543"/>
                  </a:lnTo>
                  <a:lnTo>
                    <a:pt x="192959" y="176595"/>
                  </a:lnTo>
                  <a:lnTo>
                    <a:pt x="185526" y="181646"/>
                  </a:lnTo>
                  <a:lnTo>
                    <a:pt x="185526" y="265047"/>
                  </a:lnTo>
                  <a:lnTo>
                    <a:pt x="173159" y="273442"/>
                  </a:lnTo>
                  <a:lnTo>
                    <a:pt x="173159" y="190049"/>
                  </a:lnTo>
                  <a:lnTo>
                    <a:pt x="154614" y="202637"/>
                  </a:lnTo>
                  <a:lnTo>
                    <a:pt x="154614" y="286030"/>
                  </a:lnTo>
                  <a:lnTo>
                    <a:pt x="142248" y="294425"/>
                  </a:lnTo>
                  <a:lnTo>
                    <a:pt x="142248" y="211032"/>
                  </a:lnTo>
                  <a:lnTo>
                    <a:pt x="123711" y="223621"/>
                  </a:lnTo>
                  <a:lnTo>
                    <a:pt x="123711" y="307022"/>
                  </a:lnTo>
                  <a:lnTo>
                    <a:pt x="111345" y="315417"/>
                  </a:lnTo>
                  <a:lnTo>
                    <a:pt x="111345" y="232023"/>
                  </a:lnTo>
                  <a:lnTo>
                    <a:pt x="92800" y="244620"/>
                  </a:lnTo>
                  <a:lnTo>
                    <a:pt x="92800" y="328013"/>
                  </a:lnTo>
                  <a:lnTo>
                    <a:pt x="80434" y="336408"/>
                  </a:lnTo>
                  <a:lnTo>
                    <a:pt x="80434" y="253015"/>
                  </a:lnTo>
                  <a:lnTo>
                    <a:pt x="61897" y="265603"/>
                  </a:lnTo>
                  <a:lnTo>
                    <a:pt x="61897" y="349004"/>
                  </a:lnTo>
                  <a:lnTo>
                    <a:pt x="49523" y="357399"/>
                  </a:lnTo>
                  <a:lnTo>
                    <a:pt x="49523" y="274006"/>
                  </a:lnTo>
                  <a:lnTo>
                    <a:pt x="0" y="307634"/>
                  </a:lnTo>
                  <a:close/>
                </a:path>
              </a:pathLst>
            </a:custGeom>
            <a:solidFill>
              <a:srgbClr val="9411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85092" y="3740569"/>
              <a:ext cx="110261" cy="147526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3281029" y="4460194"/>
            <a:ext cx="314325" cy="357505"/>
            <a:chOff x="3281029" y="4460194"/>
            <a:chExt cx="314325" cy="357505"/>
          </a:xfrm>
        </p:grpSpPr>
        <p:sp>
          <p:nvSpPr>
            <p:cNvPr id="11" name="object 11"/>
            <p:cNvSpPr/>
            <p:nvPr/>
          </p:nvSpPr>
          <p:spPr>
            <a:xfrm>
              <a:off x="3281029" y="4460194"/>
              <a:ext cx="193040" cy="357505"/>
            </a:xfrm>
            <a:custGeom>
              <a:avLst/>
              <a:gdLst/>
              <a:ahLst/>
              <a:cxnLst/>
              <a:rect l="l" t="t" r="r" b="b"/>
              <a:pathLst>
                <a:path w="193039" h="357504">
                  <a:moveTo>
                    <a:pt x="0" y="307634"/>
                  </a:moveTo>
                  <a:lnTo>
                    <a:pt x="0" y="45582"/>
                  </a:lnTo>
                  <a:lnTo>
                    <a:pt x="49523" y="79207"/>
                  </a:lnTo>
                  <a:lnTo>
                    <a:pt x="49523" y="0"/>
                  </a:lnTo>
                  <a:lnTo>
                    <a:pt x="61897" y="8394"/>
                  </a:lnTo>
                  <a:lnTo>
                    <a:pt x="61897" y="87602"/>
                  </a:lnTo>
                  <a:lnTo>
                    <a:pt x="80434" y="100191"/>
                  </a:lnTo>
                  <a:lnTo>
                    <a:pt x="80434" y="20983"/>
                  </a:lnTo>
                  <a:lnTo>
                    <a:pt x="92800" y="29378"/>
                  </a:lnTo>
                  <a:lnTo>
                    <a:pt x="92800" y="108585"/>
                  </a:lnTo>
                  <a:lnTo>
                    <a:pt x="111345" y="121174"/>
                  </a:lnTo>
                  <a:lnTo>
                    <a:pt x="111345" y="41966"/>
                  </a:lnTo>
                  <a:lnTo>
                    <a:pt x="123711" y="50369"/>
                  </a:lnTo>
                  <a:lnTo>
                    <a:pt x="123711" y="129577"/>
                  </a:lnTo>
                  <a:lnTo>
                    <a:pt x="142248" y="142165"/>
                  </a:lnTo>
                  <a:lnTo>
                    <a:pt x="142248" y="62957"/>
                  </a:lnTo>
                  <a:lnTo>
                    <a:pt x="154614" y="71352"/>
                  </a:lnTo>
                  <a:lnTo>
                    <a:pt x="154614" y="150560"/>
                  </a:lnTo>
                  <a:lnTo>
                    <a:pt x="173159" y="163149"/>
                  </a:lnTo>
                  <a:lnTo>
                    <a:pt x="173159" y="83941"/>
                  </a:lnTo>
                  <a:lnTo>
                    <a:pt x="185526" y="92336"/>
                  </a:lnTo>
                  <a:lnTo>
                    <a:pt x="185526" y="171543"/>
                  </a:lnTo>
                  <a:lnTo>
                    <a:pt x="192959" y="176595"/>
                  </a:lnTo>
                  <a:lnTo>
                    <a:pt x="185526" y="181646"/>
                  </a:lnTo>
                  <a:lnTo>
                    <a:pt x="185526" y="265047"/>
                  </a:lnTo>
                  <a:lnTo>
                    <a:pt x="173159" y="273442"/>
                  </a:lnTo>
                  <a:lnTo>
                    <a:pt x="173159" y="190049"/>
                  </a:lnTo>
                  <a:lnTo>
                    <a:pt x="154614" y="202637"/>
                  </a:lnTo>
                  <a:lnTo>
                    <a:pt x="154614" y="286030"/>
                  </a:lnTo>
                  <a:lnTo>
                    <a:pt x="142248" y="294425"/>
                  </a:lnTo>
                  <a:lnTo>
                    <a:pt x="142248" y="211032"/>
                  </a:lnTo>
                  <a:lnTo>
                    <a:pt x="123711" y="223621"/>
                  </a:lnTo>
                  <a:lnTo>
                    <a:pt x="123711" y="307022"/>
                  </a:lnTo>
                  <a:lnTo>
                    <a:pt x="111345" y="315417"/>
                  </a:lnTo>
                  <a:lnTo>
                    <a:pt x="111345" y="232023"/>
                  </a:lnTo>
                  <a:lnTo>
                    <a:pt x="92800" y="244620"/>
                  </a:lnTo>
                  <a:lnTo>
                    <a:pt x="92800" y="328013"/>
                  </a:lnTo>
                  <a:lnTo>
                    <a:pt x="80434" y="336408"/>
                  </a:lnTo>
                  <a:lnTo>
                    <a:pt x="80434" y="253015"/>
                  </a:lnTo>
                  <a:lnTo>
                    <a:pt x="61897" y="265603"/>
                  </a:lnTo>
                  <a:lnTo>
                    <a:pt x="61897" y="349004"/>
                  </a:lnTo>
                  <a:lnTo>
                    <a:pt x="49523" y="357399"/>
                  </a:lnTo>
                  <a:lnTo>
                    <a:pt x="49523" y="274006"/>
                  </a:lnTo>
                  <a:lnTo>
                    <a:pt x="0" y="307634"/>
                  </a:lnTo>
                  <a:close/>
                </a:path>
              </a:pathLst>
            </a:custGeom>
            <a:solidFill>
              <a:srgbClr val="9411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85092" y="4565119"/>
              <a:ext cx="110261" cy="147526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3281029" y="5442876"/>
            <a:ext cx="314325" cy="357505"/>
            <a:chOff x="3281029" y="5442876"/>
            <a:chExt cx="314325" cy="357505"/>
          </a:xfrm>
        </p:grpSpPr>
        <p:sp>
          <p:nvSpPr>
            <p:cNvPr id="14" name="object 14"/>
            <p:cNvSpPr/>
            <p:nvPr/>
          </p:nvSpPr>
          <p:spPr>
            <a:xfrm>
              <a:off x="3281029" y="5442876"/>
              <a:ext cx="193040" cy="357505"/>
            </a:xfrm>
            <a:custGeom>
              <a:avLst/>
              <a:gdLst/>
              <a:ahLst/>
              <a:cxnLst/>
              <a:rect l="l" t="t" r="r" b="b"/>
              <a:pathLst>
                <a:path w="193039" h="357504">
                  <a:moveTo>
                    <a:pt x="0" y="307634"/>
                  </a:moveTo>
                  <a:lnTo>
                    <a:pt x="0" y="45582"/>
                  </a:lnTo>
                  <a:lnTo>
                    <a:pt x="49523" y="79207"/>
                  </a:lnTo>
                  <a:lnTo>
                    <a:pt x="49523" y="0"/>
                  </a:lnTo>
                  <a:lnTo>
                    <a:pt x="61897" y="8394"/>
                  </a:lnTo>
                  <a:lnTo>
                    <a:pt x="61897" y="87602"/>
                  </a:lnTo>
                  <a:lnTo>
                    <a:pt x="80434" y="100191"/>
                  </a:lnTo>
                  <a:lnTo>
                    <a:pt x="80434" y="20983"/>
                  </a:lnTo>
                  <a:lnTo>
                    <a:pt x="92800" y="29378"/>
                  </a:lnTo>
                  <a:lnTo>
                    <a:pt x="92800" y="108585"/>
                  </a:lnTo>
                  <a:lnTo>
                    <a:pt x="111345" y="121174"/>
                  </a:lnTo>
                  <a:lnTo>
                    <a:pt x="111345" y="41966"/>
                  </a:lnTo>
                  <a:lnTo>
                    <a:pt x="123711" y="50369"/>
                  </a:lnTo>
                  <a:lnTo>
                    <a:pt x="123711" y="129577"/>
                  </a:lnTo>
                  <a:lnTo>
                    <a:pt x="142248" y="142165"/>
                  </a:lnTo>
                  <a:lnTo>
                    <a:pt x="142248" y="62957"/>
                  </a:lnTo>
                  <a:lnTo>
                    <a:pt x="154614" y="71352"/>
                  </a:lnTo>
                  <a:lnTo>
                    <a:pt x="154614" y="150560"/>
                  </a:lnTo>
                  <a:lnTo>
                    <a:pt x="173159" y="163149"/>
                  </a:lnTo>
                  <a:lnTo>
                    <a:pt x="173159" y="83941"/>
                  </a:lnTo>
                  <a:lnTo>
                    <a:pt x="185526" y="92336"/>
                  </a:lnTo>
                  <a:lnTo>
                    <a:pt x="185526" y="171543"/>
                  </a:lnTo>
                  <a:lnTo>
                    <a:pt x="192959" y="176595"/>
                  </a:lnTo>
                  <a:lnTo>
                    <a:pt x="185526" y="181646"/>
                  </a:lnTo>
                  <a:lnTo>
                    <a:pt x="185526" y="265047"/>
                  </a:lnTo>
                  <a:lnTo>
                    <a:pt x="173159" y="273442"/>
                  </a:lnTo>
                  <a:lnTo>
                    <a:pt x="173159" y="190049"/>
                  </a:lnTo>
                  <a:lnTo>
                    <a:pt x="154614" y="202637"/>
                  </a:lnTo>
                  <a:lnTo>
                    <a:pt x="154614" y="286030"/>
                  </a:lnTo>
                  <a:lnTo>
                    <a:pt x="142248" y="294425"/>
                  </a:lnTo>
                  <a:lnTo>
                    <a:pt x="142248" y="211032"/>
                  </a:lnTo>
                  <a:lnTo>
                    <a:pt x="123711" y="223621"/>
                  </a:lnTo>
                  <a:lnTo>
                    <a:pt x="123711" y="307022"/>
                  </a:lnTo>
                  <a:lnTo>
                    <a:pt x="111345" y="315417"/>
                  </a:lnTo>
                  <a:lnTo>
                    <a:pt x="111345" y="232023"/>
                  </a:lnTo>
                  <a:lnTo>
                    <a:pt x="92800" y="244620"/>
                  </a:lnTo>
                  <a:lnTo>
                    <a:pt x="92800" y="328013"/>
                  </a:lnTo>
                  <a:lnTo>
                    <a:pt x="80434" y="336408"/>
                  </a:lnTo>
                  <a:lnTo>
                    <a:pt x="80434" y="253015"/>
                  </a:lnTo>
                  <a:lnTo>
                    <a:pt x="61897" y="265603"/>
                  </a:lnTo>
                  <a:lnTo>
                    <a:pt x="61897" y="349004"/>
                  </a:lnTo>
                  <a:lnTo>
                    <a:pt x="49523" y="357399"/>
                  </a:lnTo>
                  <a:lnTo>
                    <a:pt x="49523" y="274006"/>
                  </a:lnTo>
                  <a:lnTo>
                    <a:pt x="0" y="307634"/>
                  </a:lnTo>
                  <a:close/>
                </a:path>
              </a:pathLst>
            </a:custGeom>
            <a:solidFill>
              <a:srgbClr val="9411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85092" y="5547801"/>
              <a:ext cx="110261" cy="147526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3281029" y="6267425"/>
            <a:ext cx="314325" cy="357505"/>
            <a:chOff x="3281029" y="6267425"/>
            <a:chExt cx="314325" cy="357505"/>
          </a:xfrm>
        </p:grpSpPr>
        <p:sp>
          <p:nvSpPr>
            <p:cNvPr id="17" name="object 17"/>
            <p:cNvSpPr/>
            <p:nvPr/>
          </p:nvSpPr>
          <p:spPr>
            <a:xfrm>
              <a:off x="3281029" y="6267425"/>
              <a:ext cx="193040" cy="357505"/>
            </a:xfrm>
            <a:custGeom>
              <a:avLst/>
              <a:gdLst/>
              <a:ahLst/>
              <a:cxnLst/>
              <a:rect l="l" t="t" r="r" b="b"/>
              <a:pathLst>
                <a:path w="193039" h="357504">
                  <a:moveTo>
                    <a:pt x="0" y="307634"/>
                  </a:moveTo>
                  <a:lnTo>
                    <a:pt x="0" y="45582"/>
                  </a:lnTo>
                  <a:lnTo>
                    <a:pt x="49523" y="79207"/>
                  </a:lnTo>
                  <a:lnTo>
                    <a:pt x="49523" y="0"/>
                  </a:lnTo>
                  <a:lnTo>
                    <a:pt x="61897" y="8394"/>
                  </a:lnTo>
                  <a:lnTo>
                    <a:pt x="61897" y="87602"/>
                  </a:lnTo>
                  <a:lnTo>
                    <a:pt x="80434" y="100191"/>
                  </a:lnTo>
                  <a:lnTo>
                    <a:pt x="80434" y="20983"/>
                  </a:lnTo>
                  <a:lnTo>
                    <a:pt x="92800" y="29378"/>
                  </a:lnTo>
                  <a:lnTo>
                    <a:pt x="92800" y="108585"/>
                  </a:lnTo>
                  <a:lnTo>
                    <a:pt x="111345" y="121174"/>
                  </a:lnTo>
                  <a:lnTo>
                    <a:pt x="111345" y="41966"/>
                  </a:lnTo>
                  <a:lnTo>
                    <a:pt x="123711" y="50369"/>
                  </a:lnTo>
                  <a:lnTo>
                    <a:pt x="123711" y="129577"/>
                  </a:lnTo>
                  <a:lnTo>
                    <a:pt x="142248" y="142165"/>
                  </a:lnTo>
                  <a:lnTo>
                    <a:pt x="142248" y="62957"/>
                  </a:lnTo>
                  <a:lnTo>
                    <a:pt x="154614" y="71352"/>
                  </a:lnTo>
                  <a:lnTo>
                    <a:pt x="154614" y="150560"/>
                  </a:lnTo>
                  <a:lnTo>
                    <a:pt x="173159" y="163149"/>
                  </a:lnTo>
                  <a:lnTo>
                    <a:pt x="173159" y="83941"/>
                  </a:lnTo>
                  <a:lnTo>
                    <a:pt x="185526" y="92336"/>
                  </a:lnTo>
                  <a:lnTo>
                    <a:pt x="185526" y="171543"/>
                  </a:lnTo>
                  <a:lnTo>
                    <a:pt x="192959" y="176595"/>
                  </a:lnTo>
                  <a:lnTo>
                    <a:pt x="185526" y="181646"/>
                  </a:lnTo>
                  <a:lnTo>
                    <a:pt x="185526" y="265047"/>
                  </a:lnTo>
                  <a:lnTo>
                    <a:pt x="173159" y="273442"/>
                  </a:lnTo>
                  <a:lnTo>
                    <a:pt x="173159" y="190049"/>
                  </a:lnTo>
                  <a:lnTo>
                    <a:pt x="154614" y="202637"/>
                  </a:lnTo>
                  <a:lnTo>
                    <a:pt x="154614" y="286030"/>
                  </a:lnTo>
                  <a:lnTo>
                    <a:pt x="142248" y="294425"/>
                  </a:lnTo>
                  <a:lnTo>
                    <a:pt x="142248" y="211032"/>
                  </a:lnTo>
                  <a:lnTo>
                    <a:pt x="123711" y="223621"/>
                  </a:lnTo>
                  <a:lnTo>
                    <a:pt x="123711" y="307022"/>
                  </a:lnTo>
                  <a:lnTo>
                    <a:pt x="111345" y="315417"/>
                  </a:lnTo>
                  <a:lnTo>
                    <a:pt x="111345" y="232023"/>
                  </a:lnTo>
                  <a:lnTo>
                    <a:pt x="92800" y="244620"/>
                  </a:lnTo>
                  <a:lnTo>
                    <a:pt x="92800" y="328013"/>
                  </a:lnTo>
                  <a:lnTo>
                    <a:pt x="80434" y="336408"/>
                  </a:lnTo>
                  <a:lnTo>
                    <a:pt x="80434" y="253015"/>
                  </a:lnTo>
                  <a:lnTo>
                    <a:pt x="61897" y="265603"/>
                  </a:lnTo>
                  <a:lnTo>
                    <a:pt x="61897" y="349004"/>
                  </a:lnTo>
                  <a:lnTo>
                    <a:pt x="49523" y="357399"/>
                  </a:lnTo>
                  <a:lnTo>
                    <a:pt x="49523" y="274006"/>
                  </a:lnTo>
                  <a:lnTo>
                    <a:pt x="0" y="307634"/>
                  </a:lnTo>
                  <a:close/>
                </a:path>
              </a:pathLst>
            </a:custGeom>
            <a:solidFill>
              <a:srgbClr val="9411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85092" y="6372350"/>
              <a:ext cx="110261" cy="147526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4477803" y="2622782"/>
            <a:ext cx="11202670" cy="69881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650" spc="-50" dirty="0">
                <a:latin typeface="Lucida Sans Unicode"/>
                <a:cs typeface="Lucida Sans Unicode"/>
              </a:rPr>
              <a:t>Introduction</a:t>
            </a:r>
            <a:r>
              <a:rPr sz="3650" spc="-225" dirty="0">
                <a:latin typeface="Lucida Sans Unicode"/>
                <a:cs typeface="Lucida Sans Unicode"/>
              </a:rPr>
              <a:t> </a:t>
            </a:r>
            <a:r>
              <a:rPr sz="3650" dirty="0">
                <a:latin typeface="Lucida Sans Unicode"/>
                <a:cs typeface="Lucida Sans Unicode"/>
              </a:rPr>
              <a:t>à</a:t>
            </a:r>
            <a:r>
              <a:rPr sz="3650" spc="-220" dirty="0">
                <a:latin typeface="Lucida Sans Unicode"/>
                <a:cs typeface="Lucida Sans Unicode"/>
              </a:rPr>
              <a:t> </a:t>
            </a:r>
            <a:r>
              <a:rPr sz="3650" spc="-20" dirty="0">
                <a:latin typeface="Lucida Sans Unicode"/>
                <a:cs typeface="Lucida Sans Unicode"/>
              </a:rPr>
              <a:t>la</a:t>
            </a:r>
            <a:r>
              <a:rPr sz="3650" spc="-220" dirty="0">
                <a:latin typeface="Lucida Sans Unicode"/>
                <a:cs typeface="Lucida Sans Unicode"/>
              </a:rPr>
              <a:t> </a:t>
            </a:r>
            <a:r>
              <a:rPr sz="3650" spc="-10" dirty="0">
                <a:latin typeface="Lucida Sans Unicode"/>
                <a:cs typeface="Lucida Sans Unicode"/>
              </a:rPr>
              <a:t>cryptographie</a:t>
            </a:r>
            <a:endParaRPr sz="36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2825"/>
              </a:spcBef>
            </a:pPr>
            <a:r>
              <a:rPr sz="3650" spc="-40" dirty="0">
                <a:latin typeface="Lucida Sans Unicode"/>
                <a:cs typeface="Lucida Sans Unicode"/>
              </a:rPr>
              <a:t>Les</a:t>
            </a:r>
            <a:r>
              <a:rPr sz="3650" spc="-250" dirty="0">
                <a:latin typeface="Lucida Sans Unicode"/>
                <a:cs typeface="Lucida Sans Unicode"/>
              </a:rPr>
              <a:t> </a:t>
            </a:r>
            <a:r>
              <a:rPr sz="3650" dirty="0">
                <a:latin typeface="Lucida Sans Unicode"/>
                <a:cs typeface="Lucida Sans Unicode"/>
              </a:rPr>
              <a:t>Moyens</a:t>
            </a:r>
            <a:r>
              <a:rPr sz="3650" spc="-275" dirty="0">
                <a:latin typeface="Lucida Sans Unicode"/>
                <a:cs typeface="Lucida Sans Unicode"/>
              </a:rPr>
              <a:t> </a:t>
            </a:r>
            <a:r>
              <a:rPr sz="3650" spc="-10" dirty="0">
                <a:latin typeface="Lucida Sans Unicode"/>
                <a:cs typeface="Lucida Sans Unicode"/>
              </a:rPr>
              <a:t>cryptographiques</a:t>
            </a:r>
            <a:endParaRPr sz="3650">
              <a:latin typeface="Lucida Sans Unicode"/>
              <a:cs typeface="Lucida Sans Unicode"/>
            </a:endParaRPr>
          </a:p>
          <a:p>
            <a:pPr marL="12700" marR="5080">
              <a:lnSpc>
                <a:spcPct val="164400"/>
              </a:lnSpc>
            </a:pPr>
            <a:r>
              <a:rPr sz="3650" dirty="0">
                <a:latin typeface="Lucida Sans Unicode"/>
                <a:cs typeface="Lucida Sans Unicode"/>
              </a:rPr>
              <a:t>Le</a:t>
            </a:r>
            <a:r>
              <a:rPr sz="3650" spc="-220" dirty="0">
                <a:latin typeface="Lucida Sans Unicode"/>
                <a:cs typeface="Lucida Sans Unicode"/>
              </a:rPr>
              <a:t> </a:t>
            </a:r>
            <a:r>
              <a:rPr sz="3650" spc="-50" dirty="0">
                <a:latin typeface="Lucida Sans Unicode"/>
                <a:cs typeface="Lucida Sans Unicode"/>
              </a:rPr>
              <a:t>chiffrement</a:t>
            </a:r>
            <a:r>
              <a:rPr sz="3650" spc="-220" dirty="0">
                <a:latin typeface="Lucida Sans Unicode"/>
                <a:cs typeface="Lucida Sans Unicode"/>
              </a:rPr>
              <a:t> </a:t>
            </a:r>
            <a:r>
              <a:rPr sz="3650" spc="-50" dirty="0">
                <a:latin typeface="Lucida Sans Unicode"/>
                <a:cs typeface="Lucida Sans Unicode"/>
              </a:rPr>
              <a:t>Symétrique,</a:t>
            </a:r>
            <a:r>
              <a:rPr sz="3650" spc="-215" dirty="0">
                <a:latin typeface="Lucida Sans Unicode"/>
                <a:cs typeface="Lucida Sans Unicode"/>
              </a:rPr>
              <a:t> </a:t>
            </a:r>
            <a:r>
              <a:rPr sz="3650" spc="-60" dirty="0">
                <a:latin typeface="Lucida Sans Unicode"/>
                <a:cs typeface="Lucida Sans Unicode"/>
              </a:rPr>
              <a:t>Asymétrique</a:t>
            </a:r>
            <a:r>
              <a:rPr sz="3650" spc="-220" dirty="0">
                <a:latin typeface="Lucida Sans Unicode"/>
                <a:cs typeface="Lucida Sans Unicode"/>
              </a:rPr>
              <a:t> </a:t>
            </a:r>
            <a:r>
              <a:rPr sz="3650" dirty="0">
                <a:latin typeface="Lucida Sans Unicode"/>
                <a:cs typeface="Lucida Sans Unicode"/>
              </a:rPr>
              <a:t>et</a:t>
            </a:r>
            <a:r>
              <a:rPr sz="3650" spc="-220" dirty="0">
                <a:latin typeface="Lucida Sans Unicode"/>
                <a:cs typeface="Lucida Sans Unicode"/>
              </a:rPr>
              <a:t> </a:t>
            </a:r>
            <a:r>
              <a:rPr sz="3650" spc="-10" dirty="0">
                <a:latin typeface="Lucida Sans Unicode"/>
                <a:cs typeface="Lucida Sans Unicode"/>
              </a:rPr>
              <a:t>Hybride </a:t>
            </a:r>
            <a:r>
              <a:rPr sz="3650" dirty="0">
                <a:latin typeface="Lucida Sans Unicode"/>
                <a:cs typeface="Lucida Sans Unicode"/>
              </a:rPr>
              <a:t>Le</a:t>
            </a:r>
            <a:r>
              <a:rPr sz="3650" spc="-204" dirty="0">
                <a:latin typeface="Lucida Sans Unicode"/>
                <a:cs typeface="Lucida Sans Unicode"/>
              </a:rPr>
              <a:t> </a:t>
            </a:r>
            <a:r>
              <a:rPr sz="3650" spc="-65" dirty="0">
                <a:latin typeface="Lucida Sans Unicode"/>
                <a:cs typeface="Lucida Sans Unicode"/>
              </a:rPr>
              <a:t>hachage</a:t>
            </a:r>
            <a:r>
              <a:rPr sz="3650" spc="-204" dirty="0">
                <a:latin typeface="Lucida Sans Unicode"/>
                <a:cs typeface="Lucida Sans Unicode"/>
              </a:rPr>
              <a:t> </a:t>
            </a:r>
            <a:r>
              <a:rPr sz="3650" spc="-10" dirty="0">
                <a:latin typeface="Lucida Sans Unicode"/>
                <a:cs typeface="Lucida Sans Unicode"/>
              </a:rPr>
              <a:t>cryptographique</a:t>
            </a:r>
            <a:endParaRPr sz="3650">
              <a:latin typeface="Lucida Sans Unicode"/>
              <a:cs typeface="Lucida Sans Unicode"/>
            </a:endParaRPr>
          </a:p>
          <a:p>
            <a:pPr marL="12700" marR="5975350">
              <a:lnSpc>
                <a:spcPct val="164400"/>
              </a:lnSpc>
            </a:pPr>
            <a:r>
              <a:rPr sz="3650" dirty="0">
                <a:latin typeface="Lucida Sans Unicode"/>
                <a:cs typeface="Lucida Sans Unicode"/>
              </a:rPr>
              <a:t>La</a:t>
            </a:r>
            <a:r>
              <a:rPr sz="3650" spc="-195" dirty="0">
                <a:latin typeface="Lucida Sans Unicode"/>
                <a:cs typeface="Lucida Sans Unicode"/>
              </a:rPr>
              <a:t> </a:t>
            </a:r>
            <a:r>
              <a:rPr sz="3650" spc="-75" dirty="0">
                <a:latin typeface="Lucida Sans Unicode"/>
                <a:cs typeface="Lucida Sans Unicode"/>
              </a:rPr>
              <a:t>signature</a:t>
            </a:r>
            <a:r>
              <a:rPr sz="3650" spc="-190" dirty="0">
                <a:latin typeface="Lucida Sans Unicode"/>
                <a:cs typeface="Lucida Sans Unicode"/>
              </a:rPr>
              <a:t> </a:t>
            </a:r>
            <a:r>
              <a:rPr sz="3650" spc="-10" dirty="0">
                <a:latin typeface="Lucida Sans Unicode"/>
                <a:cs typeface="Lucida Sans Unicode"/>
              </a:rPr>
              <a:t>numérique </a:t>
            </a:r>
            <a:r>
              <a:rPr sz="3650" dirty="0">
                <a:latin typeface="Lucida Sans Unicode"/>
                <a:cs typeface="Lucida Sans Unicode"/>
              </a:rPr>
              <a:t>Le</a:t>
            </a:r>
            <a:r>
              <a:rPr sz="3650" spc="-190" dirty="0">
                <a:latin typeface="Lucida Sans Unicode"/>
                <a:cs typeface="Lucida Sans Unicode"/>
              </a:rPr>
              <a:t> </a:t>
            </a:r>
            <a:r>
              <a:rPr sz="3650" spc="-80" dirty="0">
                <a:latin typeface="Lucida Sans Unicode"/>
                <a:cs typeface="Lucida Sans Unicode"/>
              </a:rPr>
              <a:t>certificat</a:t>
            </a:r>
            <a:r>
              <a:rPr sz="3650" spc="-185" dirty="0">
                <a:latin typeface="Lucida Sans Unicode"/>
                <a:cs typeface="Lucida Sans Unicode"/>
              </a:rPr>
              <a:t> </a:t>
            </a:r>
            <a:r>
              <a:rPr sz="3650" spc="-10" dirty="0">
                <a:latin typeface="Lucida Sans Unicode"/>
                <a:cs typeface="Lucida Sans Unicode"/>
              </a:rPr>
              <a:t>numérique</a:t>
            </a:r>
            <a:endParaRPr sz="3650">
              <a:latin typeface="Lucida Sans Unicode"/>
              <a:cs typeface="Lucida Sans Unicode"/>
            </a:endParaRPr>
          </a:p>
          <a:p>
            <a:pPr marL="12700" marR="3784600">
              <a:lnSpc>
                <a:spcPct val="164400"/>
              </a:lnSpc>
            </a:pPr>
            <a:r>
              <a:rPr sz="3650" spc="-40" dirty="0">
                <a:latin typeface="Lucida Sans Unicode"/>
                <a:cs typeface="Lucida Sans Unicode"/>
              </a:rPr>
              <a:t>Infrastructure</a:t>
            </a:r>
            <a:r>
              <a:rPr sz="3650" spc="-240" dirty="0">
                <a:latin typeface="Lucida Sans Unicode"/>
                <a:cs typeface="Lucida Sans Unicode"/>
              </a:rPr>
              <a:t> </a:t>
            </a:r>
            <a:r>
              <a:rPr sz="3650" dirty="0">
                <a:latin typeface="Lucida Sans Unicode"/>
                <a:cs typeface="Lucida Sans Unicode"/>
              </a:rPr>
              <a:t>de</a:t>
            </a:r>
            <a:r>
              <a:rPr sz="3650" spc="-235" dirty="0">
                <a:latin typeface="Lucida Sans Unicode"/>
                <a:cs typeface="Lucida Sans Unicode"/>
              </a:rPr>
              <a:t> </a:t>
            </a:r>
            <a:r>
              <a:rPr sz="3650" spc="-40" dirty="0">
                <a:latin typeface="Lucida Sans Unicode"/>
                <a:cs typeface="Lucida Sans Unicode"/>
              </a:rPr>
              <a:t>Gestion</a:t>
            </a:r>
            <a:r>
              <a:rPr sz="3650" spc="-240" dirty="0">
                <a:latin typeface="Lucida Sans Unicode"/>
                <a:cs typeface="Lucida Sans Unicode"/>
              </a:rPr>
              <a:t> </a:t>
            </a:r>
            <a:r>
              <a:rPr sz="3650" spc="-30" dirty="0">
                <a:latin typeface="Lucida Sans Unicode"/>
                <a:cs typeface="Lucida Sans Unicode"/>
              </a:rPr>
              <a:t>des</a:t>
            </a:r>
            <a:r>
              <a:rPr sz="3650" spc="-235" dirty="0">
                <a:latin typeface="Lucida Sans Unicode"/>
                <a:cs typeface="Lucida Sans Unicode"/>
              </a:rPr>
              <a:t> </a:t>
            </a:r>
            <a:r>
              <a:rPr sz="3650" spc="-40" dirty="0">
                <a:latin typeface="Lucida Sans Unicode"/>
                <a:cs typeface="Lucida Sans Unicode"/>
              </a:rPr>
              <a:t>Clés </a:t>
            </a:r>
            <a:r>
              <a:rPr sz="3650" spc="-10" dirty="0">
                <a:latin typeface="Lucida Sans Unicode"/>
                <a:cs typeface="Lucida Sans Unicode"/>
              </a:rPr>
              <a:t>Conclusion</a:t>
            </a:r>
            <a:endParaRPr sz="3650">
              <a:latin typeface="Lucida Sans Unicode"/>
              <a:cs typeface="Lucida Sans Unicode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281029" y="7253900"/>
            <a:ext cx="314325" cy="357505"/>
            <a:chOff x="3281029" y="7253900"/>
            <a:chExt cx="314325" cy="357505"/>
          </a:xfrm>
        </p:grpSpPr>
        <p:sp>
          <p:nvSpPr>
            <p:cNvPr id="21" name="object 21"/>
            <p:cNvSpPr/>
            <p:nvPr/>
          </p:nvSpPr>
          <p:spPr>
            <a:xfrm>
              <a:off x="3281029" y="7253900"/>
              <a:ext cx="193040" cy="357505"/>
            </a:xfrm>
            <a:custGeom>
              <a:avLst/>
              <a:gdLst/>
              <a:ahLst/>
              <a:cxnLst/>
              <a:rect l="l" t="t" r="r" b="b"/>
              <a:pathLst>
                <a:path w="193039" h="357504">
                  <a:moveTo>
                    <a:pt x="0" y="307634"/>
                  </a:moveTo>
                  <a:lnTo>
                    <a:pt x="0" y="45582"/>
                  </a:lnTo>
                  <a:lnTo>
                    <a:pt x="49523" y="79207"/>
                  </a:lnTo>
                  <a:lnTo>
                    <a:pt x="49523" y="0"/>
                  </a:lnTo>
                  <a:lnTo>
                    <a:pt x="61897" y="8394"/>
                  </a:lnTo>
                  <a:lnTo>
                    <a:pt x="61897" y="87602"/>
                  </a:lnTo>
                  <a:lnTo>
                    <a:pt x="80434" y="100191"/>
                  </a:lnTo>
                  <a:lnTo>
                    <a:pt x="80434" y="20983"/>
                  </a:lnTo>
                  <a:lnTo>
                    <a:pt x="92800" y="29378"/>
                  </a:lnTo>
                  <a:lnTo>
                    <a:pt x="92800" y="108585"/>
                  </a:lnTo>
                  <a:lnTo>
                    <a:pt x="111345" y="121174"/>
                  </a:lnTo>
                  <a:lnTo>
                    <a:pt x="111345" y="41966"/>
                  </a:lnTo>
                  <a:lnTo>
                    <a:pt x="123711" y="50369"/>
                  </a:lnTo>
                  <a:lnTo>
                    <a:pt x="123711" y="129577"/>
                  </a:lnTo>
                  <a:lnTo>
                    <a:pt x="142248" y="142165"/>
                  </a:lnTo>
                  <a:lnTo>
                    <a:pt x="142248" y="62957"/>
                  </a:lnTo>
                  <a:lnTo>
                    <a:pt x="154614" y="71352"/>
                  </a:lnTo>
                  <a:lnTo>
                    <a:pt x="154614" y="150560"/>
                  </a:lnTo>
                  <a:lnTo>
                    <a:pt x="173159" y="163149"/>
                  </a:lnTo>
                  <a:lnTo>
                    <a:pt x="173159" y="83941"/>
                  </a:lnTo>
                  <a:lnTo>
                    <a:pt x="185526" y="92336"/>
                  </a:lnTo>
                  <a:lnTo>
                    <a:pt x="185526" y="171543"/>
                  </a:lnTo>
                  <a:lnTo>
                    <a:pt x="192959" y="176595"/>
                  </a:lnTo>
                  <a:lnTo>
                    <a:pt x="185526" y="181646"/>
                  </a:lnTo>
                  <a:lnTo>
                    <a:pt x="185526" y="265047"/>
                  </a:lnTo>
                  <a:lnTo>
                    <a:pt x="173159" y="273442"/>
                  </a:lnTo>
                  <a:lnTo>
                    <a:pt x="173159" y="190049"/>
                  </a:lnTo>
                  <a:lnTo>
                    <a:pt x="154614" y="202637"/>
                  </a:lnTo>
                  <a:lnTo>
                    <a:pt x="154614" y="286030"/>
                  </a:lnTo>
                  <a:lnTo>
                    <a:pt x="142248" y="294425"/>
                  </a:lnTo>
                  <a:lnTo>
                    <a:pt x="142248" y="211032"/>
                  </a:lnTo>
                  <a:lnTo>
                    <a:pt x="123711" y="223621"/>
                  </a:lnTo>
                  <a:lnTo>
                    <a:pt x="123711" y="307022"/>
                  </a:lnTo>
                  <a:lnTo>
                    <a:pt x="111345" y="315417"/>
                  </a:lnTo>
                  <a:lnTo>
                    <a:pt x="111345" y="232023"/>
                  </a:lnTo>
                  <a:lnTo>
                    <a:pt x="92800" y="244620"/>
                  </a:lnTo>
                  <a:lnTo>
                    <a:pt x="92800" y="328013"/>
                  </a:lnTo>
                  <a:lnTo>
                    <a:pt x="80434" y="336408"/>
                  </a:lnTo>
                  <a:lnTo>
                    <a:pt x="80434" y="253015"/>
                  </a:lnTo>
                  <a:lnTo>
                    <a:pt x="61897" y="265603"/>
                  </a:lnTo>
                  <a:lnTo>
                    <a:pt x="61897" y="349004"/>
                  </a:lnTo>
                  <a:lnTo>
                    <a:pt x="49523" y="357399"/>
                  </a:lnTo>
                  <a:lnTo>
                    <a:pt x="49523" y="274006"/>
                  </a:lnTo>
                  <a:lnTo>
                    <a:pt x="0" y="307634"/>
                  </a:lnTo>
                  <a:close/>
                </a:path>
              </a:pathLst>
            </a:custGeom>
            <a:solidFill>
              <a:srgbClr val="9411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85092" y="7358825"/>
              <a:ext cx="110261" cy="147526"/>
            </a:xfrm>
            <a:prstGeom prst="rect">
              <a:avLst/>
            </a:prstGeom>
          </p:spPr>
        </p:pic>
      </p:grpSp>
      <p:grpSp>
        <p:nvGrpSpPr>
          <p:cNvPr id="23" name="object 23"/>
          <p:cNvGrpSpPr/>
          <p:nvPr/>
        </p:nvGrpSpPr>
        <p:grpSpPr>
          <a:xfrm>
            <a:off x="3281029" y="8240375"/>
            <a:ext cx="314325" cy="357505"/>
            <a:chOff x="3281029" y="8240375"/>
            <a:chExt cx="314325" cy="357505"/>
          </a:xfrm>
        </p:grpSpPr>
        <p:sp>
          <p:nvSpPr>
            <p:cNvPr id="24" name="object 24"/>
            <p:cNvSpPr/>
            <p:nvPr/>
          </p:nvSpPr>
          <p:spPr>
            <a:xfrm>
              <a:off x="3281029" y="8240375"/>
              <a:ext cx="193040" cy="357505"/>
            </a:xfrm>
            <a:custGeom>
              <a:avLst/>
              <a:gdLst/>
              <a:ahLst/>
              <a:cxnLst/>
              <a:rect l="l" t="t" r="r" b="b"/>
              <a:pathLst>
                <a:path w="193039" h="357504">
                  <a:moveTo>
                    <a:pt x="0" y="307634"/>
                  </a:moveTo>
                  <a:lnTo>
                    <a:pt x="0" y="45582"/>
                  </a:lnTo>
                  <a:lnTo>
                    <a:pt x="49523" y="79207"/>
                  </a:lnTo>
                  <a:lnTo>
                    <a:pt x="49523" y="0"/>
                  </a:lnTo>
                  <a:lnTo>
                    <a:pt x="61897" y="8394"/>
                  </a:lnTo>
                  <a:lnTo>
                    <a:pt x="61897" y="87602"/>
                  </a:lnTo>
                  <a:lnTo>
                    <a:pt x="80434" y="100191"/>
                  </a:lnTo>
                  <a:lnTo>
                    <a:pt x="80434" y="20983"/>
                  </a:lnTo>
                  <a:lnTo>
                    <a:pt x="92800" y="29378"/>
                  </a:lnTo>
                  <a:lnTo>
                    <a:pt x="92800" y="108585"/>
                  </a:lnTo>
                  <a:lnTo>
                    <a:pt x="111345" y="121174"/>
                  </a:lnTo>
                  <a:lnTo>
                    <a:pt x="111345" y="41966"/>
                  </a:lnTo>
                  <a:lnTo>
                    <a:pt x="123711" y="50369"/>
                  </a:lnTo>
                  <a:lnTo>
                    <a:pt x="123711" y="129577"/>
                  </a:lnTo>
                  <a:lnTo>
                    <a:pt x="142248" y="142165"/>
                  </a:lnTo>
                  <a:lnTo>
                    <a:pt x="142248" y="62957"/>
                  </a:lnTo>
                  <a:lnTo>
                    <a:pt x="154614" y="71352"/>
                  </a:lnTo>
                  <a:lnTo>
                    <a:pt x="154614" y="150560"/>
                  </a:lnTo>
                  <a:lnTo>
                    <a:pt x="173159" y="163149"/>
                  </a:lnTo>
                  <a:lnTo>
                    <a:pt x="173159" y="83941"/>
                  </a:lnTo>
                  <a:lnTo>
                    <a:pt x="185526" y="92336"/>
                  </a:lnTo>
                  <a:lnTo>
                    <a:pt x="185526" y="171543"/>
                  </a:lnTo>
                  <a:lnTo>
                    <a:pt x="192959" y="176595"/>
                  </a:lnTo>
                  <a:lnTo>
                    <a:pt x="185526" y="181646"/>
                  </a:lnTo>
                  <a:lnTo>
                    <a:pt x="185526" y="265047"/>
                  </a:lnTo>
                  <a:lnTo>
                    <a:pt x="173159" y="273442"/>
                  </a:lnTo>
                  <a:lnTo>
                    <a:pt x="173159" y="190049"/>
                  </a:lnTo>
                  <a:lnTo>
                    <a:pt x="154614" y="202637"/>
                  </a:lnTo>
                  <a:lnTo>
                    <a:pt x="154614" y="286030"/>
                  </a:lnTo>
                  <a:lnTo>
                    <a:pt x="142248" y="294425"/>
                  </a:lnTo>
                  <a:lnTo>
                    <a:pt x="142248" y="211032"/>
                  </a:lnTo>
                  <a:lnTo>
                    <a:pt x="123711" y="223621"/>
                  </a:lnTo>
                  <a:lnTo>
                    <a:pt x="123711" y="307022"/>
                  </a:lnTo>
                  <a:lnTo>
                    <a:pt x="111345" y="315417"/>
                  </a:lnTo>
                  <a:lnTo>
                    <a:pt x="111345" y="232023"/>
                  </a:lnTo>
                  <a:lnTo>
                    <a:pt x="92800" y="244620"/>
                  </a:lnTo>
                  <a:lnTo>
                    <a:pt x="92800" y="328013"/>
                  </a:lnTo>
                  <a:lnTo>
                    <a:pt x="80434" y="336408"/>
                  </a:lnTo>
                  <a:lnTo>
                    <a:pt x="80434" y="253015"/>
                  </a:lnTo>
                  <a:lnTo>
                    <a:pt x="61897" y="265603"/>
                  </a:lnTo>
                  <a:lnTo>
                    <a:pt x="61897" y="349004"/>
                  </a:lnTo>
                  <a:lnTo>
                    <a:pt x="49523" y="357399"/>
                  </a:lnTo>
                  <a:lnTo>
                    <a:pt x="49523" y="274006"/>
                  </a:lnTo>
                  <a:lnTo>
                    <a:pt x="0" y="307634"/>
                  </a:lnTo>
                  <a:close/>
                </a:path>
              </a:pathLst>
            </a:custGeom>
            <a:solidFill>
              <a:srgbClr val="9411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85092" y="8345299"/>
              <a:ext cx="110261" cy="147526"/>
            </a:xfrm>
            <a:prstGeom prst="rect">
              <a:avLst/>
            </a:prstGeom>
          </p:spPr>
        </p:pic>
      </p:grpSp>
      <p:grpSp>
        <p:nvGrpSpPr>
          <p:cNvPr id="26" name="object 26"/>
          <p:cNvGrpSpPr/>
          <p:nvPr/>
        </p:nvGrpSpPr>
        <p:grpSpPr>
          <a:xfrm>
            <a:off x="3281029" y="9079580"/>
            <a:ext cx="314325" cy="357505"/>
            <a:chOff x="3281029" y="9079580"/>
            <a:chExt cx="314325" cy="357505"/>
          </a:xfrm>
        </p:grpSpPr>
        <p:sp>
          <p:nvSpPr>
            <p:cNvPr id="27" name="object 27"/>
            <p:cNvSpPr/>
            <p:nvPr/>
          </p:nvSpPr>
          <p:spPr>
            <a:xfrm>
              <a:off x="3281029" y="9079580"/>
              <a:ext cx="193040" cy="357505"/>
            </a:xfrm>
            <a:custGeom>
              <a:avLst/>
              <a:gdLst/>
              <a:ahLst/>
              <a:cxnLst/>
              <a:rect l="l" t="t" r="r" b="b"/>
              <a:pathLst>
                <a:path w="193039" h="357504">
                  <a:moveTo>
                    <a:pt x="0" y="307634"/>
                  </a:moveTo>
                  <a:lnTo>
                    <a:pt x="0" y="45582"/>
                  </a:lnTo>
                  <a:lnTo>
                    <a:pt x="49523" y="79207"/>
                  </a:lnTo>
                  <a:lnTo>
                    <a:pt x="49523" y="0"/>
                  </a:lnTo>
                  <a:lnTo>
                    <a:pt x="61897" y="8394"/>
                  </a:lnTo>
                  <a:lnTo>
                    <a:pt x="61897" y="87602"/>
                  </a:lnTo>
                  <a:lnTo>
                    <a:pt x="80434" y="100191"/>
                  </a:lnTo>
                  <a:lnTo>
                    <a:pt x="80434" y="20983"/>
                  </a:lnTo>
                  <a:lnTo>
                    <a:pt x="92800" y="29378"/>
                  </a:lnTo>
                  <a:lnTo>
                    <a:pt x="92800" y="108585"/>
                  </a:lnTo>
                  <a:lnTo>
                    <a:pt x="111345" y="121174"/>
                  </a:lnTo>
                  <a:lnTo>
                    <a:pt x="111345" y="41966"/>
                  </a:lnTo>
                  <a:lnTo>
                    <a:pt x="123711" y="50369"/>
                  </a:lnTo>
                  <a:lnTo>
                    <a:pt x="123711" y="129577"/>
                  </a:lnTo>
                  <a:lnTo>
                    <a:pt x="142248" y="142165"/>
                  </a:lnTo>
                  <a:lnTo>
                    <a:pt x="142248" y="62957"/>
                  </a:lnTo>
                  <a:lnTo>
                    <a:pt x="154614" y="71352"/>
                  </a:lnTo>
                  <a:lnTo>
                    <a:pt x="154614" y="150560"/>
                  </a:lnTo>
                  <a:lnTo>
                    <a:pt x="173159" y="163149"/>
                  </a:lnTo>
                  <a:lnTo>
                    <a:pt x="173159" y="83941"/>
                  </a:lnTo>
                  <a:lnTo>
                    <a:pt x="185526" y="92336"/>
                  </a:lnTo>
                  <a:lnTo>
                    <a:pt x="185526" y="171543"/>
                  </a:lnTo>
                  <a:lnTo>
                    <a:pt x="192959" y="176595"/>
                  </a:lnTo>
                  <a:lnTo>
                    <a:pt x="185526" y="181646"/>
                  </a:lnTo>
                  <a:lnTo>
                    <a:pt x="185526" y="265047"/>
                  </a:lnTo>
                  <a:lnTo>
                    <a:pt x="173159" y="273442"/>
                  </a:lnTo>
                  <a:lnTo>
                    <a:pt x="173159" y="190049"/>
                  </a:lnTo>
                  <a:lnTo>
                    <a:pt x="154614" y="202637"/>
                  </a:lnTo>
                  <a:lnTo>
                    <a:pt x="154614" y="286030"/>
                  </a:lnTo>
                  <a:lnTo>
                    <a:pt x="142248" y="294425"/>
                  </a:lnTo>
                  <a:lnTo>
                    <a:pt x="142248" y="211032"/>
                  </a:lnTo>
                  <a:lnTo>
                    <a:pt x="123711" y="223621"/>
                  </a:lnTo>
                  <a:lnTo>
                    <a:pt x="123711" y="307022"/>
                  </a:lnTo>
                  <a:lnTo>
                    <a:pt x="111345" y="315417"/>
                  </a:lnTo>
                  <a:lnTo>
                    <a:pt x="111345" y="232023"/>
                  </a:lnTo>
                  <a:lnTo>
                    <a:pt x="92800" y="244620"/>
                  </a:lnTo>
                  <a:lnTo>
                    <a:pt x="92800" y="328013"/>
                  </a:lnTo>
                  <a:lnTo>
                    <a:pt x="80434" y="336408"/>
                  </a:lnTo>
                  <a:lnTo>
                    <a:pt x="80434" y="253015"/>
                  </a:lnTo>
                  <a:lnTo>
                    <a:pt x="61897" y="265603"/>
                  </a:lnTo>
                  <a:lnTo>
                    <a:pt x="61897" y="349004"/>
                  </a:lnTo>
                  <a:lnTo>
                    <a:pt x="49523" y="357399"/>
                  </a:lnTo>
                  <a:lnTo>
                    <a:pt x="49523" y="274006"/>
                  </a:lnTo>
                  <a:lnTo>
                    <a:pt x="0" y="307634"/>
                  </a:lnTo>
                  <a:close/>
                </a:path>
              </a:pathLst>
            </a:custGeom>
            <a:solidFill>
              <a:srgbClr val="9411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85092" y="9184505"/>
              <a:ext cx="110261" cy="147526"/>
            </a:xfrm>
            <a:prstGeom prst="rect">
              <a:avLst/>
            </a:prstGeom>
          </p:spPr>
        </p:pic>
      </p:grp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95" dirty="0"/>
              <a:t>2</a:t>
            </a:fld>
            <a:endParaRPr spc="-9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612" y="634450"/>
            <a:ext cx="904240" cy="1033780"/>
          </a:xfrm>
          <a:custGeom>
            <a:avLst/>
            <a:gdLst/>
            <a:ahLst/>
            <a:cxnLst/>
            <a:rect l="l" t="t" r="r" b="b"/>
            <a:pathLst>
              <a:path w="904239" h="1033780">
                <a:moveTo>
                  <a:pt x="0" y="1033158"/>
                </a:moveTo>
                <a:lnTo>
                  <a:pt x="0" y="0"/>
                </a:lnTo>
                <a:lnTo>
                  <a:pt x="904014" y="516579"/>
                </a:lnTo>
                <a:lnTo>
                  <a:pt x="0" y="1033158"/>
                </a:lnTo>
                <a:close/>
              </a:path>
            </a:pathLst>
          </a:custGeom>
          <a:solidFill>
            <a:srgbClr val="B40C1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99262" y="4693689"/>
            <a:ext cx="1952624" cy="19526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71864" y="4632721"/>
            <a:ext cx="2257424" cy="20192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308315" y="4922475"/>
            <a:ext cx="1800224" cy="180022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3160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40"/>
              </a:spcBef>
            </a:pPr>
            <a:r>
              <a:rPr sz="4700" spc="-10" dirty="0"/>
              <a:t>Introduction</a:t>
            </a:r>
            <a:endParaRPr sz="4700"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95" dirty="0"/>
              <a:t>3</a:t>
            </a:fld>
            <a:endParaRPr spc="-95" dirty="0"/>
          </a:p>
        </p:txBody>
      </p:sp>
      <p:sp>
        <p:nvSpPr>
          <p:cNvPr id="7" name="object 7"/>
          <p:cNvSpPr txBox="1"/>
          <p:nvPr/>
        </p:nvSpPr>
        <p:spPr>
          <a:xfrm>
            <a:off x="1295719" y="2242735"/>
            <a:ext cx="15337790" cy="1711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5199"/>
              </a:lnSpc>
              <a:spcBef>
                <a:spcPts val="100"/>
              </a:spcBef>
            </a:pPr>
            <a:r>
              <a:rPr sz="3200" spc="-140" dirty="0">
                <a:latin typeface="Lucida Sans Unicode"/>
                <a:cs typeface="Lucida Sans Unicode"/>
              </a:rPr>
              <a:t>Aujourd’hui,</a:t>
            </a:r>
            <a:r>
              <a:rPr sz="3200" spc="-114" dirty="0">
                <a:latin typeface="Lucida Sans Unicode"/>
                <a:cs typeface="Lucida Sans Unicode"/>
              </a:rPr>
              <a:t> </a:t>
            </a:r>
            <a:r>
              <a:rPr sz="3200" spc="-45" dirty="0">
                <a:latin typeface="Lucida Sans Unicode"/>
                <a:cs typeface="Lucida Sans Unicode"/>
              </a:rPr>
              <a:t>toute</a:t>
            </a:r>
            <a:r>
              <a:rPr sz="3200" spc="-210" dirty="0">
                <a:latin typeface="Lucida Sans Unicode"/>
                <a:cs typeface="Lucida Sans Unicode"/>
              </a:rPr>
              <a:t> </a:t>
            </a:r>
            <a:r>
              <a:rPr sz="3200" spc="-60" dirty="0">
                <a:latin typeface="Lucida Sans Unicode"/>
                <a:cs typeface="Lucida Sans Unicode"/>
              </a:rPr>
              <a:t>information</a:t>
            </a:r>
            <a:r>
              <a:rPr sz="3200" spc="-175" dirty="0">
                <a:latin typeface="Lucida Sans Unicode"/>
                <a:cs typeface="Lucida Sans Unicode"/>
              </a:rPr>
              <a:t> </a:t>
            </a:r>
            <a:r>
              <a:rPr sz="3200" spc="-85" dirty="0">
                <a:latin typeface="Lucida Sans Unicode"/>
                <a:cs typeface="Lucida Sans Unicode"/>
              </a:rPr>
              <a:t>circulant</a:t>
            </a:r>
            <a:r>
              <a:rPr sz="3200" spc="-165" dirty="0">
                <a:latin typeface="Lucida Sans Unicode"/>
                <a:cs typeface="Lucida Sans Unicode"/>
              </a:rPr>
              <a:t> </a:t>
            </a:r>
            <a:r>
              <a:rPr sz="3200" spc="-55" dirty="0">
                <a:latin typeface="Lucida Sans Unicode"/>
                <a:cs typeface="Lucida Sans Unicode"/>
              </a:rPr>
              <a:t>sur</a:t>
            </a:r>
            <a:r>
              <a:rPr sz="3200" spc="-165" dirty="0">
                <a:latin typeface="Lucida Sans Unicode"/>
                <a:cs typeface="Lucida Sans Unicode"/>
              </a:rPr>
              <a:t> </a:t>
            </a:r>
            <a:r>
              <a:rPr sz="3200" spc="-20" dirty="0">
                <a:latin typeface="Lucida Sans Unicode"/>
                <a:cs typeface="Lucida Sans Unicode"/>
              </a:rPr>
              <a:t>un</a:t>
            </a:r>
            <a:r>
              <a:rPr sz="3200" spc="-170" dirty="0">
                <a:latin typeface="Lucida Sans Unicode"/>
                <a:cs typeface="Lucida Sans Unicode"/>
              </a:rPr>
              <a:t> </a:t>
            </a:r>
            <a:r>
              <a:rPr sz="3200" spc="-30" dirty="0">
                <a:latin typeface="Lucida Sans Unicode"/>
                <a:cs typeface="Lucida Sans Unicode"/>
              </a:rPr>
              <a:t>réseau</a:t>
            </a:r>
            <a:r>
              <a:rPr sz="3200" spc="-165" dirty="0">
                <a:latin typeface="Lucida Sans Unicode"/>
                <a:cs typeface="Lucida Sans Unicode"/>
              </a:rPr>
              <a:t> </a:t>
            </a:r>
            <a:r>
              <a:rPr sz="3200" spc="-50" dirty="0">
                <a:latin typeface="Lucida Sans Unicode"/>
                <a:cs typeface="Lucida Sans Unicode"/>
              </a:rPr>
              <a:t>comme</a:t>
            </a:r>
            <a:r>
              <a:rPr sz="3200" spc="-165" dirty="0">
                <a:latin typeface="Lucida Sans Unicode"/>
                <a:cs typeface="Lucida Sans Unicode"/>
              </a:rPr>
              <a:t> </a:t>
            </a:r>
            <a:r>
              <a:rPr sz="3200" spc="-40" dirty="0">
                <a:latin typeface="Lucida Sans Unicode"/>
                <a:cs typeface="Lucida Sans Unicode"/>
              </a:rPr>
              <a:t>Internet</a:t>
            </a:r>
            <a:r>
              <a:rPr sz="3200" spc="-165" dirty="0">
                <a:latin typeface="Lucida Sans Unicode"/>
                <a:cs typeface="Lucida Sans Unicode"/>
              </a:rPr>
              <a:t> </a:t>
            </a:r>
            <a:r>
              <a:rPr sz="3200" spc="-45" dirty="0">
                <a:latin typeface="Lucida Sans Unicode"/>
                <a:cs typeface="Lucida Sans Unicode"/>
              </a:rPr>
              <a:t>peut</a:t>
            </a:r>
            <a:r>
              <a:rPr sz="3200" spc="-165" dirty="0">
                <a:latin typeface="Lucida Sans Unicode"/>
                <a:cs typeface="Lucida Sans Unicode"/>
              </a:rPr>
              <a:t> </a:t>
            </a:r>
            <a:r>
              <a:rPr sz="3200" spc="-20" dirty="0">
                <a:latin typeface="Lucida Sans Unicode"/>
                <a:cs typeface="Lucida Sans Unicode"/>
              </a:rPr>
              <a:t>être </a:t>
            </a:r>
            <a:r>
              <a:rPr sz="3200" dirty="0">
                <a:latin typeface="Arial Black"/>
                <a:cs typeface="Arial Black"/>
              </a:rPr>
              <a:t>interceptée, copiée ou modifiée</a:t>
            </a:r>
            <a:r>
              <a:rPr sz="3200" dirty="0">
                <a:latin typeface="Lucida Sans Unicode"/>
                <a:cs typeface="Lucida Sans Unicode"/>
              </a:rPr>
              <a:t>. </a:t>
            </a:r>
            <a:r>
              <a:rPr sz="3200" spc="-30" dirty="0">
                <a:latin typeface="Lucida Sans Unicode"/>
                <a:cs typeface="Lucida Sans Unicode"/>
              </a:rPr>
              <a:t>Sans</a:t>
            </a:r>
            <a:r>
              <a:rPr sz="3200" spc="-225" dirty="0">
                <a:latin typeface="Lucida Sans Unicode"/>
                <a:cs typeface="Lucida Sans Unicode"/>
              </a:rPr>
              <a:t> </a:t>
            </a:r>
            <a:r>
              <a:rPr sz="3200" spc="-70" dirty="0">
                <a:latin typeface="Lucida Sans Unicode"/>
                <a:cs typeface="Lucida Sans Unicode"/>
              </a:rPr>
              <a:t>mécanismes</a:t>
            </a:r>
            <a:r>
              <a:rPr sz="3200" spc="-185" dirty="0">
                <a:latin typeface="Lucida Sans Unicode"/>
                <a:cs typeface="Lucida Sans Unicode"/>
              </a:rPr>
              <a:t> </a:t>
            </a:r>
            <a:r>
              <a:rPr sz="3200" dirty="0">
                <a:latin typeface="Lucida Sans Unicode"/>
                <a:cs typeface="Lucida Sans Unicode"/>
              </a:rPr>
              <a:t>de</a:t>
            </a:r>
            <a:r>
              <a:rPr sz="3200" spc="-210" dirty="0">
                <a:latin typeface="Lucida Sans Unicode"/>
                <a:cs typeface="Lucida Sans Unicode"/>
              </a:rPr>
              <a:t> </a:t>
            </a:r>
            <a:r>
              <a:rPr sz="3200" spc="-80" dirty="0">
                <a:latin typeface="Lucida Sans Unicode"/>
                <a:cs typeface="Lucida Sans Unicode"/>
              </a:rPr>
              <a:t>protection,</a:t>
            </a:r>
            <a:r>
              <a:rPr sz="3200" spc="-95" dirty="0">
                <a:latin typeface="Lucida Sans Unicode"/>
                <a:cs typeface="Lucida Sans Unicode"/>
              </a:rPr>
              <a:t> </a:t>
            </a:r>
            <a:r>
              <a:rPr sz="3200" spc="-65" dirty="0">
                <a:latin typeface="Lucida Sans Unicode"/>
                <a:cs typeface="Lucida Sans Unicode"/>
              </a:rPr>
              <a:t>cela</a:t>
            </a:r>
            <a:r>
              <a:rPr sz="3200" spc="-100" dirty="0">
                <a:latin typeface="Lucida Sans Unicode"/>
                <a:cs typeface="Lucida Sans Unicode"/>
              </a:rPr>
              <a:t> </a:t>
            </a:r>
            <a:r>
              <a:rPr sz="3200" spc="-10" dirty="0">
                <a:latin typeface="Lucida Sans Unicode"/>
                <a:cs typeface="Lucida Sans Unicode"/>
              </a:rPr>
              <a:t>entraîne </a:t>
            </a:r>
            <a:r>
              <a:rPr sz="3200" spc="-75" dirty="0">
                <a:latin typeface="Lucida Sans Unicode"/>
                <a:cs typeface="Lucida Sans Unicode"/>
              </a:rPr>
              <a:t>plusieurs</a:t>
            </a:r>
            <a:r>
              <a:rPr sz="3200" spc="-150" dirty="0">
                <a:latin typeface="Lucida Sans Unicode"/>
                <a:cs typeface="Lucida Sans Unicode"/>
              </a:rPr>
              <a:t> </a:t>
            </a:r>
            <a:r>
              <a:rPr sz="3200" spc="-80" dirty="0">
                <a:latin typeface="Lucida Sans Unicode"/>
                <a:cs typeface="Lucida Sans Unicode"/>
              </a:rPr>
              <a:t>risques</a:t>
            </a:r>
            <a:r>
              <a:rPr sz="3200" spc="-145" dirty="0">
                <a:latin typeface="Lucida Sans Unicode"/>
                <a:cs typeface="Lucida Sans Unicode"/>
              </a:rPr>
              <a:t> </a:t>
            </a:r>
            <a:r>
              <a:rPr sz="3200" spc="-50" dirty="0">
                <a:latin typeface="Lucida Sans Unicode"/>
                <a:cs typeface="Lucida Sans Unicode"/>
              </a:rPr>
              <a:t>:</a:t>
            </a:r>
            <a:endParaRPr sz="3200" dirty="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8190" y="7352060"/>
            <a:ext cx="5149215" cy="1568450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R="71755" algn="ctr">
              <a:lnSpc>
                <a:spcPct val="100000"/>
              </a:lnSpc>
              <a:spcBef>
                <a:spcPts val="1265"/>
              </a:spcBef>
            </a:pPr>
            <a:r>
              <a:rPr sz="2400" dirty="0">
                <a:latin typeface="Arial Black"/>
                <a:cs typeface="Arial Black"/>
              </a:rPr>
              <a:t>Perte de confidentialité</a:t>
            </a:r>
          </a:p>
          <a:p>
            <a:pPr marL="12065" marR="5080" algn="ctr">
              <a:lnSpc>
                <a:spcPct val="140600"/>
              </a:lnSpc>
            </a:pPr>
            <a:r>
              <a:rPr sz="2400" spc="-40" dirty="0">
                <a:latin typeface="Lucida Sans Unicode"/>
                <a:cs typeface="Lucida Sans Unicode"/>
              </a:rPr>
              <a:t>des</a:t>
            </a:r>
            <a:r>
              <a:rPr sz="2400" spc="-135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données</a:t>
            </a:r>
            <a:r>
              <a:rPr sz="2400" spc="-135" dirty="0">
                <a:latin typeface="Lucida Sans Unicode"/>
                <a:cs typeface="Lucida Sans Unicode"/>
              </a:rPr>
              <a:t> </a:t>
            </a:r>
            <a:r>
              <a:rPr sz="2400" spc="-60" dirty="0">
                <a:latin typeface="Lucida Sans Unicode"/>
                <a:cs typeface="Lucida Sans Unicode"/>
              </a:rPr>
              <a:t>sensibles</a:t>
            </a:r>
            <a:r>
              <a:rPr sz="2400" spc="-135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peuvent</a:t>
            </a:r>
            <a:r>
              <a:rPr sz="2400" spc="-130" dirty="0">
                <a:latin typeface="Lucida Sans Unicode"/>
                <a:cs typeface="Lucida Sans Unicode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être </a:t>
            </a:r>
            <a:r>
              <a:rPr sz="2400" spc="-50" dirty="0">
                <a:latin typeface="Lucida Sans Unicode"/>
                <a:cs typeface="Lucida Sans Unicode"/>
              </a:rPr>
              <a:t>lues</a:t>
            </a:r>
            <a:r>
              <a:rPr sz="2400" spc="-1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par</a:t>
            </a:r>
            <a:r>
              <a:rPr sz="2400" spc="-165" dirty="0">
                <a:latin typeface="Lucida Sans Unicode"/>
                <a:cs typeface="Lucida Sans Unicode"/>
              </a:rPr>
              <a:t> </a:t>
            </a:r>
            <a:r>
              <a:rPr sz="2400" spc="-40" dirty="0">
                <a:latin typeface="Lucida Sans Unicode"/>
                <a:cs typeface="Lucida Sans Unicode"/>
              </a:rPr>
              <a:t>des</a:t>
            </a:r>
            <a:r>
              <a:rPr sz="2400" spc="-150" dirty="0">
                <a:latin typeface="Lucida Sans Unicode"/>
                <a:cs typeface="Lucida Sans Unicode"/>
              </a:rPr>
              <a:t> </a:t>
            </a:r>
            <a:r>
              <a:rPr sz="2400" spc="-55" dirty="0">
                <a:latin typeface="Lucida Sans Unicode"/>
                <a:cs typeface="Lucida Sans Unicode"/>
              </a:rPr>
              <a:t>tiers</a:t>
            </a:r>
            <a:r>
              <a:rPr sz="2400" spc="-13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non</a:t>
            </a:r>
            <a:r>
              <a:rPr sz="2400" spc="-14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autorisés.</a:t>
            </a:r>
            <a:endParaRPr sz="2400" dirty="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59792" y="7352060"/>
            <a:ext cx="5033645" cy="1568450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R="71755" algn="ctr">
              <a:lnSpc>
                <a:spcPct val="100000"/>
              </a:lnSpc>
              <a:spcBef>
                <a:spcPts val="1265"/>
              </a:spcBef>
            </a:pPr>
            <a:r>
              <a:rPr sz="2400" dirty="0">
                <a:latin typeface="Arial Black"/>
                <a:cs typeface="Arial Black"/>
              </a:rPr>
              <a:t>Problème d’authentification</a:t>
            </a:r>
          </a:p>
          <a:p>
            <a:pPr marL="12700" marR="5080" indent="79375" algn="ctr">
              <a:lnSpc>
                <a:spcPct val="140600"/>
              </a:lnSpc>
            </a:pPr>
            <a:r>
              <a:rPr sz="2400" dirty="0">
                <a:latin typeface="Lucida Sans Unicode"/>
                <a:cs typeface="Lucida Sans Unicode"/>
              </a:rPr>
              <a:t>un</a:t>
            </a:r>
            <a:r>
              <a:rPr sz="2400" spc="-135" dirty="0">
                <a:latin typeface="Lucida Sans Unicode"/>
                <a:cs typeface="Lucida Sans Unicode"/>
              </a:rPr>
              <a:t> </a:t>
            </a:r>
            <a:r>
              <a:rPr sz="2400" spc="-50" dirty="0">
                <a:latin typeface="Lucida Sans Unicode"/>
                <a:cs typeface="Lucida Sans Unicode"/>
              </a:rPr>
              <a:t>utilisateur</a:t>
            </a:r>
            <a:r>
              <a:rPr sz="2400" spc="-135" dirty="0">
                <a:latin typeface="Lucida Sans Unicode"/>
                <a:cs typeface="Lucida Sans Unicode"/>
              </a:rPr>
              <a:t> </a:t>
            </a:r>
            <a:r>
              <a:rPr sz="2400" spc="-45" dirty="0">
                <a:latin typeface="Lucida Sans Unicode"/>
                <a:cs typeface="Lucida Sans Unicode"/>
              </a:rPr>
              <a:t>malveillant</a:t>
            </a:r>
            <a:r>
              <a:rPr sz="2400" spc="-135" dirty="0">
                <a:latin typeface="Lucida Sans Unicode"/>
                <a:cs typeface="Lucida Sans Unicode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peut </a:t>
            </a:r>
            <a:r>
              <a:rPr sz="2400" spc="-30" dirty="0">
                <a:latin typeface="Lucida Sans Unicode"/>
                <a:cs typeface="Lucida Sans Unicode"/>
              </a:rPr>
              <a:t>usurper</a:t>
            </a:r>
            <a:r>
              <a:rPr sz="2400" spc="-1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une</a:t>
            </a:r>
            <a:r>
              <a:rPr sz="2400" spc="-130" dirty="0">
                <a:latin typeface="Lucida Sans Unicode"/>
                <a:cs typeface="Lucida Sans Unicode"/>
              </a:rPr>
              <a:t> </a:t>
            </a:r>
            <a:r>
              <a:rPr sz="2400" spc="-45" dirty="0">
                <a:latin typeface="Lucida Sans Unicode"/>
                <a:cs typeface="Lucida Sans Unicode"/>
              </a:rPr>
              <a:t>identité</a:t>
            </a:r>
            <a:r>
              <a:rPr sz="2400" spc="-130" dirty="0">
                <a:latin typeface="Lucida Sans Unicode"/>
                <a:cs typeface="Lucida Sans Unicode"/>
              </a:rPr>
              <a:t> </a:t>
            </a:r>
            <a:r>
              <a:rPr sz="2400" spc="-110" dirty="0">
                <a:latin typeface="Lucida Sans Unicode"/>
                <a:cs typeface="Lucida Sans Unicode"/>
              </a:rPr>
              <a:t>(ex.</a:t>
            </a:r>
            <a:r>
              <a:rPr sz="2400" spc="-130" dirty="0">
                <a:latin typeface="Lucida Sans Unicode"/>
                <a:cs typeface="Lucida Sans Unicode"/>
              </a:rPr>
              <a:t> </a:t>
            </a:r>
            <a:r>
              <a:rPr sz="2400" spc="-55" dirty="0">
                <a:latin typeface="Lucida Sans Unicode"/>
                <a:cs typeface="Lucida Sans Unicode"/>
              </a:rPr>
              <a:t>spoofing).</a:t>
            </a:r>
            <a:endParaRPr sz="2400" dirty="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536437" y="7352060"/>
            <a:ext cx="5420995" cy="1568450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R="151130" algn="ctr">
              <a:lnSpc>
                <a:spcPct val="100000"/>
              </a:lnSpc>
              <a:spcBef>
                <a:spcPts val="1265"/>
              </a:spcBef>
            </a:pPr>
            <a:r>
              <a:rPr sz="2400" dirty="0">
                <a:latin typeface="Arial Black"/>
                <a:cs typeface="Arial Black"/>
              </a:rPr>
              <a:t>Absence de traçabilité</a:t>
            </a:r>
          </a:p>
          <a:p>
            <a:pPr marL="240665" marR="5080" indent="-228600">
              <a:lnSpc>
                <a:spcPct val="140600"/>
              </a:lnSpc>
            </a:pPr>
            <a:r>
              <a:rPr sz="2400" spc="-100" dirty="0">
                <a:latin typeface="Lucida Sans Unicode"/>
                <a:cs typeface="Lucida Sans Unicode"/>
              </a:rPr>
              <a:t>il</a:t>
            </a:r>
            <a:r>
              <a:rPr sz="2400" spc="-130" dirty="0">
                <a:latin typeface="Lucida Sans Unicode"/>
                <a:cs typeface="Lucida Sans Unicode"/>
              </a:rPr>
              <a:t> </a:t>
            </a:r>
            <a:r>
              <a:rPr sz="2400" spc="-45" dirty="0">
                <a:latin typeface="Lucida Sans Unicode"/>
                <a:cs typeface="Lucida Sans Unicode"/>
              </a:rPr>
              <a:t>est</a:t>
            </a:r>
            <a:r>
              <a:rPr sz="2400" spc="-125" dirty="0">
                <a:latin typeface="Lucida Sans Unicode"/>
                <a:cs typeface="Lucida Sans Unicode"/>
              </a:rPr>
              <a:t> </a:t>
            </a:r>
            <a:r>
              <a:rPr sz="2400" spc="-75" dirty="0">
                <a:latin typeface="Lucida Sans Unicode"/>
                <a:cs typeface="Lucida Sans Unicode"/>
              </a:rPr>
              <a:t>difficile</a:t>
            </a:r>
            <a:r>
              <a:rPr sz="2400" spc="-1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de</a:t>
            </a:r>
            <a:r>
              <a:rPr sz="2400" spc="-125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prouver</a:t>
            </a:r>
            <a:r>
              <a:rPr sz="2400" spc="-130" dirty="0">
                <a:latin typeface="Lucida Sans Unicode"/>
                <a:cs typeface="Lucida Sans Unicode"/>
              </a:rPr>
              <a:t> </a:t>
            </a:r>
            <a:r>
              <a:rPr sz="2400" spc="-85" dirty="0">
                <a:latin typeface="Lucida Sans Unicode"/>
                <a:cs typeface="Lucida Sans Unicode"/>
              </a:rPr>
              <a:t>qu’une</a:t>
            </a:r>
            <a:r>
              <a:rPr sz="2400" spc="-12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partie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135" dirty="0">
                <a:latin typeface="Lucida Sans Unicode"/>
                <a:cs typeface="Lucida Sans Unicode"/>
              </a:rPr>
              <a:t> </a:t>
            </a:r>
            <a:r>
              <a:rPr sz="2400" spc="-40" dirty="0">
                <a:latin typeface="Lucida Sans Unicode"/>
                <a:cs typeface="Lucida Sans Unicode"/>
              </a:rPr>
              <a:t>bien</a:t>
            </a:r>
            <a:r>
              <a:rPr sz="2400" spc="-130" dirty="0">
                <a:latin typeface="Lucida Sans Unicode"/>
                <a:cs typeface="Lucida Sans Unicode"/>
              </a:rPr>
              <a:t> </a:t>
            </a:r>
            <a:r>
              <a:rPr sz="2400" spc="-50" dirty="0">
                <a:latin typeface="Lucida Sans Unicode"/>
                <a:cs typeface="Lucida Sans Unicode"/>
              </a:rPr>
              <a:t>participé</a:t>
            </a:r>
            <a:r>
              <a:rPr sz="2400" spc="-1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à</a:t>
            </a:r>
            <a:r>
              <a:rPr sz="2400" spc="-1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une</a:t>
            </a:r>
            <a:r>
              <a:rPr sz="2400" spc="-13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transaction.</a:t>
            </a:r>
            <a:endParaRPr sz="24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612" y="634450"/>
            <a:ext cx="904240" cy="1033780"/>
          </a:xfrm>
          <a:custGeom>
            <a:avLst/>
            <a:gdLst/>
            <a:ahLst/>
            <a:cxnLst/>
            <a:rect l="l" t="t" r="r" b="b"/>
            <a:pathLst>
              <a:path w="904239" h="1033780">
                <a:moveTo>
                  <a:pt x="0" y="1033158"/>
                </a:moveTo>
                <a:lnTo>
                  <a:pt x="0" y="0"/>
                </a:lnTo>
                <a:lnTo>
                  <a:pt x="904014" y="516579"/>
                </a:lnTo>
                <a:lnTo>
                  <a:pt x="0" y="1033158"/>
                </a:lnTo>
                <a:close/>
              </a:path>
            </a:pathLst>
          </a:custGeom>
          <a:solidFill>
            <a:srgbClr val="B40C1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7907" y="5312976"/>
            <a:ext cx="12992099" cy="40100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228757" rIns="0" bIns="0" rtlCol="0">
            <a:spAutoFit/>
          </a:bodyPr>
          <a:lstStyle/>
          <a:p>
            <a:pPr marL="48895">
              <a:lnSpc>
                <a:spcPct val="100000"/>
              </a:lnSpc>
              <a:spcBef>
                <a:spcPts val="140"/>
              </a:spcBef>
            </a:pPr>
            <a:r>
              <a:rPr sz="4700" dirty="0"/>
              <a:t>Introduction</a:t>
            </a:r>
            <a:r>
              <a:rPr sz="4700" spc="-5" dirty="0"/>
              <a:t> </a:t>
            </a:r>
            <a:r>
              <a:rPr sz="4700" dirty="0"/>
              <a:t>à la</a:t>
            </a:r>
            <a:r>
              <a:rPr sz="4700" spc="-5" dirty="0"/>
              <a:t> </a:t>
            </a:r>
            <a:r>
              <a:rPr sz="4700" spc="-10" dirty="0"/>
              <a:t>cryptographie</a:t>
            </a:r>
            <a:endParaRPr sz="47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95" dirty="0"/>
              <a:t>4</a:t>
            </a:fld>
            <a:endParaRPr spc="-95" dirty="0"/>
          </a:p>
        </p:txBody>
      </p:sp>
      <p:sp>
        <p:nvSpPr>
          <p:cNvPr id="5" name="object 5"/>
          <p:cNvSpPr txBox="1"/>
          <p:nvPr/>
        </p:nvSpPr>
        <p:spPr>
          <a:xfrm>
            <a:off x="1346540" y="2479488"/>
            <a:ext cx="15046325" cy="199326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000" dirty="0">
                <a:latin typeface="Lucida Sans Unicode"/>
                <a:cs typeface="Lucida Sans Unicode"/>
              </a:rPr>
              <a:t>Pour</a:t>
            </a:r>
            <a:r>
              <a:rPr sz="3000" spc="-155" dirty="0">
                <a:latin typeface="Lucida Sans Unicode"/>
                <a:cs typeface="Lucida Sans Unicode"/>
              </a:rPr>
              <a:t> </a:t>
            </a:r>
            <a:r>
              <a:rPr sz="3000" dirty="0">
                <a:latin typeface="Lucida Sans Unicode"/>
                <a:cs typeface="Lucida Sans Unicode"/>
              </a:rPr>
              <a:t>répondre</a:t>
            </a:r>
            <a:r>
              <a:rPr sz="3000" spc="-150" dirty="0">
                <a:latin typeface="Lucida Sans Unicode"/>
                <a:cs typeface="Lucida Sans Unicode"/>
              </a:rPr>
              <a:t> </a:t>
            </a:r>
            <a:r>
              <a:rPr sz="3000" dirty="0">
                <a:latin typeface="Lucida Sans Unicode"/>
                <a:cs typeface="Lucida Sans Unicode"/>
              </a:rPr>
              <a:t>à</a:t>
            </a:r>
            <a:r>
              <a:rPr sz="3000" spc="-155" dirty="0">
                <a:latin typeface="Lucida Sans Unicode"/>
                <a:cs typeface="Lucida Sans Unicode"/>
              </a:rPr>
              <a:t> </a:t>
            </a:r>
            <a:r>
              <a:rPr sz="3000" spc="-60" dirty="0">
                <a:latin typeface="Lucida Sans Unicode"/>
                <a:cs typeface="Lucida Sans Unicode"/>
              </a:rPr>
              <a:t>ces</a:t>
            </a:r>
            <a:r>
              <a:rPr sz="3000" spc="-150" dirty="0">
                <a:latin typeface="Lucida Sans Unicode"/>
                <a:cs typeface="Lucida Sans Unicode"/>
              </a:rPr>
              <a:t> </a:t>
            </a:r>
            <a:r>
              <a:rPr sz="3000" spc="-95" dirty="0">
                <a:latin typeface="Lucida Sans Unicode"/>
                <a:cs typeface="Lucida Sans Unicode"/>
              </a:rPr>
              <a:t>défis,</a:t>
            </a:r>
            <a:r>
              <a:rPr sz="3000" spc="-150" dirty="0">
                <a:latin typeface="Lucida Sans Unicode"/>
                <a:cs typeface="Lucida Sans Unicode"/>
              </a:rPr>
              <a:t> </a:t>
            </a:r>
            <a:r>
              <a:rPr sz="3000" spc="-140" dirty="0">
                <a:latin typeface="Arial Black"/>
                <a:cs typeface="Arial Black"/>
              </a:rPr>
              <a:t>la</a:t>
            </a:r>
            <a:r>
              <a:rPr sz="3000" spc="-200" dirty="0">
                <a:latin typeface="Arial Black"/>
                <a:cs typeface="Arial Black"/>
              </a:rPr>
              <a:t> </a:t>
            </a:r>
            <a:r>
              <a:rPr sz="3000" spc="-130" dirty="0">
                <a:latin typeface="Arial Black"/>
                <a:cs typeface="Arial Black"/>
              </a:rPr>
              <a:t>cryptographie</a:t>
            </a:r>
            <a:r>
              <a:rPr sz="3000" spc="-204" dirty="0">
                <a:latin typeface="Arial Black"/>
                <a:cs typeface="Arial Black"/>
              </a:rPr>
              <a:t> </a:t>
            </a:r>
            <a:r>
              <a:rPr sz="3000" spc="-35" dirty="0">
                <a:latin typeface="Lucida Sans Unicode"/>
                <a:cs typeface="Lucida Sans Unicode"/>
              </a:rPr>
              <a:t>fournit</a:t>
            </a:r>
            <a:r>
              <a:rPr sz="3000" spc="-150" dirty="0">
                <a:latin typeface="Lucida Sans Unicode"/>
                <a:cs typeface="Lucida Sans Unicode"/>
              </a:rPr>
              <a:t> </a:t>
            </a:r>
            <a:r>
              <a:rPr sz="3000" dirty="0">
                <a:latin typeface="Lucida Sans Unicode"/>
                <a:cs typeface="Lucida Sans Unicode"/>
              </a:rPr>
              <a:t>un</a:t>
            </a:r>
            <a:r>
              <a:rPr sz="3000" spc="-155" dirty="0">
                <a:latin typeface="Lucida Sans Unicode"/>
                <a:cs typeface="Lucida Sans Unicode"/>
              </a:rPr>
              <a:t> </a:t>
            </a:r>
            <a:r>
              <a:rPr sz="3000" spc="-25" dirty="0">
                <a:latin typeface="Lucida Sans Unicode"/>
                <a:cs typeface="Lucida Sans Unicode"/>
              </a:rPr>
              <a:t>ensemble</a:t>
            </a:r>
            <a:r>
              <a:rPr sz="3000" spc="-150" dirty="0">
                <a:latin typeface="Lucida Sans Unicode"/>
                <a:cs typeface="Lucida Sans Unicode"/>
              </a:rPr>
              <a:t> </a:t>
            </a:r>
            <a:r>
              <a:rPr sz="3000" dirty="0">
                <a:latin typeface="Lucida Sans Unicode"/>
                <a:cs typeface="Lucida Sans Unicode"/>
              </a:rPr>
              <a:t>de</a:t>
            </a:r>
            <a:r>
              <a:rPr sz="3000" spc="-155" dirty="0">
                <a:latin typeface="Lucida Sans Unicode"/>
                <a:cs typeface="Lucida Sans Unicode"/>
              </a:rPr>
              <a:t> </a:t>
            </a:r>
            <a:r>
              <a:rPr sz="3000" spc="-10" dirty="0">
                <a:latin typeface="Lucida Sans Unicode"/>
                <a:cs typeface="Lucida Sans Unicode"/>
              </a:rPr>
              <a:t>méthodes</a:t>
            </a:r>
            <a:endParaRPr sz="3000">
              <a:latin typeface="Lucida Sans Unicode"/>
              <a:cs typeface="Lucida Sans Unicode"/>
            </a:endParaRPr>
          </a:p>
          <a:p>
            <a:pPr marL="12700" marR="5080">
              <a:lnSpc>
                <a:spcPct val="164600"/>
              </a:lnSpc>
            </a:pPr>
            <a:r>
              <a:rPr sz="3000" spc="-25" dirty="0">
                <a:latin typeface="Lucida Sans Unicode"/>
                <a:cs typeface="Lucida Sans Unicode"/>
              </a:rPr>
              <a:t>mathématiques</a:t>
            </a:r>
            <a:r>
              <a:rPr sz="3000" spc="-160" dirty="0">
                <a:latin typeface="Lucida Sans Unicode"/>
                <a:cs typeface="Lucida Sans Unicode"/>
              </a:rPr>
              <a:t> </a:t>
            </a:r>
            <a:r>
              <a:rPr sz="3000" spc="-20" dirty="0">
                <a:latin typeface="Lucida Sans Unicode"/>
                <a:cs typeface="Lucida Sans Unicode"/>
              </a:rPr>
              <a:t>permettant</a:t>
            </a:r>
            <a:r>
              <a:rPr sz="3000" spc="-155" dirty="0">
                <a:latin typeface="Lucida Sans Unicode"/>
                <a:cs typeface="Lucida Sans Unicode"/>
              </a:rPr>
              <a:t> </a:t>
            </a:r>
            <a:r>
              <a:rPr sz="3000" spc="-70" dirty="0">
                <a:latin typeface="Lucida Sans Unicode"/>
                <a:cs typeface="Lucida Sans Unicode"/>
              </a:rPr>
              <a:t>d’opérer</a:t>
            </a:r>
            <a:r>
              <a:rPr sz="3000" spc="-155" dirty="0">
                <a:latin typeface="Lucida Sans Unicode"/>
                <a:cs typeface="Lucida Sans Unicode"/>
              </a:rPr>
              <a:t> </a:t>
            </a:r>
            <a:r>
              <a:rPr sz="3000" spc="-10" dirty="0">
                <a:latin typeface="Lucida Sans Unicode"/>
                <a:cs typeface="Lucida Sans Unicode"/>
              </a:rPr>
              <a:t>sur</a:t>
            </a:r>
            <a:r>
              <a:rPr sz="3000" spc="-155" dirty="0">
                <a:latin typeface="Lucida Sans Unicode"/>
                <a:cs typeface="Lucida Sans Unicode"/>
              </a:rPr>
              <a:t> </a:t>
            </a:r>
            <a:r>
              <a:rPr sz="3000" dirty="0">
                <a:latin typeface="Lucida Sans Unicode"/>
                <a:cs typeface="Lucida Sans Unicode"/>
              </a:rPr>
              <a:t>un</a:t>
            </a:r>
            <a:r>
              <a:rPr sz="3000" spc="-155" dirty="0">
                <a:latin typeface="Lucida Sans Unicode"/>
                <a:cs typeface="Lucida Sans Unicode"/>
              </a:rPr>
              <a:t> </a:t>
            </a:r>
            <a:r>
              <a:rPr sz="3000" spc="-75" dirty="0">
                <a:latin typeface="Lucida Sans Unicode"/>
                <a:cs typeface="Lucida Sans Unicode"/>
              </a:rPr>
              <a:t>texte</a:t>
            </a:r>
            <a:r>
              <a:rPr sz="3000" spc="-160" dirty="0">
                <a:latin typeface="Lucida Sans Unicode"/>
                <a:cs typeface="Lucida Sans Unicode"/>
              </a:rPr>
              <a:t> </a:t>
            </a:r>
            <a:r>
              <a:rPr sz="3000" spc="-85" dirty="0">
                <a:latin typeface="Lucida Sans Unicode"/>
                <a:cs typeface="Lucida Sans Unicode"/>
              </a:rPr>
              <a:t>intelligible</a:t>
            </a:r>
            <a:r>
              <a:rPr sz="3000" spc="-155" dirty="0">
                <a:latin typeface="Lucida Sans Unicode"/>
                <a:cs typeface="Lucida Sans Unicode"/>
              </a:rPr>
              <a:t> </a:t>
            </a:r>
            <a:r>
              <a:rPr sz="3000" spc="-40" dirty="0">
                <a:latin typeface="Lucida Sans Unicode"/>
                <a:cs typeface="Lucida Sans Unicode"/>
              </a:rPr>
              <a:t>afin</a:t>
            </a:r>
            <a:r>
              <a:rPr sz="3000" spc="-155" dirty="0">
                <a:latin typeface="Lucida Sans Unicode"/>
                <a:cs typeface="Lucida Sans Unicode"/>
              </a:rPr>
              <a:t> </a:t>
            </a:r>
            <a:r>
              <a:rPr sz="3000" dirty="0">
                <a:latin typeface="Lucida Sans Unicode"/>
                <a:cs typeface="Lucida Sans Unicode"/>
              </a:rPr>
              <a:t>de</a:t>
            </a:r>
            <a:r>
              <a:rPr sz="3000" spc="-155" dirty="0">
                <a:latin typeface="Lucida Sans Unicode"/>
                <a:cs typeface="Lucida Sans Unicode"/>
              </a:rPr>
              <a:t> </a:t>
            </a:r>
            <a:r>
              <a:rPr sz="3000" spc="-45" dirty="0">
                <a:latin typeface="Lucida Sans Unicode"/>
                <a:cs typeface="Lucida Sans Unicode"/>
              </a:rPr>
              <a:t>garantir</a:t>
            </a:r>
            <a:r>
              <a:rPr sz="3000" spc="-155" dirty="0">
                <a:latin typeface="Lucida Sans Unicode"/>
                <a:cs typeface="Lucida Sans Unicode"/>
              </a:rPr>
              <a:t> </a:t>
            </a:r>
            <a:r>
              <a:rPr sz="3000" dirty="0">
                <a:latin typeface="Lucida Sans Unicode"/>
                <a:cs typeface="Lucida Sans Unicode"/>
              </a:rPr>
              <a:t>une</a:t>
            </a:r>
            <a:r>
              <a:rPr sz="3000" spc="-155" dirty="0">
                <a:latin typeface="Lucida Sans Unicode"/>
                <a:cs typeface="Lucida Sans Unicode"/>
              </a:rPr>
              <a:t> </a:t>
            </a:r>
            <a:r>
              <a:rPr sz="3000" spc="-25" dirty="0">
                <a:latin typeface="Lucida Sans Unicode"/>
                <a:cs typeface="Lucida Sans Unicode"/>
              </a:rPr>
              <a:t>ou </a:t>
            </a:r>
            <a:r>
              <a:rPr sz="3000" spc="-45" dirty="0">
                <a:latin typeface="Lucida Sans Unicode"/>
                <a:cs typeface="Lucida Sans Unicode"/>
              </a:rPr>
              <a:t>plusieurs</a:t>
            </a:r>
            <a:r>
              <a:rPr sz="3000" spc="-180" dirty="0">
                <a:latin typeface="Lucida Sans Unicode"/>
                <a:cs typeface="Lucida Sans Unicode"/>
              </a:rPr>
              <a:t> </a:t>
            </a:r>
            <a:r>
              <a:rPr sz="3000" spc="-35" dirty="0">
                <a:latin typeface="Lucida Sans Unicode"/>
                <a:cs typeface="Lucida Sans Unicode"/>
              </a:rPr>
              <a:t>propriétés</a:t>
            </a:r>
            <a:r>
              <a:rPr sz="3000" spc="-180" dirty="0">
                <a:latin typeface="Lucida Sans Unicode"/>
                <a:cs typeface="Lucida Sans Unicode"/>
              </a:rPr>
              <a:t> </a:t>
            </a:r>
            <a:r>
              <a:rPr sz="3000" dirty="0">
                <a:latin typeface="Lucida Sans Unicode"/>
                <a:cs typeface="Lucida Sans Unicode"/>
              </a:rPr>
              <a:t>de</a:t>
            </a:r>
            <a:r>
              <a:rPr sz="3000" spc="-180" dirty="0">
                <a:latin typeface="Lucida Sans Unicode"/>
                <a:cs typeface="Lucida Sans Unicode"/>
              </a:rPr>
              <a:t> </a:t>
            </a:r>
            <a:r>
              <a:rPr sz="3000" spc="-20" dirty="0">
                <a:latin typeface="Lucida Sans Unicode"/>
                <a:cs typeface="Lucida Sans Unicode"/>
              </a:rPr>
              <a:t>la</a:t>
            </a:r>
            <a:r>
              <a:rPr sz="3000" spc="-180" dirty="0">
                <a:latin typeface="Lucida Sans Unicode"/>
                <a:cs typeface="Lucida Sans Unicode"/>
              </a:rPr>
              <a:t> </a:t>
            </a:r>
            <a:r>
              <a:rPr sz="3000" spc="-40" dirty="0">
                <a:latin typeface="Lucida Sans Unicode"/>
                <a:cs typeface="Lucida Sans Unicode"/>
              </a:rPr>
              <a:t>sécurité</a:t>
            </a:r>
            <a:r>
              <a:rPr sz="3000" spc="-180" dirty="0">
                <a:latin typeface="Lucida Sans Unicode"/>
                <a:cs typeface="Lucida Sans Unicode"/>
              </a:rPr>
              <a:t> </a:t>
            </a:r>
            <a:r>
              <a:rPr sz="3000" dirty="0">
                <a:latin typeface="Lucida Sans Unicode"/>
                <a:cs typeface="Lucida Sans Unicode"/>
              </a:rPr>
              <a:t>de</a:t>
            </a:r>
            <a:r>
              <a:rPr sz="3000" spc="-180" dirty="0">
                <a:latin typeface="Lucida Sans Unicode"/>
                <a:cs typeface="Lucida Sans Unicode"/>
              </a:rPr>
              <a:t> </a:t>
            </a:r>
            <a:r>
              <a:rPr sz="3000" spc="-10" dirty="0">
                <a:latin typeface="Lucida Sans Unicode"/>
                <a:cs typeface="Lucida Sans Unicode"/>
              </a:rPr>
              <a:t>l’information.</a:t>
            </a:r>
            <a:endParaRPr sz="30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612" y="634450"/>
            <a:ext cx="904240" cy="1033780"/>
          </a:xfrm>
          <a:custGeom>
            <a:avLst/>
            <a:gdLst/>
            <a:ahLst/>
            <a:cxnLst/>
            <a:rect l="l" t="t" r="r" b="b"/>
            <a:pathLst>
              <a:path w="904239" h="1033780">
                <a:moveTo>
                  <a:pt x="0" y="1033158"/>
                </a:moveTo>
                <a:lnTo>
                  <a:pt x="0" y="0"/>
                </a:lnTo>
                <a:lnTo>
                  <a:pt x="904014" y="516579"/>
                </a:lnTo>
                <a:lnTo>
                  <a:pt x="0" y="1033158"/>
                </a:lnTo>
                <a:close/>
              </a:path>
            </a:pathLst>
          </a:custGeom>
          <a:solidFill>
            <a:srgbClr val="B40C1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3160" rIns="0" bIns="0" rtlCol="0">
            <a:spAutoFit/>
          </a:bodyPr>
          <a:lstStyle/>
          <a:p>
            <a:pPr marL="87630">
              <a:lnSpc>
                <a:spcPct val="100000"/>
              </a:lnSpc>
              <a:spcBef>
                <a:spcPts val="140"/>
              </a:spcBef>
            </a:pPr>
            <a:r>
              <a:rPr sz="4700" dirty="0"/>
              <a:t>Moyens</a:t>
            </a:r>
            <a:r>
              <a:rPr sz="4700" spc="-25" dirty="0"/>
              <a:t> </a:t>
            </a:r>
            <a:r>
              <a:rPr sz="4700" spc="-10" dirty="0"/>
              <a:t>cryptographiques</a:t>
            </a:r>
            <a:endParaRPr sz="47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9236" y="4966137"/>
            <a:ext cx="9081357" cy="532086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 rot="17280000">
            <a:off x="5486591" y="8007703"/>
            <a:ext cx="504823" cy="440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70"/>
              </a:lnSpc>
            </a:pPr>
            <a:r>
              <a:rPr sz="3450" b="1" spc="-50" dirty="0">
                <a:solidFill>
                  <a:srgbClr val="AB0D17"/>
                </a:solidFill>
                <a:latin typeface="Roboto"/>
                <a:cs typeface="Roboto"/>
              </a:rPr>
              <a:t>L</a:t>
            </a:r>
            <a:endParaRPr sz="345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 rot="17460000">
            <a:off x="5565577" y="7782837"/>
            <a:ext cx="501770" cy="440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65"/>
              </a:lnSpc>
            </a:pPr>
            <a:r>
              <a:rPr sz="3450" b="1" spc="20" dirty="0">
                <a:solidFill>
                  <a:srgbClr val="AB0D17"/>
                </a:solidFill>
                <a:latin typeface="Roboto"/>
                <a:cs typeface="Roboto"/>
              </a:rPr>
              <a:t>e</a:t>
            </a:r>
            <a:endParaRPr sz="345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 rot="17700000">
            <a:off x="5657469" y="7569311"/>
            <a:ext cx="498190" cy="440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65"/>
              </a:lnSpc>
            </a:pPr>
            <a:r>
              <a:rPr sz="3450" b="1" spc="-50" dirty="0">
                <a:solidFill>
                  <a:srgbClr val="AB0D17"/>
                </a:solidFill>
                <a:latin typeface="Roboto"/>
                <a:cs typeface="Roboto"/>
              </a:rPr>
              <a:t>s</a:t>
            </a:r>
            <a:endParaRPr sz="345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 rot="18000000">
            <a:off x="5811627" y="7260842"/>
            <a:ext cx="506684" cy="440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65"/>
              </a:lnSpc>
            </a:pPr>
            <a:r>
              <a:rPr sz="3450" b="1" spc="-50" dirty="0">
                <a:solidFill>
                  <a:srgbClr val="AB0D17"/>
                </a:solidFill>
                <a:latin typeface="Roboto"/>
                <a:cs typeface="Roboto"/>
              </a:rPr>
              <a:t>p</a:t>
            </a:r>
            <a:endParaRPr sz="345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 rot="18240000">
            <a:off x="5935559" y="7087295"/>
            <a:ext cx="472771" cy="440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70"/>
              </a:lnSpc>
            </a:pPr>
            <a:r>
              <a:rPr sz="3450" b="1" spc="-50" dirty="0">
                <a:solidFill>
                  <a:srgbClr val="AB0D17"/>
                </a:solidFill>
                <a:latin typeface="Roboto"/>
                <a:cs typeface="Roboto"/>
              </a:rPr>
              <a:t>r</a:t>
            </a:r>
            <a:endParaRPr sz="3450"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 rot="18360000">
            <a:off x="6020397" y="6972526"/>
            <a:ext cx="458367" cy="440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65"/>
              </a:lnSpc>
            </a:pPr>
            <a:r>
              <a:rPr sz="3450" b="1" spc="-50" dirty="0">
                <a:solidFill>
                  <a:srgbClr val="AB0D17"/>
                </a:solidFill>
                <a:latin typeface="Roboto"/>
                <a:cs typeface="Roboto"/>
              </a:rPr>
              <a:t>i</a:t>
            </a:r>
            <a:endParaRPr sz="3450">
              <a:latin typeface="Roboto"/>
              <a:cs typeface="Roboto"/>
            </a:endParaRPr>
          </a:p>
        </p:txBody>
      </p:sp>
      <p:sp>
        <p:nvSpPr>
          <p:cNvPr id="11" name="object 11"/>
          <p:cNvSpPr txBox="1"/>
          <p:nvPr/>
        </p:nvSpPr>
        <p:spPr>
          <a:xfrm rot="18540000">
            <a:off x="6103280" y="6827138"/>
            <a:ext cx="510152" cy="440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70"/>
              </a:lnSpc>
            </a:pPr>
            <a:r>
              <a:rPr sz="3450" b="1" spc="-50" dirty="0">
                <a:solidFill>
                  <a:srgbClr val="AB0D17"/>
                </a:solidFill>
                <a:latin typeface="Roboto"/>
                <a:cs typeface="Roboto"/>
              </a:rPr>
              <a:t>n</a:t>
            </a:r>
            <a:endParaRPr sz="3450">
              <a:latin typeface="Roboto"/>
              <a:cs typeface="Roboto"/>
            </a:endParaRPr>
          </a:p>
        </p:txBody>
      </p:sp>
      <p:sp>
        <p:nvSpPr>
          <p:cNvPr id="12" name="object 12"/>
          <p:cNvSpPr txBox="1"/>
          <p:nvPr/>
        </p:nvSpPr>
        <p:spPr>
          <a:xfrm rot="18720000">
            <a:off x="6260947" y="6644383"/>
            <a:ext cx="499076" cy="440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65"/>
              </a:lnSpc>
            </a:pPr>
            <a:r>
              <a:rPr sz="3450" b="1" spc="-50" dirty="0">
                <a:solidFill>
                  <a:srgbClr val="AB0D17"/>
                </a:solidFill>
                <a:latin typeface="Roboto"/>
                <a:cs typeface="Roboto"/>
              </a:rPr>
              <a:t>c</a:t>
            </a:r>
            <a:endParaRPr sz="3450">
              <a:latin typeface="Roboto"/>
              <a:cs typeface="Roboto"/>
            </a:endParaRPr>
          </a:p>
        </p:txBody>
      </p:sp>
      <p:sp>
        <p:nvSpPr>
          <p:cNvPr id="13" name="object 13"/>
          <p:cNvSpPr txBox="1"/>
          <p:nvPr/>
        </p:nvSpPr>
        <p:spPr>
          <a:xfrm rot="18900000">
            <a:off x="6399525" y="6517912"/>
            <a:ext cx="458025" cy="440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65"/>
              </a:lnSpc>
            </a:pPr>
            <a:r>
              <a:rPr sz="3450" b="1" spc="-50" dirty="0">
                <a:solidFill>
                  <a:srgbClr val="AB0D17"/>
                </a:solidFill>
                <a:latin typeface="Roboto"/>
                <a:cs typeface="Roboto"/>
              </a:rPr>
              <a:t>i</a:t>
            </a:r>
            <a:endParaRPr sz="3450">
              <a:latin typeface="Roboto"/>
              <a:cs typeface="Roboto"/>
            </a:endParaRPr>
          </a:p>
        </p:txBody>
      </p:sp>
      <p:sp>
        <p:nvSpPr>
          <p:cNvPr id="14" name="object 14"/>
          <p:cNvSpPr txBox="1"/>
          <p:nvPr/>
        </p:nvSpPr>
        <p:spPr>
          <a:xfrm rot="19080000">
            <a:off x="6504439" y="6391030"/>
            <a:ext cx="509833" cy="440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70"/>
              </a:lnSpc>
            </a:pPr>
            <a:r>
              <a:rPr sz="3450" b="1" spc="-50" dirty="0">
                <a:solidFill>
                  <a:srgbClr val="AB0D17"/>
                </a:solidFill>
                <a:latin typeface="Roboto"/>
                <a:cs typeface="Roboto"/>
              </a:rPr>
              <a:t>p</a:t>
            </a:r>
            <a:endParaRPr sz="3450">
              <a:latin typeface="Roboto"/>
              <a:cs typeface="Roboto"/>
            </a:endParaRPr>
          </a:p>
        </p:txBody>
      </p:sp>
      <p:sp>
        <p:nvSpPr>
          <p:cNvPr id="15" name="object 15"/>
          <p:cNvSpPr txBox="1"/>
          <p:nvPr/>
        </p:nvSpPr>
        <p:spPr>
          <a:xfrm rot="19260000">
            <a:off x="6691705" y="6231625"/>
            <a:ext cx="501770" cy="440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65"/>
              </a:lnSpc>
            </a:pPr>
            <a:r>
              <a:rPr sz="3450" b="1" spc="20" dirty="0">
                <a:solidFill>
                  <a:srgbClr val="AB0D17"/>
                </a:solidFill>
                <a:latin typeface="Roboto"/>
                <a:cs typeface="Roboto"/>
              </a:rPr>
              <a:t>e</a:t>
            </a:r>
            <a:endParaRPr sz="3450">
              <a:latin typeface="Roboto"/>
              <a:cs typeface="Roboto"/>
            </a:endParaRPr>
          </a:p>
        </p:txBody>
      </p:sp>
      <p:sp>
        <p:nvSpPr>
          <p:cNvPr id="16" name="object 16"/>
          <p:cNvSpPr txBox="1"/>
          <p:nvPr/>
        </p:nvSpPr>
        <p:spPr>
          <a:xfrm rot="19500000">
            <a:off x="6878515" y="6091636"/>
            <a:ext cx="498190" cy="440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65"/>
              </a:lnSpc>
            </a:pPr>
            <a:r>
              <a:rPr sz="3450" b="1" spc="-50" dirty="0">
                <a:solidFill>
                  <a:srgbClr val="AB0D17"/>
                </a:solidFill>
                <a:latin typeface="Roboto"/>
                <a:cs typeface="Roboto"/>
              </a:rPr>
              <a:t>s</a:t>
            </a:r>
            <a:endParaRPr sz="3450">
              <a:latin typeface="Roboto"/>
              <a:cs typeface="Roboto"/>
            </a:endParaRPr>
          </a:p>
        </p:txBody>
      </p:sp>
      <p:sp>
        <p:nvSpPr>
          <p:cNvPr id="17" name="object 17"/>
          <p:cNvSpPr txBox="1"/>
          <p:nvPr/>
        </p:nvSpPr>
        <p:spPr>
          <a:xfrm rot="19800000">
            <a:off x="7144321" y="5926841"/>
            <a:ext cx="471196" cy="440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70"/>
              </a:lnSpc>
            </a:pPr>
            <a:r>
              <a:rPr sz="3450" b="1" spc="-50" dirty="0">
                <a:solidFill>
                  <a:srgbClr val="AB0D17"/>
                </a:solidFill>
                <a:latin typeface="Roboto"/>
                <a:cs typeface="Roboto"/>
              </a:rPr>
              <a:t>f</a:t>
            </a:r>
            <a:endParaRPr sz="3450">
              <a:latin typeface="Roboto"/>
              <a:cs typeface="Roboto"/>
            </a:endParaRPr>
          </a:p>
        </p:txBody>
      </p:sp>
      <p:sp>
        <p:nvSpPr>
          <p:cNvPr id="18" name="object 18"/>
          <p:cNvSpPr txBox="1"/>
          <p:nvPr/>
        </p:nvSpPr>
        <p:spPr>
          <a:xfrm rot="19980000">
            <a:off x="7302607" y="5827815"/>
            <a:ext cx="509833" cy="440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70"/>
              </a:lnSpc>
            </a:pPr>
            <a:r>
              <a:rPr sz="3450" b="1" spc="-50" dirty="0">
                <a:solidFill>
                  <a:srgbClr val="AB0D17"/>
                </a:solidFill>
                <a:latin typeface="Roboto"/>
                <a:cs typeface="Roboto"/>
              </a:rPr>
              <a:t>o</a:t>
            </a:r>
            <a:endParaRPr sz="3450">
              <a:latin typeface="Roboto"/>
              <a:cs typeface="Roboto"/>
            </a:endParaRPr>
          </a:p>
        </p:txBody>
      </p:sp>
      <p:sp>
        <p:nvSpPr>
          <p:cNvPr id="19" name="object 19"/>
          <p:cNvSpPr txBox="1"/>
          <p:nvPr/>
        </p:nvSpPr>
        <p:spPr>
          <a:xfrm rot="20220000">
            <a:off x="7525941" y="5720614"/>
            <a:ext cx="509516" cy="440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70"/>
              </a:lnSpc>
            </a:pPr>
            <a:r>
              <a:rPr sz="3450" b="1" spc="-50" dirty="0">
                <a:solidFill>
                  <a:srgbClr val="AB0D17"/>
                </a:solidFill>
                <a:latin typeface="Roboto"/>
                <a:cs typeface="Roboto"/>
              </a:rPr>
              <a:t>n</a:t>
            </a:r>
            <a:endParaRPr sz="3450">
              <a:latin typeface="Roboto"/>
              <a:cs typeface="Roboto"/>
            </a:endParaRPr>
          </a:p>
        </p:txBody>
      </p:sp>
      <p:sp>
        <p:nvSpPr>
          <p:cNvPr id="20" name="object 20"/>
          <p:cNvSpPr txBox="1"/>
          <p:nvPr/>
        </p:nvSpPr>
        <p:spPr>
          <a:xfrm rot="20460000">
            <a:off x="7754346" y="5628698"/>
            <a:ext cx="510790" cy="440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70"/>
              </a:lnSpc>
            </a:pPr>
            <a:r>
              <a:rPr sz="3450" b="1" spc="-50" dirty="0">
                <a:solidFill>
                  <a:srgbClr val="AB0D17"/>
                </a:solidFill>
                <a:latin typeface="Roboto"/>
                <a:cs typeface="Roboto"/>
              </a:rPr>
              <a:t>d</a:t>
            </a:r>
            <a:endParaRPr sz="3450">
              <a:latin typeface="Roboto"/>
              <a:cs typeface="Roboto"/>
            </a:endParaRPr>
          </a:p>
        </p:txBody>
      </p:sp>
      <p:sp>
        <p:nvSpPr>
          <p:cNvPr id="21" name="object 21"/>
          <p:cNvSpPr txBox="1"/>
          <p:nvPr/>
        </p:nvSpPr>
        <p:spPr>
          <a:xfrm rot="20640000">
            <a:off x="7988917" y="5553058"/>
            <a:ext cx="501770" cy="440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65"/>
              </a:lnSpc>
            </a:pPr>
            <a:r>
              <a:rPr sz="3450" b="1" spc="-50" dirty="0">
                <a:solidFill>
                  <a:srgbClr val="AB0D17"/>
                </a:solidFill>
                <a:latin typeface="Roboto"/>
                <a:cs typeface="Roboto"/>
              </a:rPr>
              <a:t>a</a:t>
            </a:r>
            <a:endParaRPr sz="3450">
              <a:latin typeface="Roboto"/>
              <a:cs typeface="Roboto"/>
            </a:endParaRPr>
          </a:p>
        </p:txBody>
      </p:sp>
      <p:sp>
        <p:nvSpPr>
          <p:cNvPr id="22" name="object 22"/>
          <p:cNvSpPr txBox="1"/>
          <p:nvPr/>
        </p:nvSpPr>
        <p:spPr>
          <a:xfrm rot="20940000">
            <a:off x="8246014" y="5479514"/>
            <a:ext cx="586366" cy="440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70"/>
              </a:lnSpc>
            </a:pPr>
            <a:r>
              <a:rPr sz="3450" b="1" spc="-50" dirty="0">
                <a:solidFill>
                  <a:srgbClr val="AB0D17"/>
                </a:solidFill>
                <a:latin typeface="Roboto"/>
                <a:cs typeface="Roboto"/>
              </a:rPr>
              <a:t>m</a:t>
            </a:r>
            <a:endParaRPr sz="3450">
              <a:latin typeface="Roboto"/>
              <a:cs typeface="Roboto"/>
            </a:endParaRPr>
          </a:p>
        </p:txBody>
      </p:sp>
      <p:sp>
        <p:nvSpPr>
          <p:cNvPr id="23" name="object 23"/>
          <p:cNvSpPr txBox="1"/>
          <p:nvPr/>
        </p:nvSpPr>
        <p:spPr>
          <a:xfrm rot="21240000">
            <a:off x="8592207" y="5430757"/>
            <a:ext cx="504515" cy="440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70"/>
              </a:lnSpc>
            </a:pPr>
            <a:r>
              <a:rPr sz="3450" b="1" spc="20" dirty="0">
                <a:solidFill>
                  <a:srgbClr val="AB0D17"/>
                </a:solidFill>
                <a:latin typeface="Roboto"/>
                <a:cs typeface="Roboto"/>
              </a:rPr>
              <a:t>e</a:t>
            </a:r>
            <a:endParaRPr sz="3450">
              <a:latin typeface="Roboto"/>
              <a:cs typeface="Roboto"/>
            </a:endParaRPr>
          </a:p>
        </p:txBody>
      </p:sp>
      <p:sp>
        <p:nvSpPr>
          <p:cNvPr id="24" name="object 24"/>
          <p:cNvSpPr txBox="1"/>
          <p:nvPr/>
        </p:nvSpPr>
        <p:spPr>
          <a:xfrm rot="21480000">
            <a:off x="8830658" y="5410818"/>
            <a:ext cx="509833" cy="440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70"/>
              </a:lnSpc>
            </a:pPr>
            <a:r>
              <a:rPr sz="3450" b="1" spc="-50" dirty="0">
                <a:solidFill>
                  <a:srgbClr val="AB0D17"/>
                </a:solidFill>
                <a:latin typeface="Roboto"/>
                <a:cs typeface="Roboto"/>
              </a:rPr>
              <a:t>n</a:t>
            </a:r>
            <a:endParaRPr sz="3450">
              <a:latin typeface="Roboto"/>
              <a:cs typeface="Robot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195524" y="5303133"/>
            <a:ext cx="175895" cy="5549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450" b="1" spc="-50" dirty="0">
                <a:solidFill>
                  <a:srgbClr val="AB0D17"/>
                </a:solidFill>
                <a:latin typeface="Roboto"/>
                <a:cs typeface="Roboto"/>
              </a:rPr>
              <a:t>t</a:t>
            </a:r>
            <a:endParaRPr sz="3450">
              <a:latin typeface="Roboto"/>
              <a:cs typeface="Roboto"/>
            </a:endParaRPr>
          </a:p>
        </p:txBody>
      </p:sp>
      <p:sp>
        <p:nvSpPr>
          <p:cNvPr id="26" name="object 26"/>
          <p:cNvSpPr txBox="1"/>
          <p:nvPr/>
        </p:nvSpPr>
        <p:spPr>
          <a:xfrm rot="180000">
            <a:off x="9224993" y="5411258"/>
            <a:ext cx="501167" cy="439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60"/>
              </a:lnSpc>
            </a:pPr>
            <a:r>
              <a:rPr sz="3450" b="1" spc="-50" dirty="0">
                <a:solidFill>
                  <a:srgbClr val="AB0D17"/>
                </a:solidFill>
                <a:latin typeface="Roboto"/>
                <a:cs typeface="Roboto"/>
              </a:rPr>
              <a:t>a</a:t>
            </a:r>
            <a:endParaRPr sz="3450">
              <a:latin typeface="Roboto"/>
              <a:cs typeface="Roboto"/>
            </a:endParaRPr>
          </a:p>
        </p:txBody>
      </p:sp>
      <p:sp>
        <p:nvSpPr>
          <p:cNvPr id="27" name="object 27"/>
          <p:cNvSpPr txBox="1"/>
          <p:nvPr/>
        </p:nvSpPr>
        <p:spPr>
          <a:xfrm rot="360000">
            <a:off x="9461238" y="5433618"/>
            <a:ext cx="509516" cy="43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40"/>
              </a:lnSpc>
            </a:pPr>
            <a:r>
              <a:rPr sz="3450" b="1" spc="-50" dirty="0">
                <a:solidFill>
                  <a:srgbClr val="AB0D17"/>
                </a:solidFill>
                <a:latin typeface="Roboto"/>
                <a:cs typeface="Roboto"/>
              </a:rPr>
              <a:t>u</a:t>
            </a:r>
            <a:endParaRPr sz="3450">
              <a:latin typeface="Roboto"/>
              <a:cs typeface="Roboto"/>
            </a:endParaRPr>
          </a:p>
        </p:txBody>
      </p:sp>
      <p:sp>
        <p:nvSpPr>
          <p:cNvPr id="28" name="object 28"/>
          <p:cNvSpPr txBox="1"/>
          <p:nvPr/>
        </p:nvSpPr>
        <p:spPr>
          <a:xfrm rot="600000">
            <a:off x="9699713" y="5468267"/>
            <a:ext cx="497309" cy="43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54"/>
              </a:lnSpc>
            </a:pPr>
            <a:r>
              <a:rPr sz="3450" b="1" spc="-50" dirty="0">
                <a:solidFill>
                  <a:srgbClr val="AB0D17"/>
                </a:solidFill>
                <a:latin typeface="Roboto"/>
                <a:cs typeface="Roboto"/>
              </a:rPr>
              <a:t>x</a:t>
            </a:r>
            <a:endParaRPr sz="3450">
              <a:latin typeface="Roboto"/>
              <a:cs typeface="Roboto"/>
            </a:endParaRPr>
          </a:p>
        </p:txBody>
      </p:sp>
      <p:sp>
        <p:nvSpPr>
          <p:cNvPr id="29" name="object 29"/>
          <p:cNvSpPr txBox="1"/>
          <p:nvPr/>
        </p:nvSpPr>
        <p:spPr>
          <a:xfrm rot="900000">
            <a:off x="10029315" y="5547628"/>
            <a:ext cx="510152" cy="43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45"/>
              </a:lnSpc>
            </a:pPr>
            <a:r>
              <a:rPr sz="3450" b="1" spc="-50" dirty="0">
                <a:solidFill>
                  <a:srgbClr val="AB0D17"/>
                </a:solidFill>
                <a:latin typeface="Roboto"/>
                <a:cs typeface="Roboto"/>
              </a:rPr>
              <a:t>d</a:t>
            </a:r>
            <a:endParaRPr sz="3450">
              <a:latin typeface="Roboto"/>
              <a:cs typeface="Roboto"/>
            </a:endParaRPr>
          </a:p>
        </p:txBody>
      </p:sp>
      <p:sp>
        <p:nvSpPr>
          <p:cNvPr id="30" name="object 30"/>
          <p:cNvSpPr txBox="1"/>
          <p:nvPr/>
        </p:nvSpPr>
        <p:spPr>
          <a:xfrm rot="1140000">
            <a:off x="10263721" y="5621188"/>
            <a:ext cx="504207" cy="43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50"/>
              </a:lnSpc>
            </a:pPr>
            <a:r>
              <a:rPr sz="3450" b="1" spc="20" dirty="0">
                <a:solidFill>
                  <a:srgbClr val="AB0D17"/>
                </a:solidFill>
                <a:latin typeface="Roboto"/>
                <a:cs typeface="Roboto"/>
              </a:rPr>
              <a:t>e</a:t>
            </a:r>
            <a:endParaRPr sz="3450">
              <a:latin typeface="Roboto"/>
              <a:cs typeface="Roboto"/>
            </a:endParaRPr>
          </a:p>
        </p:txBody>
      </p:sp>
      <p:sp>
        <p:nvSpPr>
          <p:cNvPr id="31" name="object 31"/>
          <p:cNvSpPr txBox="1"/>
          <p:nvPr/>
        </p:nvSpPr>
        <p:spPr>
          <a:xfrm rot="1440000">
            <a:off x="10553832" y="5726127"/>
            <a:ext cx="456692" cy="440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65"/>
              </a:lnSpc>
            </a:pPr>
            <a:r>
              <a:rPr sz="3450" b="1" spc="-50" dirty="0">
                <a:solidFill>
                  <a:srgbClr val="AB0D17"/>
                </a:solidFill>
                <a:latin typeface="Roboto"/>
                <a:cs typeface="Roboto"/>
              </a:rPr>
              <a:t>l</a:t>
            </a:r>
            <a:endParaRPr sz="3450">
              <a:latin typeface="Roboto"/>
              <a:cs typeface="Roboto"/>
            </a:endParaRPr>
          </a:p>
        </p:txBody>
      </p:sp>
      <p:sp>
        <p:nvSpPr>
          <p:cNvPr id="32" name="object 32"/>
          <p:cNvSpPr txBox="1"/>
          <p:nvPr/>
        </p:nvSpPr>
        <p:spPr>
          <a:xfrm rot="1560000">
            <a:off x="10689228" y="5803445"/>
            <a:ext cx="503901" cy="43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45"/>
              </a:lnSpc>
            </a:pPr>
            <a:r>
              <a:rPr sz="3450" b="1" spc="-50" dirty="0">
                <a:solidFill>
                  <a:srgbClr val="AB0D17"/>
                </a:solidFill>
                <a:latin typeface="Roboto"/>
                <a:cs typeface="Roboto"/>
              </a:rPr>
              <a:t>a</a:t>
            </a:r>
            <a:endParaRPr sz="3450">
              <a:latin typeface="Roboto"/>
              <a:cs typeface="Roboto"/>
            </a:endParaRPr>
          </a:p>
        </p:txBody>
      </p:sp>
      <p:sp>
        <p:nvSpPr>
          <p:cNvPr id="33" name="object 33"/>
          <p:cNvSpPr txBox="1"/>
          <p:nvPr/>
        </p:nvSpPr>
        <p:spPr>
          <a:xfrm rot="1920000">
            <a:off x="10990497" y="5969699"/>
            <a:ext cx="497895" cy="440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65"/>
              </a:lnSpc>
            </a:pPr>
            <a:r>
              <a:rPr sz="3450" b="1" spc="-50" dirty="0">
                <a:solidFill>
                  <a:srgbClr val="AB0D17"/>
                </a:solidFill>
                <a:latin typeface="Roboto"/>
                <a:cs typeface="Roboto"/>
              </a:rPr>
              <a:t>c</a:t>
            </a:r>
            <a:endParaRPr sz="3450">
              <a:latin typeface="Roboto"/>
              <a:cs typeface="Roboto"/>
            </a:endParaRPr>
          </a:p>
        </p:txBody>
      </p:sp>
      <p:sp>
        <p:nvSpPr>
          <p:cNvPr id="34" name="object 34"/>
          <p:cNvSpPr txBox="1"/>
          <p:nvPr/>
        </p:nvSpPr>
        <p:spPr>
          <a:xfrm rot="2100000">
            <a:off x="11167082" y="6077471"/>
            <a:ext cx="470093" cy="440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65"/>
              </a:lnSpc>
            </a:pPr>
            <a:r>
              <a:rPr sz="3450" b="1" spc="-50" dirty="0">
                <a:solidFill>
                  <a:srgbClr val="AB0D17"/>
                </a:solidFill>
                <a:latin typeface="Roboto"/>
                <a:cs typeface="Roboto"/>
              </a:rPr>
              <a:t>r</a:t>
            </a:r>
            <a:endParaRPr sz="3450">
              <a:latin typeface="Roboto"/>
              <a:cs typeface="Roboto"/>
            </a:endParaRPr>
          </a:p>
        </p:txBody>
      </p:sp>
      <p:sp>
        <p:nvSpPr>
          <p:cNvPr id="35" name="object 35"/>
          <p:cNvSpPr txBox="1"/>
          <p:nvPr/>
        </p:nvSpPr>
        <p:spPr>
          <a:xfrm rot="2280000">
            <a:off x="11308238" y="6190956"/>
            <a:ext cx="493843" cy="440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65"/>
              </a:lnSpc>
            </a:pPr>
            <a:r>
              <a:rPr sz="3450" b="1" spc="-75" dirty="0">
                <a:solidFill>
                  <a:srgbClr val="AB0D17"/>
                </a:solidFill>
                <a:latin typeface="Roboto"/>
                <a:cs typeface="Roboto"/>
              </a:rPr>
              <a:t>y</a:t>
            </a:r>
            <a:endParaRPr sz="3450">
              <a:latin typeface="Roboto"/>
              <a:cs typeface="Roboto"/>
            </a:endParaRPr>
          </a:p>
        </p:txBody>
      </p:sp>
      <p:sp>
        <p:nvSpPr>
          <p:cNvPr id="36" name="object 36"/>
          <p:cNvSpPr txBox="1"/>
          <p:nvPr/>
        </p:nvSpPr>
        <p:spPr>
          <a:xfrm rot="2460000">
            <a:off x="11480132" y="6342598"/>
            <a:ext cx="509199" cy="43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45"/>
              </a:lnSpc>
            </a:pPr>
            <a:r>
              <a:rPr sz="3450" b="1" spc="-50" dirty="0">
                <a:solidFill>
                  <a:srgbClr val="AB0D17"/>
                </a:solidFill>
                <a:latin typeface="Roboto"/>
                <a:cs typeface="Roboto"/>
              </a:rPr>
              <a:t>p</a:t>
            </a:r>
            <a:endParaRPr sz="3450">
              <a:latin typeface="Roboto"/>
              <a:cs typeface="Roboto"/>
            </a:endParaRPr>
          </a:p>
        </p:txBody>
      </p:sp>
      <p:sp>
        <p:nvSpPr>
          <p:cNvPr id="37" name="object 37"/>
          <p:cNvSpPr txBox="1"/>
          <p:nvPr/>
        </p:nvSpPr>
        <p:spPr>
          <a:xfrm rot="2640000">
            <a:off x="11645569" y="6477713"/>
            <a:ext cx="467943" cy="43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54"/>
              </a:lnSpc>
            </a:pPr>
            <a:r>
              <a:rPr sz="3450" b="1" spc="-50" dirty="0">
                <a:solidFill>
                  <a:srgbClr val="AB0D17"/>
                </a:solidFill>
                <a:latin typeface="Roboto"/>
                <a:cs typeface="Roboto"/>
              </a:rPr>
              <a:t>t</a:t>
            </a:r>
            <a:endParaRPr sz="3450">
              <a:latin typeface="Roboto"/>
              <a:cs typeface="Roboto"/>
            </a:endParaRPr>
          </a:p>
        </p:txBody>
      </p:sp>
      <p:sp>
        <p:nvSpPr>
          <p:cNvPr id="38" name="object 38"/>
          <p:cNvSpPr txBox="1"/>
          <p:nvPr/>
        </p:nvSpPr>
        <p:spPr>
          <a:xfrm rot="2820000">
            <a:off x="11761520" y="6621785"/>
            <a:ext cx="510470" cy="43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45"/>
              </a:lnSpc>
            </a:pPr>
            <a:r>
              <a:rPr sz="3450" b="1" spc="-50" dirty="0">
                <a:solidFill>
                  <a:srgbClr val="AB0D17"/>
                </a:solidFill>
                <a:latin typeface="Roboto"/>
                <a:cs typeface="Roboto"/>
              </a:rPr>
              <a:t>o</a:t>
            </a:r>
            <a:endParaRPr sz="3450">
              <a:latin typeface="Roboto"/>
              <a:cs typeface="Roboto"/>
            </a:endParaRPr>
          </a:p>
        </p:txBody>
      </p:sp>
      <p:sp>
        <p:nvSpPr>
          <p:cNvPr id="39" name="object 39"/>
          <p:cNvSpPr txBox="1"/>
          <p:nvPr/>
        </p:nvSpPr>
        <p:spPr>
          <a:xfrm rot="3060000">
            <a:off x="11922847" y="6812372"/>
            <a:ext cx="511110" cy="43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45"/>
              </a:lnSpc>
            </a:pPr>
            <a:r>
              <a:rPr sz="3450" b="1" spc="-50" dirty="0">
                <a:solidFill>
                  <a:srgbClr val="AB0D17"/>
                </a:solidFill>
                <a:latin typeface="Roboto"/>
                <a:cs typeface="Roboto"/>
              </a:rPr>
              <a:t>g</a:t>
            </a:r>
            <a:endParaRPr sz="3450">
              <a:latin typeface="Roboto"/>
              <a:cs typeface="Roboto"/>
            </a:endParaRPr>
          </a:p>
        </p:txBody>
      </p:sp>
      <p:sp>
        <p:nvSpPr>
          <p:cNvPr id="40" name="object 40"/>
          <p:cNvSpPr txBox="1"/>
          <p:nvPr/>
        </p:nvSpPr>
        <p:spPr>
          <a:xfrm rot="3240000">
            <a:off x="12065439" y="6977327"/>
            <a:ext cx="472544" cy="43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50"/>
              </a:lnSpc>
            </a:pPr>
            <a:r>
              <a:rPr sz="3450" b="1" spc="-50" dirty="0">
                <a:solidFill>
                  <a:srgbClr val="AB0D17"/>
                </a:solidFill>
                <a:latin typeface="Roboto"/>
                <a:cs typeface="Roboto"/>
              </a:rPr>
              <a:t>r</a:t>
            </a:r>
            <a:endParaRPr sz="3450">
              <a:latin typeface="Roboto"/>
              <a:cs typeface="Roboto"/>
            </a:endParaRPr>
          </a:p>
        </p:txBody>
      </p:sp>
      <p:sp>
        <p:nvSpPr>
          <p:cNvPr id="41" name="object 41"/>
          <p:cNvSpPr txBox="1"/>
          <p:nvPr/>
        </p:nvSpPr>
        <p:spPr>
          <a:xfrm rot="3420000">
            <a:off x="12158784" y="7142550"/>
            <a:ext cx="504823" cy="43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40"/>
              </a:lnSpc>
            </a:pPr>
            <a:r>
              <a:rPr sz="3450" b="1" spc="-50" dirty="0">
                <a:solidFill>
                  <a:srgbClr val="AB0D17"/>
                </a:solidFill>
                <a:latin typeface="Roboto"/>
                <a:cs typeface="Roboto"/>
              </a:rPr>
              <a:t>a</a:t>
            </a:r>
            <a:endParaRPr sz="3450">
              <a:latin typeface="Roboto"/>
              <a:cs typeface="Roboto"/>
            </a:endParaRPr>
          </a:p>
        </p:txBody>
      </p:sp>
      <p:sp>
        <p:nvSpPr>
          <p:cNvPr id="42" name="object 42"/>
          <p:cNvSpPr txBox="1"/>
          <p:nvPr/>
        </p:nvSpPr>
        <p:spPr>
          <a:xfrm rot="3660000">
            <a:off x="12278292" y="7351237"/>
            <a:ext cx="509516" cy="43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45"/>
              </a:lnSpc>
            </a:pPr>
            <a:r>
              <a:rPr sz="3450" b="1" spc="-50" dirty="0">
                <a:solidFill>
                  <a:srgbClr val="AB0D17"/>
                </a:solidFill>
                <a:latin typeface="Roboto"/>
                <a:cs typeface="Roboto"/>
              </a:rPr>
              <a:t>p</a:t>
            </a:r>
            <a:endParaRPr sz="3450">
              <a:latin typeface="Roboto"/>
              <a:cs typeface="Roboto"/>
            </a:endParaRPr>
          </a:p>
        </p:txBody>
      </p:sp>
      <p:sp>
        <p:nvSpPr>
          <p:cNvPr id="43" name="object 43"/>
          <p:cNvSpPr txBox="1"/>
          <p:nvPr/>
        </p:nvSpPr>
        <p:spPr>
          <a:xfrm rot="3900000">
            <a:off x="12389186" y="7572156"/>
            <a:ext cx="507936" cy="43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50"/>
              </a:lnSpc>
            </a:pPr>
            <a:r>
              <a:rPr sz="3450" b="1" spc="-50" dirty="0">
                <a:solidFill>
                  <a:srgbClr val="AB0D17"/>
                </a:solidFill>
                <a:latin typeface="Roboto"/>
                <a:cs typeface="Roboto"/>
              </a:rPr>
              <a:t>h</a:t>
            </a:r>
            <a:endParaRPr sz="3450">
              <a:latin typeface="Roboto"/>
              <a:cs typeface="Roboto"/>
            </a:endParaRPr>
          </a:p>
        </p:txBody>
      </p:sp>
      <p:sp>
        <p:nvSpPr>
          <p:cNvPr id="44" name="object 44"/>
          <p:cNvSpPr txBox="1"/>
          <p:nvPr/>
        </p:nvSpPr>
        <p:spPr>
          <a:xfrm rot="4080000">
            <a:off x="12486160" y="7737873"/>
            <a:ext cx="457186" cy="439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60"/>
              </a:lnSpc>
            </a:pPr>
            <a:r>
              <a:rPr sz="3450" b="1" spc="-50" dirty="0">
                <a:solidFill>
                  <a:srgbClr val="AB0D17"/>
                </a:solidFill>
                <a:latin typeface="Roboto"/>
                <a:cs typeface="Roboto"/>
              </a:rPr>
              <a:t>i</a:t>
            </a:r>
            <a:endParaRPr sz="3450">
              <a:latin typeface="Roboto"/>
              <a:cs typeface="Roboto"/>
            </a:endParaRPr>
          </a:p>
        </p:txBody>
      </p:sp>
      <p:sp>
        <p:nvSpPr>
          <p:cNvPr id="45" name="object 45"/>
          <p:cNvSpPr txBox="1"/>
          <p:nvPr/>
        </p:nvSpPr>
        <p:spPr>
          <a:xfrm rot="4260000">
            <a:off x="12525616" y="7903759"/>
            <a:ext cx="501770" cy="440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65"/>
              </a:lnSpc>
            </a:pPr>
            <a:r>
              <a:rPr sz="3450" b="1" spc="20" dirty="0">
                <a:solidFill>
                  <a:srgbClr val="AB0D17"/>
                </a:solidFill>
                <a:latin typeface="Roboto"/>
                <a:cs typeface="Roboto"/>
              </a:rPr>
              <a:t>e</a:t>
            </a:r>
            <a:endParaRPr sz="3450">
              <a:latin typeface="Roboto"/>
              <a:cs typeface="Roboto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4971193" y="2228501"/>
            <a:ext cx="3540125" cy="1631314"/>
            <a:chOff x="4971193" y="2228501"/>
            <a:chExt cx="3540125" cy="1631314"/>
          </a:xfrm>
        </p:grpSpPr>
        <p:pic>
          <p:nvPicPr>
            <p:cNvPr id="47" name="object 4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32719" y="2228501"/>
              <a:ext cx="878402" cy="1501784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95311" y="2973866"/>
              <a:ext cx="3322343" cy="885486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71193" y="2228501"/>
              <a:ext cx="874971" cy="1501784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5063157" y="2228501"/>
              <a:ext cx="3351529" cy="1503045"/>
            </a:xfrm>
            <a:custGeom>
              <a:avLst/>
              <a:gdLst/>
              <a:ahLst/>
              <a:cxnLst/>
              <a:rect l="l" t="t" r="r" b="b"/>
              <a:pathLst>
                <a:path w="3351529" h="1503045">
                  <a:moveTo>
                    <a:pt x="3263317" y="1502529"/>
                  </a:moveTo>
                  <a:lnTo>
                    <a:pt x="88915" y="1502529"/>
                  </a:lnTo>
                  <a:lnTo>
                    <a:pt x="54352" y="1495526"/>
                  </a:lnTo>
                  <a:lnTo>
                    <a:pt x="26084" y="1476444"/>
                  </a:lnTo>
                  <a:lnTo>
                    <a:pt x="7003" y="1448176"/>
                  </a:lnTo>
                  <a:lnTo>
                    <a:pt x="0" y="1413614"/>
                  </a:lnTo>
                  <a:lnTo>
                    <a:pt x="0" y="88915"/>
                  </a:lnTo>
                  <a:lnTo>
                    <a:pt x="26084" y="26084"/>
                  </a:lnTo>
                  <a:lnTo>
                    <a:pt x="88915" y="0"/>
                  </a:lnTo>
                  <a:lnTo>
                    <a:pt x="3263317" y="0"/>
                  </a:lnTo>
                  <a:lnTo>
                    <a:pt x="3297880" y="7003"/>
                  </a:lnTo>
                  <a:lnTo>
                    <a:pt x="3326148" y="26084"/>
                  </a:lnTo>
                  <a:lnTo>
                    <a:pt x="3345230" y="54352"/>
                  </a:lnTo>
                  <a:lnTo>
                    <a:pt x="3351345" y="84531"/>
                  </a:lnTo>
                  <a:lnTo>
                    <a:pt x="3351345" y="1417997"/>
                  </a:lnTo>
                  <a:lnTo>
                    <a:pt x="3345230" y="1448176"/>
                  </a:lnTo>
                  <a:lnTo>
                    <a:pt x="3326148" y="1476444"/>
                  </a:lnTo>
                  <a:lnTo>
                    <a:pt x="3297880" y="1495526"/>
                  </a:lnTo>
                  <a:lnTo>
                    <a:pt x="3263317" y="1502529"/>
                  </a:lnTo>
                  <a:close/>
                </a:path>
              </a:pathLst>
            </a:custGeom>
            <a:solidFill>
              <a:srgbClr val="F7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1" name="object 51"/>
          <p:cNvGrpSpPr/>
          <p:nvPr/>
        </p:nvGrpSpPr>
        <p:grpSpPr>
          <a:xfrm>
            <a:off x="2094235" y="4373043"/>
            <a:ext cx="14722475" cy="1924050"/>
            <a:chOff x="2094235" y="4373043"/>
            <a:chExt cx="14722475" cy="1924050"/>
          </a:xfrm>
        </p:grpSpPr>
        <p:pic>
          <p:nvPicPr>
            <p:cNvPr id="52" name="object 5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16900" y="4636811"/>
              <a:ext cx="935073" cy="1501784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29336" y="5382169"/>
              <a:ext cx="3513608" cy="885486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94235" y="4636811"/>
              <a:ext cx="933966" cy="1501784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2195276" y="4636810"/>
              <a:ext cx="3550920" cy="1503045"/>
            </a:xfrm>
            <a:custGeom>
              <a:avLst/>
              <a:gdLst/>
              <a:ahLst/>
              <a:cxnLst/>
              <a:rect l="l" t="t" r="r" b="b"/>
              <a:pathLst>
                <a:path w="3550920" h="1503045">
                  <a:moveTo>
                    <a:pt x="3461697" y="1502529"/>
                  </a:moveTo>
                  <a:lnTo>
                    <a:pt x="88915" y="1502529"/>
                  </a:lnTo>
                  <a:lnTo>
                    <a:pt x="54352" y="1495526"/>
                  </a:lnTo>
                  <a:lnTo>
                    <a:pt x="26084" y="1476444"/>
                  </a:lnTo>
                  <a:lnTo>
                    <a:pt x="7003" y="1448176"/>
                  </a:lnTo>
                  <a:lnTo>
                    <a:pt x="0" y="1413614"/>
                  </a:lnTo>
                  <a:lnTo>
                    <a:pt x="0" y="88915"/>
                  </a:lnTo>
                  <a:lnTo>
                    <a:pt x="7003" y="54352"/>
                  </a:lnTo>
                  <a:lnTo>
                    <a:pt x="26084" y="26084"/>
                  </a:lnTo>
                  <a:lnTo>
                    <a:pt x="54352" y="7003"/>
                  </a:lnTo>
                  <a:lnTo>
                    <a:pt x="88915" y="0"/>
                  </a:lnTo>
                  <a:lnTo>
                    <a:pt x="3461697" y="0"/>
                  </a:lnTo>
                  <a:lnTo>
                    <a:pt x="3496259" y="7003"/>
                  </a:lnTo>
                  <a:lnTo>
                    <a:pt x="3524527" y="26084"/>
                  </a:lnTo>
                  <a:lnTo>
                    <a:pt x="3543609" y="54352"/>
                  </a:lnTo>
                  <a:lnTo>
                    <a:pt x="3550612" y="88915"/>
                  </a:lnTo>
                  <a:lnTo>
                    <a:pt x="3550612" y="1413614"/>
                  </a:lnTo>
                  <a:lnTo>
                    <a:pt x="3543609" y="1448176"/>
                  </a:lnTo>
                  <a:lnTo>
                    <a:pt x="3524527" y="1476444"/>
                  </a:lnTo>
                  <a:lnTo>
                    <a:pt x="3496259" y="1495526"/>
                  </a:lnTo>
                  <a:lnTo>
                    <a:pt x="3461697" y="1502529"/>
                  </a:lnTo>
                  <a:close/>
                </a:path>
              </a:pathLst>
            </a:custGeom>
            <a:solidFill>
              <a:srgbClr val="F7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895333" y="4665847"/>
              <a:ext cx="920905" cy="1501784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238987" y="5411211"/>
              <a:ext cx="3478188" cy="885486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107674" y="4665847"/>
              <a:ext cx="918691" cy="1501784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13205326" y="4665847"/>
              <a:ext cx="3509645" cy="1503045"/>
            </a:xfrm>
            <a:custGeom>
              <a:avLst/>
              <a:gdLst/>
              <a:ahLst/>
              <a:cxnLst/>
              <a:rect l="l" t="t" r="r" b="b"/>
              <a:pathLst>
                <a:path w="3509644" h="1503045">
                  <a:moveTo>
                    <a:pt x="3420449" y="1502529"/>
                  </a:moveTo>
                  <a:lnTo>
                    <a:pt x="88915" y="1502529"/>
                  </a:lnTo>
                  <a:lnTo>
                    <a:pt x="54352" y="1495526"/>
                  </a:lnTo>
                  <a:lnTo>
                    <a:pt x="26084" y="1476444"/>
                  </a:lnTo>
                  <a:lnTo>
                    <a:pt x="7003" y="1448176"/>
                  </a:lnTo>
                  <a:lnTo>
                    <a:pt x="0" y="1413614"/>
                  </a:lnTo>
                  <a:lnTo>
                    <a:pt x="0" y="88915"/>
                  </a:lnTo>
                  <a:lnTo>
                    <a:pt x="7003" y="54352"/>
                  </a:lnTo>
                  <a:lnTo>
                    <a:pt x="26084" y="26084"/>
                  </a:lnTo>
                  <a:lnTo>
                    <a:pt x="54352" y="7003"/>
                  </a:lnTo>
                  <a:lnTo>
                    <a:pt x="88915" y="0"/>
                  </a:lnTo>
                  <a:lnTo>
                    <a:pt x="3420449" y="0"/>
                  </a:lnTo>
                  <a:lnTo>
                    <a:pt x="3455011" y="7003"/>
                  </a:lnTo>
                  <a:lnTo>
                    <a:pt x="3483279" y="26084"/>
                  </a:lnTo>
                  <a:lnTo>
                    <a:pt x="3502361" y="54352"/>
                  </a:lnTo>
                  <a:lnTo>
                    <a:pt x="3509364" y="88915"/>
                  </a:lnTo>
                  <a:lnTo>
                    <a:pt x="3509364" y="1413614"/>
                  </a:lnTo>
                  <a:lnTo>
                    <a:pt x="3502361" y="1448176"/>
                  </a:lnTo>
                  <a:lnTo>
                    <a:pt x="3483279" y="1476444"/>
                  </a:lnTo>
                  <a:lnTo>
                    <a:pt x="3455011" y="1495526"/>
                  </a:lnTo>
                  <a:lnTo>
                    <a:pt x="3420449" y="1502529"/>
                  </a:lnTo>
                  <a:close/>
                </a:path>
              </a:pathLst>
            </a:custGeom>
            <a:solidFill>
              <a:srgbClr val="F7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515068" y="4491152"/>
              <a:ext cx="333374" cy="523874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370350" y="4373043"/>
              <a:ext cx="333374" cy="523874"/>
            </a:xfrm>
            <a:prstGeom prst="rect">
              <a:avLst/>
            </a:prstGeom>
          </p:spPr>
        </p:pic>
      </p:grpSp>
      <p:sp>
        <p:nvSpPr>
          <p:cNvPr id="62" name="object 62"/>
          <p:cNvSpPr txBox="1"/>
          <p:nvPr/>
        </p:nvSpPr>
        <p:spPr>
          <a:xfrm>
            <a:off x="5471000" y="2233958"/>
            <a:ext cx="2540635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65785">
              <a:lnSpc>
                <a:spcPct val="135600"/>
              </a:lnSpc>
              <a:spcBef>
                <a:spcPts val="100"/>
              </a:spcBef>
            </a:pPr>
            <a:r>
              <a:rPr sz="2950" b="1" spc="-10" dirty="0">
                <a:latin typeface="Times New Roman"/>
                <a:cs typeface="Times New Roman"/>
              </a:rPr>
              <a:t>Hachage </a:t>
            </a:r>
            <a:r>
              <a:rPr sz="2950" b="1" spc="-100" dirty="0">
                <a:latin typeface="Times New Roman"/>
                <a:cs typeface="Times New Roman"/>
              </a:rPr>
              <a:t>cryptographique</a:t>
            </a:r>
            <a:endParaRPr sz="2950">
              <a:latin typeface="Times New Roman"/>
              <a:cs typeface="Times New Roman"/>
            </a:endParaRPr>
          </a:p>
        </p:txBody>
      </p:sp>
      <p:pic>
        <p:nvPicPr>
          <p:cNvPr id="63" name="object 6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005864" y="1964734"/>
            <a:ext cx="333374" cy="523874"/>
          </a:xfrm>
          <a:prstGeom prst="rect">
            <a:avLst/>
          </a:prstGeom>
        </p:spPr>
      </p:pic>
      <p:sp>
        <p:nvSpPr>
          <p:cNvPr id="64" name="object 64"/>
          <p:cNvSpPr txBox="1"/>
          <p:nvPr/>
        </p:nvSpPr>
        <p:spPr>
          <a:xfrm>
            <a:off x="2963569" y="4661577"/>
            <a:ext cx="2165985" cy="1206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1120">
              <a:lnSpc>
                <a:spcPct val="136000"/>
              </a:lnSpc>
              <a:spcBef>
                <a:spcPts val="100"/>
              </a:spcBef>
            </a:pPr>
            <a:r>
              <a:rPr sz="2850" b="1" spc="-80" dirty="0">
                <a:latin typeface="Times New Roman"/>
                <a:cs typeface="Times New Roman"/>
              </a:rPr>
              <a:t>Chiffrement</a:t>
            </a:r>
            <a:r>
              <a:rPr sz="2850" b="1" spc="-70" dirty="0">
                <a:latin typeface="Times New Roman"/>
                <a:cs typeface="Times New Roman"/>
              </a:rPr>
              <a:t> </a:t>
            </a:r>
            <a:r>
              <a:rPr sz="2850" b="1" spc="-50" dirty="0">
                <a:latin typeface="Times New Roman"/>
                <a:cs typeface="Times New Roman"/>
              </a:rPr>
              <a:t>/ </a:t>
            </a:r>
            <a:r>
              <a:rPr sz="2850" b="1" spc="-65" dirty="0">
                <a:latin typeface="Times New Roman"/>
                <a:cs typeface="Times New Roman"/>
              </a:rPr>
              <a:t>Déchiffrement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4098463" y="4642267"/>
            <a:ext cx="1633855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2870">
              <a:lnSpc>
                <a:spcPct val="135600"/>
              </a:lnSpc>
              <a:spcBef>
                <a:spcPts val="100"/>
              </a:spcBef>
            </a:pPr>
            <a:r>
              <a:rPr sz="2950" b="1" spc="-40" dirty="0">
                <a:latin typeface="Times New Roman"/>
                <a:cs typeface="Times New Roman"/>
              </a:rPr>
              <a:t>Certificat </a:t>
            </a:r>
            <a:r>
              <a:rPr sz="2950" b="1" spc="-135" dirty="0">
                <a:latin typeface="Times New Roman"/>
                <a:cs typeface="Times New Roman"/>
              </a:rPr>
              <a:t>numérique</a:t>
            </a:r>
            <a:endParaRPr sz="2950">
              <a:latin typeface="Times New Roman"/>
              <a:cs typeface="Times New Roman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10234579" y="2228501"/>
            <a:ext cx="3540125" cy="1631314"/>
            <a:chOff x="10234579" y="2228501"/>
            <a:chExt cx="3540125" cy="1631314"/>
          </a:xfrm>
        </p:grpSpPr>
        <p:pic>
          <p:nvPicPr>
            <p:cNvPr id="67" name="object 6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96106" y="2228501"/>
              <a:ext cx="878402" cy="1501784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58698" y="2973866"/>
              <a:ext cx="3322342" cy="885486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34579" y="2228501"/>
              <a:ext cx="874971" cy="1501784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10326543" y="2228501"/>
              <a:ext cx="3351529" cy="1503045"/>
            </a:xfrm>
            <a:custGeom>
              <a:avLst/>
              <a:gdLst/>
              <a:ahLst/>
              <a:cxnLst/>
              <a:rect l="l" t="t" r="r" b="b"/>
              <a:pathLst>
                <a:path w="3351530" h="1503045">
                  <a:moveTo>
                    <a:pt x="3263317" y="1502529"/>
                  </a:moveTo>
                  <a:lnTo>
                    <a:pt x="88915" y="1502529"/>
                  </a:lnTo>
                  <a:lnTo>
                    <a:pt x="54352" y="1495526"/>
                  </a:lnTo>
                  <a:lnTo>
                    <a:pt x="26084" y="1476444"/>
                  </a:lnTo>
                  <a:lnTo>
                    <a:pt x="7003" y="1448176"/>
                  </a:lnTo>
                  <a:lnTo>
                    <a:pt x="0" y="1413614"/>
                  </a:lnTo>
                  <a:lnTo>
                    <a:pt x="0" y="88915"/>
                  </a:lnTo>
                  <a:lnTo>
                    <a:pt x="26084" y="26084"/>
                  </a:lnTo>
                  <a:lnTo>
                    <a:pt x="88915" y="0"/>
                  </a:lnTo>
                  <a:lnTo>
                    <a:pt x="3263317" y="0"/>
                  </a:lnTo>
                  <a:lnTo>
                    <a:pt x="3297880" y="7003"/>
                  </a:lnTo>
                  <a:lnTo>
                    <a:pt x="3326148" y="26084"/>
                  </a:lnTo>
                  <a:lnTo>
                    <a:pt x="3345230" y="54352"/>
                  </a:lnTo>
                  <a:lnTo>
                    <a:pt x="3351345" y="84532"/>
                  </a:lnTo>
                  <a:lnTo>
                    <a:pt x="3351345" y="1417997"/>
                  </a:lnTo>
                  <a:lnTo>
                    <a:pt x="3345230" y="1448176"/>
                  </a:lnTo>
                  <a:lnTo>
                    <a:pt x="3326148" y="1476444"/>
                  </a:lnTo>
                  <a:lnTo>
                    <a:pt x="3297880" y="1495526"/>
                  </a:lnTo>
                  <a:lnTo>
                    <a:pt x="3263317" y="1502529"/>
                  </a:lnTo>
                  <a:close/>
                </a:path>
              </a:pathLst>
            </a:custGeom>
            <a:solidFill>
              <a:srgbClr val="F7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11187711" y="2233958"/>
            <a:ext cx="1633855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0800">
              <a:lnSpc>
                <a:spcPct val="135600"/>
              </a:lnSpc>
              <a:spcBef>
                <a:spcPts val="100"/>
              </a:spcBef>
            </a:pPr>
            <a:r>
              <a:rPr sz="2950" b="1" spc="-10" dirty="0">
                <a:latin typeface="Times New Roman"/>
                <a:cs typeface="Times New Roman"/>
              </a:rPr>
              <a:t>Signature </a:t>
            </a:r>
            <a:r>
              <a:rPr sz="2950" b="1" spc="-135" dirty="0">
                <a:latin typeface="Times New Roman"/>
                <a:cs typeface="Times New Roman"/>
              </a:rPr>
              <a:t>numérique</a:t>
            </a:r>
            <a:endParaRPr sz="2950">
              <a:latin typeface="Times New Roman"/>
              <a:cs typeface="Times New Roman"/>
            </a:endParaRPr>
          </a:p>
        </p:txBody>
      </p:sp>
      <p:pic>
        <p:nvPicPr>
          <p:cNvPr id="72" name="object 7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3269252" y="2181185"/>
            <a:ext cx="333374" cy="523874"/>
          </a:xfrm>
          <a:prstGeom prst="rect">
            <a:avLst/>
          </a:prstGeom>
        </p:spPr>
      </p:pic>
      <p:sp>
        <p:nvSpPr>
          <p:cNvPr id="73" name="object 7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95" dirty="0"/>
              <a:t>5</a:t>
            </a:fld>
            <a:endParaRPr spc="-9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612" y="512176"/>
            <a:ext cx="904240" cy="1033780"/>
          </a:xfrm>
          <a:custGeom>
            <a:avLst/>
            <a:gdLst/>
            <a:ahLst/>
            <a:cxnLst/>
            <a:rect l="l" t="t" r="r" b="b"/>
            <a:pathLst>
              <a:path w="904239" h="1033780">
                <a:moveTo>
                  <a:pt x="0" y="1033158"/>
                </a:moveTo>
                <a:lnTo>
                  <a:pt x="0" y="0"/>
                </a:lnTo>
                <a:lnTo>
                  <a:pt x="904014" y="516579"/>
                </a:lnTo>
                <a:lnTo>
                  <a:pt x="0" y="1033158"/>
                </a:lnTo>
                <a:close/>
              </a:path>
            </a:pathLst>
          </a:custGeom>
          <a:solidFill>
            <a:srgbClr val="B40C1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740957" y="2381928"/>
            <a:ext cx="283845" cy="319405"/>
            <a:chOff x="1740957" y="2381928"/>
            <a:chExt cx="283845" cy="319405"/>
          </a:xfrm>
        </p:grpSpPr>
        <p:sp>
          <p:nvSpPr>
            <p:cNvPr id="4" name="object 4"/>
            <p:cNvSpPr/>
            <p:nvPr/>
          </p:nvSpPr>
          <p:spPr>
            <a:xfrm>
              <a:off x="1740957" y="2381928"/>
              <a:ext cx="175260" cy="319405"/>
            </a:xfrm>
            <a:custGeom>
              <a:avLst/>
              <a:gdLst/>
              <a:ahLst/>
              <a:cxnLst/>
              <a:rect l="l" t="t" r="r" b="b"/>
              <a:pathLst>
                <a:path w="175260" h="319405">
                  <a:moveTo>
                    <a:pt x="0" y="38779"/>
                  </a:moveTo>
                  <a:lnTo>
                    <a:pt x="47017" y="70703"/>
                  </a:lnTo>
                  <a:lnTo>
                    <a:pt x="47017" y="0"/>
                  </a:lnTo>
                  <a:lnTo>
                    <a:pt x="58063" y="7493"/>
                  </a:lnTo>
                  <a:lnTo>
                    <a:pt x="58063" y="78197"/>
                  </a:lnTo>
                  <a:lnTo>
                    <a:pt x="74610" y="89434"/>
                  </a:lnTo>
                  <a:lnTo>
                    <a:pt x="74610" y="18730"/>
                  </a:lnTo>
                  <a:lnTo>
                    <a:pt x="85648" y="26224"/>
                  </a:lnTo>
                  <a:lnTo>
                    <a:pt x="85648" y="96928"/>
                  </a:lnTo>
                  <a:lnTo>
                    <a:pt x="102202" y="108165"/>
                  </a:lnTo>
                  <a:lnTo>
                    <a:pt x="102202" y="37461"/>
                  </a:lnTo>
                  <a:lnTo>
                    <a:pt x="113241" y="44961"/>
                  </a:lnTo>
                  <a:lnTo>
                    <a:pt x="113241" y="115665"/>
                  </a:lnTo>
                  <a:lnTo>
                    <a:pt x="129788" y="126902"/>
                  </a:lnTo>
                  <a:lnTo>
                    <a:pt x="129788" y="56198"/>
                  </a:lnTo>
                  <a:lnTo>
                    <a:pt x="140826" y="63692"/>
                  </a:lnTo>
                  <a:lnTo>
                    <a:pt x="140826" y="134396"/>
                  </a:lnTo>
                  <a:lnTo>
                    <a:pt x="157380" y="145633"/>
                  </a:lnTo>
                  <a:lnTo>
                    <a:pt x="157380" y="74929"/>
                  </a:lnTo>
                  <a:lnTo>
                    <a:pt x="168419" y="82422"/>
                  </a:lnTo>
                  <a:lnTo>
                    <a:pt x="168419" y="153126"/>
                  </a:lnTo>
                  <a:lnTo>
                    <a:pt x="175054" y="157635"/>
                  </a:lnTo>
                  <a:lnTo>
                    <a:pt x="168419" y="162144"/>
                  </a:lnTo>
                  <a:lnTo>
                    <a:pt x="168419" y="236591"/>
                  </a:lnTo>
                  <a:lnTo>
                    <a:pt x="157380" y="244085"/>
                  </a:lnTo>
                  <a:lnTo>
                    <a:pt x="157380" y="169645"/>
                  </a:lnTo>
                  <a:lnTo>
                    <a:pt x="140826" y="180882"/>
                  </a:lnTo>
                  <a:lnTo>
                    <a:pt x="140826" y="255322"/>
                  </a:lnTo>
                  <a:lnTo>
                    <a:pt x="129788" y="262816"/>
                  </a:lnTo>
                  <a:lnTo>
                    <a:pt x="129788" y="188376"/>
                  </a:lnTo>
                  <a:lnTo>
                    <a:pt x="113241" y="199612"/>
                  </a:lnTo>
                  <a:lnTo>
                    <a:pt x="113241" y="274060"/>
                  </a:lnTo>
                  <a:lnTo>
                    <a:pt x="102202" y="281553"/>
                  </a:lnTo>
                  <a:lnTo>
                    <a:pt x="102202" y="207113"/>
                  </a:lnTo>
                  <a:lnTo>
                    <a:pt x="85648" y="218357"/>
                  </a:lnTo>
                  <a:lnTo>
                    <a:pt x="85648" y="292797"/>
                  </a:lnTo>
                  <a:lnTo>
                    <a:pt x="74610" y="300291"/>
                  </a:lnTo>
                  <a:lnTo>
                    <a:pt x="74610" y="225851"/>
                  </a:lnTo>
                  <a:lnTo>
                    <a:pt x="58063" y="237088"/>
                  </a:lnTo>
                  <a:lnTo>
                    <a:pt x="58063" y="311535"/>
                  </a:lnTo>
                  <a:lnTo>
                    <a:pt x="47017" y="319029"/>
                  </a:lnTo>
                  <a:lnTo>
                    <a:pt x="47017" y="277108"/>
                  </a:lnTo>
                  <a:lnTo>
                    <a:pt x="47017" y="244588"/>
                  </a:lnTo>
                  <a:lnTo>
                    <a:pt x="14" y="276506"/>
                  </a:lnTo>
                  <a:lnTo>
                    <a:pt x="0" y="38779"/>
                  </a:lnTo>
                  <a:close/>
                </a:path>
              </a:pathLst>
            </a:custGeom>
            <a:solidFill>
              <a:srgbClr val="9411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5923" y="2475588"/>
              <a:ext cx="98424" cy="131688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1740957" y="4977094"/>
            <a:ext cx="283845" cy="319405"/>
            <a:chOff x="1740957" y="4977094"/>
            <a:chExt cx="283845" cy="319405"/>
          </a:xfrm>
        </p:grpSpPr>
        <p:sp>
          <p:nvSpPr>
            <p:cNvPr id="7" name="object 7"/>
            <p:cNvSpPr/>
            <p:nvPr/>
          </p:nvSpPr>
          <p:spPr>
            <a:xfrm>
              <a:off x="1740957" y="4977094"/>
              <a:ext cx="175260" cy="319405"/>
            </a:xfrm>
            <a:custGeom>
              <a:avLst/>
              <a:gdLst/>
              <a:ahLst/>
              <a:cxnLst/>
              <a:rect l="l" t="t" r="r" b="b"/>
              <a:pathLst>
                <a:path w="175260" h="319404">
                  <a:moveTo>
                    <a:pt x="0" y="38779"/>
                  </a:moveTo>
                  <a:lnTo>
                    <a:pt x="47017" y="70703"/>
                  </a:lnTo>
                  <a:lnTo>
                    <a:pt x="47017" y="0"/>
                  </a:lnTo>
                  <a:lnTo>
                    <a:pt x="58063" y="7493"/>
                  </a:lnTo>
                  <a:lnTo>
                    <a:pt x="58063" y="78197"/>
                  </a:lnTo>
                  <a:lnTo>
                    <a:pt x="74610" y="89434"/>
                  </a:lnTo>
                  <a:lnTo>
                    <a:pt x="74610" y="18730"/>
                  </a:lnTo>
                  <a:lnTo>
                    <a:pt x="85648" y="26224"/>
                  </a:lnTo>
                  <a:lnTo>
                    <a:pt x="85648" y="96928"/>
                  </a:lnTo>
                  <a:lnTo>
                    <a:pt x="102202" y="108165"/>
                  </a:lnTo>
                  <a:lnTo>
                    <a:pt x="102202" y="37461"/>
                  </a:lnTo>
                  <a:lnTo>
                    <a:pt x="113241" y="44961"/>
                  </a:lnTo>
                  <a:lnTo>
                    <a:pt x="113241" y="115665"/>
                  </a:lnTo>
                  <a:lnTo>
                    <a:pt x="129788" y="126902"/>
                  </a:lnTo>
                  <a:lnTo>
                    <a:pt x="129788" y="56198"/>
                  </a:lnTo>
                  <a:lnTo>
                    <a:pt x="140826" y="63692"/>
                  </a:lnTo>
                  <a:lnTo>
                    <a:pt x="140826" y="134396"/>
                  </a:lnTo>
                  <a:lnTo>
                    <a:pt x="157380" y="145633"/>
                  </a:lnTo>
                  <a:lnTo>
                    <a:pt x="157380" y="74929"/>
                  </a:lnTo>
                  <a:lnTo>
                    <a:pt x="168419" y="82422"/>
                  </a:lnTo>
                  <a:lnTo>
                    <a:pt x="168419" y="153126"/>
                  </a:lnTo>
                  <a:lnTo>
                    <a:pt x="175054" y="157635"/>
                  </a:lnTo>
                  <a:lnTo>
                    <a:pt x="168419" y="162144"/>
                  </a:lnTo>
                  <a:lnTo>
                    <a:pt x="168419" y="236591"/>
                  </a:lnTo>
                  <a:lnTo>
                    <a:pt x="157380" y="244085"/>
                  </a:lnTo>
                  <a:lnTo>
                    <a:pt x="157380" y="169645"/>
                  </a:lnTo>
                  <a:lnTo>
                    <a:pt x="140826" y="180882"/>
                  </a:lnTo>
                  <a:lnTo>
                    <a:pt x="140826" y="255322"/>
                  </a:lnTo>
                  <a:lnTo>
                    <a:pt x="129788" y="262816"/>
                  </a:lnTo>
                  <a:lnTo>
                    <a:pt x="129788" y="188376"/>
                  </a:lnTo>
                  <a:lnTo>
                    <a:pt x="113241" y="199612"/>
                  </a:lnTo>
                  <a:lnTo>
                    <a:pt x="113241" y="274060"/>
                  </a:lnTo>
                  <a:lnTo>
                    <a:pt x="102202" y="281553"/>
                  </a:lnTo>
                  <a:lnTo>
                    <a:pt x="102202" y="207113"/>
                  </a:lnTo>
                  <a:lnTo>
                    <a:pt x="85648" y="218357"/>
                  </a:lnTo>
                  <a:lnTo>
                    <a:pt x="85648" y="292797"/>
                  </a:lnTo>
                  <a:lnTo>
                    <a:pt x="74610" y="300291"/>
                  </a:lnTo>
                  <a:lnTo>
                    <a:pt x="74610" y="225851"/>
                  </a:lnTo>
                  <a:lnTo>
                    <a:pt x="58063" y="237088"/>
                  </a:lnTo>
                  <a:lnTo>
                    <a:pt x="58063" y="311535"/>
                  </a:lnTo>
                  <a:lnTo>
                    <a:pt x="47017" y="319029"/>
                  </a:lnTo>
                  <a:lnTo>
                    <a:pt x="47017" y="277108"/>
                  </a:lnTo>
                  <a:lnTo>
                    <a:pt x="47017" y="244588"/>
                  </a:lnTo>
                  <a:lnTo>
                    <a:pt x="14" y="276506"/>
                  </a:lnTo>
                  <a:lnTo>
                    <a:pt x="0" y="38779"/>
                  </a:lnTo>
                  <a:close/>
                </a:path>
              </a:pathLst>
            </a:custGeom>
            <a:solidFill>
              <a:srgbClr val="9411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5923" y="5070754"/>
              <a:ext cx="98424" cy="131688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78574" y="7418616"/>
            <a:ext cx="7867649" cy="233362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221229" y="7958142"/>
            <a:ext cx="485774" cy="40957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221229" y="8799313"/>
            <a:ext cx="485774" cy="409574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9736889" y="8078643"/>
            <a:ext cx="1440180" cy="1010285"/>
          </a:xfrm>
          <a:custGeom>
            <a:avLst/>
            <a:gdLst/>
            <a:ahLst/>
            <a:cxnLst/>
            <a:rect l="l" t="t" r="r" b="b"/>
            <a:pathLst>
              <a:path w="1440179" h="1010284">
                <a:moveTo>
                  <a:pt x="720669" y="1010078"/>
                </a:moveTo>
                <a:lnTo>
                  <a:pt x="720669" y="649743"/>
                </a:lnTo>
                <a:lnTo>
                  <a:pt x="0" y="649743"/>
                </a:lnTo>
                <a:lnTo>
                  <a:pt x="0" y="360335"/>
                </a:lnTo>
                <a:lnTo>
                  <a:pt x="720669" y="360335"/>
                </a:lnTo>
                <a:lnTo>
                  <a:pt x="720669" y="0"/>
                </a:lnTo>
                <a:lnTo>
                  <a:pt x="1440150" y="504206"/>
                </a:lnTo>
                <a:lnTo>
                  <a:pt x="1440150" y="505872"/>
                </a:lnTo>
                <a:lnTo>
                  <a:pt x="720669" y="1010078"/>
                </a:lnTo>
                <a:close/>
              </a:path>
            </a:pathLst>
          </a:custGeom>
          <a:solidFill>
            <a:srgbClr val="3F7D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453145" y="2356993"/>
            <a:ext cx="13368655" cy="44265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-105" dirty="0">
                <a:solidFill>
                  <a:srgbClr val="BE0000"/>
                </a:solidFill>
                <a:latin typeface="Arial Black"/>
                <a:cs typeface="Arial Black"/>
              </a:rPr>
              <a:t>Chiffrement</a:t>
            </a:r>
            <a:r>
              <a:rPr sz="2700" spc="-155" dirty="0">
                <a:solidFill>
                  <a:srgbClr val="BE0000"/>
                </a:solidFill>
                <a:latin typeface="Arial Black"/>
                <a:cs typeface="Arial Black"/>
              </a:rPr>
              <a:t> </a:t>
            </a:r>
            <a:r>
              <a:rPr sz="2700" spc="-55" dirty="0">
                <a:solidFill>
                  <a:srgbClr val="BE0000"/>
                </a:solidFill>
                <a:latin typeface="Arial Black"/>
                <a:cs typeface="Arial Black"/>
              </a:rPr>
              <a:t>(Encryption)</a:t>
            </a:r>
            <a:endParaRPr sz="2700">
              <a:latin typeface="Arial Black"/>
              <a:cs typeface="Arial Black"/>
            </a:endParaRPr>
          </a:p>
          <a:p>
            <a:pPr marL="12700" marR="68580">
              <a:lnSpc>
                <a:spcPct val="169300"/>
              </a:lnSpc>
              <a:spcBef>
                <a:spcPts val="1440"/>
              </a:spcBef>
            </a:pPr>
            <a:r>
              <a:rPr sz="2400" dirty="0">
                <a:latin typeface="Lucida Sans Unicode"/>
                <a:cs typeface="Lucida Sans Unicode"/>
              </a:rPr>
              <a:t>Le</a:t>
            </a:r>
            <a:r>
              <a:rPr sz="2400" spc="-150" dirty="0">
                <a:latin typeface="Lucida Sans Unicode"/>
                <a:cs typeface="Lucida Sans Unicode"/>
              </a:rPr>
              <a:t> </a:t>
            </a:r>
            <a:r>
              <a:rPr sz="2400" spc="-40" dirty="0">
                <a:latin typeface="Lucida Sans Unicode"/>
                <a:cs typeface="Lucida Sans Unicode"/>
              </a:rPr>
              <a:t>chiffrement</a:t>
            </a:r>
            <a:r>
              <a:rPr sz="2400" spc="-140" dirty="0">
                <a:latin typeface="Lucida Sans Unicode"/>
                <a:cs typeface="Lucida Sans Unicode"/>
              </a:rPr>
              <a:t> </a:t>
            </a:r>
            <a:r>
              <a:rPr sz="2400" spc="-45" dirty="0">
                <a:latin typeface="Lucida Sans Unicode"/>
                <a:cs typeface="Lucida Sans Unicode"/>
              </a:rPr>
              <a:t>est</a:t>
            </a:r>
            <a:r>
              <a:rPr sz="2400" spc="-1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un</a:t>
            </a:r>
            <a:r>
              <a:rPr sz="2400" spc="-140" dirty="0">
                <a:latin typeface="Lucida Sans Unicode"/>
                <a:cs typeface="Lucida Sans Unicode"/>
              </a:rPr>
              <a:t> </a:t>
            </a:r>
            <a:r>
              <a:rPr sz="2400" spc="-30" dirty="0">
                <a:latin typeface="Lucida Sans Unicode"/>
                <a:cs typeface="Lucida Sans Unicode"/>
              </a:rPr>
              <a:t>procédé</a:t>
            </a:r>
            <a:r>
              <a:rPr sz="2400" spc="-1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de</a:t>
            </a:r>
            <a:r>
              <a:rPr sz="2400" spc="-140" dirty="0">
                <a:latin typeface="Lucida Sans Unicode"/>
                <a:cs typeface="Lucida Sans Unicode"/>
              </a:rPr>
              <a:t> </a:t>
            </a:r>
            <a:r>
              <a:rPr sz="2400" spc="-50" dirty="0">
                <a:latin typeface="Lucida Sans Unicode"/>
                <a:cs typeface="Lucida Sans Unicode"/>
              </a:rPr>
              <a:t>cryptographie</a:t>
            </a:r>
            <a:r>
              <a:rPr sz="2400" spc="-140" dirty="0">
                <a:latin typeface="Lucida Sans Unicode"/>
                <a:cs typeface="Lucida Sans Unicode"/>
              </a:rPr>
              <a:t> </a:t>
            </a:r>
            <a:r>
              <a:rPr sz="2400" spc="-55" dirty="0">
                <a:latin typeface="Lucida Sans Unicode"/>
                <a:cs typeface="Lucida Sans Unicode"/>
              </a:rPr>
              <a:t>qui</a:t>
            </a:r>
            <a:r>
              <a:rPr sz="2400" spc="-135" dirty="0">
                <a:latin typeface="Lucida Sans Unicode"/>
                <a:cs typeface="Lucida Sans Unicode"/>
              </a:rPr>
              <a:t> </a:t>
            </a:r>
            <a:r>
              <a:rPr sz="2400" spc="-45" dirty="0">
                <a:latin typeface="Lucida Sans Unicode"/>
                <a:cs typeface="Lucida Sans Unicode"/>
              </a:rPr>
              <a:t>convertit</a:t>
            </a:r>
            <a:r>
              <a:rPr sz="2400" spc="-140" dirty="0">
                <a:latin typeface="Lucida Sans Unicode"/>
                <a:cs typeface="Lucida Sans Unicode"/>
              </a:rPr>
              <a:t> </a:t>
            </a:r>
            <a:r>
              <a:rPr sz="2400" spc="-40" dirty="0">
                <a:latin typeface="Lucida Sans Unicode"/>
                <a:cs typeface="Lucida Sans Unicode"/>
              </a:rPr>
              <a:t>des</a:t>
            </a:r>
            <a:r>
              <a:rPr sz="2400" spc="-140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données</a:t>
            </a:r>
            <a:r>
              <a:rPr sz="2400" spc="-140" dirty="0">
                <a:latin typeface="Lucida Sans Unicode"/>
                <a:cs typeface="Lucida Sans Unicode"/>
              </a:rPr>
              <a:t> </a:t>
            </a:r>
            <a:r>
              <a:rPr sz="2400" spc="-85" dirty="0">
                <a:latin typeface="Lucida Sans Unicode"/>
                <a:cs typeface="Lucida Sans Unicode"/>
              </a:rPr>
              <a:t>lisibles</a:t>
            </a:r>
            <a:r>
              <a:rPr sz="2400" spc="-1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en</a:t>
            </a:r>
            <a:r>
              <a:rPr sz="2400" spc="-1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un</a:t>
            </a:r>
            <a:r>
              <a:rPr sz="2400" spc="-140" dirty="0">
                <a:latin typeface="Lucida Sans Unicode"/>
                <a:cs typeface="Lucida Sans Unicode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code </a:t>
            </a:r>
            <a:r>
              <a:rPr sz="2400" spc="-80" dirty="0">
                <a:latin typeface="Lucida Sans Unicode"/>
                <a:cs typeface="Lucida Sans Unicode"/>
              </a:rPr>
              <a:t>illisible</a:t>
            </a:r>
            <a:r>
              <a:rPr sz="2400" spc="-130" dirty="0">
                <a:latin typeface="Lucida Sans Unicode"/>
                <a:cs typeface="Lucida Sans Unicode"/>
              </a:rPr>
              <a:t> </a:t>
            </a:r>
            <a:r>
              <a:rPr sz="2400" spc="-65" dirty="0">
                <a:latin typeface="Lucida Sans Unicode"/>
                <a:cs typeface="Lucida Sans Unicode"/>
              </a:rPr>
              <a:t>(texte</a:t>
            </a:r>
            <a:r>
              <a:rPr sz="2400" spc="-130" dirty="0">
                <a:latin typeface="Lucida Sans Unicode"/>
                <a:cs typeface="Lucida Sans Unicode"/>
              </a:rPr>
              <a:t> </a:t>
            </a:r>
            <a:r>
              <a:rPr sz="2400" spc="-55" dirty="0">
                <a:latin typeface="Lucida Sans Unicode"/>
                <a:cs typeface="Lucida Sans Unicode"/>
              </a:rPr>
              <a:t>chiffré)</a:t>
            </a:r>
            <a:r>
              <a:rPr sz="2400" spc="-1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à</a:t>
            </a:r>
            <a:r>
              <a:rPr sz="2400" spc="-130" dirty="0">
                <a:latin typeface="Lucida Sans Unicode"/>
                <a:cs typeface="Lucida Sans Unicode"/>
              </a:rPr>
              <a:t> </a:t>
            </a:r>
            <a:r>
              <a:rPr sz="2400" spc="-40" dirty="0">
                <a:latin typeface="Lucida Sans Unicode"/>
                <a:cs typeface="Lucida Sans Unicode"/>
              </a:rPr>
              <a:t>l'aide</a:t>
            </a:r>
            <a:r>
              <a:rPr sz="2400" spc="-130" dirty="0">
                <a:latin typeface="Lucida Sans Unicode"/>
                <a:cs typeface="Lucida Sans Unicode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d'une</a:t>
            </a:r>
            <a:r>
              <a:rPr sz="2400" spc="-130" dirty="0">
                <a:latin typeface="Lucida Sans Unicode"/>
                <a:cs typeface="Lucida Sans Unicode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clé.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91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spc="-114" dirty="0">
                <a:solidFill>
                  <a:srgbClr val="BE0000"/>
                </a:solidFill>
                <a:latin typeface="Arial Black"/>
                <a:cs typeface="Arial Black"/>
              </a:rPr>
              <a:t>Déchiffrement</a:t>
            </a:r>
            <a:r>
              <a:rPr sz="2800" spc="-130" dirty="0">
                <a:solidFill>
                  <a:srgbClr val="BE0000"/>
                </a:solidFill>
                <a:latin typeface="Arial Black"/>
                <a:cs typeface="Arial Black"/>
              </a:rPr>
              <a:t> </a:t>
            </a:r>
            <a:r>
              <a:rPr sz="2800" spc="-45" dirty="0">
                <a:solidFill>
                  <a:srgbClr val="BE0000"/>
                </a:solidFill>
                <a:latin typeface="Arial Black"/>
                <a:cs typeface="Arial Black"/>
              </a:rPr>
              <a:t>(Decryption)</a:t>
            </a:r>
            <a:endParaRPr sz="2800">
              <a:latin typeface="Arial Black"/>
              <a:cs typeface="Arial Black"/>
            </a:endParaRPr>
          </a:p>
          <a:p>
            <a:pPr marL="12700" marR="5080">
              <a:lnSpc>
                <a:spcPct val="169700"/>
              </a:lnSpc>
              <a:spcBef>
                <a:spcPts val="1475"/>
              </a:spcBef>
            </a:pPr>
            <a:r>
              <a:rPr sz="2400" dirty="0">
                <a:latin typeface="Lucida Sans Unicode"/>
                <a:cs typeface="Lucida Sans Unicode"/>
              </a:rPr>
              <a:t>Le</a:t>
            </a:r>
            <a:r>
              <a:rPr sz="2400" spc="-135" dirty="0">
                <a:latin typeface="Lucida Sans Unicode"/>
                <a:cs typeface="Lucida Sans Unicode"/>
              </a:rPr>
              <a:t> </a:t>
            </a:r>
            <a:r>
              <a:rPr sz="2400" spc="-40" dirty="0">
                <a:latin typeface="Lucida Sans Unicode"/>
                <a:cs typeface="Lucida Sans Unicode"/>
              </a:rPr>
              <a:t>déchiffrement</a:t>
            </a:r>
            <a:r>
              <a:rPr sz="2400" spc="-135" dirty="0">
                <a:latin typeface="Lucida Sans Unicode"/>
                <a:cs typeface="Lucida Sans Unicode"/>
              </a:rPr>
              <a:t> </a:t>
            </a:r>
            <a:r>
              <a:rPr sz="2400" spc="-45" dirty="0">
                <a:latin typeface="Lucida Sans Unicode"/>
                <a:cs typeface="Lucida Sans Unicode"/>
              </a:rPr>
              <a:t>est</a:t>
            </a:r>
            <a:r>
              <a:rPr sz="2400" spc="-135" dirty="0">
                <a:latin typeface="Lucida Sans Unicode"/>
                <a:cs typeface="Lucida Sans Unicode"/>
              </a:rPr>
              <a:t> </a:t>
            </a:r>
            <a:r>
              <a:rPr sz="2400" spc="-40" dirty="0">
                <a:latin typeface="Lucida Sans Unicode"/>
                <a:cs typeface="Lucida Sans Unicode"/>
              </a:rPr>
              <a:t>l'opération</a:t>
            </a:r>
            <a:r>
              <a:rPr sz="2400" spc="-135" dirty="0">
                <a:latin typeface="Lucida Sans Unicode"/>
                <a:cs typeface="Lucida Sans Unicode"/>
              </a:rPr>
              <a:t> </a:t>
            </a:r>
            <a:r>
              <a:rPr sz="2400" spc="-55" dirty="0">
                <a:latin typeface="Lucida Sans Unicode"/>
                <a:cs typeface="Lucida Sans Unicode"/>
              </a:rPr>
              <a:t>qui</a:t>
            </a:r>
            <a:r>
              <a:rPr sz="2400" spc="-135" dirty="0">
                <a:latin typeface="Lucida Sans Unicode"/>
                <a:cs typeface="Lucida Sans Unicode"/>
              </a:rPr>
              <a:t> </a:t>
            </a:r>
            <a:r>
              <a:rPr sz="2400" spc="-30" dirty="0">
                <a:latin typeface="Lucida Sans Unicode"/>
                <a:cs typeface="Lucida Sans Unicode"/>
              </a:rPr>
              <a:t>transforme</a:t>
            </a:r>
            <a:r>
              <a:rPr sz="2400" spc="-135" dirty="0">
                <a:latin typeface="Lucida Sans Unicode"/>
                <a:cs typeface="Lucida Sans Unicode"/>
              </a:rPr>
              <a:t> </a:t>
            </a:r>
            <a:r>
              <a:rPr sz="2400" spc="-40" dirty="0">
                <a:latin typeface="Lucida Sans Unicode"/>
                <a:cs typeface="Lucida Sans Unicode"/>
              </a:rPr>
              <a:t>des</a:t>
            </a:r>
            <a:r>
              <a:rPr sz="2400" spc="-135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données</a:t>
            </a:r>
            <a:r>
              <a:rPr sz="2400" spc="-135" dirty="0">
                <a:latin typeface="Lucida Sans Unicode"/>
                <a:cs typeface="Lucida Sans Unicode"/>
              </a:rPr>
              <a:t> </a:t>
            </a:r>
            <a:r>
              <a:rPr sz="2400" spc="-50" dirty="0">
                <a:latin typeface="Lucida Sans Unicode"/>
                <a:cs typeface="Lucida Sans Unicode"/>
              </a:rPr>
              <a:t>chiffrées</a:t>
            </a:r>
            <a:r>
              <a:rPr sz="2400" spc="-1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en</a:t>
            </a:r>
            <a:r>
              <a:rPr sz="2400" spc="-135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leur</a:t>
            </a:r>
            <a:r>
              <a:rPr sz="2400" spc="-135" dirty="0">
                <a:latin typeface="Lucida Sans Unicode"/>
                <a:cs typeface="Lucida Sans Unicode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forme</a:t>
            </a:r>
            <a:r>
              <a:rPr sz="2400" spc="-13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originale </a:t>
            </a:r>
            <a:r>
              <a:rPr sz="2400" spc="-95" dirty="0">
                <a:latin typeface="Lucida Sans Unicode"/>
                <a:cs typeface="Lucida Sans Unicode"/>
              </a:rPr>
              <a:t>lisible,</a:t>
            </a:r>
            <a:r>
              <a:rPr sz="2400" spc="-1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en</a:t>
            </a:r>
            <a:r>
              <a:rPr sz="2400" spc="-130" dirty="0">
                <a:latin typeface="Lucida Sans Unicode"/>
                <a:cs typeface="Lucida Sans Unicode"/>
              </a:rPr>
              <a:t> </a:t>
            </a:r>
            <a:r>
              <a:rPr sz="2400" spc="-60" dirty="0">
                <a:latin typeface="Lucida Sans Unicode"/>
                <a:cs typeface="Lucida Sans Unicode"/>
              </a:rPr>
              <a:t>utilisant</a:t>
            </a:r>
            <a:r>
              <a:rPr sz="2400" spc="-1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une</a:t>
            </a:r>
            <a:r>
              <a:rPr sz="2400" spc="-135" dirty="0">
                <a:latin typeface="Lucida Sans Unicode"/>
                <a:cs typeface="Lucida Sans Unicode"/>
              </a:rPr>
              <a:t> </a:t>
            </a:r>
            <a:r>
              <a:rPr sz="2400" spc="-60" dirty="0">
                <a:latin typeface="Lucida Sans Unicode"/>
                <a:cs typeface="Lucida Sans Unicode"/>
              </a:rPr>
              <a:t>clé</a:t>
            </a:r>
            <a:r>
              <a:rPr sz="2400" spc="-1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de</a:t>
            </a:r>
            <a:r>
              <a:rPr sz="2400" spc="-13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chiffrement.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95" dirty="0"/>
              <a:t>6</a:t>
            </a:fld>
            <a:endParaRPr spc="-95" dirty="0"/>
          </a:p>
        </p:txBody>
      </p:sp>
      <p:sp>
        <p:nvSpPr>
          <p:cNvPr id="14" name="object 14"/>
          <p:cNvSpPr txBox="1"/>
          <p:nvPr/>
        </p:nvSpPr>
        <p:spPr>
          <a:xfrm>
            <a:off x="13017464" y="7929664"/>
            <a:ext cx="3274060" cy="1278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spc="-70" dirty="0">
                <a:latin typeface="Arial Black"/>
                <a:cs typeface="Arial Black"/>
              </a:rPr>
              <a:t>Confidentialité</a:t>
            </a:r>
            <a:endParaRPr sz="31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2430"/>
              </a:spcBef>
            </a:pPr>
            <a:r>
              <a:rPr sz="3100" spc="-114" dirty="0">
                <a:latin typeface="Arial Black"/>
                <a:cs typeface="Arial Black"/>
              </a:rPr>
              <a:t>Authentification</a:t>
            </a:r>
            <a:endParaRPr sz="3100">
              <a:latin typeface="Arial Black"/>
              <a:cs typeface="Arial Black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9460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140"/>
              </a:spcBef>
            </a:pPr>
            <a:r>
              <a:rPr sz="4400" dirty="0"/>
              <a:t>Principes</a:t>
            </a:r>
            <a:r>
              <a:rPr sz="4400" spc="20" dirty="0"/>
              <a:t> </a:t>
            </a:r>
            <a:r>
              <a:rPr sz="4400" dirty="0"/>
              <a:t>fondamentaux</a:t>
            </a:r>
            <a:r>
              <a:rPr sz="4400" spc="25" dirty="0"/>
              <a:t> </a:t>
            </a:r>
            <a:r>
              <a:rPr sz="4400" dirty="0"/>
              <a:t>du</a:t>
            </a:r>
            <a:r>
              <a:rPr sz="4400" spc="25" dirty="0"/>
              <a:t> </a:t>
            </a:r>
            <a:r>
              <a:rPr sz="4400" spc="-10" dirty="0"/>
              <a:t>chiffrement</a:t>
            </a:r>
            <a:endParaRPr sz="4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612" y="512176"/>
            <a:ext cx="904240" cy="1033780"/>
          </a:xfrm>
          <a:custGeom>
            <a:avLst/>
            <a:gdLst/>
            <a:ahLst/>
            <a:cxnLst/>
            <a:rect l="l" t="t" r="r" b="b"/>
            <a:pathLst>
              <a:path w="904239" h="1033780">
                <a:moveTo>
                  <a:pt x="0" y="1033158"/>
                </a:moveTo>
                <a:lnTo>
                  <a:pt x="0" y="0"/>
                </a:lnTo>
                <a:lnTo>
                  <a:pt x="904014" y="516579"/>
                </a:lnTo>
                <a:lnTo>
                  <a:pt x="0" y="1033158"/>
                </a:lnTo>
                <a:close/>
              </a:path>
            </a:pathLst>
          </a:custGeom>
          <a:solidFill>
            <a:srgbClr val="B40C1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48538" y="6019685"/>
            <a:ext cx="2920999" cy="299054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60932" y="6019685"/>
            <a:ext cx="2920999" cy="299054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73326" y="6019685"/>
            <a:ext cx="2920999" cy="2990546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5643334" y="4909496"/>
            <a:ext cx="6559550" cy="835025"/>
            <a:chOff x="5643334" y="4909496"/>
            <a:chExt cx="6559550" cy="835025"/>
          </a:xfrm>
        </p:grpSpPr>
        <p:sp>
          <p:nvSpPr>
            <p:cNvPr id="7" name="object 7"/>
            <p:cNvSpPr/>
            <p:nvPr/>
          </p:nvSpPr>
          <p:spPr>
            <a:xfrm>
              <a:off x="5717458" y="4933308"/>
              <a:ext cx="6369050" cy="0"/>
            </a:xfrm>
            <a:custGeom>
              <a:avLst/>
              <a:gdLst/>
              <a:ahLst/>
              <a:cxnLst/>
              <a:rect l="l" t="t" r="r" b="b"/>
              <a:pathLst>
                <a:path w="6369050">
                  <a:moveTo>
                    <a:pt x="0" y="0"/>
                  </a:moveTo>
                  <a:lnTo>
                    <a:pt x="6368744" y="0"/>
                  </a:lnTo>
                </a:path>
              </a:pathLst>
            </a:custGeom>
            <a:ln w="47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107328" y="4912047"/>
              <a:ext cx="0" cy="633095"/>
            </a:xfrm>
            <a:custGeom>
              <a:avLst/>
              <a:gdLst/>
              <a:ahLst/>
              <a:cxnLst/>
              <a:rect l="l" t="t" r="r" b="b"/>
              <a:pathLst>
                <a:path h="633095">
                  <a:moveTo>
                    <a:pt x="0" y="632654"/>
                  </a:moveTo>
                  <a:lnTo>
                    <a:pt x="0" y="0"/>
                  </a:lnTo>
                </a:path>
              </a:pathLst>
            </a:custGeom>
            <a:ln w="47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012078" y="5532796"/>
              <a:ext cx="190499" cy="19049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738584" y="4912047"/>
              <a:ext cx="0" cy="633095"/>
            </a:xfrm>
            <a:custGeom>
              <a:avLst/>
              <a:gdLst/>
              <a:ahLst/>
              <a:cxnLst/>
              <a:rect l="l" t="t" r="r" b="b"/>
              <a:pathLst>
                <a:path h="633095">
                  <a:moveTo>
                    <a:pt x="0" y="632654"/>
                  </a:moveTo>
                  <a:lnTo>
                    <a:pt x="0" y="0"/>
                  </a:lnTo>
                </a:path>
              </a:pathLst>
            </a:custGeom>
            <a:ln w="47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43334" y="5532796"/>
              <a:ext cx="190499" cy="19049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922956" y="4933240"/>
              <a:ext cx="0" cy="633095"/>
            </a:xfrm>
            <a:custGeom>
              <a:avLst/>
              <a:gdLst/>
              <a:ahLst/>
              <a:cxnLst/>
              <a:rect l="l" t="t" r="r" b="b"/>
              <a:pathLst>
                <a:path h="633095">
                  <a:moveTo>
                    <a:pt x="0" y="632654"/>
                  </a:moveTo>
                  <a:lnTo>
                    <a:pt x="0" y="0"/>
                  </a:lnTo>
                </a:path>
              </a:pathLst>
            </a:custGeom>
            <a:ln w="47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27706" y="5553989"/>
              <a:ext cx="190499" cy="190499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562060" y="2364557"/>
            <a:ext cx="2730360" cy="2019300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9460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140"/>
              </a:spcBef>
            </a:pPr>
            <a:r>
              <a:rPr sz="4400" dirty="0"/>
              <a:t>Les</a:t>
            </a:r>
            <a:r>
              <a:rPr sz="4400" spc="30" dirty="0"/>
              <a:t> </a:t>
            </a:r>
            <a:r>
              <a:rPr sz="4400" dirty="0"/>
              <a:t>types</a:t>
            </a:r>
            <a:r>
              <a:rPr sz="4400" spc="30" dirty="0"/>
              <a:t> </a:t>
            </a:r>
            <a:r>
              <a:rPr sz="4400" dirty="0"/>
              <a:t>de</a:t>
            </a:r>
            <a:r>
              <a:rPr sz="4400" spc="35" dirty="0"/>
              <a:t> </a:t>
            </a:r>
            <a:r>
              <a:rPr sz="4400" spc="-10" dirty="0"/>
              <a:t>chiffrement</a:t>
            </a:r>
            <a:endParaRPr sz="4400"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95" dirty="0"/>
              <a:t>7</a:t>
            </a:fld>
            <a:endParaRPr spc="-95" dirty="0"/>
          </a:p>
        </p:txBody>
      </p:sp>
      <p:sp>
        <p:nvSpPr>
          <p:cNvPr id="16" name="object 16"/>
          <p:cNvSpPr txBox="1"/>
          <p:nvPr/>
        </p:nvSpPr>
        <p:spPr>
          <a:xfrm>
            <a:off x="4514963" y="6773523"/>
            <a:ext cx="2218690" cy="1206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7820" marR="5080" indent="-325755">
              <a:lnSpc>
                <a:spcPct val="136000"/>
              </a:lnSpc>
              <a:spcBef>
                <a:spcPts val="100"/>
              </a:spcBef>
            </a:pPr>
            <a:r>
              <a:rPr sz="2850" b="1" dirty="0">
                <a:latin typeface="Times New Roman"/>
                <a:cs typeface="Times New Roman"/>
              </a:rPr>
              <a:t>Le</a:t>
            </a:r>
            <a:r>
              <a:rPr sz="2850" b="1" spc="-55" dirty="0">
                <a:latin typeface="Times New Roman"/>
                <a:cs typeface="Times New Roman"/>
              </a:rPr>
              <a:t> </a:t>
            </a:r>
            <a:r>
              <a:rPr sz="2850" b="1" spc="-80" dirty="0">
                <a:latin typeface="Times New Roman"/>
                <a:cs typeface="Times New Roman"/>
              </a:rPr>
              <a:t>chiffrement </a:t>
            </a:r>
            <a:r>
              <a:rPr sz="2850" b="1" spc="-10" dirty="0">
                <a:latin typeface="Times New Roman"/>
                <a:cs typeface="Times New Roman"/>
              </a:rPr>
              <a:t>symétrique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813440" y="6773523"/>
            <a:ext cx="2218690" cy="1206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0" marR="5080" indent="-235585">
              <a:lnSpc>
                <a:spcPct val="136000"/>
              </a:lnSpc>
              <a:spcBef>
                <a:spcPts val="100"/>
              </a:spcBef>
            </a:pPr>
            <a:r>
              <a:rPr sz="2850" b="1" dirty="0">
                <a:latin typeface="Times New Roman"/>
                <a:cs typeface="Times New Roman"/>
              </a:rPr>
              <a:t>Le</a:t>
            </a:r>
            <a:r>
              <a:rPr sz="2850" b="1" spc="-55" dirty="0">
                <a:latin typeface="Times New Roman"/>
                <a:cs typeface="Times New Roman"/>
              </a:rPr>
              <a:t> </a:t>
            </a:r>
            <a:r>
              <a:rPr sz="2850" b="1" spc="-80" dirty="0">
                <a:latin typeface="Times New Roman"/>
                <a:cs typeface="Times New Roman"/>
              </a:rPr>
              <a:t>chiffrement </a:t>
            </a:r>
            <a:r>
              <a:rPr sz="2850" b="1" spc="-10" dirty="0">
                <a:latin typeface="Times New Roman"/>
                <a:cs typeface="Times New Roman"/>
              </a:rPr>
              <a:t>asymétrique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222869" y="6764703"/>
            <a:ext cx="2218690" cy="1206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0545" marR="5080" indent="-538480">
              <a:lnSpc>
                <a:spcPct val="136000"/>
              </a:lnSpc>
              <a:spcBef>
                <a:spcPts val="100"/>
              </a:spcBef>
            </a:pPr>
            <a:r>
              <a:rPr sz="2850" b="1" dirty="0">
                <a:latin typeface="Times New Roman"/>
                <a:cs typeface="Times New Roman"/>
              </a:rPr>
              <a:t>Le</a:t>
            </a:r>
            <a:r>
              <a:rPr sz="2850" b="1" spc="-55" dirty="0">
                <a:latin typeface="Times New Roman"/>
                <a:cs typeface="Times New Roman"/>
              </a:rPr>
              <a:t> </a:t>
            </a:r>
            <a:r>
              <a:rPr sz="2850" b="1" spc="-80" dirty="0">
                <a:latin typeface="Times New Roman"/>
                <a:cs typeface="Times New Roman"/>
              </a:rPr>
              <a:t>chiffrement </a:t>
            </a:r>
            <a:r>
              <a:rPr sz="2850" b="1" spc="-10" dirty="0">
                <a:latin typeface="Times New Roman"/>
                <a:cs typeface="Times New Roman"/>
              </a:rPr>
              <a:t>hybride</a:t>
            </a:r>
            <a:endParaRPr sz="2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612" y="512176"/>
            <a:ext cx="904240" cy="1033780"/>
          </a:xfrm>
          <a:custGeom>
            <a:avLst/>
            <a:gdLst/>
            <a:ahLst/>
            <a:cxnLst/>
            <a:rect l="l" t="t" r="r" b="b"/>
            <a:pathLst>
              <a:path w="904239" h="1033780">
                <a:moveTo>
                  <a:pt x="0" y="1033158"/>
                </a:moveTo>
                <a:lnTo>
                  <a:pt x="0" y="0"/>
                </a:lnTo>
                <a:lnTo>
                  <a:pt x="904014" y="516579"/>
                </a:lnTo>
                <a:lnTo>
                  <a:pt x="0" y="1033158"/>
                </a:lnTo>
                <a:close/>
              </a:path>
            </a:pathLst>
          </a:custGeom>
          <a:solidFill>
            <a:srgbClr val="B40C1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45925" y="6084674"/>
            <a:ext cx="10991849" cy="368617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9460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140"/>
              </a:spcBef>
            </a:pPr>
            <a:r>
              <a:rPr sz="4400" dirty="0"/>
              <a:t>Le</a:t>
            </a:r>
            <a:r>
              <a:rPr sz="4400" spc="25" dirty="0"/>
              <a:t> </a:t>
            </a:r>
            <a:r>
              <a:rPr sz="4400" dirty="0"/>
              <a:t>chiffrement</a:t>
            </a:r>
            <a:r>
              <a:rPr sz="4400" spc="30" dirty="0"/>
              <a:t> </a:t>
            </a:r>
            <a:r>
              <a:rPr sz="4400" spc="-10" dirty="0"/>
              <a:t>symétrique</a:t>
            </a:r>
            <a:endParaRPr sz="4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95" dirty="0"/>
              <a:t>8</a:t>
            </a:fld>
            <a:endParaRPr spc="-95" dirty="0"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spc="75" dirty="0"/>
              <a:t>Le</a:t>
            </a:r>
            <a:r>
              <a:rPr sz="2750" spc="-10" dirty="0"/>
              <a:t> </a:t>
            </a:r>
            <a:r>
              <a:rPr sz="2750" spc="50" dirty="0"/>
              <a:t>chiffrement</a:t>
            </a:r>
            <a:r>
              <a:rPr sz="2750" dirty="0"/>
              <a:t> </a:t>
            </a:r>
            <a:r>
              <a:rPr sz="2750" spc="65" dirty="0"/>
              <a:t>symétrique</a:t>
            </a:r>
            <a:r>
              <a:rPr sz="2750" dirty="0"/>
              <a:t> est </a:t>
            </a:r>
            <a:r>
              <a:rPr sz="2750" spc="90" dirty="0"/>
              <a:t>une</a:t>
            </a:r>
            <a:r>
              <a:rPr sz="2750" dirty="0"/>
              <a:t> </a:t>
            </a:r>
            <a:r>
              <a:rPr sz="2750" spc="100" dirty="0"/>
              <a:t>méthode</a:t>
            </a:r>
            <a:r>
              <a:rPr sz="2750" dirty="0"/>
              <a:t> </a:t>
            </a:r>
            <a:r>
              <a:rPr sz="2750" spc="85" dirty="0"/>
              <a:t>cryptographique</a:t>
            </a:r>
            <a:r>
              <a:rPr sz="2750" dirty="0"/>
              <a:t> </a:t>
            </a:r>
            <a:r>
              <a:rPr sz="2750" spc="90" dirty="0"/>
              <a:t>qui</a:t>
            </a:r>
            <a:r>
              <a:rPr sz="2750" dirty="0"/>
              <a:t> utilise</a:t>
            </a:r>
            <a:r>
              <a:rPr sz="2750" spc="5" dirty="0"/>
              <a:t> </a:t>
            </a:r>
            <a:r>
              <a:rPr sz="2750" b="1" spc="-60" dirty="0">
                <a:latin typeface="Times New Roman"/>
                <a:cs typeface="Times New Roman"/>
              </a:rPr>
              <a:t>une</a:t>
            </a:r>
            <a:r>
              <a:rPr sz="2750" b="1" dirty="0">
                <a:latin typeface="Times New Roman"/>
                <a:cs typeface="Times New Roman"/>
              </a:rPr>
              <a:t> </a:t>
            </a:r>
            <a:r>
              <a:rPr sz="2750" b="1" spc="-10" dirty="0">
                <a:latin typeface="Times New Roman"/>
                <a:cs typeface="Times New Roman"/>
              </a:rPr>
              <a:t>seule</a:t>
            </a:r>
            <a:r>
              <a:rPr sz="2750" b="1" spc="-5" dirty="0">
                <a:latin typeface="Times New Roman"/>
                <a:cs typeface="Times New Roman"/>
              </a:rPr>
              <a:t> </a:t>
            </a:r>
            <a:r>
              <a:rPr sz="2750" b="1" dirty="0">
                <a:latin typeface="Times New Roman"/>
                <a:cs typeface="Times New Roman"/>
              </a:rPr>
              <a:t>clé</a:t>
            </a:r>
            <a:r>
              <a:rPr sz="2750" b="1" spc="5" dirty="0">
                <a:latin typeface="Times New Roman"/>
                <a:cs typeface="Times New Roman"/>
              </a:rPr>
              <a:t> </a:t>
            </a:r>
            <a:r>
              <a:rPr sz="2750" b="1" spc="-25" dirty="0">
                <a:latin typeface="Times New Roman"/>
                <a:cs typeface="Times New Roman"/>
              </a:rPr>
              <a:t>secrète</a:t>
            </a:r>
            <a:r>
              <a:rPr sz="2750" b="1" dirty="0">
                <a:latin typeface="Times New Roman"/>
                <a:cs typeface="Times New Roman"/>
              </a:rPr>
              <a:t> </a:t>
            </a:r>
            <a:r>
              <a:rPr sz="2750" b="1" spc="-95" dirty="0">
                <a:latin typeface="Times New Roman"/>
                <a:cs typeface="Times New Roman"/>
              </a:rPr>
              <a:t>pour</a:t>
            </a:r>
            <a:r>
              <a:rPr sz="2750" b="1" dirty="0">
                <a:latin typeface="Times New Roman"/>
                <a:cs typeface="Times New Roman"/>
              </a:rPr>
              <a:t> </a:t>
            </a:r>
            <a:r>
              <a:rPr sz="2750" b="1" spc="-65" dirty="0">
                <a:latin typeface="Times New Roman"/>
                <a:cs typeface="Times New Roman"/>
              </a:rPr>
              <a:t>chiffrer</a:t>
            </a:r>
            <a:r>
              <a:rPr sz="2750" b="1" dirty="0">
                <a:latin typeface="Times New Roman"/>
                <a:cs typeface="Times New Roman"/>
              </a:rPr>
              <a:t> </a:t>
            </a:r>
            <a:r>
              <a:rPr sz="2750" b="1" spc="-25" dirty="0">
                <a:latin typeface="Times New Roman"/>
                <a:cs typeface="Times New Roman"/>
              </a:rPr>
              <a:t>et</a:t>
            </a:r>
            <a:endParaRPr sz="2750">
              <a:latin typeface="Times New Roman"/>
              <a:cs typeface="Times New Roman"/>
            </a:endParaRPr>
          </a:p>
          <a:p>
            <a:pPr marL="12700" marR="292735">
              <a:lnSpc>
                <a:spcPct val="172700"/>
              </a:lnSpc>
              <a:spcBef>
                <a:spcPts val="5"/>
              </a:spcBef>
            </a:pPr>
            <a:r>
              <a:rPr sz="2750" b="1" spc="-65" dirty="0">
                <a:latin typeface="Times New Roman"/>
                <a:cs typeface="Times New Roman"/>
              </a:rPr>
              <a:t>déchiffrer</a:t>
            </a:r>
            <a:r>
              <a:rPr sz="2750" b="1" dirty="0">
                <a:latin typeface="Times New Roman"/>
                <a:cs typeface="Times New Roman"/>
              </a:rPr>
              <a:t> les</a:t>
            </a:r>
            <a:r>
              <a:rPr sz="2750" b="1" spc="5" dirty="0">
                <a:latin typeface="Times New Roman"/>
                <a:cs typeface="Times New Roman"/>
              </a:rPr>
              <a:t> </a:t>
            </a:r>
            <a:r>
              <a:rPr sz="2750" b="1" spc="-35" dirty="0">
                <a:latin typeface="Times New Roman"/>
                <a:cs typeface="Times New Roman"/>
              </a:rPr>
              <a:t>données.</a:t>
            </a:r>
            <a:r>
              <a:rPr sz="2750" b="1" dirty="0">
                <a:latin typeface="Times New Roman"/>
                <a:cs typeface="Times New Roman"/>
              </a:rPr>
              <a:t> </a:t>
            </a:r>
            <a:r>
              <a:rPr sz="2750" spc="50" dirty="0"/>
              <a:t>L’émetteur</a:t>
            </a:r>
            <a:r>
              <a:rPr sz="2750" dirty="0"/>
              <a:t> </a:t>
            </a:r>
            <a:r>
              <a:rPr sz="2750" spc="70" dirty="0"/>
              <a:t>et</a:t>
            </a:r>
            <a:r>
              <a:rPr sz="2750" spc="5" dirty="0"/>
              <a:t> </a:t>
            </a:r>
            <a:r>
              <a:rPr sz="2750" dirty="0"/>
              <a:t>le </a:t>
            </a:r>
            <a:r>
              <a:rPr sz="2750" spc="70" dirty="0"/>
              <a:t>destinataire</a:t>
            </a:r>
            <a:r>
              <a:rPr sz="2750" spc="5" dirty="0"/>
              <a:t> </a:t>
            </a:r>
            <a:r>
              <a:rPr sz="2750" spc="70" dirty="0"/>
              <a:t>doivent</a:t>
            </a:r>
            <a:r>
              <a:rPr sz="2750" dirty="0"/>
              <a:t> </a:t>
            </a:r>
            <a:r>
              <a:rPr sz="2750" spc="105" dirty="0"/>
              <a:t>partager</a:t>
            </a:r>
            <a:r>
              <a:rPr sz="2750" dirty="0"/>
              <a:t> </a:t>
            </a:r>
            <a:r>
              <a:rPr sz="2750" spc="50" dirty="0"/>
              <a:t>cette</a:t>
            </a:r>
            <a:r>
              <a:rPr sz="2750" spc="5" dirty="0"/>
              <a:t> </a:t>
            </a:r>
            <a:r>
              <a:rPr sz="2750" dirty="0"/>
              <a:t>clé </a:t>
            </a:r>
            <a:r>
              <a:rPr sz="2750" spc="65" dirty="0"/>
              <a:t>de</a:t>
            </a:r>
            <a:r>
              <a:rPr sz="2750" spc="5" dirty="0"/>
              <a:t> </a:t>
            </a:r>
            <a:r>
              <a:rPr sz="2750" spc="70" dirty="0"/>
              <a:t>manière</a:t>
            </a:r>
            <a:r>
              <a:rPr sz="2750" dirty="0"/>
              <a:t> sécurisée</a:t>
            </a:r>
            <a:r>
              <a:rPr sz="2750" spc="5" dirty="0"/>
              <a:t> </a:t>
            </a:r>
            <a:r>
              <a:rPr sz="2750" spc="85" dirty="0"/>
              <a:t>afin</a:t>
            </a:r>
            <a:r>
              <a:rPr sz="2750" dirty="0"/>
              <a:t> </a:t>
            </a:r>
            <a:r>
              <a:rPr sz="2750" spc="40" dirty="0"/>
              <a:t>de </a:t>
            </a:r>
            <a:r>
              <a:rPr sz="2750" spc="110" dirty="0"/>
              <a:t>garantir</a:t>
            </a:r>
            <a:r>
              <a:rPr sz="2750" spc="45" dirty="0"/>
              <a:t> </a:t>
            </a:r>
            <a:r>
              <a:rPr sz="2750" spc="65" dirty="0"/>
              <a:t>la</a:t>
            </a:r>
            <a:r>
              <a:rPr sz="2750" spc="50" dirty="0"/>
              <a:t> </a:t>
            </a:r>
            <a:r>
              <a:rPr sz="2750" spc="55" dirty="0"/>
              <a:t>confidentialité</a:t>
            </a:r>
            <a:r>
              <a:rPr sz="2750" spc="45" dirty="0"/>
              <a:t> </a:t>
            </a:r>
            <a:r>
              <a:rPr sz="2750" dirty="0"/>
              <a:t>des</a:t>
            </a:r>
            <a:r>
              <a:rPr sz="2750" spc="50" dirty="0"/>
              <a:t> </a:t>
            </a:r>
            <a:r>
              <a:rPr sz="2750" spc="-10" dirty="0"/>
              <a:t>échanges.</a:t>
            </a:r>
            <a:endParaRPr sz="2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750"/>
          </a:p>
          <a:p>
            <a:pPr>
              <a:lnSpc>
                <a:spcPct val="100000"/>
              </a:lnSpc>
              <a:spcBef>
                <a:spcPts val="1775"/>
              </a:spcBef>
            </a:pPr>
            <a:endParaRPr sz="2750"/>
          </a:p>
          <a:p>
            <a:pPr marL="12700">
              <a:lnSpc>
                <a:spcPct val="100000"/>
              </a:lnSpc>
            </a:pPr>
            <a:r>
              <a:rPr sz="2750" b="1" spc="-25" dirty="0">
                <a:solidFill>
                  <a:srgbClr val="941100"/>
                </a:solidFill>
                <a:latin typeface="Times New Roman"/>
                <a:cs typeface="Times New Roman"/>
              </a:rPr>
              <a:t>Exemple</a:t>
            </a:r>
            <a:r>
              <a:rPr sz="2750" b="1" spc="-60" dirty="0">
                <a:solidFill>
                  <a:srgbClr val="941100"/>
                </a:solidFill>
                <a:latin typeface="Times New Roman"/>
                <a:cs typeface="Times New Roman"/>
              </a:rPr>
              <a:t> </a:t>
            </a:r>
            <a:r>
              <a:rPr sz="2750" b="1" spc="-55" dirty="0">
                <a:solidFill>
                  <a:srgbClr val="941100"/>
                </a:solidFill>
                <a:latin typeface="Times New Roman"/>
                <a:cs typeface="Times New Roman"/>
              </a:rPr>
              <a:t>d’algorithmes </a:t>
            </a:r>
            <a:r>
              <a:rPr sz="2750" b="1" dirty="0">
                <a:solidFill>
                  <a:srgbClr val="941100"/>
                </a:solidFill>
                <a:latin typeface="Times New Roman"/>
                <a:cs typeface="Times New Roman"/>
              </a:rPr>
              <a:t>:</a:t>
            </a:r>
            <a:r>
              <a:rPr sz="2750" b="1" spc="-55" dirty="0">
                <a:solidFill>
                  <a:srgbClr val="941100"/>
                </a:solidFill>
                <a:latin typeface="Times New Roman"/>
                <a:cs typeface="Times New Roman"/>
              </a:rPr>
              <a:t> </a:t>
            </a:r>
            <a:r>
              <a:rPr sz="2750" spc="55" dirty="0"/>
              <a:t>AES,</a:t>
            </a:r>
            <a:r>
              <a:rPr sz="2750" spc="-55" dirty="0"/>
              <a:t> </a:t>
            </a:r>
            <a:r>
              <a:rPr sz="2750" spc="95" dirty="0"/>
              <a:t>DES,</a:t>
            </a:r>
            <a:r>
              <a:rPr sz="2750" spc="-55" dirty="0"/>
              <a:t> </a:t>
            </a:r>
            <a:r>
              <a:rPr sz="2750" spc="160" dirty="0"/>
              <a:t>IDEA,</a:t>
            </a:r>
            <a:r>
              <a:rPr sz="2750" spc="-60" dirty="0"/>
              <a:t> </a:t>
            </a:r>
            <a:r>
              <a:rPr sz="2750" spc="45" dirty="0"/>
              <a:t>RC4</a:t>
            </a:r>
            <a:endParaRPr sz="2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28700" y="2118882"/>
            <a:ext cx="16230600" cy="6955155"/>
            <a:chOff x="1028700" y="2118882"/>
            <a:chExt cx="16230600" cy="69551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39825" y="4216096"/>
              <a:ext cx="95250" cy="9524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39825" y="6044896"/>
              <a:ext cx="95250" cy="9524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39825" y="7416496"/>
              <a:ext cx="95250" cy="9524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69942" y="4216096"/>
              <a:ext cx="95250" cy="9524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69942" y="6044896"/>
              <a:ext cx="95250" cy="9524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69942" y="7416496"/>
              <a:ext cx="95250" cy="95249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454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140"/>
              </a:spcBef>
            </a:pPr>
            <a:r>
              <a:rPr sz="4400" dirty="0"/>
              <a:t>Avantages</a:t>
            </a:r>
            <a:r>
              <a:rPr sz="4400" spc="15" dirty="0"/>
              <a:t> </a:t>
            </a:r>
            <a:r>
              <a:rPr sz="4400" dirty="0"/>
              <a:t>et</a:t>
            </a:r>
            <a:r>
              <a:rPr sz="4400" spc="20" dirty="0"/>
              <a:t> </a:t>
            </a:r>
            <a:r>
              <a:rPr sz="4400" dirty="0"/>
              <a:t>limites</a:t>
            </a:r>
            <a:r>
              <a:rPr sz="4400" spc="15" dirty="0"/>
              <a:t> </a:t>
            </a:r>
            <a:r>
              <a:rPr sz="4400" dirty="0"/>
              <a:t>du</a:t>
            </a:r>
            <a:r>
              <a:rPr sz="4400" spc="20" dirty="0"/>
              <a:t> </a:t>
            </a:r>
            <a:r>
              <a:rPr sz="4400" dirty="0"/>
              <a:t>chiffrement</a:t>
            </a:r>
            <a:r>
              <a:rPr sz="4400" spc="20" dirty="0"/>
              <a:t> </a:t>
            </a:r>
            <a:r>
              <a:rPr sz="4400" spc="-10" dirty="0"/>
              <a:t>symétrique</a:t>
            </a:r>
            <a:endParaRPr sz="4400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95" dirty="0"/>
              <a:t>9</a:t>
            </a:fld>
            <a:endParaRPr spc="-95" dirty="0"/>
          </a:p>
        </p:txBody>
      </p:sp>
      <p:sp>
        <p:nvSpPr>
          <p:cNvPr id="10" name="object 10"/>
          <p:cNvSpPr txBox="1"/>
          <p:nvPr/>
        </p:nvSpPr>
        <p:spPr>
          <a:xfrm>
            <a:off x="1978198" y="3948126"/>
            <a:ext cx="6300470" cy="460692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450215">
              <a:lnSpc>
                <a:spcPts val="3600"/>
              </a:lnSpc>
              <a:spcBef>
                <a:spcPts val="280"/>
              </a:spcBef>
            </a:pPr>
            <a:r>
              <a:rPr sz="3050" b="1" spc="-45" dirty="0">
                <a:latin typeface="Times New Roman"/>
                <a:cs typeface="Times New Roman"/>
              </a:rPr>
              <a:t>Confidentialité</a:t>
            </a:r>
            <a:r>
              <a:rPr sz="3050" b="1" spc="-145" dirty="0">
                <a:latin typeface="Times New Roman"/>
                <a:cs typeface="Times New Roman"/>
              </a:rPr>
              <a:t> </a:t>
            </a:r>
            <a:r>
              <a:rPr sz="3050" b="1" spc="-50" dirty="0">
                <a:latin typeface="Times New Roman"/>
                <a:cs typeface="Times New Roman"/>
              </a:rPr>
              <a:t>assurée</a:t>
            </a:r>
            <a:r>
              <a:rPr sz="3050" b="1" spc="-70" dirty="0">
                <a:latin typeface="Times New Roman"/>
                <a:cs typeface="Times New Roman"/>
              </a:rPr>
              <a:t> </a:t>
            </a:r>
            <a:r>
              <a:rPr sz="3050" b="1" spc="-200" dirty="0">
                <a:latin typeface="Times New Roman"/>
                <a:cs typeface="Times New Roman"/>
              </a:rPr>
              <a:t>:</a:t>
            </a:r>
            <a:r>
              <a:rPr sz="3050" b="1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les</a:t>
            </a:r>
            <a:r>
              <a:rPr sz="3050" spc="-70" dirty="0">
                <a:latin typeface="Times New Roman"/>
                <a:cs typeface="Times New Roman"/>
              </a:rPr>
              <a:t> </a:t>
            </a:r>
            <a:r>
              <a:rPr sz="3050" spc="65" dirty="0">
                <a:latin typeface="Times New Roman"/>
                <a:cs typeface="Times New Roman"/>
              </a:rPr>
              <a:t>données </a:t>
            </a:r>
            <a:r>
              <a:rPr sz="3050" spc="75" dirty="0">
                <a:latin typeface="Times New Roman"/>
                <a:cs typeface="Times New Roman"/>
              </a:rPr>
              <a:t>restent</a:t>
            </a:r>
            <a:r>
              <a:rPr sz="3050" spc="5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protégées</a:t>
            </a:r>
            <a:r>
              <a:rPr sz="3050" spc="70" dirty="0">
                <a:latin typeface="Times New Roman"/>
                <a:cs typeface="Times New Roman"/>
              </a:rPr>
              <a:t> </a:t>
            </a:r>
            <a:r>
              <a:rPr sz="3050" spc="155" dirty="0">
                <a:latin typeface="Times New Roman"/>
                <a:cs typeface="Times New Roman"/>
              </a:rPr>
              <a:t>tant</a:t>
            </a:r>
            <a:r>
              <a:rPr sz="3050" spc="70" dirty="0">
                <a:latin typeface="Times New Roman"/>
                <a:cs typeface="Times New Roman"/>
              </a:rPr>
              <a:t> </a:t>
            </a:r>
            <a:r>
              <a:rPr sz="3050" spc="90" dirty="0">
                <a:latin typeface="Times New Roman"/>
                <a:cs typeface="Times New Roman"/>
              </a:rPr>
              <a:t>que</a:t>
            </a:r>
            <a:r>
              <a:rPr sz="3050" spc="70" dirty="0">
                <a:latin typeface="Times New Roman"/>
                <a:cs typeface="Times New Roman"/>
              </a:rPr>
              <a:t> la </a:t>
            </a:r>
            <a:r>
              <a:rPr sz="3050" dirty="0">
                <a:latin typeface="Times New Roman"/>
                <a:cs typeface="Times New Roman"/>
              </a:rPr>
              <a:t>clé</a:t>
            </a:r>
            <a:r>
              <a:rPr sz="3050" spc="70" dirty="0">
                <a:latin typeface="Times New Roman"/>
                <a:cs typeface="Times New Roman"/>
              </a:rPr>
              <a:t> </a:t>
            </a:r>
            <a:r>
              <a:rPr sz="3050" spc="-25" dirty="0">
                <a:latin typeface="Times New Roman"/>
                <a:cs typeface="Times New Roman"/>
              </a:rPr>
              <a:t>est </a:t>
            </a:r>
            <a:r>
              <a:rPr sz="3050" spc="-10" dirty="0">
                <a:latin typeface="Times New Roman"/>
                <a:cs typeface="Times New Roman"/>
              </a:rPr>
              <a:t>secrète.</a:t>
            </a:r>
            <a:endParaRPr sz="3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3050">
              <a:latin typeface="Times New Roman"/>
              <a:cs typeface="Times New Roman"/>
            </a:endParaRPr>
          </a:p>
          <a:p>
            <a:pPr marL="12700" marR="5080">
              <a:lnSpc>
                <a:spcPts val="3600"/>
              </a:lnSpc>
            </a:pPr>
            <a:r>
              <a:rPr sz="3050" b="1" spc="-40" dirty="0">
                <a:latin typeface="Times New Roman"/>
                <a:cs typeface="Times New Roman"/>
              </a:rPr>
              <a:t>Rapidité</a:t>
            </a:r>
            <a:r>
              <a:rPr sz="3050" b="1" spc="-100" dirty="0">
                <a:latin typeface="Times New Roman"/>
                <a:cs typeface="Times New Roman"/>
              </a:rPr>
              <a:t> </a:t>
            </a:r>
            <a:r>
              <a:rPr sz="3050" b="1" spc="-70" dirty="0">
                <a:latin typeface="Times New Roman"/>
                <a:cs typeface="Times New Roman"/>
              </a:rPr>
              <a:t>d’exécution</a:t>
            </a:r>
            <a:r>
              <a:rPr sz="3050" b="1" spc="-45" dirty="0">
                <a:latin typeface="Times New Roman"/>
                <a:cs typeface="Times New Roman"/>
              </a:rPr>
              <a:t> </a:t>
            </a:r>
            <a:r>
              <a:rPr sz="3050" b="1" spc="-200" dirty="0">
                <a:latin typeface="Times New Roman"/>
                <a:cs typeface="Times New Roman"/>
              </a:rPr>
              <a:t>:</a:t>
            </a:r>
            <a:r>
              <a:rPr sz="3050" b="1" dirty="0">
                <a:latin typeface="Times New Roman"/>
                <a:cs typeface="Times New Roman"/>
              </a:rPr>
              <a:t> </a:t>
            </a:r>
            <a:r>
              <a:rPr sz="3050" spc="105" dirty="0">
                <a:latin typeface="Times New Roman"/>
                <a:cs typeface="Times New Roman"/>
              </a:rPr>
              <a:t>beaucoup</a:t>
            </a:r>
            <a:r>
              <a:rPr sz="3050" spc="-50" dirty="0">
                <a:latin typeface="Times New Roman"/>
                <a:cs typeface="Times New Roman"/>
              </a:rPr>
              <a:t> </a:t>
            </a:r>
            <a:r>
              <a:rPr sz="3050" spc="40" dirty="0">
                <a:latin typeface="Times New Roman"/>
                <a:cs typeface="Times New Roman"/>
              </a:rPr>
              <a:t>plus </a:t>
            </a:r>
            <a:r>
              <a:rPr sz="3050" spc="80" dirty="0">
                <a:latin typeface="Times New Roman"/>
                <a:cs typeface="Times New Roman"/>
              </a:rPr>
              <a:t>rapide</a:t>
            </a:r>
            <a:r>
              <a:rPr sz="3050" spc="-10" dirty="0">
                <a:latin typeface="Times New Roman"/>
                <a:cs typeface="Times New Roman"/>
              </a:rPr>
              <a:t> </a:t>
            </a:r>
            <a:r>
              <a:rPr sz="3050" spc="90" dirty="0">
                <a:latin typeface="Times New Roman"/>
                <a:cs typeface="Times New Roman"/>
              </a:rPr>
              <a:t>que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les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85" dirty="0">
                <a:latin typeface="Times New Roman"/>
                <a:cs typeface="Times New Roman"/>
              </a:rPr>
              <a:t>méthodes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40" dirty="0">
                <a:latin typeface="Times New Roman"/>
                <a:cs typeface="Times New Roman"/>
              </a:rPr>
              <a:t>asymétriques.</a:t>
            </a:r>
            <a:endParaRPr sz="3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3050">
              <a:latin typeface="Times New Roman"/>
              <a:cs typeface="Times New Roman"/>
            </a:endParaRPr>
          </a:p>
          <a:p>
            <a:pPr marL="12700" marR="548640">
              <a:lnSpc>
                <a:spcPts val="3600"/>
              </a:lnSpc>
            </a:pPr>
            <a:r>
              <a:rPr sz="3050" b="1" spc="-25" dirty="0">
                <a:latin typeface="Times New Roman"/>
                <a:cs typeface="Times New Roman"/>
              </a:rPr>
              <a:t>Facilité</a:t>
            </a:r>
            <a:r>
              <a:rPr sz="3050" b="1" spc="-10" dirty="0">
                <a:latin typeface="Times New Roman"/>
                <a:cs typeface="Times New Roman"/>
              </a:rPr>
              <a:t> </a:t>
            </a:r>
            <a:r>
              <a:rPr sz="3050" b="1" spc="-85" dirty="0">
                <a:latin typeface="Times New Roman"/>
                <a:cs typeface="Times New Roman"/>
              </a:rPr>
              <a:t>d’implémentation</a:t>
            </a:r>
            <a:r>
              <a:rPr sz="3050" b="1" spc="-5" dirty="0">
                <a:latin typeface="Times New Roman"/>
                <a:cs typeface="Times New Roman"/>
              </a:rPr>
              <a:t> </a:t>
            </a:r>
            <a:r>
              <a:rPr sz="3050" b="1" spc="-200" dirty="0">
                <a:latin typeface="Times New Roman"/>
                <a:cs typeface="Times New Roman"/>
              </a:rPr>
              <a:t>:</a:t>
            </a:r>
            <a:r>
              <a:rPr sz="3050" b="1" spc="-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simple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125" dirty="0">
                <a:latin typeface="Times New Roman"/>
                <a:cs typeface="Times New Roman"/>
              </a:rPr>
              <a:t>à </a:t>
            </a:r>
            <a:r>
              <a:rPr sz="3050" spc="50" dirty="0">
                <a:latin typeface="Times New Roman"/>
                <a:cs typeface="Times New Roman"/>
              </a:rPr>
              <a:t>déployer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spc="95" dirty="0">
                <a:latin typeface="Times New Roman"/>
                <a:cs typeface="Times New Roman"/>
              </a:rPr>
              <a:t>sur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logiciels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spc="70" dirty="0">
                <a:latin typeface="Times New Roman"/>
                <a:cs typeface="Times New Roman"/>
              </a:rPr>
              <a:t>et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spc="-10" dirty="0">
                <a:latin typeface="Times New Roman"/>
                <a:cs typeface="Times New Roman"/>
              </a:rPr>
              <a:t>circuits matériels.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008315" y="3948126"/>
            <a:ext cx="7214870" cy="460692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123189">
              <a:lnSpc>
                <a:spcPts val="3600"/>
              </a:lnSpc>
              <a:spcBef>
                <a:spcPts val="280"/>
              </a:spcBef>
            </a:pPr>
            <a:r>
              <a:rPr sz="3050" b="1" spc="-45" dirty="0">
                <a:latin typeface="Times New Roman"/>
                <a:cs typeface="Times New Roman"/>
              </a:rPr>
              <a:t>Distribution</a:t>
            </a:r>
            <a:r>
              <a:rPr sz="3050" b="1" spc="-114" dirty="0">
                <a:latin typeface="Times New Roman"/>
                <a:cs typeface="Times New Roman"/>
              </a:rPr>
              <a:t> </a:t>
            </a:r>
            <a:r>
              <a:rPr sz="3050" b="1" spc="-10" dirty="0">
                <a:latin typeface="Times New Roman"/>
                <a:cs typeface="Times New Roman"/>
              </a:rPr>
              <a:t>des</a:t>
            </a:r>
            <a:r>
              <a:rPr sz="3050" b="1" spc="-55" dirty="0">
                <a:latin typeface="Times New Roman"/>
                <a:cs typeface="Times New Roman"/>
              </a:rPr>
              <a:t> </a:t>
            </a:r>
            <a:r>
              <a:rPr sz="3050" b="1" dirty="0">
                <a:latin typeface="Times New Roman"/>
                <a:cs typeface="Times New Roman"/>
              </a:rPr>
              <a:t>clés</a:t>
            </a:r>
            <a:r>
              <a:rPr sz="3050" b="1" spc="-55" dirty="0">
                <a:latin typeface="Times New Roman"/>
                <a:cs typeface="Times New Roman"/>
              </a:rPr>
              <a:t> </a:t>
            </a:r>
            <a:r>
              <a:rPr sz="3050" b="1" spc="-200" dirty="0">
                <a:latin typeface="Times New Roman"/>
                <a:cs typeface="Times New Roman"/>
              </a:rPr>
              <a:t>:</a:t>
            </a:r>
            <a:r>
              <a:rPr sz="3050" b="1" spc="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il</a:t>
            </a:r>
            <a:r>
              <a:rPr sz="3050" spc="-60" dirty="0">
                <a:latin typeface="Times New Roman"/>
                <a:cs typeface="Times New Roman"/>
              </a:rPr>
              <a:t> </a:t>
            </a:r>
            <a:r>
              <a:rPr sz="3050" spc="114" dirty="0">
                <a:latin typeface="Times New Roman"/>
                <a:cs typeface="Times New Roman"/>
              </a:rPr>
              <a:t>faut</a:t>
            </a:r>
            <a:r>
              <a:rPr sz="3050" spc="-55" dirty="0">
                <a:latin typeface="Times New Roman"/>
                <a:cs typeface="Times New Roman"/>
              </a:rPr>
              <a:t> </a:t>
            </a:r>
            <a:r>
              <a:rPr sz="3050" spc="150" dirty="0">
                <a:latin typeface="Times New Roman"/>
                <a:cs typeface="Times New Roman"/>
              </a:rPr>
              <a:t>un</a:t>
            </a:r>
            <a:r>
              <a:rPr sz="3050" spc="-55" dirty="0">
                <a:latin typeface="Times New Roman"/>
                <a:cs typeface="Times New Roman"/>
              </a:rPr>
              <a:t> </a:t>
            </a:r>
            <a:r>
              <a:rPr sz="3050" spc="50" dirty="0">
                <a:latin typeface="Times New Roman"/>
                <a:cs typeface="Times New Roman"/>
              </a:rPr>
              <a:t>canal </a:t>
            </a:r>
            <a:r>
              <a:rPr sz="3050" dirty="0">
                <a:latin typeface="Times New Roman"/>
                <a:cs typeface="Times New Roman"/>
              </a:rPr>
              <a:t>sécurisé</a:t>
            </a:r>
            <a:r>
              <a:rPr sz="3050" spc="30" dirty="0">
                <a:latin typeface="Times New Roman"/>
                <a:cs typeface="Times New Roman"/>
              </a:rPr>
              <a:t> </a:t>
            </a:r>
            <a:r>
              <a:rPr sz="3050" spc="150" dirty="0">
                <a:latin typeface="Times New Roman"/>
                <a:cs typeface="Times New Roman"/>
              </a:rPr>
              <a:t>pour</a:t>
            </a:r>
            <a:r>
              <a:rPr sz="3050" spc="30" dirty="0">
                <a:latin typeface="Times New Roman"/>
                <a:cs typeface="Times New Roman"/>
              </a:rPr>
              <a:t> </a:t>
            </a:r>
            <a:r>
              <a:rPr sz="3050" spc="105" dirty="0">
                <a:latin typeface="Times New Roman"/>
                <a:cs typeface="Times New Roman"/>
              </a:rPr>
              <a:t>partager</a:t>
            </a:r>
            <a:r>
              <a:rPr sz="3050" spc="35" dirty="0">
                <a:latin typeface="Times New Roman"/>
                <a:cs typeface="Times New Roman"/>
              </a:rPr>
              <a:t> </a:t>
            </a:r>
            <a:r>
              <a:rPr sz="3050" spc="70" dirty="0">
                <a:latin typeface="Times New Roman"/>
                <a:cs typeface="Times New Roman"/>
              </a:rPr>
              <a:t>la</a:t>
            </a:r>
            <a:r>
              <a:rPr sz="3050" spc="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clé</a:t>
            </a:r>
            <a:r>
              <a:rPr sz="3050" spc="30" dirty="0">
                <a:latin typeface="Times New Roman"/>
                <a:cs typeface="Times New Roman"/>
              </a:rPr>
              <a:t> </a:t>
            </a:r>
            <a:r>
              <a:rPr sz="3050" spc="75" dirty="0">
                <a:latin typeface="Times New Roman"/>
                <a:cs typeface="Times New Roman"/>
              </a:rPr>
              <a:t>entre</a:t>
            </a:r>
            <a:r>
              <a:rPr sz="3050" spc="35" dirty="0">
                <a:latin typeface="Times New Roman"/>
                <a:cs typeface="Times New Roman"/>
              </a:rPr>
              <a:t> </a:t>
            </a:r>
            <a:r>
              <a:rPr sz="3050" spc="75" dirty="0">
                <a:latin typeface="Times New Roman"/>
                <a:cs typeface="Times New Roman"/>
              </a:rPr>
              <a:t>émetteur </a:t>
            </a:r>
            <a:r>
              <a:rPr sz="3050" spc="70" dirty="0">
                <a:latin typeface="Times New Roman"/>
                <a:cs typeface="Times New Roman"/>
              </a:rPr>
              <a:t>et</a:t>
            </a:r>
            <a:r>
              <a:rPr sz="3050" dirty="0">
                <a:latin typeface="Times New Roman"/>
                <a:cs typeface="Times New Roman"/>
              </a:rPr>
              <a:t> </a:t>
            </a:r>
            <a:r>
              <a:rPr sz="3050" spc="40" dirty="0">
                <a:latin typeface="Times New Roman"/>
                <a:cs typeface="Times New Roman"/>
              </a:rPr>
              <a:t>récepteur.</a:t>
            </a:r>
            <a:endParaRPr sz="3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3050">
              <a:latin typeface="Times New Roman"/>
              <a:cs typeface="Times New Roman"/>
            </a:endParaRPr>
          </a:p>
          <a:p>
            <a:pPr marL="12700" marR="5080">
              <a:lnSpc>
                <a:spcPts val="3600"/>
              </a:lnSpc>
            </a:pPr>
            <a:r>
              <a:rPr sz="3050" b="1" spc="-70" dirty="0">
                <a:latin typeface="Times New Roman"/>
                <a:cs typeface="Times New Roman"/>
              </a:rPr>
              <a:t>Nombre</a:t>
            </a:r>
            <a:r>
              <a:rPr sz="3050" b="1" spc="-105" dirty="0">
                <a:latin typeface="Times New Roman"/>
                <a:cs typeface="Times New Roman"/>
              </a:rPr>
              <a:t> </a:t>
            </a:r>
            <a:r>
              <a:rPr sz="3050" b="1" dirty="0">
                <a:latin typeface="Times New Roman"/>
                <a:cs typeface="Times New Roman"/>
              </a:rPr>
              <a:t>de</a:t>
            </a:r>
            <a:r>
              <a:rPr sz="3050" b="1" spc="-50" dirty="0">
                <a:latin typeface="Times New Roman"/>
                <a:cs typeface="Times New Roman"/>
              </a:rPr>
              <a:t> </a:t>
            </a:r>
            <a:r>
              <a:rPr sz="3050" b="1" dirty="0">
                <a:latin typeface="Times New Roman"/>
                <a:cs typeface="Times New Roman"/>
              </a:rPr>
              <a:t>clés</a:t>
            </a:r>
            <a:r>
              <a:rPr sz="3050" b="1" spc="-55" dirty="0">
                <a:latin typeface="Times New Roman"/>
                <a:cs typeface="Times New Roman"/>
              </a:rPr>
              <a:t> élevé</a:t>
            </a:r>
            <a:r>
              <a:rPr sz="3050" b="1" spc="-50" dirty="0">
                <a:latin typeface="Times New Roman"/>
                <a:cs typeface="Times New Roman"/>
              </a:rPr>
              <a:t> </a:t>
            </a:r>
            <a:r>
              <a:rPr sz="3050" b="1" spc="-200" dirty="0">
                <a:latin typeface="Times New Roman"/>
                <a:cs typeface="Times New Roman"/>
              </a:rPr>
              <a:t>:</a:t>
            </a:r>
            <a:r>
              <a:rPr sz="3050" b="1" dirty="0">
                <a:latin typeface="Times New Roman"/>
                <a:cs typeface="Times New Roman"/>
              </a:rPr>
              <a:t> </a:t>
            </a:r>
            <a:r>
              <a:rPr sz="3050" spc="150" dirty="0">
                <a:latin typeface="Times New Roman"/>
                <a:cs typeface="Times New Roman"/>
              </a:rPr>
              <a:t>pour</a:t>
            </a:r>
            <a:r>
              <a:rPr sz="3050" spc="-50" dirty="0">
                <a:latin typeface="Times New Roman"/>
                <a:cs typeface="Times New Roman"/>
              </a:rPr>
              <a:t> </a:t>
            </a:r>
            <a:r>
              <a:rPr sz="3050" spc="150" dirty="0">
                <a:latin typeface="Times New Roman"/>
                <a:cs typeface="Times New Roman"/>
              </a:rPr>
              <a:t>n</a:t>
            </a:r>
            <a:r>
              <a:rPr sz="3050" spc="-55" dirty="0">
                <a:latin typeface="Times New Roman"/>
                <a:cs typeface="Times New Roman"/>
              </a:rPr>
              <a:t> </a:t>
            </a:r>
            <a:r>
              <a:rPr sz="3050" spc="80" dirty="0">
                <a:latin typeface="Times New Roman"/>
                <a:cs typeface="Times New Roman"/>
              </a:rPr>
              <a:t>participants,</a:t>
            </a:r>
            <a:r>
              <a:rPr sz="3050" spc="-50" dirty="0">
                <a:latin typeface="Times New Roman"/>
                <a:cs typeface="Times New Roman"/>
              </a:rPr>
              <a:t> </a:t>
            </a:r>
            <a:r>
              <a:rPr sz="3050" spc="-25" dirty="0">
                <a:latin typeface="Times New Roman"/>
                <a:cs typeface="Times New Roman"/>
              </a:rPr>
              <a:t>il </a:t>
            </a:r>
            <a:r>
              <a:rPr sz="3050" spc="114" dirty="0">
                <a:latin typeface="Times New Roman"/>
                <a:cs typeface="Times New Roman"/>
              </a:rPr>
              <a:t>faut</a:t>
            </a:r>
            <a:r>
              <a:rPr sz="3050" spc="-15" dirty="0">
                <a:latin typeface="Times New Roman"/>
                <a:cs typeface="Times New Roman"/>
              </a:rPr>
              <a:t> </a:t>
            </a:r>
            <a:r>
              <a:rPr sz="3050" spc="50" dirty="0">
                <a:latin typeface="Times New Roman"/>
                <a:cs typeface="Times New Roman"/>
              </a:rPr>
              <a:t>générer</a:t>
            </a:r>
            <a:r>
              <a:rPr sz="3050" spc="-10" dirty="0">
                <a:latin typeface="Times New Roman"/>
                <a:cs typeface="Times New Roman"/>
              </a:rPr>
              <a:t> </a:t>
            </a:r>
            <a:r>
              <a:rPr sz="3050" spc="70" dirty="0">
                <a:latin typeface="Times New Roman"/>
                <a:cs typeface="Times New Roman"/>
              </a:rPr>
              <a:t>n(n-</a:t>
            </a:r>
            <a:r>
              <a:rPr sz="3050" dirty="0">
                <a:latin typeface="Times New Roman"/>
                <a:cs typeface="Times New Roman"/>
              </a:rPr>
              <a:t>1)/2</a:t>
            </a:r>
            <a:r>
              <a:rPr sz="3050" spc="-1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clés</a:t>
            </a:r>
            <a:r>
              <a:rPr sz="3050" spc="-15" dirty="0">
                <a:latin typeface="Times New Roman"/>
                <a:cs typeface="Times New Roman"/>
              </a:rPr>
              <a:t> </a:t>
            </a:r>
            <a:r>
              <a:rPr sz="3050" spc="-10" dirty="0">
                <a:latin typeface="Times New Roman"/>
                <a:cs typeface="Times New Roman"/>
              </a:rPr>
              <a:t>différentes.</a:t>
            </a:r>
            <a:endParaRPr sz="3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3050">
              <a:latin typeface="Times New Roman"/>
              <a:cs typeface="Times New Roman"/>
            </a:endParaRPr>
          </a:p>
          <a:p>
            <a:pPr marL="12700" marR="520065">
              <a:lnSpc>
                <a:spcPts val="3600"/>
              </a:lnSpc>
            </a:pPr>
            <a:r>
              <a:rPr sz="3050" b="1" dirty="0">
                <a:latin typeface="Times New Roman"/>
                <a:cs typeface="Times New Roman"/>
              </a:rPr>
              <a:t>Pas</a:t>
            </a:r>
            <a:r>
              <a:rPr sz="3050" b="1" spc="40" dirty="0">
                <a:latin typeface="Times New Roman"/>
                <a:cs typeface="Times New Roman"/>
              </a:rPr>
              <a:t> </a:t>
            </a:r>
            <a:r>
              <a:rPr sz="3050" b="1" dirty="0">
                <a:latin typeface="Times New Roman"/>
                <a:cs typeface="Times New Roman"/>
              </a:rPr>
              <a:t>de</a:t>
            </a:r>
            <a:r>
              <a:rPr sz="3050" b="1" spc="45" dirty="0">
                <a:latin typeface="Times New Roman"/>
                <a:cs typeface="Times New Roman"/>
              </a:rPr>
              <a:t> </a:t>
            </a:r>
            <a:r>
              <a:rPr sz="3050" b="1" spc="-90" dirty="0">
                <a:latin typeface="Times New Roman"/>
                <a:cs typeface="Times New Roman"/>
              </a:rPr>
              <a:t>non-</a:t>
            </a:r>
            <a:r>
              <a:rPr sz="3050" b="1" spc="-85" dirty="0">
                <a:latin typeface="Times New Roman"/>
                <a:cs typeface="Times New Roman"/>
              </a:rPr>
              <a:t>répudiation</a:t>
            </a:r>
            <a:r>
              <a:rPr sz="3050" b="1" spc="40" dirty="0">
                <a:latin typeface="Times New Roman"/>
                <a:cs typeface="Times New Roman"/>
              </a:rPr>
              <a:t> </a:t>
            </a:r>
            <a:r>
              <a:rPr sz="3050" b="1" spc="-200" dirty="0">
                <a:latin typeface="Times New Roman"/>
                <a:cs typeface="Times New Roman"/>
              </a:rPr>
              <a:t>:</a:t>
            </a:r>
            <a:r>
              <a:rPr sz="3050" b="1" spc="4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impossible</a:t>
            </a:r>
            <a:r>
              <a:rPr sz="3050" spc="40" dirty="0">
                <a:latin typeface="Times New Roman"/>
                <a:cs typeface="Times New Roman"/>
              </a:rPr>
              <a:t> de </a:t>
            </a:r>
            <a:r>
              <a:rPr sz="3050" spc="85" dirty="0">
                <a:latin typeface="Times New Roman"/>
                <a:cs typeface="Times New Roman"/>
              </a:rPr>
              <a:t>prouver</a:t>
            </a:r>
            <a:r>
              <a:rPr sz="3050" spc="15" dirty="0">
                <a:latin typeface="Times New Roman"/>
                <a:cs typeface="Times New Roman"/>
              </a:rPr>
              <a:t> </a:t>
            </a:r>
            <a:r>
              <a:rPr sz="3050" spc="85" dirty="0">
                <a:latin typeface="Times New Roman"/>
                <a:cs typeface="Times New Roman"/>
              </a:rPr>
              <a:t>qui</a:t>
            </a:r>
            <a:r>
              <a:rPr sz="3050" spc="15" dirty="0">
                <a:latin typeface="Times New Roman"/>
                <a:cs typeface="Times New Roman"/>
              </a:rPr>
              <a:t> </a:t>
            </a:r>
            <a:r>
              <a:rPr sz="3050" spc="175" dirty="0">
                <a:latin typeface="Times New Roman"/>
                <a:cs typeface="Times New Roman"/>
              </a:rPr>
              <a:t>a</a:t>
            </a:r>
            <a:r>
              <a:rPr sz="3050" spc="2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envoyé</a:t>
            </a:r>
            <a:r>
              <a:rPr sz="3050" spc="15" dirty="0">
                <a:latin typeface="Times New Roman"/>
                <a:cs typeface="Times New Roman"/>
              </a:rPr>
              <a:t> </a:t>
            </a:r>
            <a:r>
              <a:rPr sz="3050" spc="150" dirty="0">
                <a:latin typeface="Times New Roman"/>
                <a:cs typeface="Times New Roman"/>
              </a:rPr>
              <a:t>un</a:t>
            </a:r>
            <a:r>
              <a:rPr sz="3050" spc="2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message</a:t>
            </a:r>
            <a:r>
              <a:rPr sz="3050" spc="15" dirty="0">
                <a:latin typeface="Times New Roman"/>
                <a:cs typeface="Times New Roman"/>
              </a:rPr>
              <a:t> </a:t>
            </a:r>
            <a:r>
              <a:rPr sz="3050" spc="120" dirty="0">
                <a:latin typeface="Times New Roman"/>
                <a:cs typeface="Times New Roman"/>
              </a:rPr>
              <a:t>(tout</a:t>
            </a:r>
            <a:r>
              <a:rPr sz="3050" spc="20" dirty="0">
                <a:latin typeface="Times New Roman"/>
                <a:cs typeface="Times New Roman"/>
              </a:rPr>
              <a:t> </a:t>
            </a:r>
            <a:r>
              <a:rPr sz="3050" spc="-25" dirty="0">
                <a:latin typeface="Times New Roman"/>
                <a:cs typeface="Times New Roman"/>
              </a:rPr>
              <a:t>le </a:t>
            </a:r>
            <a:r>
              <a:rPr sz="3050" spc="110" dirty="0">
                <a:latin typeface="Times New Roman"/>
                <a:cs typeface="Times New Roman"/>
              </a:rPr>
              <a:t>monde</a:t>
            </a:r>
            <a:r>
              <a:rPr sz="3050" spc="10" dirty="0">
                <a:latin typeface="Times New Roman"/>
                <a:cs typeface="Times New Roman"/>
              </a:rPr>
              <a:t> </a:t>
            </a:r>
            <a:r>
              <a:rPr sz="3050" spc="50" dirty="0">
                <a:latin typeface="Times New Roman"/>
                <a:cs typeface="Times New Roman"/>
              </a:rPr>
              <a:t>possède</a:t>
            </a:r>
            <a:r>
              <a:rPr sz="3050" spc="15" dirty="0">
                <a:latin typeface="Times New Roman"/>
                <a:cs typeface="Times New Roman"/>
              </a:rPr>
              <a:t> </a:t>
            </a:r>
            <a:r>
              <a:rPr sz="3050" spc="70" dirty="0">
                <a:latin typeface="Times New Roman"/>
                <a:cs typeface="Times New Roman"/>
              </a:rPr>
              <a:t>la</a:t>
            </a:r>
            <a:r>
              <a:rPr sz="3050" spc="10" dirty="0">
                <a:latin typeface="Times New Roman"/>
                <a:cs typeface="Times New Roman"/>
              </a:rPr>
              <a:t> </a:t>
            </a:r>
            <a:r>
              <a:rPr sz="3050" spc="60" dirty="0">
                <a:latin typeface="Times New Roman"/>
                <a:cs typeface="Times New Roman"/>
              </a:rPr>
              <a:t>même</a:t>
            </a:r>
            <a:r>
              <a:rPr sz="3050" spc="15" dirty="0">
                <a:latin typeface="Times New Roman"/>
                <a:cs typeface="Times New Roman"/>
              </a:rPr>
              <a:t> </a:t>
            </a:r>
            <a:r>
              <a:rPr sz="3050" spc="-10" dirty="0">
                <a:latin typeface="Times New Roman"/>
                <a:cs typeface="Times New Roman"/>
              </a:rPr>
              <a:t>clé).</a:t>
            </a:r>
            <a:endParaRPr sz="3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58108" y="0"/>
            <a:ext cx="3029890" cy="154959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028612" y="512176"/>
            <a:ext cx="904240" cy="1033780"/>
          </a:xfrm>
          <a:custGeom>
            <a:avLst/>
            <a:gdLst/>
            <a:ahLst/>
            <a:cxnLst/>
            <a:rect l="l" t="t" r="r" b="b"/>
            <a:pathLst>
              <a:path w="904239" h="1033780">
                <a:moveTo>
                  <a:pt x="0" y="1033158"/>
                </a:moveTo>
                <a:lnTo>
                  <a:pt x="0" y="0"/>
                </a:lnTo>
                <a:lnTo>
                  <a:pt x="904014" y="516579"/>
                </a:lnTo>
                <a:lnTo>
                  <a:pt x="0" y="1033158"/>
                </a:lnTo>
                <a:close/>
              </a:path>
            </a:pathLst>
          </a:custGeom>
          <a:solidFill>
            <a:srgbClr val="B40C1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0885" rIns="0" bIns="0" rtlCol="0">
            <a:spAutoFit/>
          </a:bodyPr>
          <a:lstStyle/>
          <a:p>
            <a:pPr marL="229235">
              <a:lnSpc>
                <a:spcPct val="100000"/>
              </a:lnSpc>
              <a:spcBef>
                <a:spcPts val="140"/>
              </a:spcBef>
            </a:pPr>
            <a:r>
              <a:rPr sz="4700" dirty="0"/>
              <a:t>Le</a:t>
            </a:r>
            <a:r>
              <a:rPr sz="4700" spc="-10" dirty="0"/>
              <a:t> </a:t>
            </a:r>
            <a:r>
              <a:rPr sz="4700" dirty="0"/>
              <a:t>chiffrement</a:t>
            </a:r>
            <a:r>
              <a:rPr sz="4700" spc="-5" dirty="0"/>
              <a:t> </a:t>
            </a:r>
            <a:r>
              <a:rPr sz="4700" spc="-10" dirty="0"/>
              <a:t>Asymétrique</a:t>
            </a:r>
            <a:endParaRPr sz="4700"/>
          </a:p>
        </p:txBody>
      </p:sp>
      <p:sp>
        <p:nvSpPr>
          <p:cNvPr id="6" name="object 6"/>
          <p:cNvSpPr txBox="1"/>
          <p:nvPr/>
        </p:nvSpPr>
        <p:spPr>
          <a:xfrm>
            <a:off x="1468006" y="2364848"/>
            <a:ext cx="16184244" cy="66541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spc="65" dirty="0">
                <a:latin typeface="Times New Roman"/>
                <a:cs typeface="Times New Roman"/>
              </a:rPr>
              <a:t>Le</a:t>
            </a:r>
            <a:r>
              <a:rPr sz="2800" spc="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chiffrement</a:t>
            </a:r>
            <a:r>
              <a:rPr sz="2800" spc="40" dirty="0">
                <a:latin typeface="Times New Roman"/>
                <a:cs typeface="Times New Roman"/>
              </a:rPr>
              <a:t> </a:t>
            </a:r>
            <a:r>
              <a:rPr sz="2800" spc="65" dirty="0">
                <a:latin typeface="Times New Roman"/>
                <a:cs typeface="Times New Roman"/>
              </a:rPr>
              <a:t>asymétrique</a:t>
            </a:r>
            <a:r>
              <a:rPr sz="2800" spc="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est</a:t>
            </a:r>
            <a:r>
              <a:rPr sz="2800" spc="40" dirty="0">
                <a:latin typeface="Times New Roman"/>
                <a:cs typeface="Times New Roman"/>
              </a:rPr>
              <a:t> </a:t>
            </a:r>
            <a:r>
              <a:rPr sz="2800" spc="85" dirty="0">
                <a:latin typeface="Times New Roman"/>
                <a:cs typeface="Times New Roman"/>
              </a:rPr>
              <a:t>une</a:t>
            </a:r>
            <a:r>
              <a:rPr sz="2800" spc="40" dirty="0">
                <a:latin typeface="Times New Roman"/>
                <a:cs typeface="Times New Roman"/>
              </a:rPr>
              <a:t> </a:t>
            </a:r>
            <a:r>
              <a:rPr sz="2800" spc="90" dirty="0">
                <a:latin typeface="Times New Roman"/>
                <a:cs typeface="Times New Roman"/>
              </a:rPr>
              <a:t>méthode</a:t>
            </a:r>
            <a:r>
              <a:rPr sz="2800" spc="40" dirty="0">
                <a:latin typeface="Times New Roman"/>
                <a:cs typeface="Times New Roman"/>
              </a:rPr>
              <a:t> </a:t>
            </a:r>
            <a:r>
              <a:rPr sz="2800" spc="80" dirty="0">
                <a:latin typeface="Times New Roman"/>
                <a:cs typeface="Times New Roman"/>
              </a:rPr>
              <a:t>cryptographique</a:t>
            </a:r>
            <a:r>
              <a:rPr sz="2800" spc="40" dirty="0">
                <a:latin typeface="Times New Roman"/>
                <a:cs typeface="Times New Roman"/>
              </a:rPr>
              <a:t> </a:t>
            </a:r>
            <a:r>
              <a:rPr sz="2800" spc="80" dirty="0">
                <a:latin typeface="Times New Roman"/>
                <a:cs typeface="Times New Roman"/>
              </a:rPr>
              <a:t>qui</a:t>
            </a:r>
            <a:r>
              <a:rPr sz="2800" spc="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utilise</a:t>
            </a:r>
            <a:r>
              <a:rPr sz="2800" spc="40" dirty="0">
                <a:latin typeface="Times New Roman"/>
                <a:cs typeface="Times New Roman"/>
              </a:rPr>
              <a:t> </a:t>
            </a:r>
            <a:r>
              <a:rPr sz="2800" b="1" spc="-100" dirty="0">
                <a:latin typeface="Times New Roman"/>
                <a:cs typeface="Times New Roman"/>
              </a:rPr>
              <a:t>une</a:t>
            </a:r>
            <a:r>
              <a:rPr sz="2800" b="1" spc="40" dirty="0">
                <a:latin typeface="Times New Roman"/>
                <a:cs typeface="Times New Roman"/>
              </a:rPr>
              <a:t> </a:t>
            </a:r>
            <a:r>
              <a:rPr sz="2800" b="1" spc="-70" dirty="0">
                <a:latin typeface="Times New Roman"/>
                <a:cs typeface="Times New Roman"/>
              </a:rPr>
              <a:t>paire</a:t>
            </a:r>
            <a:r>
              <a:rPr sz="2800" b="1" spc="40" dirty="0">
                <a:latin typeface="Times New Roman"/>
                <a:cs typeface="Times New Roman"/>
              </a:rPr>
              <a:t> </a:t>
            </a:r>
            <a:r>
              <a:rPr sz="2800" b="1" spc="-20" dirty="0">
                <a:latin typeface="Times New Roman"/>
                <a:cs typeface="Times New Roman"/>
              </a:rPr>
              <a:t>de</a:t>
            </a:r>
            <a:r>
              <a:rPr sz="2800" b="1" spc="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clés</a:t>
            </a:r>
            <a:r>
              <a:rPr sz="2800" b="1" spc="40" dirty="0">
                <a:latin typeface="Times New Roman"/>
                <a:cs typeface="Times New Roman"/>
              </a:rPr>
              <a:t> </a:t>
            </a:r>
            <a:r>
              <a:rPr sz="2800" spc="60" dirty="0">
                <a:latin typeface="Times New Roman"/>
                <a:cs typeface="Times New Roman"/>
              </a:rPr>
              <a:t>complémentaires</a:t>
            </a:r>
            <a:r>
              <a:rPr sz="2800" spc="4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 marL="101600" marR="6793865">
              <a:lnSpc>
                <a:spcPct val="207600"/>
              </a:lnSpc>
            </a:pPr>
            <a:r>
              <a:rPr sz="2800" b="1" dirty="0">
                <a:latin typeface="Times New Roman"/>
                <a:cs typeface="Times New Roman"/>
              </a:rPr>
              <a:t>Clé</a:t>
            </a:r>
            <a:r>
              <a:rPr sz="2800" b="1" spc="-125" dirty="0">
                <a:latin typeface="Times New Roman"/>
                <a:cs typeface="Times New Roman"/>
              </a:rPr>
              <a:t> </a:t>
            </a:r>
            <a:r>
              <a:rPr sz="2800" b="1" spc="-114" dirty="0">
                <a:latin typeface="Times New Roman"/>
                <a:cs typeface="Times New Roman"/>
              </a:rPr>
              <a:t>publique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spc="-180" dirty="0">
                <a:latin typeface="Times New Roman"/>
                <a:cs typeface="Times New Roman"/>
              </a:rPr>
              <a:t>:</a:t>
            </a:r>
            <a:r>
              <a:rPr sz="2800" b="1" dirty="0">
                <a:latin typeface="Times New Roman"/>
                <a:cs typeface="Times New Roman"/>
              </a:rPr>
              <a:t> </a:t>
            </a:r>
            <a:r>
              <a:rPr sz="2800" b="1" spc="-25" dirty="0">
                <a:latin typeface="Times New Roman"/>
                <a:cs typeface="Times New Roman"/>
              </a:rPr>
              <a:t>partagée,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spc="-20" dirty="0">
                <a:latin typeface="Times New Roman"/>
                <a:cs typeface="Times New Roman"/>
              </a:rPr>
              <a:t>sert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à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spc="-75" dirty="0">
                <a:latin typeface="Times New Roman"/>
                <a:cs typeface="Times New Roman"/>
              </a:rPr>
              <a:t>chiffrer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ou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spc="-90" dirty="0">
                <a:latin typeface="Times New Roman"/>
                <a:cs typeface="Times New Roman"/>
              </a:rPr>
              <a:t>vérifier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spc="-100" dirty="0">
                <a:latin typeface="Times New Roman"/>
                <a:cs typeface="Times New Roman"/>
              </a:rPr>
              <a:t>une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spc="-20" dirty="0">
                <a:latin typeface="Times New Roman"/>
                <a:cs typeface="Times New Roman"/>
              </a:rPr>
              <a:t>signature. </a:t>
            </a:r>
            <a:r>
              <a:rPr sz="2800" b="1" dirty="0">
                <a:latin typeface="Times New Roman"/>
                <a:cs typeface="Times New Roman"/>
              </a:rPr>
              <a:t>Clé</a:t>
            </a:r>
            <a:r>
              <a:rPr sz="2800" b="1" spc="-150" dirty="0">
                <a:latin typeface="Times New Roman"/>
                <a:cs typeface="Times New Roman"/>
              </a:rPr>
              <a:t> </a:t>
            </a:r>
            <a:r>
              <a:rPr sz="2800" b="1" spc="-110" dirty="0">
                <a:latin typeface="Times New Roman"/>
                <a:cs typeface="Times New Roman"/>
              </a:rPr>
              <a:t>privée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spc="-180" dirty="0">
                <a:latin typeface="Times New Roman"/>
                <a:cs typeface="Times New Roman"/>
              </a:rPr>
              <a:t>:</a:t>
            </a:r>
            <a:r>
              <a:rPr sz="2800" b="1" dirty="0">
                <a:latin typeface="Times New Roman"/>
                <a:cs typeface="Times New Roman"/>
              </a:rPr>
              <a:t> </a:t>
            </a:r>
            <a:r>
              <a:rPr sz="2800" b="1" spc="-20" dirty="0">
                <a:latin typeface="Times New Roman"/>
                <a:cs typeface="Times New Roman"/>
              </a:rPr>
              <a:t>secrète,</a:t>
            </a:r>
            <a:r>
              <a:rPr sz="2800" b="1" spc="-70" dirty="0">
                <a:latin typeface="Times New Roman"/>
                <a:cs typeface="Times New Roman"/>
              </a:rPr>
              <a:t> </a:t>
            </a:r>
            <a:r>
              <a:rPr sz="2800" b="1" spc="-20" dirty="0">
                <a:latin typeface="Times New Roman"/>
                <a:cs typeface="Times New Roman"/>
              </a:rPr>
              <a:t>sert</a:t>
            </a:r>
            <a:r>
              <a:rPr sz="2800" b="1" spc="-7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à</a:t>
            </a:r>
            <a:r>
              <a:rPr sz="2800" b="1" spc="-70" dirty="0">
                <a:latin typeface="Times New Roman"/>
                <a:cs typeface="Times New Roman"/>
              </a:rPr>
              <a:t> </a:t>
            </a:r>
            <a:r>
              <a:rPr sz="2800" b="1" spc="-75" dirty="0">
                <a:latin typeface="Times New Roman"/>
                <a:cs typeface="Times New Roman"/>
              </a:rPr>
              <a:t>déchiffrer</a:t>
            </a:r>
            <a:r>
              <a:rPr sz="2800" b="1" spc="-7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ou</a:t>
            </a:r>
            <a:r>
              <a:rPr sz="2800" b="1" spc="-7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signer.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spc="65" dirty="0">
                <a:latin typeface="Times New Roman"/>
                <a:cs typeface="Times New Roman"/>
              </a:rPr>
              <a:t>Ce</a:t>
            </a:r>
            <a:r>
              <a:rPr sz="2800" spc="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système</a:t>
            </a:r>
            <a:r>
              <a:rPr sz="2800" spc="35" dirty="0">
                <a:latin typeface="Times New Roman"/>
                <a:cs typeface="Times New Roman"/>
              </a:rPr>
              <a:t> </a:t>
            </a:r>
            <a:r>
              <a:rPr sz="2800" spc="105" dirty="0">
                <a:latin typeface="Times New Roman"/>
                <a:cs typeface="Times New Roman"/>
              </a:rPr>
              <a:t>garantit</a:t>
            </a:r>
            <a:r>
              <a:rPr sz="2800" spc="30" dirty="0">
                <a:latin typeface="Times New Roman"/>
                <a:cs typeface="Times New Roman"/>
              </a:rPr>
              <a:t> </a:t>
            </a:r>
            <a:r>
              <a:rPr sz="2800" spc="160" dirty="0">
                <a:latin typeface="Times New Roman"/>
                <a:cs typeface="Times New Roman"/>
              </a:rPr>
              <a:t>à</a:t>
            </a:r>
            <a:r>
              <a:rPr sz="2800" spc="35" dirty="0">
                <a:latin typeface="Times New Roman"/>
                <a:cs typeface="Times New Roman"/>
              </a:rPr>
              <a:t> </a:t>
            </a:r>
            <a:r>
              <a:rPr sz="2800" spc="70" dirty="0">
                <a:latin typeface="Times New Roman"/>
                <a:cs typeface="Times New Roman"/>
              </a:rPr>
              <a:t>la</a:t>
            </a:r>
            <a:r>
              <a:rPr sz="2800" spc="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fois</a:t>
            </a:r>
            <a:r>
              <a:rPr sz="2800" spc="3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 marL="12700" marR="634365">
              <a:lnSpc>
                <a:spcPct val="207600"/>
              </a:lnSpc>
            </a:pPr>
            <a:r>
              <a:rPr sz="2800" b="1" spc="-50" dirty="0">
                <a:latin typeface="Times New Roman"/>
                <a:cs typeface="Times New Roman"/>
              </a:rPr>
              <a:t>Confidentialité</a:t>
            </a:r>
            <a:r>
              <a:rPr sz="2800" b="1" spc="35" dirty="0">
                <a:latin typeface="Times New Roman"/>
                <a:cs typeface="Times New Roman"/>
              </a:rPr>
              <a:t> </a:t>
            </a:r>
            <a:r>
              <a:rPr sz="2800" b="1" spc="-180" dirty="0">
                <a:latin typeface="Times New Roman"/>
                <a:cs typeface="Times New Roman"/>
              </a:rPr>
              <a:t>:</a:t>
            </a:r>
            <a:r>
              <a:rPr sz="2800" b="1" spc="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l’expéditeur</a:t>
            </a:r>
            <a:r>
              <a:rPr sz="2800" spc="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chiffre</a:t>
            </a:r>
            <a:r>
              <a:rPr sz="2800" spc="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avec</a:t>
            </a:r>
            <a:r>
              <a:rPr sz="2800" spc="40" dirty="0">
                <a:latin typeface="Times New Roman"/>
                <a:cs typeface="Times New Roman"/>
              </a:rPr>
              <a:t> </a:t>
            </a:r>
            <a:r>
              <a:rPr sz="2800" spc="70" dirty="0">
                <a:latin typeface="Times New Roman"/>
                <a:cs typeface="Times New Roman"/>
              </a:rPr>
              <a:t>la</a:t>
            </a:r>
            <a:r>
              <a:rPr sz="2800" spc="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clé</a:t>
            </a:r>
            <a:r>
              <a:rPr sz="2800" spc="40" dirty="0">
                <a:latin typeface="Times New Roman"/>
                <a:cs typeface="Times New Roman"/>
              </a:rPr>
              <a:t> </a:t>
            </a:r>
            <a:r>
              <a:rPr sz="2800" spc="70" dirty="0">
                <a:latin typeface="Times New Roman"/>
                <a:cs typeface="Times New Roman"/>
              </a:rPr>
              <a:t>publique</a:t>
            </a:r>
            <a:r>
              <a:rPr sz="2800" spc="35" dirty="0">
                <a:latin typeface="Times New Roman"/>
                <a:cs typeface="Times New Roman"/>
              </a:rPr>
              <a:t> </a:t>
            </a:r>
            <a:r>
              <a:rPr sz="1300" spc="1590" dirty="0">
                <a:latin typeface="Lucida Sans Unicode"/>
                <a:cs typeface="Lucida Sans Unicode"/>
              </a:rPr>
              <a:t>→</a:t>
            </a:r>
            <a:r>
              <a:rPr sz="1300" spc="320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seul</a:t>
            </a:r>
            <a:r>
              <a:rPr sz="2800" spc="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</a:t>
            </a:r>
            <a:r>
              <a:rPr sz="2800" spc="35" dirty="0">
                <a:latin typeface="Times New Roman"/>
                <a:cs typeface="Times New Roman"/>
              </a:rPr>
              <a:t> </a:t>
            </a:r>
            <a:r>
              <a:rPr sz="2800" spc="65" dirty="0">
                <a:latin typeface="Times New Roman"/>
                <a:cs typeface="Times New Roman"/>
              </a:rPr>
              <a:t>destinataire</a:t>
            </a:r>
            <a:r>
              <a:rPr sz="2800" spc="40" dirty="0">
                <a:latin typeface="Times New Roman"/>
                <a:cs typeface="Times New Roman"/>
              </a:rPr>
              <a:t> </a:t>
            </a:r>
            <a:r>
              <a:rPr sz="2800" spc="100" dirty="0">
                <a:latin typeface="Times New Roman"/>
                <a:cs typeface="Times New Roman"/>
              </a:rPr>
              <a:t>peut</a:t>
            </a:r>
            <a:r>
              <a:rPr sz="2800" spc="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déchiffrer</a:t>
            </a:r>
            <a:r>
              <a:rPr sz="2800" spc="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avec</a:t>
            </a:r>
            <a:r>
              <a:rPr sz="2800" spc="35" dirty="0">
                <a:latin typeface="Times New Roman"/>
                <a:cs typeface="Times New Roman"/>
              </a:rPr>
              <a:t> </a:t>
            </a:r>
            <a:r>
              <a:rPr sz="2800" spc="70" dirty="0">
                <a:latin typeface="Times New Roman"/>
                <a:cs typeface="Times New Roman"/>
              </a:rPr>
              <a:t>sa</a:t>
            </a:r>
            <a:r>
              <a:rPr sz="2800" spc="4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clé </a:t>
            </a:r>
            <a:r>
              <a:rPr sz="2800" spc="-10" dirty="0">
                <a:latin typeface="Times New Roman"/>
                <a:cs typeface="Times New Roman"/>
              </a:rPr>
              <a:t>privée.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b="1" spc="-55" dirty="0">
                <a:latin typeface="Times New Roman"/>
                <a:cs typeface="Times New Roman"/>
              </a:rPr>
              <a:t>Authenticité</a:t>
            </a:r>
            <a:r>
              <a:rPr sz="2800" b="1" spc="20" dirty="0">
                <a:latin typeface="Times New Roman"/>
                <a:cs typeface="Times New Roman"/>
              </a:rPr>
              <a:t> </a:t>
            </a:r>
            <a:r>
              <a:rPr sz="2800" b="1" spc="-180" dirty="0">
                <a:latin typeface="Times New Roman"/>
                <a:cs typeface="Times New Roman"/>
              </a:rPr>
              <a:t>:</a:t>
            </a:r>
            <a:r>
              <a:rPr sz="2800" b="1" spc="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l’expéditeur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signe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avec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spc="70" dirty="0">
                <a:latin typeface="Times New Roman"/>
                <a:cs typeface="Times New Roman"/>
              </a:rPr>
              <a:t>sa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clé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privée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1300" spc="1590" dirty="0">
                <a:latin typeface="Lucida Sans Unicode"/>
                <a:cs typeface="Lucida Sans Unicode"/>
              </a:rPr>
              <a:t>→</a:t>
            </a:r>
            <a:r>
              <a:rPr sz="1300" spc="305" dirty="0">
                <a:latin typeface="Lucida Sans Unicode"/>
                <a:cs typeface="Lucida Sans Unicode"/>
              </a:rPr>
              <a:t> </a:t>
            </a:r>
            <a:r>
              <a:rPr sz="2800" spc="140" dirty="0">
                <a:latin typeface="Times New Roman"/>
                <a:cs typeface="Times New Roman"/>
              </a:rPr>
              <a:t>tout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100" dirty="0">
                <a:latin typeface="Times New Roman"/>
                <a:cs typeface="Times New Roman"/>
              </a:rPr>
              <a:t>monde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100" dirty="0">
                <a:latin typeface="Times New Roman"/>
                <a:cs typeface="Times New Roman"/>
              </a:rPr>
              <a:t>peut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vérifier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avec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spc="70" dirty="0">
                <a:latin typeface="Times New Roman"/>
                <a:cs typeface="Times New Roman"/>
              </a:rPr>
              <a:t>sa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clé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40" dirty="0">
                <a:latin typeface="Times New Roman"/>
                <a:cs typeface="Times New Roman"/>
              </a:rPr>
              <a:t>publique.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b="1" spc="-35" dirty="0">
                <a:solidFill>
                  <a:srgbClr val="941100"/>
                </a:solidFill>
                <a:latin typeface="Times New Roman"/>
                <a:cs typeface="Times New Roman"/>
              </a:rPr>
              <a:t>Exemples</a:t>
            </a:r>
            <a:r>
              <a:rPr sz="2800" b="1" spc="-5" dirty="0">
                <a:solidFill>
                  <a:srgbClr val="941100"/>
                </a:solidFill>
                <a:latin typeface="Times New Roman"/>
                <a:cs typeface="Times New Roman"/>
              </a:rPr>
              <a:t> </a:t>
            </a:r>
            <a:r>
              <a:rPr sz="2800" b="1" spc="-70" dirty="0">
                <a:solidFill>
                  <a:srgbClr val="941100"/>
                </a:solidFill>
                <a:latin typeface="Times New Roman"/>
                <a:cs typeface="Times New Roman"/>
              </a:rPr>
              <a:t>d’algorithmes</a:t>
            </a:r>
            <a:r>
              <a:rPr sz="2800" b="1" dirty="0">
                <a:solidFill>
                  <a:srgbClr val="941100"/>
                </a:solidFill>
                <a:latin typeface="Times New Roman"/>
                <a:cs typeface="Times New Roman"/>
              </a:rPr>
              <a:t> </a:t>
            </a:r>
            <a:r>
              <a:rPr sz="2800" b="1" spc="-180" dirty="0">
                <a:solidFill>
                  <a:srgbClr val="941100"/>
                </a:solidFill>
                <a:latin typeface="Times New Roman"/>
                <a:cs typeface="Times New Roman"/>
              </a:rPr>
              <a:t>:</a:t>
            </a:r>
            <a:r>
              <a:rPr sz="2800" b="1" dirty="0">
                <a:solidFill>
                  <a:srgbClr val="941100"/>
                </a:solidFill>
                <a:latin typeface="Times New Roman"/>
                <a:cs typeface="Times New Roman"/>
              </a:rPr>
              <a:t> </a:t>
            </a:r>
            <a:r>
              <a:rPr sz="2800" spc="130" dirty="0">
                <a:latin typeface="Times New Roman"/>
                <a:cs typeface="Times New Roman"/>
              </a:rPr>
              <a:t>RSA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60" dirty="0">
                <a:latin typeface="Times New Roman"/>
                <a:cs typeface="Times New Roman"/>
              </a:rPr>
              <a:t>(Rivest–Shamir–Adleman),</a:t>
            </a:r>
            <a:r>
              <a:rPr sz="2800" dirty="0">
                <a:latin typeface="Times New Roman"/>
                <a:cs typeface="Times New Roman"/>
              </a:rPr>
              <a:t> Diffie-</a:t>
            </a:r>
            <a:r>
              <a:rPr sz="2800" spc="80" dirty="0">
                <a:latin typeface="Times New Roman"/>
                <a:cs typeface="Times New Roman"/>
              </a:rPr>
              <a:t>Hellman,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85" dirty="0">
                <a:latin typeface="Times New Roman"/>
                <a:cs typeface="Times New Roman"/>
              </a:rPr>
              <a:t>ElGamal.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58066" y="3361642"/>
            <a:ext cx="283845" cy="319405"/>
            <a:chOff x="858066" y="3361642"/>
            <a:chExt cx="283845" cy="319405"/>
          </a:xfrm>
        </p:grpSpPr>
        <p:sp>
          <p:nvSpPr>
            <p:cNvPr id="8" name="object 8"/>
            <p:cNvSpPr/>
            <p:nvPr/>
          </p:nvSpPr>
          <p:spPr>
            <a:xfrm>
              <a:off x="858066" y="3361642"/>
              <a:ext cx="175260" cy="319405"/>
            </a:xfrm>
            <a:custGeom>
              <a:avLst/>
              <a:gdLst/>
              <a:ahLst/>
              <a:cxnLst/>
              <a:rect l="l" t="t" r="r" b="b"/>
              <a:pathLst>
                <a:path w="175259" h="319404">
                  <a:moveTo>
                    <a:pt x="0" y="38779"/>
                  </a:moveTo>
                  <a:lnTo>
                    <a:pt x="47017" y="70703"/>
                  </a:lnTo>
                  <a:lnTo>
                    <a:pt x="47017" y="0"/>
                  </a:lnTo>
                  <a:lnTo>
                    <a:pt x="58063" y="7493"/>
                  </a:lnTo>
                  <a:lnTo>
                    <a:pt x="58063" y="78197"/>
                  </a:lnTo>
                  <a:lnTo>
                    <a:pt x="74610" y="89434"/>
                  </a:lnTo>
                  <a:lnTo>
                    <a:pt x="74610" y="18730"/>
                  </a:lnTo>
                  <a:lnTo>
                    <a:pt x="85648" y="26224"/>
                  </a:lnTo>
                  <a:lnTo>
                    <a:pt x="85648" y="96928"/>
                  </a:lnTo>
                  <a:lnTo>
                    <a:pt x="102202" y="108165"/>
                  </a:lnTo>
                  <a:lnTo>
                    <a:pt x="102202" y="37461"/>
                  </a:lnTo>
                  <a:lnTo>
                    <a:pt x="113241" y="44961"/>
                  </a:lnTo>
                  <a:lnTo>
                    <a:pt x="113241" y="115665"/>
                  </a:lnTo>
                  <a:lnTo>
                    <a:pt x="129788" y="126902"/>
                  </a:lnTo>
                  <a:lnTo>
                    <a:pt x="129788" y="56198"/>
                  </a:lnTo>
                  <a:lnTo>
                    <a:pt x="140826" y="63692"/>
                  </a:lnTo>
                  <a:lnTo>
                    <a:pt x="140826" y="134396"/>
                  </a:lnTo>
                  <a:lnTo>
                    <a:pt x="157380" y="145633"/>
                  </a:lnTo>
                  <a:lnTo>
                    <a:pt x="157380" y="74929"/>
                  </a:lnTo>
                  <a:lnTo>
                    <a:pt x="168419" y="82422"/>
                  </a:lnTo>
                  <a:lnTo>
                    <a:pt x="168419" y="153126"/>
                  </a:lnTo>
                  <a:lnTo>
                    <a:pt x="175054" y="157635"/>
                  </a:lnTo>
                  <a:lnTo>
                    <a:pt x="168419" y="162144"/>
                  </a:lnTo>
                  <a:lnTo>
                    <a:pt x="168419" y="236591"/>
                  </a:lnTo>
                  <a:lnTo>
                    <a:pt x="157380" y="244085"/>
                  </a:lnTo>
                  <a:lnTo>
                    <a:pt x="157380" y="169645"/>
                  </a:lnTo>
                  <a:lnTo>
                    <a:pt x="140826" y="180882"/>
                  </a:lnTo>
                  <a:lnTo>
                    <a:pt x="140826" y="255322"/>
                  </a:lnTo>
                  <a:lnTo>
                    <a:pt x="129788" y="262816"/>
                  </a:lnTo>
                  <a:lnTo>
                    <a:pt x="129788" y="188376"/>
                  </a:lnTo>
                  <a:lnTo>
                    <a:pt x="113241" y="199612"/>
                  </a:lnTo>
                  <a:lnTo>
                    <a:pt x="113241" y="274060"/>
                  </a:lnTo>
                  <a:lnTo>
                    <a:pt x="102202" y="281553"/>
                  </a:lnTo>
                  <a:lnTo>
                    <a:pt x="102202" y="207113"/>
                  </a:lnTo>
                  <a:lnTo>
                    <a:pt x="85648" y="218357"/>
                  </a:lnTo>
                  <a:lnTo>
                    <a:pt x="85648" y="292797"/>
                  </a:lnTo>
                  <a:lnTo>
                    <a:pt x="74610" y="300291"/>
                  </a:lnTo>
                  <a:lnTo>
                    <a:pt x="74610" y="225851"/>
                  </a:lnTo>
                  <a:lnTo>
                    <a:pt x="58063" y="237088"/>
                  </a:lnTo>
                  <a:lnTo>
                    <a:pt x="58063" y="311535"/>
                  </a:lnTo>
                  <a:lnTo>
                    <a:pt x="47017" y="319029"/>
                  </a:lnTo>
                  <a:lnTo>
                    <a:pt x="47017" y="277108"/>
                  </a:lnTo>
                  <a:lnTo>
                    <a:pt x="47017" y="244588"/>
                  </a:lnTo>
                  <a:lnTo>
                    <a:pt x="14" y="276506"/>
                  </a:lnTo>
                  <a:lnTo>
                    <a:pt x="0" y="38779"/>
                  </a:lnTo>
                  <a:close/>
                </a:path>
              </a:pathLst>
            </a:custGeom>
            <a:solidFill>
              <a:srgbClr val="9411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3032" y="3455302"/>
              <a:ext cx="98424" cy="131688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858066" y="4167185"/>
            <a:ext cx="283845" cy="319405"/>
            <a:chOff x="858066" y="4167185"/>
            <a:chExt cx="283845" cy="319405"/>
          </a:xfrm>
        </p:grpSpPr>
        <p:sp>
          <p:nvSpPr>
            <p:cNvPr id="11" name="object 11"/>
            <p:cNvSpPr/>
            <p:nvPr/>
          </p:nvSpPr>
          <p:spPr>
            <a:xfrm>
              <a:off x="858066" y="4167185"/>
              <a:ext cx="175260" cy="319405"/>
            </a:xfrm>
            <a:custGeom>
              <a:avLst/>
              <a:gdLst/>
              <a:ahLst/>
              <a:cxnLst/>
              <a:rect l="l" t="t" r="r" b="b"/>
              <a:pathLst>
                <a:path w="175259" h="319404">
                  <a:moveTo>
                    <a:pt x="0" y="38779"/>
                  </a:moveTo>
                  <a:lnTo>
                    <a:pt x="47017" y="70703"/>
                  </a:lnTo>
                  <a:lnTo>
                    <a:pt x="47017" y="0"/>
                  </a:lnTo>
                  <a:lnTo>
                    <a:pt x="58063" y="7493"/>
                  </a:lnTo>
                  <a:lnTo>
                    <a:pt x="58063" y="78197"/>
                  </a:lnTo>
                  <a:lnTo>
                    <a:pt x="74610" y="89434"/>
                  </a:lnTo>
                  <a:lnTo>
                    <a:pt x="74610" y="18730"/>
                  </a:lnTo>
                  <a:lnTo>
                    <a:pt x="85648" y="26224"/>
                  </a:lnTo>
                  <a:lnTo>
                    <a:pt x="85648" y="96928"/>
                  </a:lnTo>
                  <a:lnTo>
                    <a:pt x="102202" y="108165"/>
                  </a:lnTo>
                  <a:lnTo>
                    <a:pt x="102202" y="37461"/>
                  </a:lnTo>
                  <a:lnTo>
                    <a:pt x="113241" y="44961"/>
                  </a:lnTo>
                  <a:lnTo>
                    <a:pt x="113241" y="115665"/>
                  </a:lnTo>
                  <a:lnTo>
                    <a:pt x="129788" y="126902"/>
                  </a:lnTo>
                  <a:lnTo>
                    <a:pt x="129788" y="56198"/>
                  </a:lnTo>
                  <a:lnTo>
                    <a:pt x="140826" y="63692"/>
                  </a:lnTo>
                  <a:lnTo>
                    <a:pt x="140826" y="134396"/>
                  </a:lnTo>
                  <a:lnTo>
                    <a:pt x="157380" y="145633"/>
                  </a:lnTo>
                  <a:lnTo>
                    <a:pt x="157380" y="74929"/>
                  </a:lnTo>
                  <a:lnTo>
                    <a:pt x="168419" y="82422"/>
                  </a:lnTo>
                  <a:lnTo>
                    <a:pt x="168419" y="153126"/>
                  </a:lnTo>
                  <a:lnTo>
                    <a:pt x="175054" y="157635"/>
                  </a:lnTo>
                  <a:lnTo>
                    <a:pt x="168419" y="162144"/>
                  </a:lnTo>
                  <a:lnTo>
                    <a:pt x="168419" y="236591"/>
                  </a:lnTo>
                  <a:lnTo>
                    <a:pt x="157380" y="244085"/>
                  </a:lnTo>
                  <a:lnTo>
                    <a:pt x="157380" y="169645"/>
                  </a:lnTo>
                  <a:lnTo>
                    <a:pt x="140826" y="180882"/>
                  </a:lnTo>
                  <a:lnTo>
                    <a:pt x="140826" y="255322"/>
                  </a:lnTo>
                  <a:lnTo>
                    <a:pt x="129788" y="262816"/>
                  </a:lnTo>
                  <a:lnTo>
                    <a:pt x="129788" y="188376"/>
                  </a:lnTo>
                  <a:lnTo>
                    <a:pt x="113241" y="199612"/>
                  </a:lnTo>
                  <a:lnTo>
                    <a:pt x="113241" y="274060"/>
                  </a:lnTo>
                  <a:lnTo>
                    <a:pt x="102202" y="281553"/>
                  </a:lnTo>
                  <a:lnTo>
                    <a:pt x="102202" y="207113"/>
                  </a:lnTo>
                  <a:lnTo>
                    <a:pt x="85648" y="218357"/>
                  </a:lnTo>
                  <a:lnTo>
                    <a:pt x="85648" y="292797"/>
                  </a:lnTo>
                  <a:lnTo>
                    <a:pt x="74610" y="300291"/>
                  </a:lnTo>
                  <a:lnTo>
                    <a:pt x="74610" y="225851"/>
                  </a:lnTo>
                  <a:lnTo>
                    <a:pt x="58063" y="237088"/>
                  </a:lnTo>
                  <a:lnTo>
                    <a:pt x="58063" y="311535"/>
                  </a:lnTo>
                  <a:lnTo>
                    <a:pt x="47017" y="319029"/>
                  </a:lnTo>
                  <a:lnTo>
                    <a:pt x="47017" y="277108"/>
                  </a:lnTo>
                  <a:lnTo>
                    <a:pt x="47017" y="244588"/>
                  </a:lnTo>
                  <a:lnTo>
                    <a:pt x="14" y="276506"/>
                  </a:lnTo>
                  <a:lnTo>
                    <a:pt x="0" y="38779"/>
                  </a:lnTo>
                  <a:close/>
                </a:path>
              </a:pathLst>
            </a:custGeom>
            <a:solidFill>
              <a:srgbClr val="9411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43032" y="4260845"/>
              <a:ext cx="98424" cy="131688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54258" y="5905407"/>
            <a:ext cx="485774" cy="40957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54258" y="7734542"/>
            <a:ext cx="485774" cy="409574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95" dirty="0"/>
              <a:t>10</a:t>
            </a:fld>
            <a:endParaRPr spc="-9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612" y="512176"/>
            <a:ext cx="904240" cy="1033780"/>
          </a:xfrm>
          <a:custGeom>
            <a:avLst/>
            <a:gdLst/>
            <a:ahLst/>
            <a:cxnLst/>
            <a:rect l="l" t="t" r="r" b="b"/>
            <a:pathLst>
              <a:path w="904239" h="1033780">
                <a:moveTo>
                  <a:pt x="0" y="1033158"/>
                </a:moveTo>
                <a:lnTo>
                  <a:pt x="0" y="0"/>
                </a:lnTo>
                <a:lnTo>
                  <a:pt x="904014" y="516579"/>
                </a:lnTo>
                <a:lnTo>
                  <a:pt x="0" y="1033158"/>
                </a:lnTo>
                <a:close/>
              </a:path>
            </a:pathLst>
          </a:custGeom>
          <a:solidFill>
            <a:srgbClr val="B40C1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96346" y="5298773"/>
            <a:ext cx="8896349" cy="463867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29235" marR="5080">
              <a:lnSpc>
                <a:spcPct val="100899"/>
              </a:lnSpc>
              <a:spcBef>
                <a:spcPts val="90"/>
              </a:spcBef>
            </a:pPr>
            <a:r>
              <a:rPr sz="4400" dirty="0"/>
              <a:t>Le</a:t>
            </a:r>
            <a:r>
              <a:rPr sz="4400" spc="25" dirty="0"/>
              <a:t> </a:t>
            </a:r>
            <a:r>
              <a:rPr sz="4400" dirty="0"/>
              <a:t>chiffrement</a:t>
            </a:r>
            <a:r>
              <a:rPr sz="4400" spc="25" dirty="0"/>
              <a:t> </a:t>
            </a:r>
            <a:r>
              <a:rPr sz="4400" dirty="0"/>
              <a:t>Asymétrique</a:t>
            </a:r>
            <a:r>
              <a:rPr sz="4400" spc="30" dirty="0"/>
              <a:t> </a:t>
            </a:r>
            <a:r>
              <a:rPr sz="4400" dirty="0"/>
              <a:t>:</a:t>
            </a:r>
            <a:r>
              <a:rPr sz="4400" spc="25" dirty="0"/>
              <a:t> </a:t>
            </a:r>
            <a:r>
              <a:rPr sz="4400" dirty="0"/>
              <a:t>Principe</a:t>
            </a:r>
            <a:r>
              <a:rPr sz="4400" spc="25" dirty="0"/>
              <a:t> </a:t>
            </a:r>
            <a:r>
              <a:rPr sz="4400" spc="-25" dirty="0"/>
              <a:t>de </a:t>
            </a:r>
            <a:r>
              <a:rPr sz="4400" spc="-10" dirty="0"/>
              <a:t>fonctionnement</a:t>
            </a:r>
            <a:endParaRPr sz="4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95" dirty="0"/>
              <a:t>11</a:t>
            </a:fld>
            <a:endParaRPr spc="-95" dirty="0"/>
          </a:p>
        </p:txBody>
      </p:sp>
      <p:sp>
        <p:nvSpPr>
          <p:cNvPr id="5" name="object 5"/>
          <p:cNvSpPr txBox="1"/>
          <p:nvPr/>
        </p:nvSpPr>
        <p:spPr>
          <a:xfrm>
            <a:off x="1332557" y="2390750"/>
            <a:ext cx="15361285" cy="2388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35305" indent="-522605">
              <a:lnSpc>
                <a:spcPct val="100000"/>
              </a:lnSpc>
              <a:spcBef>
                <a:spcPts val="105"/>
              </a:spcBef>
              <a:buFont typeface="Times New Roman"/>
              <a:buAutoNum type="arabicPeriod"/>
              <a:tabLst>
                <a:tab pos="535305" algn="l"/>
              </a:tabLst>
            </a:pPr>
            <a:r>
              <a:rPr sz="3000" b="1" spc="-80" dirty="0">
                <a:latin typeface="Times New Roman"/>
                <a:cs typeface="Times New Roman"/>
              </a:rPr>
              <a:t>L’expéditeur</a:t>
            </a:r>
            <a:r>
              <a:rPr sz="3000" b="1" spc="-110" dirty="0">
                <a:latin typeface="Times New Roman"/>
                <a:cs typeface="Times New Roman"/>
              </a:rPr>
              <a:t> </a:t>
            </a:r>
            <a:r>
              <a:rPr sz="3000" b="1" spc="-70" dirty="0">
                <a:latin typeface="Times New Roman"/>
                <a:cs typeface="Times New Roman"/>
              </a:rPr>
              <a:t>rédige</a:t>
            </a:r>
            <a:r>
              <a:rPr sz="3000" b="1" spc="-110" dirty="0">
                <a:latin typeface="Times New Roman"/>
                <a:cs typeface="Times New Roman"/>
              </a:rPr>
              <a:t> </a:t>
            </a:r>
            <a:r>
              <a:rPr sz="3000" b="1" spc="-150" dirty="0">
                <a:latin typeface="Times New Roman"/>
                <a:cs typeface="Times New Roman"/>
              </a:rPr>
              <a:t>un</a:t>
            </a:r>
            <a:r>
              <a:rPr sz="3000" b="1" spc="-35" dirty="0">
                <a:latin typeface="Times New Roman"/>
                <a:cs typeface="Times New Roman"/>
              </a:rPr>
              <a:t> </a:t>
            </a:r>
            <a:r>
              <a:rPr sz="3000" b="1" spc="-25" dirty="0">
                <a:latin typeface="Times New Roman"/>
                <a:cs typeface="Times New Roman"/>
              </a:rPr>
              <a:t>message</a:t>
            </a:r>
            <a:r>
              <a:rPr sz="3000" b="1" spc="-85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clair.</a:t>
            </a:r>
            <a:endParaRPr sz="3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0"/>
              </a:spcBef>
              <a:buFont typeface="Times New Roman"/>
              <a:buAutoNum type="arabicPeriod"/>
            </a:pPr>
            <a:endParaRPr sz="3000">
              <a:latin typeface="Times New Roman"/>
              <a:cs typeface="Times New Roman"/>
            </a:endParaRPr>
          </a:p>
          <a:p>
            <a:pPr marL="535305" indent="-522605">
              <a:lnSpc>
                <a:spcPct val="100000"/>
              </a:lnSpc>
              <a:buFont typeface="Times New Roman"/>
              <a:buAutoNum type="arabicPeriod"/>
              <a:tabLst>
                <a:tab pos="535305" algn="l"/>
              </a:tabLst>
            </a:pPr>
            <a:r>
              <a:rPr sz="3000" b="1" dirty="0">
                <a:latin typeface="Times New Roman"/>
                <a:cs typeface="Times New Roman"/>
              </a:rPr>
              <a:t>Ce</a:t>
            </a:r>
            <a:r>
              <a:rPr sz="3000" b="1" spc="-100" dirty="0">
                <a:latin typeface="Times New Roman"/>
                <a:cs typeface="Times New Roman"/>
              </a:rPr>
              <a:t> </a:t>
            </a:r>
            <a:r>
              <a:rPr sz="3000" b="1" spc="-25" dirty="0">
                <a:latin typeface="Times New Roman"/>
                <a:cs typeface="Times New Roman"/>
              </a:rPr>
              <a:t>message</a:t>
            </a:r>
            <a:r>
              <a:rPr sz="3000" b="1" spc="-6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est</a:t>
            </a:r>
            <a:r>
              <a:rPr sz="3000" b="1" spc="-55" dirty="0">
                <a:latin typeface="Times New Roman"/>
                <a:cs typeface="Times New Roman"/>
              </a:rPr>
              <a:t> </a:t>
            </a:r>
            <a:r>
              <a:rPr sz="3000" b="1" spc="-65" dirty="0">
                <a:latin typeface="Times New Roman"/>
                <a:cs typeface="Times New Roman"/>
              </a:rPr>
              <a:t>chiffré</a:t>
            </a:r>
            <a:r>
              <a:rPr sz="3000" b="1" spc="-60" dirty="0">
                <a:latin typeface="Times New Roman"/>
                <a:cs typeface="Times New Roman"/>
              </a:rPr>
              <a:t> </a:t>
            </a:r>
            <a:r>
              <a:rPr sz="3000" b="1" spc="-70" dirty="0">
                <a:latin typeface="Times New Roman"/>
                <a:cs typeface="Times New Roman"/>
              </a:rPr>
              <a:t>avec</a:t>
            </a:r>
            <a:r>
              <a:rPr sz="3000" b="1" spc="-60" dirty="0"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941100"/>
                </a:solidFill>
                <a:latin typeface="Times New Roman"/>
                <a:cs typeface="Times New Roman"/>
              </a:rPr>
              <a:t>la</a:t>
            </a:r>
            <a:r>
              <a:rPr sz="3000" b="1" spc="-55" dirty="0">
                <a:solidFill>
                  <a:srgbClr val="9411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941100"/>
                </a:solidFill>
                <a:latin typeface="Times New Roman"/>
                <a:cs typeface="Times New Roman"/>
              </a:rPr>
              <a:t>clé</a:t>
            </a:r>
            <a:r>
              <a:rPr sz="3000" b="1" spc="-60" dirty="0">
                <a:solidFill>
                  <a:srgbClr val="941100"/>
                </a:solidFill>
                <a:latin typeface="Times New Roman"/>
                <a:cs typeface="Times New Roman"/>
              </a:rPr>
              <a:t> </a:t>
            </a:r>
            <a:r>
              <a:rPr sz="3000" b="1" spc="-114" dirty="0">
                <a:solidFill>
                  <a:srgbClr val="941100"/>
                </a:solidFill>
                <a:latin typeface="Times New Roman"/>
                <a:cs typeface="Times New Roman"/>
              </a:rPr>
              <a:t>publique</a:t>
            </a:r>
            <a:r>
              <a:rPr sz="3000" b="1" spc="-55" dirty="0">
                <a:solidFill>
                  <a:srgbClr val="941100"/>
                </a:solidFill>
                <a:latin typeface="Times New Roman"/>
                <a:cs typeface="Times New Roman"/>
              </a:rPr>
              <a:t> </a:t>
            </a:r>
            <a:r>
              <a:rPr sz="3000" b="1" spc="-150" dirty="0">
                <a:solidFill>
                  <a:srgbClr val="941100"/>
                </a:solidFill>
                <a:latin typeface="Times New Roman"/>
                <a:cs typeface="Times New Roman"/>
              </a:rPr>
              <a:t>du</a:t>
            </a:r>
            <a:r>
              <a:rPr sz="3000" b="1" spc="-40" dirty="0">
                <a:solidFill>
                  <a:srgbClr val="941100"/>
                </a:solidFill>
                <a:latin typeface="Times New Roman"/>
                <a:cs typeface="Times New Roman"/>
              </a:rPr>
              <a:t> </a:t>
            </a:r>
            <a:r>
              <a:rPr sz="3000" b="1" spc="-55" dirty="0">
                <a:solidFill>
                  <a:srgbClr val="941100"/>
                </a:solidFill>
                <a:latin typeface="Times New Roman"/>
                <a:cs typeface="Times New Roman"/>
              </a:rPr>
              <a:t>destinataire</a:t>
            </a:r>
            <a:r>
              <a:rPr sz="3000" b="1" spc="-60" dirty="0">
                <a:solidFill>
                  <a:srgbClr val="941100"/>
                </a:solidFill>
                <a:latin typeface="Times New Roman"/>
                <a:cs typeface="Times New Roman"/>
              </a:rPr>
              <a:t> </a:t>
            </a:r>
            <a:r>
              <a:rPr sz="1400" b="1" spc="1595" dirty="0">
                <a:latin typeface="Arial"/>
                <a:cs typeface="Arial"/>
              </a:rPr>
              <a:t>→</a:t>
            </a:r>
            <a:r>
              <a:rPr sz="1400" b="1" spc="300" dirty="0">
                <a:latin typeface="Arial"/>
                <a:cs typeface="Arial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il</a:t>
            </a:r>
            <a:r>
              <a:rPr sz="3000" b="1" spc="-60" dirty="0">
                <a:latin typeface="Times New Roman"/>
                <a:cs typeface="Times New Roman"/>
              </a:rPr>
              <a:t> </a:t>
            </a:r>
            <a:r>
              <a:rPr sz="3000" b="1" spc="-85" dirty="0">
                <a:latin typeface="Times New Roman"/>
                <a:cs typeface="Times New Roman"/>
              </a:rPr>
              <a:t>devient</a:t>
            </a:r>
            <a:r>
              <a:rPr sz="3000" b="1" spc="-55" dirty="0">
                <a:latin typeface="Times New Roman"/>
                <a:cs typeface="Times New Roman"/>
              </a:rPr>
              <a:t> </a:t>
            </a:r>
            <a:r>
              <a:rPr sz="3000" b="1" spc="-150" dirty="0">
                <a:latin typeface="Times New Roman"/>
                <a:cs typeface="Times New Roman"/>
              </a:rPr>
              <a:t>un</a:t>
            </a:r>
            <a:r>
              <a:rPr sz="3000" b="1" spc="-4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texte</a:t>
            </a:r>
            <a:r>
              <a:rPr sz="3000" b="1" spc="-55" dirty="0">
                <a:latin typeface="Times New Roman"/>
                <a:cs typeface="Times New Roman"/>
              </a:rPr>
              <a:t> </a:t>
            </a:r>
            <a:r>
              <a:rPr sz="3000" b="1" spc="-65" dirty="0">
                <a:latin typeface="Times New Roman"/>
                <a:cs typeface="Times New Roman"/>
              </a:rPr>
              <a:t>chiffré</a:t>
            </a:r>
            <a:r>
              <a:rPr sz="3000" b="1" spc="-60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illisible.</a:t>
            </a:r>
            <a:endParaRPr sz="3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0"/>
              </a:spcBef>
              <a:buFont typeface="Times New Roman"/>
              <a:buAutoNum type="arabicPeriod"/>
            </a:pPr>
            <a:endParaRPr sz="3000">
              <a:latin typeface="Times New Roman"/>
              <a:cs typeface="Times New Roman"/>
            </a:endParaRPr>
          </a:p>
          <a:p>
            <a:pPr marL="535305" indent="-522605">
              <a:lnSpc>
                <a:spcPct val="100000"/>
              </a:lnSpc>
              <a:buFont typeface="Times New Roman"/>
              <a:buAutoNum type="arabicPeriod"/>
              <a:tabLst>
                <a:tab pos="535305" algn="l"/>
              </a:tabLst>
            </a:pPr>
            <a:r>
              <a:rPr sz="3000" b="1" dirty="0">
                <a:latin typeface="Times New Roman"/>
                <a:cs typeface="Times New Roman"/>
              </a:rPr>
              <a:t>Le</a:t>
            </a:r>
            <a:r>
              <a:rPr sz="3000" b="1" spc="-90" dirty="0">
                <a:latin typeface="Times New Roman"/>
                <a:cs typeface="Times New Roman"/>
              </a:rPr>
              <a:t> </a:t>
            </a:r>
            <a:r>
              <a:rPr sz="3000" b="1" spc="-55" dirty="0">
                <a:latin typeface="Times New Roman"/>
                <a:cs typeface="Times New Roman"/>
              </a:rPr>
              <a:t>destinataire</a:t>
            </a:r>
            <a:r>
              <a:rPr sz="3000" b="1" spc="-75" dirty="0">
                <a:latin typeface="Times New Roman"/>
                <a:cs typeface="Times New Roman"/>
              </a:rPr>
              <a:t> </a:t>
            </a:r>
            <a:r>
              <a:rPr sz="3000" b="1" spc="-25" dirty="0">
                <a:latin typeface="Times New Roman"/>
                <a:cs typeface="Times New Roman"/>
              </a:rPr>
              <a:t>utilise</a:t>
            </a:r>
            <a:r>
              <a:rPr sz="3000" b="1" spc="-70" dirty="0"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941100"/>
                </a:solidFill>
                <a:latin typeface="Times New Roman"/>
                <a:cs typeface="Times New Roman"/>
              </a:rPr>
              <a:t>sa</a:t>
            </a:r>
            <a:r>
              <a:rPr sz="3000" b="1" spc="-75" dirty="0">
                <a:solidFill>
                  <a:srgbClr val="9411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941100"/>
                </a:solidFill>
                <a:latin typeface="Times New Roman"/>
                <a:cs typeface="Times New Roman"/>
              </a:rPr>
              <a:t>clé</a:t>
            </a:r>
            <a:r>
              <a:rPr sz="3000" b="1" spc="-75" dirty="0">
                <a:solidFill>
                  <a:srgbClr val="941100"/>
                </a:solidFill>
                <a:latin typeface="Times New Roman"/>
                <a:cs typeface="Times New Roman"/>
              </a:rPr>
              <a:t> </a:t>
            </a:r>
            <a:r>
              <a:rPr sz="3000" b="1" spc="-120" dirty="0">
                <a:solidFill>
                  <a:srgbClr val="941100"/>
                </a:solidFill>
                <a:latin typeface="Times New Roman"/>
                <a:cs typeface="Times New Roman"/>
              </a:rPr>
              <a:t>privée</a:t>
            </a:r>
            <a:r>
              <a:rPr sz="3000" b="1" spc="-65" dirty="0">
                <a:solidFill>
                  <a:srgbClr val="941100"/>
                </a:solidFill>
                <a:latin typeface="Times New Roman"/>
                <a:cs typeface="Times New Roman"/>
              </a:rPr>
              <a:t> </a:t>
            </a:r>
            <a:r>
              <a:rPr sz="3000" b="1" spc="-125" dirty="0">
                <a:solidFill>
                  <a:srgbClr val="941100"/>
                </a:solidFill>
                <a:latin typeface="Times New Roman"/>
                <a:cs typeface="Times New Roman"/>
              </a:rPr>
              <a:t>pour</a:t>
            </a:r>
            <a:r>
              <a:rPr sz="3000" b="1" spc="-65" dirty="0">
                <a:solidFill>
                  <a:srgbClr val="941100"/>
                </a:solidFill>
                <a:latin typeface="Times New Roman"/>
                <a:cs typeface="Times New Roman"/>
              </a:rPr>
              <a:t> </a:t>
            </a:r>
            <a:r>
              <a:rPr sz="3000" b="1" spc="-90" dirty="0">
                <a:solidFill>
                  <a:srgbClr val="941100"/>
                </a:solidFill>
                <a:latin typeface="Times New Roman"/>
                <a:cs typeface="Times New Roman"/>
              </a:rPr>
              <a:t>déchiffrer</a:t>
            </a:r>
            <a:r>
              <a:rPr sz="3000" b="1" spc="-70" dirty="0">
                <a:solidFill>
                  <a:srgbClr val="9411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941100"/>
                </a:solidFill>
                <a:latin typeface="Times New Roman"/>
                <a:cs typeface="Times New Roman"/>
              </a:rPr>
              <a:t>le</a:t>
            </a:r>
            <a:r>
              <a:rPr sz="3000" b="1" spc="-75" dirty="0">
                <a:solidFill>
                  <a:srgbClr val="9411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941100"/>
                </a:solidFill>
                <a:latin typeface="Times New Roman"/>
                <a:cs typeface="Times New Roman"/>
              </a:rPr>
              <a:t>texte</a:t>
            </a:r>
            <a:r>
              <a:rPr sz="3000" b="1" spc="-70" dirty="0">
                <a:solidFill>
                  <a:srgbClr val="941100"/>
                </a:solidFill>
                <a:latin typeface="Times New Roman"/>
                <a:cs typeface="Times New Roman"/>
              </a:rPr>
              <a:t> </a:t>
            </a:r>
            <a:r>
              <a:rPr sz="1400" b="1" spc="1595" dirty="0">
                <a:latin typeface="Arial"/>
                <a:cs typeface="Arial"/>
              </a:rPr>
              <a:t>→</a:t>
            </a:r>
            <a:r>
              <a:rPr sz="1400" b="1" spc="280" dirty="0">
                <a:latin typeface="Arial"/>
                <a:cs typeface="Arial"/>
              </a:rPr>
              <a:t> </a:t>
            </a:r>
            <a:r>
              <a:rPr sz="3000" b="1" spc="-55" dirty="0">
                <a:latin typeface="Times New Roman"/>
                <a:cs typeface="Times New Roman"/>
              </a:rPr>
              <a:t>lire</a:t>
            </a:r>
            <a:r>
              <a:rPr sz="3000" b="1" spc="-7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le</a:t>
            </a:r>
            <a:r>
              <a:rPr sz="3000" b="1" spc="-75" dirty="0">
                <a:latin typeface="Times New Roman"/>
                <a:cs typeface="Times New Roman"/>
              </a:rPr>
              <a:t> </a:t>
            </a:r>
            <a:r>
              <a:rPr sz="3000" b="1" spc="-25" dirty="0">
                <a:latin typeface="Times New Roman"/>
                <a:cs typeface="Times New Roman"/>
              </a:rPr>
              <a:t>message</a:t>
            </a:r>
            <a:r>
              <a:rPr sz="3000" b="1" spc="-70" dirty="0">
                <a:latin typeface="Times New Roman"/>
                <a:cs typeface="Times New Roman"/>
              </a:rPr>
              <a:t> </a:t>
            </a:r>
            <a:r>
              <a:rPr sz="3000" b="1" spc="-40" dirty="0">
                <a:latin typeface="Times New Roman"/>
                <a:cs typeface="Times New Roman"/>
              </a:rPr>
              <a:t>original</a:t>
            </a:r>
            <a:r>
              <a:rPr sz="3000" b="1" spc="-75" dirty="0">
                <a:latin typeface="Times New Roman"/>
                <a:cs typeface="Times New Roman"/>
              </a:rPr>
              <a:t> </a:t>
            </a:r>
            <a:r>
              <a:rPr sz="3000" b="1" spc="-20" dirty="0">
                <a:latin typeface="Times New Roman"/>
                <a:cs typeface="Times New Roman"/>
              </a:rPr>
              <a:t>en</a:t>
            </a:r>
            <a:r>
              <a:rPr sz="3000" b="1" spc="-75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clair.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36071" y="0"/>
            <a:ext cx="2851927" cy="154959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028612" y="512176"/>
            <a:ext cx="904240" cy="1033780"/>
          </a:xfrm>
          <a:custGeom>
            <a:avLst/>
            <a:gdLst/>
            <a:ahLst/>
            <a:cxnLst/>
            <a:rect l="l" t="t" r="r" b="b"/>
            <a:pathLst>
              <a:path w="904239" h="1033780">
                <a:moveTo>
                  <a:pt x="0" y="1033158"/>
                </a:moveTo>
                <a:lnTo>
                  <a:pt x="0" y="0"/>
                </a:lnTo>
                <a:lnTo>
                  <a:pt x="904014" y="516579"/>
                </a:lnTo>
                <a:lnTo>
                  <a:pt x="0" y="1033158"/>
                </a:lnTo>
                <a:close/>
              </a:path>
            </a:pathLst>
          </a:custGeom>
          <a:solidFill>
            <a:srgbClr val="B40C1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1028700" y="2118882"/>
            <a:ext cx="16230600" cy="6955155"/>
            <a:chOff x="1028700" y="2118882"/>
            <a:chExt cx="16230600" cy="6955155"/>
          </a:xfrm>
        </p:grpSpPr>
        <p:sp>
          <p:nvSpPr>
            <p:cNvPr id="6" name="object 6"/>
            <p:cNvSpPr/>
            <p:nvPr/>
          </p:nvSpPr>
          <p:spPr>
            <a:xfrm>
              <a:off x="9153483" y="2610646"/>
              <a:ext cx="0" cy="6463665"/>
            </a:xfrm>
            <a:custGeom>
              <a:avLst/>
              <a:gdLst/>
              <a:ahLst/>
              <a:cxnLst/>
              <a:rect l="l" t="t" r="r" b="b"/>
              <a:pathLst>
                <a:path h="6463665">
                  <a:moveTo>
                    <a:pt x="0" y="0"/>
                  </a:moveTo>
                  <a:lnTo>
                    <a:pt x="0" y="6463239"/>
                  </a:lnTo>
                </a:path>
              </a:pathLst>
            </a:custGeom>
            <a:ln w="19049">
              <a:solidFill>
                <a:srgbClr val="9D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28700" y="3469886"/>
              <a:ext cx="16230600" cy="0"/>
            </a:xfrm>
            <a:custGeom>
              <a:avLst/>
              <a:gdLst/>
              <a:ahLst/>
              <a:cxnLst/>
              <a:rect l="l" t="t" r="r" b="b"/>
              <a:pathLst>
                <a:path w="16230600">
                  <a:moveTo>
                    <a:pt x="16230598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9D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338791" y="2228108"/>
              <a:ext cx="971550" cy="971550"/>
            </a:xfrm>
            <a:custGeom>
              <a:avLst/>
              <a:gdLst/>
              <a:ahLst/>
              <a:cxnLst/>
              <a:rect l="l" t="t" r="r" b="b"/>
              <a:pathLst>
                <a:path w="971550" h="971550">
                  <a:moveTo>
                    <a:pt x="485774" y="971549"/>
                  </a:moveTo>
                  <a:lnTo>
                    <a:pt x="438160" y="969210"/>
                  </a:lnTo>
                  <a:lnTo>
                    <a:pt x="391004" y="962215"/>
                  </a:lnTo>
                  <a:lnTo>
                    <a:pt x="344761" y="950632"/>
                  </a:lnTo>
                  <a:lnTo>
                    <a:pt x="299876" y="934572"/>
                  </a:lnTo>
                  <a:lnTo>
                    <a:pt x="256782" y="914190"/>
                  </a:lnTo>
                  <a:lnTo>
                    <a:pt x="215892" y="889681"/>
                  </a:lnTo>
                  <a:lnTo>
                    <a:pt x="177602" y="861283"/>
                  </a:lnTo>
                  <a:lnTo>
                    <a:pt x="142280" y="829269"/>
                  </a:lnTo>
                  <a:lnTo>
                    <a:pt x="110265" y="793947"/>
                  </a:lnTo>
                  <a:lnTo>
                    <a:pt x="81867" y="755656"/>
                  </a:lnTo>
                  <a:lnTo>
                    <a:pt x="57359" y="714767"/>
                  </a:lnTo>
                  <a:lnTo>
                    <a:pt x="36977" y="671672"/>
                  </a:lnTo>
                  <a:lnTo>
                    <a:pt x="20917" y="626787"/>
                  </a:lnTo>
                  <a:lnTo>
                    <a:pt x="9333" y="580544"/>
                  </a:lnTo>
                  <a:lnTo>
                    <a:pt x="2339" y="533389"/>
                  </a:lnTo>
                  <a:lnTo>
                    <a:pt x="0" y="485774"/>
                  </a:lnTo>
                  <a:lnTo>
                    <a:pt x="146" y="473849"/>
                  </a:lnTo>
                  <a:lnTo>
                    <a:pt x="3653" y="426307"/>
                  </a:lnTo>
                  <a:lnTo>
                    <a:pt x="11803" y="379337"/>
                  </a:lnTo>
                  <a:lnTo>
                    <a:pt x="24518" y="333392"/>
                  </a:lnTo>
                  <a:lnTo>
                    <a:pt x="41675" y="288915"/>
                  </a:lnTo>
                  <a:lnTo>
                    <a:pt x="63110" y="246334"/>
                  </a:lnTo>
                  <a:lnTo>
                    <a:pt x="88614" y="206058"/>
                  </a:lnTo>
                  <a:lnTo>
                    <a:pt x="117944" y="168477"/>
                  </a:lnTo>
                  <a:lnTo>
                    <a:pt x="150815" y="133951"/>
                  </a:lnTo>
                  <a:lnTo>
                    <a:pt x="186913" y="102813"/>
                  </a:lnTo>
                  <a:lnTo>
                    <a:pt x="225889" y="75364"/>
                  </a:lnTo>
                  <a:lnTo>
                    <a:pt x="267368" y="51867"/>
                  </a:lnTo>
                  <a:lnTo>
                    <a:pt x="310950" y="32548"/>
                  </a:lnTo>
                  <a:lnTo>
                    <a:pt x="356215" y="17595"/>
                  </a:lnTo>
                  <a:lnTo>
                    <a:pt x="402729" y="7150"/>
                  </a:lnTo>
                  <a:lnTo>
                    <a:pt x="450042" y="1315"/>
                  </a:lnTo>
                  <a:lnTo>
                    <a:pt x="485774" y="0"/>
                  </a:lnTo>
                  <a:lnTo>
                    <a:pt x="497700" y="146"/>
                  </a:lnTo>
                  <a:lnTo>
                    <a:pt x="545242" y="3653"/>
                  </a:lnTo>
                  <a:lnTo>
                    <a:pt x="592212" y="11803"/>
                  </a:lnTo>
                  <a:lnTo>
                    <a:pt x="638157" y="24518"/>
                  </a:lnTo>
                  <a:lnTo>
                    <a:pt x="682634" y="41675"/>
                  </a:lnTo>
                  <a:lnTo>
                    <a:pt x="725215" y="63110"/>
                  </a:lnTo>
                  <a:lnTo>
                    <a:pt x="765491" y="88614"/>
                  </a:lnTo>
                  <a:lnTo>
                    <a:pt x="803072" y="117944"/>
                  </a:lnTo>
                  <a:lnTo>
                    <a:pt x="837598" y="150815"/>
                  </a:lnTo>
                  <a:lnTo>
                    <a:pt x="868736" y="186913"/>
                  </a:lnTo>
                  <a:lnTo>
                    <a:pt x="896185" y="225889"/>
                  </a:lnTo>
                  <a:lnTo>
                    <a:pt x="919682" y="267368"/>
                  </a:lnTo>
                  <a:lnTo>
                    <a:pt x="939001" y="310950"/>
                  </a:lnTo>
                  <a:lnTo>
                    <a:pt x="953954" y="356215"/>
                  </a:lnTo>
                  <a:lnTo>
                    <a:pt x="964398" y="402729"/>
                  </a:lnTo>
                  <a:lnTo>
                    <a:pt x="970234" y="450042"/>
                  </a:lnTo>
                  <a:lnTo>
                    <a:pt x="971549" y="485774"/>
                  </a:lnTo>
                  <a:lnTo>
                    <a:pt x="971403" y="497700"/>
                  </a:lnTo>
                  <a:lnTo>
                    <a:pt x="967896" y="545242"/>
                  </a:lnTo>
                  <a:lnTo>
                    <a:pt x="959746" y="592212"/>
                  </a:lnTo>
                  <a:lnTo>
                    <a:pt x="947031" y="638157"/>
                  </a:lnTo>
                  <a:lnTo>
                    <a:pt x="929873" y="682634"/>
                  </a:lnTo>
                  <a:lnTo>
                    <a:pt x="908439" y="725215"/>
                  </a:lnTo>
                  <a:lnTo>
                    <a:pt x="882935" y="765491"/>
                  </a:lnTo>
                  <a:lnTo>
                    <a:pt x="853605" y="803072"/>
                  </a:lnTo>
                  <a:lnTo>
                    <a:pt x="820734" y="837598"/>
                  </a:lnTo>
                  <a:lnTo>
                    <a:pt x="784636" y="868736"/>
                  </a:lnTo>
                  <a:lnTo>
                    <a:pt x="745660" y="896185"/>
                  </a:lnTo>
                  <a:lnTo>
                    <a:pt x="704181" y="919682"/>
                  </a:lnTo>
                  <a:lnTo>
                    <a:pt x="660599" y="939001"/>
                  </a:lnTo>
                  <a:lnTo>
                    <a:pt x="615333" y="953954"/>
                  </a:lnTo>
                  <a:lnTo>
                    <a:pt x="568820" y="964399"/>
                  </a:lnTo>
                  <a:lnTo>
                    <a:pt x="521507" y="970234"/>
                  </a:lnTo>
                  <a:lnTo>
                    <a:pt x="485774" y="971549"/>
                  </a:lnTo>
                  <a:close/>
                </a:path>
              </a:pathLst>
            </a:custGeom>
            <a:solidFill>
              <a:srgbClr val="45A7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37897" y="2508451"/>
              <a:ext cx="573405" cy="411480"/>
            </a:xfrm>
            <a:custGeom>
              <a:avLst/>
              <a:gdLst/>
              <a:ahLst/>
              <a:cxnLst/>
              <a:rect l="l" t="t" r="r" b="b"/>
              <a:pathLst>
                <a:path w="573404" h="411480">
                  <a:moveTo>
                    <a:pt x="228742" y="410861"/>
                  </a:moveTo>
                  <a:lnTo>
                    <a:pt x="191794" y="399675"/>
                  </a:lnTo>
                  <a:lnTo>
                    <a:pt x="19502" y="229210"/>
                  </a:lnTo>
                  <a:lnTo>
                    <a:pt x="0" y="182124"/>
                  </a:lnTo>
                  <a:lnTo>
                    <a:pt x="4875" y="157066"/>
                  </a:lnTo>
                  <a:lnTo>
                    <a:pt x="19502" y="135038"/>
                  </a:lnTo>
                  <a:lnTo>
                    <a:pt x="41530" y="120412"/>
                  </a:lnTo>
                  <a:lnTo>
                    <a:pt x="66588" y="115536"/>
                  </a:lnTo>
                  <a:lnTo>
                    <a:pt x="91646" y="120412"/>
                  </a:lnTo>
                  <a:lnTo>
                    <a:pt x="113674" y="135038"/>
                  </a:lnTo>
                  <a:lnTo>
                    <a:pt x="228722" y="250086"/>
                  </a:lnTo>
                  <a:lnTo>
                    <a:pt x="459190" y="19518"/>
                  </a:lnTo>
                  <a:lnTo>
                    <a:pt x="481214" y="4882"/>
                  </a:lnTo>
                  <a:lnTo>
                    <a:pt x="506271" y="0"/>
                  </a:lnTo>
                  <a:lnTo>
                    <a:pt x="531330" y="4869"/>
                  </a:lnTo>
                  <a:lnTo>
                    <a:pt x="553362" y="19491"/>
                  </a:lnTo>
                  <a:lnTo>
                    <a:pt x="567994" y="41518"/>
                  </a:lnTo>
                  <a:lnTo>
                    <a:pt x="572874" y="66575"/>
                  </a:lnTo>
                  <a:lnTo>
                    <a:pt x="568004" y="91632"/>
                  </a:lnTo>
                  <a:lnTo>
                    <a:pt x="275834" y="391344"/>
                  </a:lnTo>
                  <a:lnTo>
                    <a:pt x="241797" y="409569"/>
                  </a:lnTo>
                  <a:lnTo>
                    <a:pt x="228742" y="410861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90720" y="2118882"/>
              <a:ext cx="1066799" cy="108584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92115" y="4342544"/>
              <a:ext cx="95250" cy="9524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92115" y="5999894"/>
              <a:ext cx="95250" cy="9524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92115" y="7657244"/>
              <a:ext cx="95250" cy="9524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92115" y="8485918"/>
              <a:ext cx="95250" cy="9524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85895" y="4342544"/>
              <a:ext cx="95250" cy="9524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85895" y="5171219"/>
              <a:ext cx="95250" cy="9524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85895" y="6828569"/>
              <a:ext cx="95250" cy="95249"/>
            </a:xfrm>
            <a:prstGeom prst="rect">
              <a:avLst/>
            </a:prstGeom>
          </p:spPr>
        </p:pic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94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4400" dirty="0"/>
              <a:t>Avantages</a:t>
            </a:r>
            <a:r>
              <a:rPr sz="4400" spc="15" dirty="0"/>
              <a:t> </a:t>
            </a:r>
            <a:r>
              <a:rPr sz="4400" dirty="0"/>
              <a:t>et</a:t>
            </a:r>
            <a:r>
              <a:rPr sz="4400" spc="20" dirty="0"/>
              <a:t> </a:t>
            </a:r>
            <a:r>
              <a:rPr sz="4400" dirty="0"/>
              <a:t>limites</a:t>
            </a:r>
            <a:r>
              <a:rPr sz="4400" spc="15" dirty="0"/>
              <a:t> </a:t>
            </a:r>
            <a:r>
              <a:rPr sz="4400" dirty="0"/>
              <a:t>du</a:t>
            </a:r>
            <a:r>
              <a:rPr sz="4400" spc="20" dirty="0"/>
              <a:t> </a:t>
            </a:r>
            <a:r>
              <a:rPr sz="4400" dirty="0"/>
              <a:t>chiffrement</a:t>
            </a:r>
            <a:r>
              <a:rPr sz="4400" spc="20" dirty="0"/>
              <a:t> </a:t>
            </a:r>
            <a:r>
              <a:rPr sz="4400" spc="-10" dirty="0"/>
              <a:t>Asymétrique</a:t>
            </a:r>
            <a:endParaRPr sz="4400"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95" dirty="0"/>
              <a:t>12</a:t>
            </a:fld>
            <a:endParaRPr spc="-95" dirty="0"/>
          </a:p>
        </p:txBody>
      </p:sp>
      <p:sp>
        <p:nvSpPr>
          <p:cNvPr id="19" name="object 19"/>
          <p:cNvSpPr txBox="1"/>
          <p:nvPr/>
        </p:nvSpPr>
        <p:spPr>
          <a:xfrm>
            <a:off x="1630488" y="4074574"/>
            <a:ext cx="6824980" cy="46355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050" dirty="0">
                <a:latin typeface="Times New Roman"/>
                <a:cs typeface="Times New Roman"/>
              </a:rPr>
              <a:t>Clé</a:t>
            </a:r>
            <a:r>
              <a:rPr sz="3050" spc="30" dirty="0">
                <a:latin typeface="Times New Roman"/>
                <a:cs typeface="Times New Roman"/>
              </a:rPr>
              <a:t> </a:t>
            </a:r>
            <a:r>
              <a:rPr sz="3050" spc="75" dirty="0">
                <a:latin typeface="Times New Roman"/>
                <a:cs typeface="Times New Roman"/>
              </a:rPr>
              <a:t>publique</a:t>
            </a:r>
            <a:r>
              <a:rPr sz="3050" spc="35" dirty="0">
                <a:latin typeface="Times New Roman"/>
                <a:cs typeface="Times New Roman"/>
              </a:rPr>
              <a:t> </a:t>
            </a:r>
            <a:r>
              <a:rPr sz="3050" spc="85" dirty="0">
                <a:latin typeface="Times New Roman"/>
                <a:cs typeface="Times New Roman"/>
              </a:rPr>
              <a:t>partagée</a:t>
            </a:r>
            <a:r>
              <a:rPr sz="3050" spc="35" dirty="0">
                <a:latin typeface="Times New Roman"/>
                <a:cs typeface="Times New Roman"/>
              </a:rPr>
              <a:t> </a:t>
            </a:r>
            <a:r>
              <a:rPr sz="3050" spc="65" dirty="0">
                <a:latin typeface="Times New Roman"/>
                <a:cs typeface="Times New Roman"/>
              </a:rPr>
              <a:t>librement</a:t>
            </a:r>
            <a:r>
              <a:rPr sz="3050" spc="35" dirty="0">
                <a:latin typeface="Times New Roman"/>
                <a:cs typeface="Times New Roman"/>
              </a:rPr>
              <a:t> </a:t>
            </a:r>
            <a:r>
              <a:rPr sz="3050" spc="75" dirty="0">
                <a:latin typeface="Times New Roman"/>
                <a:cs typeface="Times New Roman"/>
              </a:rPr>
              <a:t>(pas</a:t>
            </a:r>
            <a:r>
              <a:rPr sz="3050" spc="35" dirty="0">
                <a:latin typeface="Times New Roman"/>
                <a:cs typeface="Times New Roman"/>
              </a:rPr>
              <a:t> </a:t>
            </a:r>
            <a:r>
              <a:rPr sz="3050" spc="40" dirty="0">
                <a:latin typeface="Times New Roman"/>
                <a:cs typeface="Times New Roman"/>
              </a:rPr>
              <a:t>de</a:t>
            </a:r>
            <a:endParaRPr sz="3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865"/>
              </a:spcBef>
            </a:pPr>
            <a:r>
              <a:rPr sz="3050" spc="60" dirty="0">
                <a:latin typeface="Times New Roman"/>
                <a:cs typeface="Times New Roman"/>
              </a:rPr>
              <a:t>canal</a:t>
            </a:r>
            <a:r>
              <a:rPr sz="3050" spc="10" dirty="0">
                <a:latin typeface="Times New Roman"/>
                <a:cs typeface="Times New Roman"/>
              </a:rPr>
              <a:t> </a:t>
            </a:r>
            <a:r>
              <a:rPr sz="3050" spc="95" dirty="0">
                <a:latin typeface="Times New Roman"/>
                <a:cs typeface="Times New Roman"/>
              </a:rPr>
              <a:t>sûr</a:t>
            </a:r>
            <a:r>
              <a:rPr sz="3050" spc="10" dirty="0">
                <a:latin typeface="Times New Roman"/>
                <a:cs typeface="Times New Roman"/>
              </a:rPr>
              <a:t> </a:t>
            </a:r>
            <a:r>
              <a:rPr sz="3050" spc="-10" dirty="0">
                <a:latin typeface="Times New Roman"/>
                <a:cs typeface="Times New Roman"/>
              </a:rPr>
              <a:t>nécessaire).</a:t>
            </a:r>
            <a:endParaRPr sz="3050">
              <a:latin typeface="Times New Roman"/>
              <a:cs typeface="Times New Roman"/>
            </a:endParaRPr>
          </a:p>
          <a:p>
            <a:pPr marL="12700" marR="5080">
              <a:lnSpc>
                <a:spcPct val="178300"/>
              </a:lnSpc>
            </a:pPr>
            <a:r>
              <a:rPr sz="3050" spc="60" dirty="0">
                <a:latin typeface="Times New Roman"/>
                <a:cs typeface="Times New Roman"/>
              </a:rPr>
              <a:t>Assure</a:t>
            </a:r>
            <a:r>
              <a:rPr sz="3050" spc="15" dirty="0">
                <a:latin typeface="Times New Roman"/>
                <a:cs typeface="Times New Roman"/>
              </a:rPr>
              <a:t> </a:t>
            </a:r>
            <a:r>
              <a:rPr sz="3050" spc="45" dirty="0">
                <a:latin typeface="Times New Roman"/>
                <a:cs typeface="Times New Roman"/>
              </a:rPr>
              <a:t>confidentialité,</a:t>
            </a:r>
            <a:r>
              <a:rPr sz="3050" spc="20" dirty="0">
                <a:latin typeface="Times New Roman"/>
                <a:cs typeface="Times New Roman"/>
              </a:rPr>
              <a:t> </a:t>
            </a:r>
            <a:r>
              <a:rPr sz="3050" spc="85" dirty="0">
                <a:latin typeface="Times New Roman"/>
                <a:cs typeface="Times New Roman"/>
              </a:rPr>
              <a:t>authentification</a:t>
            </a:r>
            <a:r>
              <a:rPr sz="3050" spc="20" dirty="0">
                <a:latin typeface="Times New Roman"/>
                <a:cs typeface="Times New Roman"/>
              </a:rPr>
              <a:t> </a:t>
            </a:r>
            <a:r>
              <a:rPr sz="3050" spc="45" dirty="0">
                <a:latin typeface="Times New Roman"/>
                <a:cs typeface="Times New Roman"/>
              </a:rPr>
              <a:t>et </a:t>
            </a:r>
            <a:r>
              <a:rPr sz="3050" spc="105" dirty="0">
                <a:latin typeface="Times New Roman"/>
                <a:cs typeface="Times New Roman"/>
              </a:rPr>
              <a:t>non-</a:t>
            </a:r>
            <a:r>
              <a:rPr sz="3050" spc="80" dirty="0">
                <a:latin typeface="Times New Roman"/>
                <a:cs typeface="Times New Roman"/>
              </a:rPr>
              <a:t>répudiation.</a:t>
            </a:r>
            <a:endParaRPr sz="3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865"/>
              </a:spcBef>
            </a:pPr>
            <a:r>
              <a:rPr sz="3050" spc="55" dirty="0">
                <a:latin typeface="Times New Roman"/>
                <a:cs typeface="Times New Roman"/>
              </a:rPr>
              <a:t>Plus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95" dirty="0">
                <a:latin typeface="Times New Roman"/>
                <a:cs typeface="Times New Roman"/>
              </a:rPr>
              <a:t>sûr</a:t>
            </a:r>
            <a:r>
              <a:rPr sz="3050" dirty="0">
                <a:latin typeface="Times New Roman"/>
                <a:cs typeface="Times New Roman"/>
              </a:rPr>
              <a:t> </a:t>
            </a:r>
            <a:r>
              <a:rPr sz="3050" spc="90" dirty="0">
                <a:latin typeface="Times New Roman"/>
                <a:cs typeface="Times New Roman"/>
              </a:rPr>
              <a:t>que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le </a:t>
            </a:r>
            <a:r>
              <a:rPr sz="3050" spc="35" dirty="0">
                <a:latin typeface="Times New Roman"/>
                <a:cs typeface="Times New Roman"/>
              </a:rPr>
              <a:t>symétrique.</a:t>
            </a:r>
            <a:endParaRPr sz="3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865"/>
              </a:spcBef>
            </a:pPr>
            <a:r>
              <a:rPr sz="3050" spc="50" dirty="0">
                <a:latin typeface="Times New Roman"/>
                <a:cs typeface="Times New Roman"/>
              </a:rPr>
              <a:t>Seulement</a:t>
            </a:r>
            <a:r>
              <a:rPr sz="3050" spc="-10" dirty="0">
                <a:latin typeface="Times New Roman"/>
                <a:cs typeface="Times New Roman"/>
              </a:rPr>
              <a:t> </a:t>
            </a:r>
            <a:r>
              <a:rPr sz="3050" spc="70" dirty="0">
                <a:latin typeface="Times New Roman"/>
                <a:cs typeface="Times New Roman"/>
              </a:rPr>
              <a:t>2n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clés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150" dirty="0">
                <a:latin typeface="Times New Roman"/>
                <a:cs typeface="Times New Roman"/>
              </a:rPr>
              <a:t>pour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150" dirty="0">
                <a:latin typeface="Times New Roman"/>
                <a:cs typeface="Times New Roman"/>
              </a:rPr>
              <a:t>n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65" dirty="0">
                <a:latin typeface="Times New Roman"/>
                <a:cs typeface="Times New Roman"/>
              </a:rPr>
              <a:t>participants.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024268" y="4074574"/>
            <a:ext cx="7572375" cy="3806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050" spc="110" dirty="0">
                <a:latin typeface="Times New Roman"/>
                <a:cs typeface="Times New Roman"/>
              </a:rPr>
              <a:t>Lent</a:t>
            </a:r>
            <a:r>
              <a:rPr sz="3050" spc="4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(environ</a:t>
            </a:r>
            <a:r>
              <a:rPr sz="3050" spc="55" dirty="0">
                <a:latin typeface="Times New Roman"/>
                <a:cs typeface="Times New Roman"/>
              </a:rPr>
              <a:t> </a:t>
            </a:r>
            <a:r>
              <a:rPr sz="3050" spc="100" dirty="0">
                <a:latin typeface="Times New Roman"/>
                <a:cs typeface="Times New Roman"/>
              </a:rPr>
              <a:t>10×</a:t>
            </a:r>
            <a:r>
              <a:rPr sz="3050" spc="50" dirty="0">
                <a:latin typeface="Times New Roman"/>
                <a:cs typeface="Times New Roman"/>
              </a:rPr>
              <a:t> </a:t>
            </a:r>
            <a:r>
              <a:rPr sz="3050" spc="60" dirty="0">
                <a:latin typeface="Times New Roman"/>
                <a:cs typeface="Times New Roman"/>
              </a:rPr>
              <a:t>plus</a:t>
            </a:r>
            <a:r>
              <a:rPr sz="3050" spc="55" dirty="0">
                <a:latin typeface="Times New Roman"/>
                <a:cs typeface="Times New Roman"/>
              </a:rPr>
              <a:t> </a:t>
            </a:r>
            <a:r>
              <a:rPr sz="3050" spc="90" dirty="0">
                <a:latin typeface="Times New Roman"/>
                <a:cs typeface="Times New Roman"/>
              </a:rPr>
              <a:t>que</a:t>
            </a:r>
            <a:r>
              <a:rPr sz="3050" spc="5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le</a:t>
            </a:r>
            <a:r>
              <a:rPr sz="3050" spc="55" dirty="0">
                <a:latin typeface="Times New Roman"/>
                <a:cs typeface="Times New Roman"/>
              </a:rPr>
              <a:t> </a:t>
            </a:r>
            <a:r>
              <a:rPr sz="3050" spc="45" dirty="0">
                <a:latin typeface="Times New Roman"/>
                <a:cs typeface="Times New Roman"/>
              </a:rPr>
              <a:t>symétrique).</a:t>
            </a:r>
            <a:endParaRPr sz="3050">
              <a:latin typeface="Times New Roman"/>
              <a:cs typeface="Times New Roman"/>
            </a:endParaRPr>
          </a:p>
          <a:p>
            <a:pPr marL="12700" marR="273050">
              <a:lnSpc>
                <a:spcPct val="178300"/>
              </a:lnSpc>
            </a:pPr>
            <a:r>
              <a:rPr sz="3050" spc="70" dirty="0">
                <a:latin typeface="Times New Roman"/>
                <a:cs typeface="Times New Roman"/>
              </a:rPr>
              <a:t>Peu</a:t>
            </a:r>
            <a:r>
              <a:rPr sz="3050" spc="5" dirty="0">
                <a:latin typeface="Times New Roman"/>
                <a:cs typeface="Times New Roman"/>
              </a:rPr>
              <a:t> </a:t>
            </a:r>
            <a:r>
              <a:rPr sz="3050" spc="114" dirty="0">
                <a:latin typeface="Times New Roman"/>
                <a:cs typeface="Times New Roman"/>
              </a:rPr>
              <a:t>adapté</a:t>
            </a:r>
            <a:r>
              <a:rPr sz="3050" spc="10" dirty="0">
                <a:latin typeface="Times New Roman"/>
                <a:cs typeface="Times New Roman"/>
              </a:rPr>
              <a:t> </a:t>
            </a:r>
            <a:r>
              <a:rPr sz="3050" spc="160" dirty="0">
                <a:latin typeface="Times New Roman"/>
                <a:cs typeface="Times New Roman"/>
              </a:rPr>
              <a:t>au</a:t>
            </a:r>
            <a:r>
              <a:rPr sz="3050" spc="10" dirty="0">
                <a:latin typeface="Times New Roman"/>
                <a:cs typeface="Times New Roman"/>
              </a:rPr>
              <a:t> </a:t>
            </a:r>
            <a:r>
              <a:rPr sz="3050" spc="100" dirty="0">
                <a:latin typeface="Times New Roman"/>
                <a:cs typeface="Times New Roman"/>
              </a:rPr>
              <a:t>traitement</a:t>
            </a:r>
            <a:r>
              <a:rPr sz="3050" spc="5" dirty="0">
                <a:latin typeface="Times New Roman"/>
                <a:cs typeface="Times New Roman"/>
              </a:rPr>
              <a:t> </a:t>
            </a:r>
            <a:r>
              <a:rPr sz="3050" spc="65" dirty="0">
                <a:latin typeface="Times New Roman"/>
                <a:cs typeface="Times New Roman"/>
              </a:rPr>
              <a:t>de</a:t>
            </a:r>
            <a:r>
              <a:rPr sz="3050" spc="10" dirty="0">
                <a:latin typeface="Times New Roman"/>
                <a:cs typeface="Times New Roman"/>
              </a:rPr>
              <a:t> </a:t>
            </a:r>
            <a:r>
              <a:rPr sz="3050" spc="95" dirty="0">
                <a:latin typeface="Times New Roman"/>
                <a:cs typeface="Times New Roman"/>
              </a:rPr>
              <a:t>grands</a:t>
            </a:r>
            <a:r>
              <a:rPr sz="3050" spc="10" dirty="0">
                <a:latin typeface="Times New Roman"/>
                <a:cs typeface="Times New Roman"/>
              </a:rPr>
              <a:t> </a:t>
            </a:r>
            <a:r>
              <a:rPr sz="3050" spc="-10" dirty="0">
                <a:latin typeface="Times New Roman"/>
                <a:cs typeface="Times New Roman"/>
              </a:rPr>
              <a:t>volumes </a:t>
            </a:r>
            <a:r>
              <a:rPr sz="3050" spc="40" dirty="0">
                <a:latin typeface="Times New Roman"/>
                <a:cs typeface="Times New Roman"/>
              </a:rPr>
              <a:t>d’informations.</a:t>
            </a:r>
            <a:endParaRPr sz="3050">
              <a:latin typeface="Times New Roman"/>
              <a:cs typeface="Times New Roman"/>
            </a:endParaRPr>
          </a:p>
          <a:p>
            <a:pPr marL="12700" marR="5080">
              <a:lnSpc>
                <a:spcPct val="178300"/>
              </a:lnSpc>
            </a:pPr>
            <a:r>
              <a:rPr sz="3050" dirty="0">
                <a:latin typeface="Times New Roman"/>
                <a:cs typeface="Times New Roman"/>
              </a:rPr>
              <a:t>Vulnérable</a:t>
            </a:r>
            <a:r>
              <a:rPr sz="3050" spc="95" dirty="0">
                <a:latin typeface="Times New Roman"/>
                <a:cs typeface="Times New Roman"/>
              </a:rPr>
              <a:t> </a:t>
            </a:r>
            <a:r>
              <a:rPr sz="3050" spc="105" dirty="0">
                <a:latin typeface="Times New Roman"/>
                <a:cs typeface="Times New Roman"/>
              </a:rPr>
              <a:t>aux</a:t>
            </a:r>
            <a:r>
              <a:rPr sz="3050" spc="95" dirty="0">
                <a:latin typeface="Times New Roman"/>
                <a:cs typeface="Times New Roman"/>
              </a:rPr>
              <a:t> </a:t>
            </a:r>
            <a:r>
              <a:rPr sz="3050" spc="100" dirty="0">
                <a:latin typeface="Times New Roman"/>
                <a:cs typeface="Times New Roman"/>
              </a:rPr>
              <a:t>attaques</a:t>
            </a:r>
            <a:r>
              <a:rPr sz="3050" spc="95" dirty="0">
                <a:latin typeface="Times New Roman"/>
                <a:cs typeface="Times New Roman"/>
              </a:rPr>
              <a:t> (usurpation, </a:t>
            </a:r>
            <a:r>
              <a:rPr sz="3050" spc="150" dirty="0">
                <a:latin typeface="Times New Roman"/>
                <a:cs typeface="Times New Roman"/>
              </a:rPr>
              <a:t>Man-</a:t>
            </a:r>
            <a:r>
              <a:rPr sz="3050" spc="-25" dirty="0">
                <a:latin typeface="Times New Roman"/>
                <a:cs typeface="Times New Roman"/>
              </a:rPr>
              <a:t>in- </a:t>
            </a:r>
            <a:r>
              <a:rPr sz="3050" spc="70" dirty="0">
                <a:latin typeface="Times New Roman"/>
                <a:cs typeface="Times New Roman"/>
              </a:rPr>
              <a:t>the-</a:t>
            </a:r>
            <a:r>
              <a:rPr sz="3050" spc="65" dirty="0">
                <a:latin typeface="Times New Roman"/>
                <a:cs typeface="Times New Roman"/>
              </a:rPr>
              <a:t>Middle)</a:t>
            </a:r>
            <a:r>
              <a:rPr sz="3050" spc="120" dirty="0">
                <a:latin typeface="Times New Roman"/>
                <a:cs typeface="Times New Roman"/>
              </a:rPr>
              <a:t> </a:t>
            </a:r>
            <a:r>
              <a:rPr sz="3050" spc="70" dirty="0">
                <a:latin typeface="Times New Roman"/>
                <a:cs typeface="Times New Roman"/>
              </a:rPr>
              <a:t>sans</a:t>
            </a:r>
            <a:r>
              <a:rPr sz="3050" spc="1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certificats</a:t>
            </a:r>
            <a:r>
              <a:rPr sz="3050" spc="130" dirty="0">
                <a:latin typeface="Times New Roman"/>
                <a:cs typeface="Times New Roman"/>
              </a:rPr>
              <a:t> </a:t>
            </a:r>
            <a:r>
              <a:rPr sz="3050" spc="65" dirty="0">
                <a:latin typeface="Times New Roman"/>
                <a:cs typeface="Times New Roman"/>
              </a:rPr>
              <a:t>de</a:t>
            </a:r>
            <a:r>
              <a:rPr sz="3050" spc="135" dirty="0">
                <a:latin typeface="Times New Roman"/>
                <a:cs typeface="Times New Roman"/>
              </a:rPr>
              <a:t> </a:t>
            </a:r>
            <a:r>
              <a:rPr sz="3050" spc="35" dirty="0">
                <a:latin typeface="Times New Roman"/>
                <a:cs typeface="Times New Roman"/>
              </a:rPr>
              <a:t>confiance.</a:t>
            </a:r>
            <a:endParaRPr sz="3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612" y="512176"/>
            <a:ext cx="904240" cy="1033780"/>
          </a:xfrm>
          <a:custGeom>
            <a:avLst/>
            <a:gdLst/>
            <a:ahLst/>
            <a:cxnLst/>
            <a:rect l="l" t="t" r="r" b="b"/>
            <a:pathLst>
              <a:path w="904239" h="1033780">
                <a:moveTo>
                  <a:pt x="0" y="1033158"/>
                </a:moveTo>
                <a:lnTo>
                  <a:pt x="0" y="0"/>
                </a:lnTo>
                <a:lnTo>
                  <a:pt x="904014" y="516579"/>
                </a:lnTo>
                <a:lnTo>
                  <a:pt x="0" y="1033158"/>
                </a:lnTo>
                <a:close/>
              </a:path>
            </a:pathLst>
          </a:custGeom>
          <a:solidFill>
            <a:srgbClr val="B40C1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2498629" y="2404497"/>
            <a:ext cx="13284200" cy="3639820"/>
            <a:chOff x="2498629" y="2404497"/>
            <a:chExt cx="13284200" cy="36398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12765" y="3358110"/>
              <a:ext cx="12858749" cy="268604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98629" y="2420208"/>
              <a:ext cx="1491117" cy="155584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734629" y="2404497"/>
              <a:ext cx="1047749" cy="1581149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0885" rIns="0" bIns="0" rtlCol="0">
            <a:spAutoFit/>
          </a:bodyPr>
          <a:lstStyle/>
          <a:p>
            <a:pPr marL="229235">
              <a:lnSpc>
                <a:spcPct val="100000"/>
              </a:lnSpc>
              <a:spcBef>
                <a:spcPts val="140"/>
              </a:spcBef>
            </a:pPr>
            <a:r>
              <a:rPr sz="4700" dirty="0"/>
              <a:t>Scénario</a:t>
            </a:r>
            <a:r>
              <a:rPr sz="4700" spc="-10" dirty="0"/>
              <a:t> </a:t>
            </a:r>
            <a:r>
              <a:rPr sz="4700" dirty="0"/>
              <a:t>d’utilisation</a:t>
            </a:r>
            <a:r>
              <a:rPr sz="4700" spc="-10" dirty="0"/>
              <a:t> </a:t>
            </a:r>
            <a:r>
              <a:rPr sz="4700" dirty="0"/>
              <a:t>:</a:t>
            </a:r>
            <a:r>
              <a:rPr sz="4700" spc="-10" dirty="0"/>
              <a:t> </a:t>
            </a:r>
            <a:r>
              <a:rPr sz="4700" dirty="0"/>
              <a:t>La</a:t>
            </a:r>
            <a:r>
              <a:rPr sz="4700" spc="-10" dirty="0"/>
              <a:t> confidentialité</a:t>
            </a:r>
            <a:endParaRPr sz="4700"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62896" y="7004745"/>
            <a:ext cx="95250" cy="952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62896" y="7995345"/>
            <a:ext cx="95250" cy="952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62896" y="8976420"/>
            <a:ext cx="85725" cy="8572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985654" y="6735347"/>
            <a:ext cx="9067800" cy="2455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95"/>
              </a:spcBef>
            </a:pPr>
            <a:r>
              <a:rPr sz="3150" b="1" dirty="0">
                <a:latin typeface="Times New Roman"/>
                <a:cs typeface="Times New Roman"/>
              </a:rPr>
              <a:t>Alice</a:t>
            </a:r>
            <a:r>
              <a:rPr sz="3150" b="1" spc="-130" dirty="0">
                <a:latin typeface="Times New Roman"/>
                <a:cs typeface="Times New Roman"/>
              </a:rPr>
              <a:t> </a:t>
            </a:r>
            <a:r>
              <a:rPr sz="3150" b="1" spc="-75" dirty="0">
                <a:solidFill>
                  <a:srgbClr val="941100"/>
                </a:solidFill>
                <a:latin typeface="Times New Roman"/>
                <a:cs typeface="Times New Roman"/>
              </a:rPr>
              <a:t>chiffre</a:t>
            </a:r>
            <a:r>
              <a:rPr sz="3150" b="1" spc="-100" dirty="0">
                <a:solidFill>
                  <a:srgbClr val="941100"/>
                </a:solidFill>
                <a:latin typeface="Times New Roman"/>
                <a:cs typeface="Times New Roman"/>
              </a:rPr>
              <a:t> </a:t>
            </a:r>
            <a:r>
              <a:rPr sz="3150" b="1" dirty="0">
                <a:latin typeface="Times New Roman"/>
                <a:cs typeface="Times New Roman"/>
              </a:rPr>
              <a:t>le</a:t>
            </a:r>
            <a:r>
              <a:rPr sz="3150" b="1" spc="-100" dirty="0">
                <a:latin typeface="Times New Roman"/>
                <a:cs typeface="Times New Roman"/>
              </a:rPr>
              <a:t> </a:t>
            </a:r>
            <a:r>
              <a:rPr sz="3150" b="1" spc="-35" dirty="0">
                <a:latin typeface="Times New Roman"/>
                <a:cs typeface="Times New Roman"/>
              </a:rPr>
              <a:t>message</a:t>
            </a:r>
            <a:r>
              <a:rPr sz="3150" b="1" spc="-95" dirty="0">
                <a:latin typeface="Times New Roman"/>
                <a:cs typeface="Times New Roman"/>
              </a:rPr>
              <a:t> </a:t>
            </a:r>
            <a:r>
              <a:rPr sz="3150" b="1" spc="-80" dirty="0">
                <a:latin typeface="Times New Roman"/>
                <a:cs typeface="Times New Roman"/>
              </a:rPr>
              <a:t>avec</a:t>
            </a:r>
            <a:r>
              <a:rPr sz="3150" b="1" spc="-100" dirty="0">
                <a:latin typeface="Times New Roman"/>
                <a:cs typeface="Times New Roman"/>
              </a:rPr>
              <a:t> </a:t>
            </a:r>
            <a:r>
              <a:rPr sz="3150" b="1" dirty="0">
                <a:solidFill>
                  <a:srgbClr val="941100"/>
                </a:solidFill>
                <a:latin typeface="Times New Roman"/>
                <a:cs typeface="Times New Roman"/>
              </a:rPr>
              <a:t>la</a:t>
            </a:r>
            <a:r>
              <a:rPr sz="3150" b="1" spc="-95" dirty="0">
                <a:solidFill>
                  <a:srgbClr val="941100"/>
                </a:solidFill>
                <a:latin typeface="Times New Roman"/>
                <a:cs typeface="Times New Roman"/>
              </a:rPr>
              <a:t> </a:t>
            </a:r>
            <a:r>
              <a:rPr sz="3150" b="1" dirty="0">
                <a:solidFill>
                  <a:srgbClr val="941100"/>
                </a:solidFill>
                <a:latin typeface="Times New Roman"/>
                <a:cs typeface="Times New Roman"/>
              </a:rPr>
              <a:t>clé</a:t>
            </a:r>
            <a:r>
              <a:rPr sz="3150" b="1" spc="-100" dirty="0">
                <a:solidFill>
                  <a:srgbClr val="941100"/>
                </a:solidFill>
                <a:latin typeface="Times New Roman"/>
                <a:cs typeface="Times New Roman"/>
              </a:rPr>
              <a:t> </a:t>
            </a:r>
            <a:r>
              <a:rPr sz="3150" b="1" spc="-130" dirty="0">
                <a:solidFill>
                  <a:srgbClr val="941100"/>
                </a:solidFill>
                <a:latin typeface="Times New Roman"/>
                <a:cs typeface="Times New Roman"/>
              </a:rPr>
              <a:t>publique</a:t>
            </a:r>
            <a:r>
              <a:rPr sz="3150" b="1" spc="-65" dirty="0">
                <a:solidFill>
                  <a:srgbClr val="941100"/>
                </a:solidFill>
                <a:latin typeface="Times New Roman"/>
                <a:cs typeface="Times New Roman"/>
              </a:rPr>
              <a:t> </a:t>
            </a:r>
            <a:r>
              <a:rPr sz="3150" b="1" spc="-35" dirty="0">
                <a:solidFill>
                  <a:srgbClr val="941100"/>
                </a:solidFill>
                <a:latin typeface="Times New Roman"/>
                <a:cs typeface="Times New Roman"/>
              </a:rPr>
              <a:t>de</a:t>
            </a:r>
            <a:r>
              <a:rPr sz="3150" b="1" spc="-100" dirty="0">
                <a:solidFill>
                  <a:srgbClr val="941100"/>
                </a:solidFill>
                <a:latin typeface="Times New Roman"/>
                <a:cs typeface="Times New Roman"/>
              </a:rPr>
              <a:t> </a:t>
            </a:r>
            <a:r>
              <a:rPr sz="3150" b="1" spc="-20" dirty="0">
                <a:solidFill>
                  <a:srgbClr val="941100"/>
                </a:solidFill>
                <a:latin typeface="Times New Roman"/>
                <a:cs typeface="Times New Roman"/>
              </a:rPr>
              <a:t>Bob</a:t>
            </a:r>
            <a:r>
              <a:rPr sz="3150" b="1" spc="-20" dirty="0">
                <a:latin typeface="Times New Roman"/>
                <a:cs typeface="Times New Roman"/>
              </a:rPr>
              <a:t>.</a:t>
            </a:r>
            <a:endParaRPr sz="3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3150">
              <a:latin typeface="Times New Roman"/>
              <a:cs typeface="Times New Roman"/>
            </a:endParaRPr>
          </a:p>
          <a:p>
            <a:pPr marL="37465">
              <a:lnSpc>
                <a:spcPct val="100000"/>
              </a:lnSpc>
              <a:spcBef>
                <a:spcPts val="5"/>
              </a:spcBef>
            </a:pPr>
            <a:r>
              <a:rPr sz="3150" b="1" spc="-25" dirty="0">
                <a:latin typeface="Times New Roman"/>
                <a:cs typeface="Times New Roman"/>
              </a:rPr>
              <a:t>Bob</a:t>
            </a:r>
            <a:r>
              <a:rPr sz="3150" b="1" spc="-100" dirty="0">
                <a:latin typeface="Times New Roman"/>
                <a:cs typeface="Times New Roman"/>
              </a:rPr>
              <a:t> </a:t>
            </a:r>
            <a:r>
              <a:rPr sz="3150" b="1" spc="-85" dirty="0">
                <a:solidFill>
                  <a:srgbClr val="941100"/>
                </a:solidFill>
                <a:latin typeface="Times New Roman"/>
                <a:cs typeface="Times New Roman"/>
              </a:rPr>
              <a:t>déchiffre</a:t>
            </a:r>
            <a:r>
              <a:rPr sz="3150" b="1" spc="-95" dirty="0">
                <a:solidFill>
                  <a:srgbClr val="941100"/>
                </a:solidFill>
                <a:latin typeface="Times New Roman"/>
                <a:cs typeface="Times New Roman"/>
              </a:rPr>
              <a:t> </a:t>
            </a:r>
            <a:r>
              <a:rPr sz="3150" b="1" spc="-80" dirty="0">
                <a:latin typeface="Times New Roman"/>
                <a:cs typeface="Times New Roman"/>
              </a:rPr>
              <a:t>avec</a:t>
            </a:r>
            <a:r>
              <a:rPr sz="3150" b="1" spc="-95" dirty="0">
                <a:latin typeface="Times New Roman"/>
                <a:cs typeface="Times New Roman"/>
              </a:rPr>
              <a:t> </a:t>
            </a:r>
            <a:r>
              <a:rPr sz="3150" b="1" dirty="0">
                <a:solidFill>
                  <a:srgbClr val="9D0000"/>
                </a:solidFill>
                <a:latin typeface="Times New Roman"/>
                <a:cs typeface="Times New Roman"/>
              </a:rPr>
              <a:t>sa</a:t>
            </a:r>
            <a:r>
              <a:rPr sz="3150" b="1" spc="-95" dirty="0">
                <a:solidFill>
                  <a:srgbClr val="9D0000"/>
                </a:solidFill>
                <a:latin typeface="Times New Roman"/>
                <a:cs typeface="Times New Roman"/>
              </a:rPr>
              <a:t> </a:t>
            </a:r>
            <a:r>
              <a:rPr sz="3150" b="1" dirty="0">
                <a:solidFill>
                  <a:srgbClr val="9D0000"/>
                </a:solidFill>
                <a:latin typeface="Times New Roman"/>
                <a:cs typeface="Times New Roman"/>
              </a:rPr>
              <a:t>clé</a:t>
            </a:r>
            <a:r>
              <a:rPr sz="3150" b="1" spc="-100" dirty="0">
                <a:solidFill>
                  <a:srgbClr val="9D0000"/>
                </a:solidFill>
                <a:latin typeface="Times New Roman"/>
                <a:cs typeface="Times New Roman"/>
              </a:rPr>
              <a:t> </a:t>
            </a:r>
            <a:r>
              <a:rPr sz="3150" b="1" spc="-10" dirty="0">
                <a:solidFill>
                  <a:srgbClr val="9D0000"/>
                </a:solidFill>
                <a:latin typeface="Times New Roman"/>
                <a:cs typeface="Times New Roman"/>
              </a:rPr>
              <a:t>privée.</a:t>
            </a:r>
            <a:endParaRPr sz="3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3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050" b="1" dirty="0">
                <a:latin typeface="Times New Roman"/>
                <a:cs typeface="Times New Roman"/>
              </a:rPr>
              <a:t>Seul</a:t>
            </a:r>
            <a:r>
              <a:rPr sz="3050" b="1" spc="-105" dirty="0">
                <a:latin typeface="Times New Roman"/>
                <a:cs typeface="Times New Roman"/>
              </a:rPr>
              <a:t> </a:t>
            </a:r>
            <a:r>
              <a:rPr sz="3050" b="1" spc="-25" dirty="0">
                <a:latin typeface="Times New Roman"/>
                <a:cs typeface="Times New Roman"/>
              </a:rPr>
              <a:t>Bob</a:t>
            </a:r>
            <a:r>
              <a:rPr sz="3050" b="1" spc="-100" dirty="0">
                <a:latin typeface="Times New Roman"/>
                <a:cs typeface="Times New Roman"/>
              </a:rPr>
              <a:t> </a:t>
            </a:r>
            <a:r>
              <a:rPr sz="3050" b="1" spc="-80" dirty="0">
                <a:latin typeface="Times New Roman"/>
                <a:cs typeface="Times New Roman"/>
              </a:rPr>
              <a:t>peut</a:t>
            </a:r>
            <a:r>
              <a:rPr sz="3050" b="1" spc="-100" dirty="0">
                <a:latin typeface="Times New Roman"/>
                <a:cs typeface="Times New Roman"/>
              </a:rPr>
              <a:t> </a:t>
            </a:r>
            <a:r>
              <a:rPr sz="3050" b="1" spc="-55" dirty="0">
                <a:latin typeface="Times New Roman"/>
                <a:cs typeface="Times New Roman"/>
              </a:rPr>
              <a:t>lire</a:t>
            </a:r>
            <a:r>
              <a:rPr sz="3050" b="1" spc="-100" dirty="0">
                <a:latin typeface="Times New Roman"/>
                <a:cs typeface="Times New Roman"/>
              </a:rPr>
              <a:t> </a:t>
            </a:r>
            <a:r>
              <a:rPr sz="3050" b="1" dirty="0">
                <a:latin typeface="Times New Roman"/>
                <a:cs typeface="Times New Roman"/>
              </a:rPr>
              <a:t>le</a:t>
            </a:r>
            <a:r>
              <a:rPr sz="3050" b="1" spc="-100" dirty="0">
                <a:latin typeface="Times New Roman"/>
                <a:cs typeface="Times New Roman"/>
              </a:rPr>
              <a:t> </a:t>
            </a:r>
            <a:r>
              <a:rPr sz="3050" b="1" spc="-25" dirty="0">
                <a:latin typeface="Times New Roman"/>
                <a:cs typeface="Times New Roman"/>
              </a:rPr>
              <a:t>message,</a:t>
            </a:r>
            <a:r>
              <a:rPr sz="3050" b="1" spc="-100" dirty="0">
                <a:latin typeface="Times New Roman"/>
                <a:cs typeface="Times New Roman"/>
              </a:rPr>
              <a:t> </a:t>
            </a:r>
            <a:r>
              <a:rPr sz="3050" b="1" spc="-85" dirty="0">
                <a:latin typeface="Times New Roman"/>
                <a:cs typeface="Times New Roman"/>
              </a:rPr>
              <a:t>assurant</a:t>
            </a:r>
            <a:r>
              <a:rPr sz="3050" b="1" spc="-100" dirty="0">
                <a:latin typeface="Times New Roman"/>
                <a:cs typeface="Times New Roman"/>
              </a:rPr>
              <a:t> </a:t>
            </a:r>
            <a:r>
              <a:rPr sz="3050" b="1" dirty="0">
                <a:latin typeface="Times New Roman"/>
                <a:cs typeface="Times New Roman"/>
              </a:rPr>
              <a:t>la</a:t>
            </a:r>
            <a:r>
              <a:rPr sz="3050" b="1" spc="-100" dirty="0">
                <a:latin typeface="Times New Roman"/>
                <a:cs typeface="Times New Roman"/>
              </a:rPr>
              <a:t> </a:t>
            </a:r>
            <a:r>
              <a:rPr sz="3050" b="1" spc="-20" dirty="0">
                <a:latin typeface="Times New Roman"/>
                <a:cs typeface="Times New Roman"/>
              </a:rPr>
              <a:t>confidentialité.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95" dirty="0"/>
              <a:t>13</a:t>
            </a:fld>
            <a:endParaRPr spc="-9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91679" y="0"/>
            <a:ext cx="2496320" cy="169520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028612" y="512176"/>
            <a:ext cx="904240" cy="1033780"/>
          </a:xfrm>
          <a:custGeom>
            <a:avLst/>
            <a:gdLst/>
            <a:ahLst/>
            <a:cxnLst/>
            <a:rect l="l" t="t" r="r" b="b"/>
            <a:pathLst>
              <a:path w="904239" h="1033780">
                <a:moveTo>
                  <a:pt x="0" y="1033158"/>
                </a:moveTo>
                <a:lnTo>
                  <a:pt x="0" y="0"/>
                </a:lnTo>
                <a:lnTo>
                  <a:pt x="904014" y="516579"/>
                </a:lnTo>
                <a:lnTo>
                  <a:pt x="0" y="1033158"/>
                </a:lnTo>
                <a:close/>
              </a:path>
            </a:pathLst>
          </a:custGeom>
          <a:solidFill>
            <a:srgbClr val="B40C1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503673" y="2614436"/>
            <a:ext cx="13284200" cy="3639820"/>
            <a:chOff x="2503673" y="2614436"/>
            <a:chExt cx="13284200" cy="363982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17810" y="3568048"/>
              <a:ext cx="12858749" cy="268604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03673" y="2630147"/>
              <a:ext cx="1491117" cy="155584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739673" y="2614436"/>
              <a:ext cx="1047749" cy="1581149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5756293" y="5288484"/>
            <a:ext cx="2992755" cy="80137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00025" rIns="0" bIns="0" rtlCol="0">
            <a:spAutoFit/>
          </a:bodyPr>
          <a:lstStyle/>
          <a:p>
            <a:pPr marL="245110">
              <a:lnSpc>
                <a:spcPct val="100000"/>
              </a:lnSpc>
              <a:spcBef>
                <a:spcPts val="1575"/>
              </a:spcBef>
            </a:pPr>
            <a:r>
              <a:rPr sz="2400" b="1" spc="-40" dirty="0">
                <a:latin typeface="Roboto"/>
                <a:cs typeface="Roboto"/>
              </a:rPr>
              <a:t>Alice’s</a:t>
            </a:r>
            <a:r>
              <a:rPr sz="2400" b="1" spc="-75" dirty="0">
                <a:latin typeface="Roboto"/>
                <a:cs typeface="Roboto"/>
              </a:rPr>
              <a:t> </a:t>
            </a:r>
            <a:r>
              <a:rPr sz="2400" b="1" dirty="0">
                <a:latin typeface="Roboto"/>
                <a:cs typeface="Roboto"/>
              </a:rPr>
              <a:t>Private</a:t>
            </a:r>
            <a:r>
              <a:rPr sz="2400" b="1" spc="-75" dirty="0">
                <a:latin typeface="Roboto"/>
                <a:cs typeface="Roboto"/>
              </a:rPr>
              <a:t> </a:t>
            </a:r>
            <a:r>
              <a:rPr sz="2400" b="1" spc="-25" dirty="0">
                <a:latin typeface="Roboto"/>
                <a:cs typeface="Roboto"/>
              </a:rPr>
              <a:t>Key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267176" y="651754"/>
            <a:ext cx="10130790" cy="12852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110"/>
              </a:spcBef>
            </a:pPr>
            <a:r>
              <a:rPr sz="4100" dirty="0"/>
              <a:t>Scénario</a:t>
            </a:r>
            <a:r>
              <a:rPr sz="4100" spc="5" dirty="0"/>
              <a:t> </a:t>
            </a:r>
            <a:r>
              <a:rPr sz="4100" dirty="0"/>
              <a:t>d’utilisation</a:t>
            </a:r>
            <a:r>
              <a:rPr sz="4100" spc="10" dirty="0"/>
              <a:t> </a:t>
            </a:r>
            <a:r>
              <a:rPr sz="4100" dirty="0"/>
              <a:t>:</a:t>
            </a:r>
            <a:r>
              <a:rPr sz="4100" spc="5" dirty="0"/>
              <a:t> </a:t>
            </a:r>
            <a:r>
              <a:rPr sz="4100" spc="-10" dirty="0"/>
              <a:t>l’Authentification </a:t>
            </a:r>
            <a:r>
              <a:rPr sz="4100" dirty="0"/>
              <a:t>et</a:t>
            </a:r>
            <a:r>
              <a:rPr sz="4100" spc="15" dirty="0"/>
              <a:t> </a:t>
            </a:r>
            <a:r>
              <a:rPr sz="4100" dirty="0"/>
              <a:t>la</a:t>
            </a:r>
            <a:r>
              <a:rPr sz="4100" spc="15" dirty="0"/>
              <a:t> </a:t>
            </a:r>
            <a:r>
              <a:rPr sz="4100" spc="-10" dirty="0"/>
              <a:t>non-</a:t>
            </a:r>
            <a:r>
              <a:rPr sz="4100" dirty="0"/>
              <a:t>répudiation</a:t>
            </a:r>
            <a:r>
              <a:rPr sz="4100" spc="15" dirty="0"/>
              <a:t> </a:t>
            </a:r>
            <a:r>
              <a:rPr sz="4100" spc="-10" dirty="0"/>
              <a:t>d’envoi</a:t>
            </a:r>
            <a:endParaRPr sz="4100"/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67941" y="7214684"/>
            <a:ext cx="95250" cy="9524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67941" y="8205284"/>
            <a:ext cx="95250" cy="9524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67941" y="9195884"/>
            <a:ext cx="95250" cy="9524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4915541" y="6945285"/>
            <a:ext cx="8716645" cy="2486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150" b="1" dirty="0">
                <a:latin typeface="Times New Roman"/>
                <a:cs typeface="Times New Roman"/>
              </a:rPr>
              <a:t>Alice</a:t>
            </a:r>
            <a:r>
              <a:rPr sz="3150" b="1" spc="-100" dirty="0">
                <a:latin typeface="Times New Roman"/>
                <a:cs typeface="Times New Roman"/>
              </a:rPr>
              <a:t> </a:t>
            </a:r>
            <a:r>
              <a:rPr sz="3150" b="1" spc="-75" dirty="0">
                <a:solidFill>
                  <a:srgbClr val="941100"/>
                </a:solidFill>
                <a:latin typeface="Times New Roman"/>
                <a:cs typeface="Times New Roman"/>
              </a:rPr>
              <a:t>chiffre</a:t>
            </a:r>
            <a:r>
              <a:rPr sz="3150" b="1" spc="-95" dirty="0">
                <a:solidFill>
                  <a:srgbClr val="941100"/>
                </a:solidFill>
                <a:latin typeface="Times New Roman"/>
                <a:cs typeface="Times New Roman"/>
              </a:rPr>
              <a:t> </a:t>
            </a:r>
            <a:r>
              <a:rPr sz="3150" b="1" dirty="0">
                <a:latin typeface="Times New Roman"/>
                <a:cs typeface="Times New Roman"/>
              </a:rPr>
              <a:t>le</a:t>
            </a:r>
            <a:r>
              <a:rPr sz="3150" b="1" spc="-100" dirty="0">
                <a:latin typeface="Times New Roman"/>
                <a:cs typeface="Times New Roman"/>
              </a:rPr>
              <a:t> </a:t>
            </a:r>
            <a:r>
              <a:rPr sz="3150" b="1" spc="-35" dirty="0">
                <a:latin typeface="Times New Roman"/>
                <a:cs typeface="Times New Roman"/>
              </a:rPr>
              <a:t>message</a:t>
            </a:r>
            <a:r>
              <a:rPr sz="3150" b="1" spc="-95" dirty="0">
                <a:latin typeface="Times New Roman"/>
                <a:cs typeface="Times New Roman"/>
              </a:rPr>
              <a:t> </a:t>
            </a:r>
            <a:r>
              <a:rPr sz="3150" b="1" spc="-80" dirty="0">
                <a:latin typeface="Times New Roman"/>
                <a:cs typeface="Times New Roman"/>
              </a:rPr>
              <a:t>avec</a:t>
            </a:r>
            <a:r>
              <a:rPr sz="3150" b="1" spc="-95" dirty="0">
                <a:latin typeface="Times New Roman"/>
                <a:cs typeface="Times New Roman"/>
              </a:rPr>
              <a:t> </a:t>
            </a:r>
            <a:r>
              <a:rPr sz="3150" b="1" dirty="0">
                <a:solidFill>
                  <a:srgbClr val="941100"/>
                </a:solidFill>
                <a:latin typeface="Times New Roman"/>
                <a:cs typeface="Times New Roman"/>
              </a:rPr>
              <a:t>sa</a:t>
            </a:r>
            <a:r>
              <a:rPr sz="3150" b="1" spc="-100" dirty="0">
                <a:solidFill>
                  <a:srgbClr val="941100"/>
                </a:solidFill>
                <a:latin typeface="Times New Roman"/>
                <a:cs typeface="Times New Roman"/>
              </a:rPr>
              <a:t> </a:t>
            </a:r>
            <a:r>
              <a:rPr sz="3150" b="1" dirty="0">
                <a:solidFill>
                  <a:srgbClr val="941100"/>
                </a:solidFill>
                <a:latin typeface="Times New Roman"/>
                <a:cs typeface="Times New Roman"/>
              </a:rPr>
              <a:t>clé</a:t>
            </a:r>
            <a:r>
              <a:rPr sz="3150" b="1" spc="-95" dirty="0">
                <a:solidFill>
                  <a:srgbClr val="941100"/>
                </a:solidFill>
                <a:latin typeface="Times New Roman"/>
                <a:cs typeface="Times New Roman"/>
              </a:rPr>
              <a:t> </a:t>
            </a:r>
            <a:r>
              <a:rPr sz="3150" b="1" spc="-10" dirty="0">
                <a:solidFill>
                  <a:srgbClr val="941100"/>
                </a:solidFill>
                <a:latin typeface="Times New Roman"/>
                <a:cs typeface="Times New Roman"/>
              </a:rPr>
              <a:t>privée</a:t>
            </a:r>
            <a:r>
              <a:rPr sz="3150" b="1" spc="-10" dirty="0">
                <a:latin typeface="Times New Roman"/>
                <a:cs typeface="Times New Roman"/>
              </a:rPr>
              <a:t>.</a:t>
            </a:r>
            <a:endParaRPr sz="3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3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150" b="1" spc="-25" dirty="0">
                <a:latin typeface="Times New Roman"/>
                <a:cs typeface="Times New Roman"/>
              </a:rPr>
              <a:t>Bob</a:t>
            </a:r>
            <a:r>
              <a:rPr sz="3150" b="1" spc="-120" dirty="0">
                <a:latin typeface="Times New Roman"/>
                <a:cs typeface="Times New Roman"/>
              </a:rPr>
              <a:t> </a:t>
            </a:r>
            <a:r>
              <a:rPr sz="3150" b="1" spc="-50" dirty="0">
                <a:latin typeface="Times New Roman"/>
                <a:cs typeface="Times New Roman"/>
              </a:rPr>
              <a:t>reçoit</a:t>
            </a:r>
            <a:r>
              <a:rPr sz="3150" b="1" spc="-90" dirty="0">
                <a:latin typeface="Times New Roman"/>
                <a:cs typeface="Times New Roman"/>
              </a:rPr>
              <a:t> </a:t>
            </a:r>
            <a:r>
              <a:rPr sz="3150" b="1" dirty="0">
                <a:solidFill>
                  <a:srgbClr val="941100"/>
                </a:solidFill>
                <a:latin typeface="Times New Roman"/>
                <a:cs typeface="Times New Roman"/>
              </a:rPr>
              <a:t>la</a:t>
            </a:r>
            <a:r>
              <a:rPr sz="3150" b="1" spc="-95" dirty="0">
                <a:solidFill>
                  <a:srgbClr val="941100"/>
                </a:solidFill>
                <a:latin typeface="Times New Roman"/>
                <a:cs typeface="Times New Roman"/>
              </a:rPr>
              <a:t> </a:t>
            </a:r>
            <a:r>
              <a:rPr sz="3150" b="1" dirty="0">
                <a:solidFill>
                  <a:srgbClr val="941100"/>
                </a:solidFill>
                <a:latin typeface="Times New Roman"/>
                <a:cs typeface="Times New Roman"/>
              </a:rPr>
              <a:t>clé</a:t>
            </a:r>
            <a:r>
              <a:rPr sz="3150" b="1" spc="-90" dirty="0">
                <a:solidFill>
                  <a:srgbClr val="941100"/>
                </a:solidFill>
                <a:latin typeface="Times New Roman"/>
                <a:cs typeface="Times New Roman"/>
              </a:rPr>
              <a:t> </a:t>
            </a:r>
            <a:r>
              <a:rPr sz="3150" b="1" spc="-130" dirty="0">
                <a:solidFill>
                  <a:srgbClr val="941100"/>
                </a:solidFill>
                <a:latin typeface="Times New Roman"/>
                <a:cs typeface="Times New Roman"/>
              </a:rPr>
              <a:t>publique</a:t>
            </a:r>
            <a:r>
              <a:rPr sz="3150" b="1" spc="-70" dirty="0">
                <a:solidFill>
                  <a:srgbClr val="941100"/>
                </a:solidFill>
                <a:latin typeface="Times New Roman"/>
                <a:cs typeface="Times New Roman"/>
              </a:rPr>
              <a:t> </a:t>
            </a:r>
            <a:r>
              <a:rPr sz="3150" b="1" spc="-10" dirty="0">
                <a:solidFill>
                  <a:srgbClr val="941100"/>
                </a:solidFill>
                <a:latin typeface="Times New Roman"/>
                <a:cs typeface="Times New Roman"/>
              </a:rPr>
              <a:t>d’Alice.</a:t>
            </a:r>
            <a:endParaRPr sz="3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3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150" b="1" spc="-25" dirty="0">
                <a:latin typeface="Times New Roman"/>
                <a:cs typeface="Times New Roman"/>
              </a:rPr>
              <a:t>Bob</a:t>
            </a:r>
            <a:r>
              <a:rPr sz="3150" b="1" spc="-114" dirty="0">
                <a:latin typeface="Times New Roman"/>
                <a:cs typeface="Times New Roman"/>
              </a:rPr>
              <a:t> </a:t>
            </a:r>
            <a:r>
              <a:rPr sz="3150" b="1" spc="-85" dirty="0">
                <a:solidFill>
                  <a:srgbClr val="941100"/>
                </a:solidFill>
                <a:latin typeface="Times New Roman"/>
                <a:cs typeface="Times New Roman"/>
              </a:rPr>
              <a:t>déchiffre</a:t>
            </a:r>
            <a:r>
              <a:rPr sz="3150" b="1" spc="-95" dirty="0">
                <a:solidFill>
                  <a:srgbClr val="941100"/>
                </a:solidFill>
                <a:latin typeface="Times New Roman"/>
                <a:cs typeface="Times New Roman"/>
              </a:rPr>
              <a:t> </a:t>
            </a:r>
            <a:r>
              <a:rPr sz="3150" b="1" dirty="0">
                <a:latin typeface="Times New Roman"/>
                <a:cs typeface="Times New Roman"/>
              </a:rPr>
              <a:t>le</a:t>
            </a:r>
            <a:r>
              <a:rPr sz="3150" b="1" spc="-90" dirty="0">
                <a:latin typeface="Times New Roman"/>
                <a:cs typeface="Times New Roman"/>
              </a:rPr>
              <a:t> </a:t>
            </a:r>
            <a:r>
              <a:rPr sz="3150" b="1" spc="-35" dirty="0">
                <a:latin typeface="Times New Roman"/>
                <a:cs typeface="Times New Roman"/>
              </a:rPr>
              <a:t>message</a:t>
            </a:r>
            <a:r>
              <a:rPr sz="3150" b="1" spc="-90" dirty="0">
                <a:latin typeface="Times New Roman"/>
                <a:cs typeface="Times New Roman"/>
              </a:rPr>
              <a:t> </a:t>
            </a:r>
            <a:r>
              <a:rPr sz="3150" b="1" spc="-80" dirty="0">
                <a:latin typeface="Times New Roman"/>
                <a:cs typeface="Times New Roman"/>
              </a:rPr>
              <a:t>avec</a:t>
            </a:r>
            <a:r>
              <a:rPr sz="3150" b="1" spc="-90" dirty="0">
                <a:latin typeface="Times New Roman"/>
                <a:cs typeface="Times New Roman"/>
              </a:rPr>
              <a:t> </a:t>
            </a:r>
            <a:r>
              <a:rPr sz="3150" b="1" dirty="0">
                <a:solidFill>
                  <a:srgbClr val="941100"/>
                </a:solidFill>
                <a:latin typeface="Times New Roman"/>
                <a:cs typeface="Times New Roman"/>
              </a:rPr>
              <a:t>la</a:t>
            </a:r>
            <a:r>
              <a:rPr sz="3150" b="1" spc="-90" dirty="0">
                <a:solidFill>
                  <a:srgbClr val="941100"/>
                </a:solidFill>
                <a:latin typeface="Times New Roman"/>
                <a:cs typeface="Times New Roman"/>
              </a:rPr>
              <a:t> </a:t>
            </a:r>
            <a:r>
              <a:rPr sz="3150" b="1" dirty="0">
                <a:solidFill>
                  <a:srgbClr val="941100"/>
                </a:solidFill>
                <a:latin typeface="Times New Roman"/>
                <a:cs typeface="Times New Roman"/>
              </a:rPr>
              <a:t>clé</a:t>
            </a:r>
            <a:r>
              <a:rPr sz="3150" b="1" spc="-90" dirty="0">
                <a:solidFill>
                  <a:srgbClr val="941100"/>
                </a:solidFill>
                <a:latin typeface="Times New Roman"/>
                <a:cs typeface="Times New Roman"/>
              </a:rPr>
              <a:t> </a:t>
            </a:r>
            <a:r>
              <a:rPr sz="3150" b="1" spc="-130" dirty="0">
                <a:solidFill>
                  <a:srgbClr val="941100"/>
                </a:solidFill>
                <a:latin typeface="Times New Roman"/>
                <a:cs typeface="Times New Roman"/>
              </a:rPr>
              <a:t>publique</a:t>
            </a:r>
            <a:r>
              <a:rPr sz="3150" b="1" spc="-70" dirty="0">
                <a:solidFill>
                  <a:srgbClr val="941100"/>
                </a:solidFill>
                <a:latin typeface="Times New Roman"/>
                <a:cs typeface="Times New Roman"/>
              </a:rPr>
              <a:t> </a:t>
            </a:r>
            <a:r>
              <a:rPr sz="3150" b="1" spc="-10" dirty="0">
                <a:solidFill>
                  <a:srgbClr val="941100"/>
                </a:solidFill>
                <a:latin typeface="Times New Roman"/>
                <a:cs typeface="Times New Roman"/>
              </a:rPr>
              <a:t>d’Alice.</a:t>
            </a:r>
            <a:endParaRPr sz="31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95" dirty="0"/>
              <a:t>14</a:t>
            </a:fld>
            <a:endParaRPr spc="-95" dirty="0"/>
          </a:p>
        </p:txBody>
      </p:sp>
      <p:sp>
        <p:nvSpPr>
          <p:cNvPr id="15" name="object 15"/>
          <p:cNvSpPr txBox="1"/>
          <p:nvPr/>
        </p:nvSpPr>
        <p:spPr>
          <a:xfrm>
            <a:off x="9897529" y="5288484"/>
            <a:ext cx="2992755" cy="80137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00025" rIns="0" bIns="0" rtlCol="0">
            <a:spAutoFit/>
          </a:bodyPr>
          <a:lstStyle/>
          <a:p>
            <a:pPr marL="300990">
              <a:lnSpc>
                <a:spcPct val="100000"/>
              </a:lnSpc>
              <a:spcBef>
                <a:spcPts val="1575"/>
              </a:spcBef>
            </a:pPr>
            <a:r>
              <a:rPr sz="2400" b="1" spc="-40" dirty="0">
                <a:latin typeface="Roboto"/>
                <a:cs typeface="Roboto"/>
              </a:rPr>
              <a:t>Alice’s</a:t>
            </a:r>
            <a:r>
              <a:rPr sz="2400" b="1" spc="-70" dirty="0">
                <a:latin typeface="Roboto"/>
                <a:cs typeface="Roboto"/>
              </a:rPr>
              <a:t> </a:t>
            </a:r>
            <a:r>
              <a:rPr sz="2400" b="1" dirty="0">
                <a:latin typeface="Roboto"/>
                <a:cs typeface="Roboto"/>
              </a:rPr>
              <a:t>Public</a:t>
            </a:r>
            <a:r>
              <a:rPr sz="2400" b="1" spc="-65" dirty="0">
                <a:latin typeface="Roboto"/>
                <a:cs typeface="Roboto"/>
              </a:rPr>
              <a:t> </a:t>
            </a:r>
            <a:r>
              <a:rPr sz="2400" b="1" spc="-25" dirty="0">
                <a:latin typeface="Roboto"/>
                <a:cs typeface="Roboto"/>
              </a:rPr>
              <a:t>Key</a:t>
            </a:r>
            <a:endParaRPr sz="2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58108" y="0"/>
            <a:ext cx="3029890" cy="154959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028612" y="512176"/>
            <a:ext cx="904240" cy="1033780"/>
          </a:xfrm>
          <a:custGeom>
            <a:avLst/>
            <a:gdLst/>
            <a:ahLst/>
            <a:cxnLst/>
            <a:rect l="l" t="t" r="r" b="b"/>
            <a:pathLst>
              <a:path w="904239" h="1033780">
                <a:moveTo>
                  <a:pt x="0" y="1033158"/>
                </a:moveTo>
                <a:lnTo>
                  <a:pt x="0" y="0"/>
                </a:lnTo>
                <a:lnTo>
                  <a:pt x="904014" y="516579"/>
                </a:lnTo>
                <a:lnTo>
                  <a:pt x="0" y="1033158"/>
                </a:lnTo>
                <a:close/>
              </a:path>
            </a:pathLst>
          </a:custGeom>
          <a:solidFill>
            <a:srgbClr val="B40C1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0885" rIns="0" bIns="0" rtlCol="0">
            <a:spAutoFit/>
          </a:bodyPr>
          <a:lstStyle/>
          <a:p>
            <a:pPr marL="229235">
              <a:lnSpc>
                <a:spcPct val="100000"/>
              </a:lnSpc>
              <a:spcBef>
                <a:spcPts val="140"/>
              </a:spcBef>
            </a:pPr>
            <a:r>
              <a:rPr sz="4700" dirty="0"/>
              <a:t>Le</a:t>
            </a:r>
            <a:r>
              <a:rPr sz="4700" spc="-10" dirty="0"/>
              <a:t> </a:t>
            </a:r>
            <a:r>
              <a:rPr sz="4700" dirty="0"/>
              <a:t>chiffrement</a:t>
            </a:r>
            <a:r>
              <a:rPr sz="4700" spc="-5" dirty="0"/>
              <a:t> </a:t>
            </a:r>
            <a:r>
              <a:rPr sz="4700" spc="-10" dirty="0"/>
              <a:t>hybride</a:t>
            </a:r>
            <a:endParaRPr sz="470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95" dirty="0"/>
              <a:t>15</a:t>
            </a:fld>
            <a:endParaRPr spc="-95" dirty="0"/>
          </a:p>
        </p:txBody>
      </p:sp>
      <p:sp>
        <p:nvSpPr>
          <p:cNvPr id="6" name="object 6"/>
          <p:cNvSpPr txBox="1"/>
          <p:nvPr/>
        </p:nvSpPr>
        <p:spPr>
          <a:xfrm>
            <a:off x="1016000" y="2901172"/>
            <a:ext cx="16396335" cy="34423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100" spc="65" dirty="0">
                <a:latin typeface="Times New Roman"/>
                <a:cs typeface="Times New Roman"/>
              </a:rPr>
              <a:t>Le</a:t>
            </a:r>
            <a:r>
              <a:rPr sz="3100" spc="2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chiffrement</a:t>
            </a:r>
            <a:r>
              <a:rPr sz="3100" spc="25" dirty="0">
                <a:latin typeface="Times New Roman"/>
                <a:cs typeface="Times New Roman"/>
              </a:rPr>
              <a:t> </a:t>
            </a:r>
            <a:r>
              <a:rPr sz="3100" spc="50" dirty="0">
                <a:latin typeface="Times New Roman"/>
                <a:cs typeface="Times New Roman"/>
              </a:rPr>
              <a:t>hybride</a:t>
            </a:r>
            <a:r>
              <a:rPr sz="3100" spc="3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est</a:t>
            </a:r>
            <a:r>
              <a:rPr sz="3100" spc="25" dirty="0">
                <a:latin typeface="Times New Roman"/>
                <a:cs typeface="Times New Roman"/>
              </a:rPr>
              <a:t> </a:t>
            </a:r>
            <a:r>
              <a:rPr sz="3100" spc="90" dirty="0">
                <a:latin typeface="Times New Roman"/>
                <a:cs typeface="Times New Roman"/>
              </a:rPr>
              <a:t>une</a:t>
            </a:r>
            <a:r>
              <a:rPr sz="3100" spc="25" dirty="0">
                <a:latin typeface="Times New Roman"/>
                <a:cs typeface="Times New Roman"/>
              </a:rPr>
              <a:t> </a:t>
            </a:r>
            <a:r>
              <a:rPr sz="3100" spc="90" dirty="0">
                <a:latin typeface="Times New Roman"/>
                <a:cs typeface="Times New Roman"/>
              </a:rPr>
              <a:t>méthode</a:t>
            </a:r>
            <a:r>
              <a:rPr sz="3100" spc="30" dirty="0">
                <a:latin typeface="Times New Roman"/>
                <a:cs typeface="Times New Roman"/>
              </a:rPr>
              <a:t> </a:t>
            </a:r>
            <a:r>
              <a:rPr sz="3100" spc="80" dirty="0">
                <a:latin typeface="Times New Roman"/>
                <a:cs typeface="Times New Roman"/>
              </a:rPr>
              <a:t>cryptographique</a:t>
            </a:r>
            <a:r>
              <a:rPr sz="3100" spc="25" dirty="0">
                <a:latin typeface="Times New Roman"/>
                <a:cs typeface="Times New Roman"/>
              </a:rPr>
              <a:t> </a:t>
            </a:r>
            <a:r>
              <a:rPr sz="3100" spc="90" dirty="0">
                <a:latin typeface="Times New Roman"/>
                <a:cs typeface="Times New Roman"/>
              </a:rPr>
              <a:t>qui</a:t>
            </a:r>
            <a:r>
              <a:rPr sz="3100" spc="25" dirty="0">
                <a:latin typeface="Times New Roman"/>
                <a:cs typeface="Times New Roman"/>
              </a:rPr>
              <a:t> </a:t>
            </a:r>
            <a:r>
              <a:rPr sz="3100" b="1" dirty="0">
                <a:solidFill>
                  <a:srgbClr val="941100"/>
                </a:solidFill>
                <a:latin typeface="Times New Roman"/>
                <a:cs typeface="Times New Roman"/>
              </a:rPr>
              <a:t>associe</a:t>
            </a:r>
            <a:r>
              <a:rPr sz="3100" b="1" spc="30" dirty="0">
                <a:solidFill>
                  <a:srgbClr val="941100"/>
                </a:solidFill>
                <a:latin typeface="Times New Roman"/>
                <a:cs typeface="Times New Roman"/>
              </a:rPr>
              <a:t> </a:t>
            </a:r>
            <a:r>
              <a:rPr sz="3100" b="1" dirty="0">
                <a:latin typeface="Times New Roman"/>
                <a:cs typeface="Times New Roman"/>
              </a:rPr>
              <a:t>le</a:t>
            </a:r>
            <a:r>
              <a:rPr sz="3100" b="1" spc="25" dirty="0">
                <a:latin typeface="Times New Roman"/>
                <a:cs typeface="Times New Roman"/>
              </a:rPr>
              <a:t> </a:t>
            </a:r>
            <a:r>
              <a:rPr sz="3100" b="1" spc="-90" dirty="0">
                <a:latin typeface="Times New Roman"/>
                <a:cs typeface="Times New Roman"/>
              </a:rPr>
              <a:t>chiffrement</a:t>
            </a:r>
            <a:r>
              <a:rPr sz="3100" b="1" spc="25" dirty="0">
                <a:latin typeface="Times New Roman"/>
                <a:cs typeface="Times New Roman"/>
              </a:rPr>
              <a:t> </a:t>
            </a:r>
            <a:r>
              <a:rPr sz="3100" b="1" spc="-80" dirty="0">
                <a:latin typeface="Times New Roman"/>
                <a:cs typeface="Times New Roman"/>
              </a:rPr>
              <a:t>symétrique</a:t>
            </a:r>
            <a:r>
              <a:rPr sz="3100" b="1" spc="30" dirty="0">
                <a:latin typeface="Times New Roman"/>
                <a:cs typeface="Times New Roman"/>
              </a:rPr>
              <a:t> </a:t>
            </a:r>
            <a:r>
              <a:rPr sz="3100" spc="65" dirty="0">
                <a:latin typeface="Times New Roman"/>
                <a:cs typeface="Times New Roman"/>
              </a:rPr>
              <a:t>et</a:t>
            </a:r>
            <a:r>
              <a:rPr sz="3100" spc="25" dirty="0">
                <a:latin typeface="Times New Roman"/>
                <a:cs typeface="Times New Roman"/>
              </a:rPr>
              <a:t> </a:t>
            </a:r>
            <a:r>
              <a:rPr sz="3100" b="1" spc="-25" dirty="0">
                <a:latin typeface="Times New Roman"/>
                <a:cs typeface="Times New Roman"/>
              </a:rPr>
              <a:t>le</a:t>
            </a:r>
            <a:endParaRPr sz="3100">
              <a:latin typeface="Times New Roman"/>
              <a:cs typeface="Times New Roman"/>
            </a:endParaRPr>
          </a:p>
          <a:p>
            <a:pPr marL="12700" marR="750570" algn="just">
              <a:lnSpc>
                <a:spcPts val="7720"/>
              </a:lnSpc>
              <a:spcBef>
                <a:spcPts val="730"/>
              </a:spcBef>
            </a:pPr>
            <a:r>
              <a:rPr sz="3100" b="1" spc="-90" dirty="0">
                <a:latin typeface="Times New Roman"/>
                <a:cs typeface="Times New Roman"/>
              </a:rPr>
              <a:t>chiffrement</a:t>
            </a:r>
            <a:r>
              <a:rPr sz="3100" b="1" spc="35" dirty="0">
                <a:latin typeface="Times New Roman"/>
                <a:cs typeface="Times New Roman"/>
              </a:rPr>
              <a:t> </a:t>
            </a:r>
            <a:r>
              <a:rPr sz="3100" b="1" spc="-75" dirty="0">
                <a:latin typeface="Times New Roman"/>
                <a:cs typeface="Times New Roman"/>
              </a:rPr>
              <a:t>asymétrique</a:t>
            </a:r>
            <a:r>
              <a:rPr sz="3100" b="1" spc="35" dirty="0">
                <a:latin typeface="Times New Roman"/>
                <a:cs typeface="Times New Roman"/>
              </a:rPr>
              <a:t> </a:t>
            </a:r>
            <a:r>
              <a:rPr sz="3100" spc="80" dirty="0">
                <a:latin typeface="Times New Roman"/>
                <a:cs typeface="Times New Roman"/>
              </a:rPr>
              <a:t>afin</a:t>
            </a:r>
            <a:r>
              <a:rPr sz="3100" spc="35" dirty="0">
                <a:latin typeface="Times New Roman"/>
                <a:cs typeface="Times New Roman"/>
              </a:rPr>
              <a:t> </a:t>
            </a:r>
            <a:r>
              <a:rPr sz="3100" spc="60" dirty="0">
                <a:latin typeface="Times New Roman"/>
                <a:cs typeface="Times New Roman"/>
              </a:rPr>
              <a:t>de</a:t>
            </a:r>
            <a:r>
              <a:rPr sz="3100" spc="40" dirty="0">
                <a:latin typeface="Times New Roman"/>
                <a:cs typeface="Times New Roman"/>
              </a:rPr>
              <a:t> </a:t>
            </a:r>
            <a:r>
              <a:rPr sz="3100" spc="70" dirty="0">
                <a:latin typeface="Times New Roman"/>
                <a:cs typeface="Times New Roman"/>
              </a:rPr>
              <a:t>tirer</a:t>
            </a:r>
            <a:r>
              <a:rPr sz="3100" spc="35" dirty="0">
                <a:latin typeface="Times New Roman"/>
                <a:cs typeface="Times New Roman"/>
              </a:rPr>
              <a:t> </a:t>
            </a:r>
            <a:r>
              <a:rPr sz="3100" spc="114" dirty="0">
                <a:latin typeface="Times New Roman"/>
                <a:cs typeface="Times New Roman"/>
              </a:rPr>
              <a:t>parti</a:t>
            </a:r>
            <a:r>
              <a:rPr sz="3100" spc="3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des</a:t>
            </a:r>
            <a:r>
              <a:rPr sz="3100" spc="40" dirty="0">
                <a:latin typeface="Times New Roman"/>
                <a:cs typeface="Times New Roman"/>
              </a:rPr>
              <a:t> </a:t>
            </a:r>
            <a:r>
              <a:rPr sz="3100" spc="65" dirty="0">
                <a:latin typeface="Times New Roman"/>
                <a:cs typeface="Times New Roman"/>
              </a:rPr>
              <a:t>performances</a:t>
            </a:r>
            <a:r>
              <a:rPr sz="3100" spc="35" dirty="0">
                <a:latin typeface="Times New Roman"/>
                <a:cs typeface="Times New Roman"/>
              </a:rPr>
              <a:t> </a:t>
            </a:r>
            <a:r>
              <a:rPr sz="3100" spc="-25" dirty="0">
                <a:latin typeface="Times New Roman"/>
                <a:cs typeface="Times New Roman"/>
              </a:rPr>
              <a:t>élevées</a:t>
            </a:r>
            <a:r>
              <a:rPr sz="3100" spc="35" dirty="0">
                <a:latin typeface="Times New Roman"/>
                <a:cs typeface="Times New Roman"/>
              </a:rPr>
              <a:t> </a:t>
            </a:r>
            <a:r>
              <a:rPr sz="3100" spc="150" dirty="0">
                <a:latin typeface="Times New Roman"/>
                <a:cs typeface="Times New Roman"/>
              </a:rPr>
              <a:t>du</a:t>
            </a:r>
            <a:r>
              <a:rPr sz="3100" spc="4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chiffrement</a:t>
            </a:r>
            <a:r>
              <a:rPr sz="3100" spc="35" dirty="0">
                <a:latin typeface="Times New Roman"/>
                <a:cs typeface="Times New Roman"/>
              </a:rPr>
              <a:t> </a:t>
            </a:r>
            <a:r>
              <a:rPr sz="3100" spc="50" dirty="0">
                <a:latin typeface="Times New Roman"/>
                <a:cs typeface="Times New Roman"/>
              </a:rPr>
              <a:t>symétrique </a:t>
            </a:r>
            <a:r>
              <a:rPr sz="3100" spc="150" dirty="0">
                <a:latin typeface="Times New Roman"/>
                <a:cs typeface="Times New Roman"/>
              </a:rPr>
              <a:t>pour</a:t>
            </a:r>
            <a:r>
              <a:rPr sz="3100" spc="9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le</a:t>
            </a:r>
            <a:r>
              <a:rPr sz="3100" spc="100" dirty="0">
                <a:latin typeface="Times New Roman"/>
                <a:cs typeface="Times New Roman"/>
              </a:rPr>
              <a:t> </a:t>
            </a:r>
            <a:r>
              <a:rPr sz="3100" spc="90" dirty="0">
                <a:latin typeface="Times New Roman"/>
                <a:cs typeface="Times New Roman"/>
              </a:rPr>
              <a:t>traitement</a:t>
            </a:r>
            <a:r>
              <a:rPr sz="3100" spc="95" dirty="0">
                <a:latin typeface="Times New Roman"/>
                <a:cs typeface="Times New Roman"/>
              </a:rPr>
              <a:t> </a:t>
            </a:r>
            <a:r>
              <a:rPr sz="3100" spc="60" dirty="0">
                <a:latin typeface="Times New Roman"/>
                <a:cs typeface="Times New Roman"/>
              </a:rPr>
              <a:t>de</a:t>
            </a:r>
            <a:r>
              <a:rPr sz="3100" spc="100" dirty="0">
                <a:latin typeface="Times New Roman"/>
                <a:cs typeface="Times New Roman"/>
              </a:rPr>
              <a:t> </a:t>
            </a:r>
            <a:r>
              <a:rPr sz="3100" spc="70" dirty="0">
                <a:latin typeface="Times New Roman"/>
                <a:cs typeface="Times New Roman"/>
              </a:rPr>
              <a:t>données</a:t>
            </a:r>
            <a:r>
              <a:rPr sz="3100" spc="9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volumineuses</a:t>
            </a:r>
            <a:r>
              <a:rPr sz="3100" spc="100" dirty="0">
                <a:latin typeface="Times New Roman"/>
                <a:cs typeface="Times New Roman"/>
              </a:rPr>
              <a:t> </a:t>
            </a:r>
            <a:r>
              <a:rPr sz="3100" spc="65" dirty="0">
                <a:latin typeface="Times New Roman"/>
                <a:cs typeface="Times New Roman"/>
              </a:rPr>
              <a:t>et</a:t>
            </a:r>
            <a:r>
              <a:rPr sz="3100" spc="95" dirty="0">
                <a:latin typeface="Times New Roman"/>
                <a:cs typeface="Times New Roman"/>
              </a:rPr>
              <a:t> </a:t>
            </a:r>
            <a:r>
              <a:rPr sz="3100" spc="60" dirty="0">
                <a:latin typeface="Times New Roman"/>
                <a:cs typeface="Times New Roman"/>
              </a:rPr>
              <a:t>de</a:t>
            </a:r>
            <a:r>
              <a:rPr sz="3100" spc="100" dirty="0">
                <a:latin typeface="Times New Roman"/>
                <a:cs typeface="Times New Roman"/>
              </a:rPr>
              <a:t> </a:t>
            </a:r>
            <a:r>
              <a:rPr sz="3100" spc="65" dirty="0">
                <a:latin typeface="Times New Roman"/>
                <a:cs typeface="Times New Roman"/>
              </a:rPr>
              <a:t>la</a:t>
            </a:r>
            <a:r>
              <a:rPr sz="3100" spc="9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sécurité</a:t>
            </a:r>
            <a:r>
              <a:rPr sz="3100" spc="100" dirty="0">
                <a:latin typeface="Times New Roman"/>
                <a:cs typeface="Times New Roman"/>
              </a:rPr>
              <a:t> </a:t>
            </a:r>
            <a:r>
              <a:rPr sz="3100" spc="150" dirty="0">
                <a:latin typeface="Times New Roman"/>
                <a:cs typeface="Times New Roman"/>
              </a:rPr>
              <a:t>du</a:t>
            </a:r>
            <a:r>
              <a:rPr sz="3100" spc="9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chiffrement</a:t>
            </a:r>
            <a:r>
              <a:rPr sz="3100" spc="100" dirty="0">
                <a:latin typeface="Times New Roman"/>
                <a:cs typeface="Times New Roman"/>
              </a:rPr>
              <a:t> </a:t>
            </a:r>
            <a:r>
              <a:rPr sz="3100" spc="65" dirty="0">
                <a:latin typeface="Times New Roman"/>
                <a:cs typeface="Times New Roman"/>
              </a:rPr>
              <a:t>asymétrique</a:t>
            </a:r>
            <a:r>
              <a:rPr sz="3100" spc="95" dirty="0">
                <a:latin typeface="Times New Roman"/>
                <a:cs typeface="Times New Roman"/>
              </a:rPr>
              <a:t> </a:t>
            </a:r>
            <a:r>
              <a:rPr sz="3100" spc="130" dirty="0">
                <a:latin typeface="Times New Roman"/>
                <a:cs typeface="Times New Roman"/>
              </a:rPr>
              <a:t>pour </a:t>
            </a:r>
            <a:r>
              <a:rPr sz="3100" dirty="0">
                <a:latin typeface="Times New Roman"/>
                <a:cs typeface="Times New Roman"/>
              </a:rPr>
              <a:t>l’échange</a:t>
            </a:r>
            <a:r>
              <a:rPr sz="3100" spc="4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sécurisé</a:t>
            </a:r>
            <a:r>
              <a:rPr sz="3100" spc="4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des</a:t>
            </a:r>
            <a:r>
              <a:rPr sz="3100" spc="4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clés</a:t>
            </a:r>
            <a:r>
              <a:rPr sz="3100" spc="45" dirty="0">
                <a:latin typeface="Times New Roman"/>
                <a:cs typeface="Times New Roman"/>
              </a:rPr>
              <a:t> </a:t>
            </a:r>
            <a:r>
              <a:rPr sz="3100" spc="60" dirty="0">
                <a:latin typeface="Times New Roman"/>
                <a:cs typeface="Times New Roman"/>
              </a:rPr>
              <a:t>de</a:t>
            </a:r>
            <a:r>
              <a:rPr sz="3100" spc="45" dirty="0">
                <a:latin typeface="Times New Roman"/>
                <a:cs typeface="Times New Roman"/>
              </a:rPr>
              <a:t> </a:t>
            </a:r>
            <a:r>
              <a:rPr sz="3100" spc="-10" dirty="0">
                <a:latin typeface="Times New Roman"/>
                <a:cs typeface="Times New Roman"/>
              </a:rPr>
              <a:t>session.</a:t>
            </a:r>
            <a:endParaRPr sz="3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58108" y="0"/>
            <a:ext cx="3029890" cy="154959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028612" y="512176"/>
            <a:ext cx="904240" cy="1033780"/>
          </a:xfrm>
          <a:custGeom>
            <a:avLst/>
            <a:gdLst/>
            <a:ahLst/>
            <a:cxnLst/>
            <a:rect l="l" t="t" r="r" b="b"/>
            <a:pathLst>
              <a:path w="904239" h="1033780">
                <a:moveTo>
                  <a:pt x="0" y="1033158"/>
                </a:moveTo>
                <a:lnTo>
                  <a:pt x="0" y="0"/>
                </a:lnTo>
                <a:lnTo>
                  <a:pt x="904014" y="516579"/>
                </a:lnTo>
                <a:lnTo>
                  <a:pt x="0" y="1033158"/>
                </a:lnTo>
                <a:close/>
              </a:path>
            </a:pathLst>
          </a:custGeom>
          <a:solidFill>
            <a:srgbClr val="B40C1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69570" marR="5080">
              <a:lnSpc>
                <a:spcPct val="100000"/>
              </a:lnSpc>
              <a:spcBef>
                <a:spcPts val="140"/>
              </a:spcBef>
            </a:pPr>
            <a:r>
              <a:rPr sz="4500" dirty="0"/>
              <a:t>Le</a:t>
            </a:r>
            <a:r>
              <a:rPr sz="4500" spc="35" dirty="0"/>
              <a:t> </a:t>
            </a:r>
            <a:r>
              <a:rPr sz="4500" dirty="0"/>
              <a:t>chiffrement</a:t>
            </a:r>
            <a:r>
              <a:rPr sz="4500" spc="40" dirty="0"/>
              <a:t> </a:t>
            </a:r>
            <a:r>
              <a:rPr sz="4500" dirty="0"/>
              <a:t>hybride</a:t>
            </a:r>
            <a:r>
              <a:rPr sz="4500" spc="35" dirty="0"/>
              <a:t> </a:t>
            </a:r>
            <a:r>
              <a:rPr sz="4500" dirty="0"/>
              <a:t>:</a:t>
            </a:r>
            <a:r>
              <a:rPr sz="4500" spc="40" dirty="0"/>
              <a:t> </a:t>
            </a:r>
            <a:r>
              <a:rPr sz="4500" dirty="0"/>
              <a:t>Principe</a:t>
            </a:r>
            <a:r>
              <a:rPr sz="4500" spc="40" dirty="0"/>
              <a:t> </a:t>
            </a:r>
            <a:r>
              <a:rPr sz="4500" spc="-25" dirty="0"/>
              <a:t>de </a:t>
            </a:r>
            <a:r>
              <a:rPr sz="4500" spc="-10" dirty="0"/>
              <a:t>fonctionnement</a:t>
            </a:r>
            <a:endParaRPr sz="4500"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2963" y="5143500"/>
            <a:ext cx="10021826" cy="48692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47799" y="2755971"/>
            <a:ext cx="85725" cy="857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47799" y="3717996"/>
            <a:ext cx="85725" cy="857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47799" y="4680021"/>
            <a:ext cx="85725" cy="8572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673820" y="2480190"/>
            <a:ext cx="15004415" cy="24142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050" b="1" spc="-85" dirty="0">
                <a:latin typeface="Times New Roman"/>
                <a:cs typeface="Times New Roman"/>
              </a:rPr>
              <a:t>L’expéditeur</a:t>
            </a:r>
            <a:r>
              <a:rPr sz="3050" b="1" spc="-110" dirty="0">
                <a:latin typeface="Times New Roman"/>
                <a:cs typeface="Times New Roman"/>
              </a:rPr>
              <a:t> </a:t>
            </a:r>
            <a:r>
              <a:rPr sz="3050" b="1" spc="-80" dirty="0">
                <a:latin typeface="Times New Roman"/>
                <a:cs typeface="Times New Roman"/>
              </a:rPr>
              <a:t>génère</a:t>
            </a:r>
            <a:r>
              <a:rPr sz="3050" b="1" spc="-110" dirty="0">
                <a:latin typeface="Times New Roman"/>
                <a:cs typeface="Times New Roman"/>
              </a:rPr>
              <a:t> </a:t>
            </a:r>
            <a:r>
              <a:rPr sz="3050" b="1" spc="-120" dirty="0">
                <a:solidFill>
                  <a:srgbClr val="941100"/>
                </a:solidFill>
                <a:latin typeface="Times New Roman"/>
                <a:cs typeface="Times New Roman"/>
              </a:rPr>
              <a:t>une</a:t>
            </a:r>
            <a:r>
              <a:rPr sz="3050" b="1" spc="-70" dirty="0">
                <a:solidFill>
                  <a:srgbClr val="941100"/>
                </a:solidFill>
                <a:latin typeface="Times New Roman"/>
                <a:cs typeface="Times New Roman"/>
              </a:rPr>
              <a:t> </a:t>
            </a:r>
            <a:r>
              <a:rPr sz="3050" b="1" dirty="0">
                <a:solidFill>
                  <a:srgbClr val="941100"/>
                </a:solidFill>
                <a:latin typeface="Times New Roman"/>
                <a:cs typeface="Times New Roman"/>
              </a:rPr>
              <a:t>clé</a:t>
            </a:r>
            <a:r>
              <a:rPr sz="3050" b="1" spc="-110" dirty="0">
                <a:solidFill>
                  <a:srgbClr val="941100"/>
                </a:solidFill>
                <a:latin typeface="Times New Roman"/>
                <a:cs typeface="Times New Roman"/>
              </a:rPr>
              <a:t> </a:t>
            </a:r>
            <a:r>
              <a:rPr sz="3050" b="1" spc="-35" dirty="0">
                <a:solidFill>
                  <a:srgbClr val="941100"/>
                </a:solidFill>
                <a:latin typeface="Times New Roman"/>
                <a:cs typeface="Times New Roman"/>
              </a:rPr>
              <a:t>de</a:t>
            </a:r>
            <a:r>
              <a:rPr sz="3050" b="1" spc="-90" dirty="0">
                <a:solidFill>
                  <a:srgbClr val="941100"/>
                </a:solidFill>
                <a:latin typeface="Times New Roman"/>
                <a:cs typeface="Times New Roman"/>
              </a:rPr>
              <a:t> </a:t>
            </a:r>
            <a:r>
              <a:rPr sz="3050" b="1" spc="-30" dirty="0">
                <a:solidFill>
                  <a:srgbClr val="941100"/>
                </a:solidFill>
                <a:latin typeface="Times New Roman"/>
                <a:cs typeface="Times New Roman"/>
              </a:rPr>
              <a:t>session</a:t>
            </a:r>
            <a:r>
              <a:rPr sz="3050" b="1" spc="-90" dirty="0">
                <a:solidFill>
                  <a:srgbClr val="941100"/>
                </a:solidFill>
                <a:latin typeface="Times New Roman"/>
                <a:cs typeface="Times New Roman"/>
              </a:rPr>
              <a:t> </a:t>
            </a:r>
            <a:r>
              <a:rPr sz="3050" b="1" spc="-70" dirty="0">
                <a:solidFill>
                  <a:srgbClr val="941100"/>
                </a:solidFill>
                <a:latin typeface="Times New Roman"/>
                <a:cs typeface="Times New Roman"/>
              </a:rPr>
              <a:t>(symétrique)</a:t>
            </a:r>
            <a:r>
              <a:rPr sz="3050" b="1" spc="-90" dirty="0">
                <a:solidFill>
                  <a:srgbClr val="941100"/>
                </a:solidFill>
                <a:latin typeface="Times New Roman"/>
                <a:cs typeface="Times New Roman"/>
              </a:rPr>
              <a:t> </a:t>
            </a:r>
            <a:r>
              <a:rPr sz="3050" b="1" spc="-145" dirty="0">
                <a:latin typeface="Times New Roman"/>
                <a:cs typeface="Times New Roman"/>
              </a:rPr>
              <a:t>pour</a:t>
            </a:r>
            <a:r>
              <a:rPr sz="3050" b="1" spc="-40" dirty="0">
                <a:latin typeface="Times New Roman"/>
                <a:cs typeface="Times New Roman"/>
              </a:rPr>
              <a:t> </a:t>
            </a:r>
            <a:r>
              <a:rPr sz="3050" b="1" spc="-85" dirty="0">
                <a:solidFill>
                  <a:srgbClr val="941100"/>
                </a:solidFill>
                <a:latin typeface="Times New Roman"/>
                <a:cs typeface="Times New Roman"/>
              </a:rPr>
              <a:t>chiffrer</a:t>
            </a:r>
            <a:r>
              <a:rPr sz="3050" b="1" spc="-95" dirty="0">
                <a:solidFill>
                  <a:srgbClr val="941100"/>
                </a:solidFill>
                <a:latin typeface="Times New Roman"/>
                <a:cs typeface="Times New Roman"/>
              </a:rPr>
              <a:t> </a:t>
            </a:r>
            <a:r>
              <a:rPr sz="3050" b="1" dirty="0">
                <a:latin typeface="Times New Roman"/>
                <a:cs typeface="Times New Roman"/>
              </a:rPr>
              <a:t>le</a:t>
            </a:r>
            <a:r>
              <a:rPr sz="3050" b="1" spc="-85" dirty="0">
                <a:latin typeface="Times New Roman"/>
                <a:cs typeface="Times New Roman"/>
              </a:rPr>
              <a:t> </a:t>
            </a:r>
            <a:r>
              <a:rPr sz="3050" b="1" spc="-10" dirty="0">
                <a:latin typeface="Times New Roman"/>
                <a:cs typeface="Times New Roman"/>
              </a:rPr>
              <a:t>document.</a:t>
            </a:r>
            <a:endParaRPr sz="3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3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050" b="1" dirty="0">
                <a:solidFill>
                  <a:srgbClr val="941100"/>
                </a:solidFill>
                <a:latin typeface="Times New Roman"/>
                <a:cs typeface="Times New Roman"/>
              </a:rPr>
              <a:t>La</a:t>
            </a:r>
            <a:r>
              <a:rPr sz="3050" b="1" spc="-190" dirty="0">
                <a:solidFill>
                  <a:srgbClr val="941100"/>
                </a:solidFill>
                <a:latin typeface="Times New Roman"/>
                <a:cs typeface="Times New Roman"/>
              </a:rPr>
              <a:t> </a:t>
            </a:r>
            <a:r>
              <a:rPr sz="3050" b="1" dirty="0">
                <a:solidFill>
                  <a:srgbClr val="941100"/>
                </a:solidFill>
                <a:latin typeface="Times New Roman"/>
                <a:cs typeface="Times New Roman"/>
              </a:rPr>
              <a:t>clé</a:t>
            </a:r>
            <a:r>
              <a:rPr sz="3050" b="1" spc="-80" dirty="0">
                <a:solidFill>
                  <a:srgbClr val="941100"/>
                </a:solidFill>
                <a:latin typeface="Times New Roman"/>
                <a:cs typeface="Times New Roman"/>
              </a:rPr>
              <a:t> </a:t>
            </a:r>
            <a:r>
              <a:rPr sz="3050" b="1" spc="-35" dirty="0">
                <a:solidFill>
                  <a:srgbClr val="941100"/>
                </a:solidFill>
                <a:latin typeface="Times New Roman"/>
                <a:cs typeface="Times New Roman"/>
              </a:rPr>
              <a:t>de</a:t>
            </a:r>
            <a:r>
              <a:rPr sz="3050" b="1" spc="-85" dirty="0">
                <a:solidFill>
                  <a:srgbClr val="941100"/>
                </a:solidFill>
                <a:latin typeface="Times New Roman"/>
                <a:cs typeface="Times New Roman"/>
              </a:rPr>
              <a:t> </a:t>
            </a:r>
            <a:r>
              <a:rPr sz="3050" b="1" spc="-30" dirty="0">
                <a:solidFill>
                  <a:srgbClr val="941100"/>
                </a:solidFill>
                <a:latin typeface="Times New Roman"/>
                <a:cs typeface="Times New Roman"/>
              </a:rPr>
              <a:t>session</a:t>
            </a:r>
            <a:r>
              <a:rPr sz="3050" b="1" spc="-85" dirty="0">
                <a:solidFill>
                  <a:srgbClr val="941100"/>
                </a:solidFill>
                <a:latin typeface="Times New Roman"/>
                <a:cs typeface="Times New Roman"/>
              </a:rPr>
              <a:t> </a:t>
            </a:r>
            <a:r>
              <a:rPr sz="3050" b="1" dirty="0">
                <a:latin typeface="Times New Roman"/>
                <a:cs typeface="Times New Roman"/>
              </a:rPr>
              <a:t>est</a:t>
            </a:r>
            <a:r>
              <a:rPr sz="3050" b="1" spc="-80" dirty="0">
                <a:latin typeface="Times New Roman"/>
                <a:cs typeface="Times New Roman"/>
              </a:rPr>
              <a:t> </a:t>
            </a:r>
            <a:r>
              <a:rPr sz="3050" b="1" spc="-55" dirty="0">
                <a:latin typeface="Times New Roman"/>
                <a:cs typeface="Times New Roman"/>
              </a:rPr>
              <a:t>ensuite</a:t>
            </a:r>
            <a:r>
              <a:rPr sz="3050" b="1" spc="-85" dirty="0">
                <a:latin typeface="Times New Roman"/>
                <a:cs typeface="Times New Roman"/>
              </a:rPr>
              <a:t> </a:t>
            </a:r>
            <a:r>
              <a:rPr sz="3050" b="1" spc="-65" dirty="0">
                <a:solidFill>
                  <a:srgbClr val="941100"/>
                </a:solidFill>
                <a:latin typeface="Times New Roman"/>
                <a:cs typeface="Times New Roman"/>
              </a:rPr>
              <a:t>chiffrée</a:t>
            </a:r>
            <a:r>
              <a:rPr sz="3050" b="1" spc="-85" dirty="0">
                <a:solidFill>
                  <a:srgbClr val="941100"/>
                </a:solidFill>
                <a:latin typeface="Times New Roman"/>
                <a:cs typeface="Times New Roman"/>
              </a:rPr>
              <a:t> </a:t>
            </a:r>
            <a:r>
              <a:rPr sz="3050" b="1" spc="-75" dirty="0">
                <a:solidFill>
                  <a:srgbClr val="941100"/>
                </a:solidFill>
                <a:latin typeface="Times New Roman"/>
                <a:cs typeface="Times New Roman"/>
              </a:rPr>
              <a:t>avec</a:t>
            </a:r>
            <a:r>
              <a:rPr sz="3050" b="1" spc="-85" dirty="0">
                <a:solidFill>
                  <a:srgbClr val="941100"/>
                </a:solidFill>
                <a:latin typeface="Times New Roman"/>
                <a:cs typeface="Times New Roman"/>
              </a:rPr>
              <a:t> </a:t>
            </a:r>
            <a:r>
              <a:rPr sz="3050" b="1" dirty="0">
                <a:solidFill>
                  <a:srgbClr val="941100"/>
                </a:solidFill>
                <a:latin typeface="Times New Roman"/>
                <a:cs typeface="Times New Roman"/>
              </a:rPr>
              <a:t>la</a:t>
            </a:r>
            <a:r>
              <a:rPr sz="3050" b="1" spc="-80" dirty="0">
                <a:solidFill>
                  <a:srgbClr val="941100"/>
                </a:solidFill>
                <a:latin typeface="Times New Roman"/>
                <a:cs typeface="Times New Roman"/>
              </a:rPr>
              <a:t> </a:t>
            </a:r>
            <a:r>
              <a:rPr sz="3050" b="1" dirty="0">
                <a:solidFill>
                  <a:srgbClr val="941100"/>
                </a:solidFill>
                <a:latin typeface="Times New Roman"/>
                <a:cs typeface="Times New Roman"/>
              </a:rPr>
              <a:t>clé</a:t>
            </a:r>
            <a:r>
              <a:rPr sz="3050" b="1" spc="-85" dirty="0">
                <a:solidFill>
                  <a:srgbClr val="941100"/>
                </a:solidFill>
                <a:latin typeface="Times New Roman"/>
                <a:cs typeface="Times New Roman"/>
              </a:rPr>
              <a:t> </a:t>
            </a:r>
            <a:r>
              <a:rPr sz="3050" b="1" spc="-130" dirty="0">
                <a:solidFill>
                  <a:srgbClr val="941100"/>
                </a:solidFill>
                <a:latin typeface="Times New Roman"/>
                <a:cs typeface="Times New Roman"/>
              </a:rPr>
              <a:t>publique</a:t>
            </a:r>
            <a:r>
              <a:rPr sz="3050" b="1" spc="-60" dirty="0">
                <a:solidFill>
                  <a:srgbClr val="941100"/>
                </a:solidFill>
                <a:latin typeface="Times New Roman"/>
                <a:cs typeface="Times New Roman"/>
              </a:rPr>
              <a:t> </a:t>
            </a:r>
            <a:r>
              <a:rPr sz="3050" b="1" spc="-195" dirty="0">
                <a:solidFill>
                  <a:srgbClr val="941100"/>
                </a:solidFill>
                <a:latin typeface="Times New Roman"/>
                <a:cs typeface="Times New Roman"/>
              </a:rPr>
              <a:t>du</a:t>
            </a:r>
            <a:r>
              <a:rPr sz="3050" b="1" spc="-5" dirty="0">
                <a:solidFill>
                  <a:srgbClr val="941100"/>
                </a:solidFill>
                <a:latin typeface="Times New Roman"/>
                <a:cs typeface="Times New Roman"/>
              </a:rPr>
              <a:t> </a:t>
            </a:r>
            <a:r>
              <a:rPr sz="3050" b="1" spc="-60" dirty="0">
                <a:solidFill>
                  <a:srgbClr val="941100"/>
                </a:solidFill>
                <a:latin typeface="Times New Roman"/>
                <a:cs typeface="Times New Roman"/>
              </a:rPr>
              <a:t>destinataire</a:t>
            </a:r>
            <a:r>
              <a:rPr sz="3050" b="1" spc="-85" dirty="0">
                <a:solidFill>
                  <a:srgbClr val="941100"/>
                </a:solidFill>
                <a:latin typeface="Times New Roman"/>
                <a:cs typeface="Times New Roman"/>
              </a:rPr>
              <a:t> </a:t>
            </a:r>
            <a:r>
              <a:rPr sz="3050" b="1" spc="-10" dirty="0">
                <a:solidFill>
                  <a:srgbClr val="941100"/>
                </a:solidFill>
                <a:latin typeface="Times New Roman"/>
                <a:cs typeface="Times New Roman"/>
              </a:rPr>
              <a:t>(asymétrique)</a:t>
            </a:r>
            <a:r>
              <a:rPr sz="3050" b="1" spc="-10" dirty="0">
                <a:latin typeface="Times New Roman"/>
                <a:cs typeface="Times New Roman"/>
              </a:rPr>
              <a:t>.</a:t>
            </a:r>
            <a:endParaRPr sz="3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3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050" b="1" dirty="0">
                <a:latin typeface="Times New Roman"/>
                <a:cs typeface="Times New Roman"/>
              </a:rPr>
              <a:t>Le</a:t>
            </a:r>
            <a:r>
              <a:rPr sz="3050" b="1" spc="-135" dirty="0">
                <a:latin typeface="Times New Roman"/>
                <a:cs typeface="Times New Roman"/>
              </a:rPr>
              <a:t> </a:t>
            </a:r>
            <a:r>
              <a:rPr sz="3050" b="1" spc="-60" dirty="0">
                <a:latin typeface="Times New Roman"/>
                <a:cs typeface="Times New Roman"/>
              </a:rPr>
              <a:t>destinataire</a:t>
            </a:r>
            <a:r>
              <a:rPr sz="3050" b="1" spc="-80" dirty="0">
                <a:latin typeface="Times New Roman"/>
                <a:cs typeface="Times New Roman"/>
              </a:rPr>
              <a:t> </a:t>
            </a:r>
            <a:r>
              <a:rPr sz="3050" b="1" spc="-30" dirty="0">
                <a:latin typeface="Times New Roman"/>
                <a:cs typeface="Times New Roman"/>
              </a:rPr>
              <a:t>utilise</a:t>
            </a:r>
            <a:r>
              <a:rPr sz="3050" b="1" spc="-85" dirty="0">
                <a:latin typeface="Times New Roman"/>
                <a:cs typeface="Times New Roman"/>
              </a:rPr>
              <a:t> </a:t>
            </a:r>
            <a:r>
              <a:rPr sz="3050" b="1" dirty="0">
                <a:solidFill>
                  <a:srgbClr val="941100"/>
                </a:solidFill>
                <a:latin typeface="Times New Roman"/>
                <a:cs typeface="Times New Roman"/>
              </a:rPr>
              <a:t>sa</a:t>
            </a:r>
            <a:r>
              <a:rPr sz="3050" b="1" spc="-80" dirty="0">
                <a:solidFill>
                  <a:srgbClr val="941100"/>
                </a:solidFill>
                <a:latin typeface="Times New Roman"/>
                <a:cs typeface="Times New Roman"/>
              </a:rPr>
              <a:t> </a:t>
            </a:r>
            <a:r>
              <a:rPr sz="3050" b="1" dirty="0">
                <a:solidFill>
                  <a:srgbClr val="941100"/>
                </a:solidFill>
                <a:latin typeface="Times New Roman"/>
                <a:cs typeface="Times New Roman"/>
              </a:rPr>
              <a:t>clé</a:t>
            </a:r>
            <a:r>
              <a:rPr sz="3050" b="1" spc="-80" dirty="0">
                <a:solidFill>
                  <a:srgbClr val="941100"/>
                </a:solidFill>
                <a:latin typeface="Times New Roman"/>
                <a:cs typeface="Times New Roman"/>
              </a:rPr>
              <a:t> </a:t>
            </a:r>
            <a:r>
              <a:rPr sz="3050" b="1" spc="-125" dirty="0">
                <a:solidFill>
                  <a:srgbClr val="941100"/>
                </a:solidFill>
                <a:latin typeface="Times New Roman"/>
                <a:cs typeface="Times New Roman"/>
              </a:rPr>
              <a:t>privée</a:t>
            </a:r>
            <a:r>
              <a:rPr sz="3050" b="1" spc="-65" dirty="0">
                <a:solidFill>
                  <a:srgbClr val="941100"/>
                </a:solidFill>
                <a:latin typeface="Times New Roman"/>
                <a:cs typeface="Times New Roman"/>
              </a:rPr>
              <a:t> </a:t>
            </a:r>
            <a:r>
              <a:rPr sz="3050" b="1" spc="-145" dirty="0">
                <a:latin typeface="Times New Roman"/>
                <a:cs typeface="Times New Roman"/>
              </a:rPr>
              <a:t>pour</a:t>
            </a:r>
            <a:r>
              <a:rPr sz="3050" b="1" spc="-45" dirty="0">
                <a:latin typeface="Times New Roman"/>
                <a:cs typeface="Times New Roman"/>
              </a:rPr>
              <a:t> </a:t>
            </a:r>
            <a:r>
              <a:rPr sz="3050" b="1" spc="-95" dirty="0">
                <a:solidFill>
                  <a:srgbClr val="941100"/>
                </a:solidFill>
                <a:latin typeface="Times New Roman"/>
                <a:cs typeface="Times New Roman"/>
              </a:rPr>
              <a:t>déchiffrer</a:t>
            </a:r>
            <a:r>
              <a:rPr sz="3050" b="1" spc="-85" dirty="0">
                <a:solidFill>
                  <a:srgbClr val="941100"/>
                </a:solidFill>
                <a:latin typeface="Times New Roman"/>
                <a:cs typeface="Times New Roman"/>
              </a:rPr>
              <a:t> </a:t>
            </a:r>
            <a:r>
              <a:rPr sz="3050" b="1" dirty="0">
                <a:solidFill>
                  <a:srgbClr val="941100"/>
                </a:solidFill>
                <a:latin typeface="Times New Roman"/>
                <a:cs typeface="Times New Roman"/>
              </a:rPr>
              <a:t>la</a:t>
            </a:r>
            <a:r>
              <a:rPr sz="3050" b="1" spc="-80" dirty="0">
                <a:solidFill>
                  <a:srgbClr val="941100"/>
                </a:solidFill>
                <a:latin typeface="Times New Roman"/>
                <a:cs typeface="Times New Roman"/>
              </a:rPr>
              <a:t> </a:t>
            </a:r>
            <a:r>
              <a:rPr sz="3050" b="1" dirty="0">
                <a:solidFill>
                  <a:srgbClr val="941100"/>
                </a:solidFill>
                <a:latin typeface="Times New Roman"/>
                <a:cs typeface="Times New Roman"/>
              </a:rPr>
              <a:t>clé</a:t>
            </a:r>
            <a:r>
              <a:rPr sz="3050" b="1" spc="-80" dirty="0">
                <a:solidFill>
                  <a:srgbClr val="941100"/>
                </a:solidFill>
                <a:latin typeface="Times New Roman"/>
                <a:cs typeface="Times New Roman"/>
              </a:rPr>
              <a:t> </a:t>
            </a:r>
            <a:r>
              <a:rPr sz="3050" b="1" spc="-35" dirty="0">
                <a:solidFill>
                  <a:srgbClr val="941100"/>
                </a:solidFill>
                <a:latin typeface="Times New Roman"/>
                <a:cs typeface="Times New Roman"/>
              </a:rPr>
              <a:t>de</a:t>
            </a:r>
            <a:r>
              <a:rPr sz="3050" b="1" spc="-85" dirty="0">
                <a:solidFill>
                  <a:srgbClr val="941100"/>
                </a:solidFill>
                <a:latin typeface="Times New Roman"/>
                <a:cs typeface="Times New Roman"/>
              </a:rPr>
              <a:t> </a:t>
            </a:r>
            <a:r>
              <a:rPr sz="3050" b="1" spc="-20" dirty="0">
                <a:solidFill>
                  <a:srgbClr val="941100"/>
                </a:solidFill>
                <a:latin typeface="Times New Roman"/>
                <a:cs typeface="Times New Roman"/>
              </a:rPr>
              <a:t>session,</a:t>
            </a:r>
            <a:r>
              <a:rPr sz="3050" b="1" spc="-80" dirty="0">
                <a:solidFill>
                  <a:srgbClr val="941100"/>
                </a:solidFill>
                <a:latin typeface="Times New Roman"/>
                <a:cs typeface="Times New Roman"/>
              </a:rPr>
              <a:t> </a:t>
            </a:r>
            <a:r>
              <a:rPr sz="3050" b="1" spc="-85" dirty="0">
                <a:latin typeface="Times New Roman"/>
                <a:cs typeface="Times New Roman"/>
              </a:rPr>
              <a:t>puis</a:t>
            </a:r>
            <a:r>
              <a:rPr sz="3050" b="1" spc="-80" dirty="0">
                <a:latin typeface="Times New Roman"/>
                <a:cs typeface="Times New Roman"/>
              </a:rPr>
              <a:t> </a:t>
            </a:r>
            <a:r>
              <a:rPr sz="3050" b="1" spc="-80" dirty="0">
                <a:solidFill>
                  <a:srgbClr val="941100"/>
                </a:solidFill>
                <a:latin typeface="Times New Roman"/>
                <a:cs typeface="Times New Roman"/>
              </a:rPr>
              <a:t>déchiffre</a:t>
            </a:r>
            <a:r>
              <a:rPr sz="3050" b="1" spc="-85" dirty="0">
                <a:solidFill>
                  <a:srgbClr val="941100"/>
                </a:solidFill>
                <a:latin typeface="Times New Roman"/>
                <a:cs typeface="Times New Roman"/>
              </a:rPr>
              <a:t> </a:t>
            </a:r>
            <a:r>
              <a:rPr sz="3050" b="1" dirty="0">
                <a:solidFill>
                  <a:srgbClr val="941100"/>
                </a:solidFill>
                <a:latin typeface="Times New Roman"/>
                <a:cs typeface="Times New Roman"/>
              </a:rPr>
              <a:t>le</a:t>
            </a:r>
            <a:r>
              <a:rPr sz="3050" b="1" spc="-80" dirty="0">
                <a:solidFill>
                  <a:srgbClr val="941100"/>
                </a:solidFill>
                <a:latin typeface="Times New Roman"/>
                <a:cs typeface="Times New Roman"/>
              </a:rPr>
              <a:t> </a:t>
            </a:r>
            <a:r>
              <a:rPr sz="3050" b="1" spc="-10" dirty="0">
                <a:solidFill>
                  <a:srgbClr val="941100"/>
                </a:solidFill>
                <a:latin typeface="Times New Roman"/>
                <a:cs typeface="Times New Roman"/>
              </a:rPr>
              <a:t>document.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95" dirty="0"/>
              <a:t>16</a:t>
            </a:fld>
            <a:endParaRPr spc="-9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33867" y="2118882"/>
            <a:ext cx="16325850" cy="6955155"/>
            <a:chOff x="933867" y="2118882"/>
            <a:chExt cx="16325850" cy="69551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3867" y="4167427"/>
              <a:ext cx="95250" cy="9524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3867" y="5824777"/>
              <a:ext cx="95250" cy="9524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3867" y="8310802"/>
              <a:ext cx="95250" cy="9524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39024" y="4167427"/>
              <a:ext cx="95250" cy="9524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39024" y="4996102"/>
              <a:ext cx="95250" cy="9524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39024" y="6653452"/>
              <a:ext cx="95250" cy="9524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39024" y="8310802"/>
              <a:ext cx="95250" cy="95249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454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140"/>
              </a:spcBef>
            </a:pPr>
            <a:r>
              <a:rPr sz="4400" dirty="0"/>
              <a:t>Avantages</a:t>
            </a:r>
            <a:r>
              <a:rPr sz="4400" spc="15" dirty="0"/>
              <a:t> </a:t>
            </a:r>
            <a:r>
              <a:rPr sz="4400" dirty="0"/>
              <a:t>et</a:t>
            </a:r>
            <a:r>
              <a:rPr sz="4400" spc="20" dirty="0"/>
              <a:t> </a:t>
            </a:r>
            <a:r>
              <a:rPr sz="4400" dirty="0"/>
              <a:t>limites</a:t>
            </a:r>
            <a:r>
              <a:rPr sz="4400" spc="15" dirty="0"/>
              <a:t> </a:t>
            </a:r>
            <a:r>
              <a:rPr sz="4400" dirty="0"/>
              <a:t>du</a:t>
            </a:r>
            <a:r>
              <a:rPr sz="4400" spc="20" dirty="0"/>
              <a:t> </a:t>
            </a:r>
            <a:r>
              <a:rPr sz="4400" dirty="0"/>
              <a:t>chiffrement</a:t>
            </a:r>
            <a:r>
              <a:rPr sz="4400" spc="20" dirty="0"/>
              <a:t> </a:t>
            </a:r>
            <a:r>
              <a:rPr sz="4400" spc="-10" dirty="0"/>
              <a:t>hybride</a:t>
            </a:r>
            <a:endParaRPr sz="4400"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95" dirty="0"/>
              <a:t>17</a:t>
            </a:fld>
            <a:endParaRPr spc="-95" dirty="0"/>
          </a:p>
        </p:txBody>
      </p:sp>
      <p:sp>
        <p:nvSpPr>
          <p:cNvPr id="11" name="object 11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b="1" spc="-45" dirty="0">
                <a:latin typeface="Times New Roman"/>
                <a:cs typeface="Times New Roman"/>
              </a:rPr>
              <a:t>Rapide</a:t>
            </a:r>
            <a:r>
              <a:rPr b="1" spc="5" dirty="0">
                <a:latin typeface="Times New Roman"/>
                <a:cs typeface="Times New Roman"/>
              </a:rPr>
              <a:t> </a:t>
            </a:r>
            <a:r>
              <a:rPr b="1" spc="-200" dirty="0">
                <a:latin typeface="Times New Roman"/>
                <a:cs typeface="Times New Roman"/>
              </a:rPr>
              <a:t>:</a:t>
            </a:r>
            <a:r>
              <a:rPr b="1" dirty="0">
                <a:latin typeface="Times New Roman"/>
                <a:cs typeface="Times New Roman"/>
              </a:rPr>
              <a:t> </a:t>
            </a:r>
            <a:r>
              <a:rPr spc="105" dirty="0"/>
              <a:t>document</a:t>
            </a:r>
            <a:r>
              <a:rPr dirty="0"/>
              <a:t> chiffré</a:t>
            </a:r>
            <a:r>
              <a:rPr spc="5" dirty="0"/>
              <a:t> </a:t>
            </a:r>
            <a:r>
              <a:rPr spc="75" dirty="0"/>
              <a:t>symétriquement,</a:t>
            </a:r>
            <a:r>
              <a:rPr dirty="0"/>
              <a:t> </a:t>
            </a:r>
            <a:r>
              <a:rPr spc="-25" dirty="0"/>
              <a:t>clé</a:t>
            </a:r>
          </a:p>
          <a:p>
            <a:pPr marL="12700" marR="681355">
              <a:lnSpc>
                <a:spcPct val="178300"/>
              </a:lnSpc>
            </a:pPr>
            <a:r>
              <a:rPr spc="65" dirty="0"/>
              <a:t>de</a:t>
            </a:r>
            <a:r>
              <a:rPr spc="35" dirty="0"/>
              <a:t> </a:t>
            </a:r>
            <a:r>
              <a:rPr dirty="0"/>
              <a:t>session</a:t>
            </a:r>
            <a:r>
              <a:rPr spc="40" dirty="0"/>
              <a:t> </a:t>
            </a:r>
            <a:r>
              <a:rPr spc="65" dirty="0"/>
              <a:t>petite</a:t>
            </a:r>
            <a:r>
              <a:rPr spc="40" dirty="0"/>
              <a:t> </a:t>
            </a:r>
            <a:r>
              <a:rPr spc="70" dirty="0"/>
              <a:t>et</a:t>
            </a:r>
            <a:r>
              <a:rPr spc="40" dirty="0"/>
              <a:t> </a:t>
            </a:r>
            <a:r>
              <a:rPr spc="80" dirty="0"/>
              <a:t>rapide</a:t>
            </a:r>
            <a:r>
              <a:rPr spc="40" dirty="0"/>
              <a:t> </a:t>
            </a:r>
            <a:r>
              <a:rPr spc="175" dirty="0"/>
              <a:t>à</a:t>
            </a:r>
            <a:r>
              <a:rPr spc="35" dirty="0"/>
              <a:t> </a:t>
            </a:r>
            <a:r>
              <a:rPr spc="-10" dirty="0"/>
              <a:t>chiffrer. </a:t>
            </a:r>
            <a:r>
              <a:rPr b="1" spc="-25" dirty="0">
                <a:latin typeface="Times New Roman"/>
                <a:cs typeface="Times New Roman"/>
              </a:rPr>
              <a:t>Sécurisé</a:t>
            </a:r>
            <a:r>
              <a:rPr b="1" spc="5" dirty="0">
                <a:latin typeface="Times New Roman"/>
                <a:cs typeface="Times New Roman"/>
              </a:rPr>
              <a:t> </a:t>
            </a:r>
            <a:r>
              <a:rPr b="1" spc="-200" dirty="0">
                <a:latin typeface="Times New Roman"/>
                <a:cs typeface="Times New Roman"/>
              </a:rPr>
              <a:t>:</a:t>
            </a:r>
            <a:r>
              <a:rPr b="1" spc="5" dirty="0">
                <a:latin typeface="Times New Roman"/>
                <a:cs typeface="Times New Roman"/>
              </a:rPr>
              <a:t> </a:t>
            </a:r>
            <a:r>
              <a:rPr spc="70" dirty="0"/>
              <a:t>la</a:t>
            </a:r>
            <a:r>
              <a:rPr spc="5" dirty="0"/>
              <a:t> </a:t>
            </a:r>
            <a:r>
              <a:rPr dirty="0"/>
              <a:t>clé</a:t>
            </a:r>
            <a:r>
              <a:rPr spc="5" dirty="0"/>
              <a:t> </a:t>
            </a:r>
            <a:r>
              <a:rPr spc="65" dirty="0"/>
              <a:t>de</a:t>
            </a:r>
            <a:r>
              <a:rPr spc="5" dirty="0"/>
              <a:t> </a:t>
            </a:r>
            <a:r>
              <a:rPr dirty="0"/>
              <a:t>session</a:t>
            </a:r>
            <a:r>
              <a:rPr spc="5" dirty="0"/>
              <a:t> </a:t>
            </a:r>
            <a:r>
              <a:rPr spc="-10" dirty="0"/>
              <a:t>chiffrée </a:t>
            </a:r>
            <a:r>
              <a:rPr spc="80" dirty="0"/>
              <a:t>asymétriquement</a:t>
            </a:r>
            <a:r>
              <a:rPr spc="20" dirty="0"/>
              <a:t> </a:t>
            </a:r>
            <a:r>
              <a:rPr spc="105" dirty="0"/>
              <a:t>permet</a:t>
            </a:r>
            <a:r>
              <a:rPr spc="25" dirty="0"/>
              <a:t> </a:t>
            </a:r>
            <a:r>
              <a:rPr spc="65" dirty="0"/>
              <a:t>de</a:t>
            </a:r>
            <a:r>
              <a:rPr spc="25" dirty="0"/>
              <a:t> </a:t>
            </a:r>
            <a:r>
              <a:rPr spc="100" dirty="0"/>
              <a:t>transmettre</a:t>
            </a:r>
            <a:r>
              <a:rPr spc="25" dirty="0"/>
              <a:t> </a:t>
            </a:r>
            <a:r>
              <a:rPr spc="-25" dirty="0"/>
              <a:t>le </a:t>
            </a:r>
            <a:r>
              <a:rPr spc="105" dirty="0"/>
              <a:t>document</a:t>
            </a:r>
            <a:r>
              <a:rPr spc="5" dirty="0"/>
              <a:t> </a:t>
            </a:r>
            <a:r>
              <a:rPr spc="95" dirty="0"/>
              <a:t>sur</a:t>
            </a:r>
            <a:r>
              <a:rPr spc="5" dirty="0"/>
              <a:t> </a:t>
            </a:r>
            <a:r>
              <a:rPr spc="150" dirty="0"/>
              <a:t>un</a:t>
            </a:r>
            <a:r>
              <a:rPr spc="5" dirty="0"/>
              <a:t> </a:t>
            </a:r>
            <a:r>
              <a:rPr spc="65" dirty="0"/>
              <a:t>réseau</a:t>
            </a:r>
            <a:r>
              <a:rPr spc="10" dirty="0"/>
              <a:t> </a:t>
            </a:r>
            <a:r>
              <a:rPr spc="145" dirty="0"/>
              <a:t>non</a:t>
            </a:r>
            <a:r>
              <a:rPr spc="5" dirty="0"/>
              <a:t> </a:t>
            </a:r>
            <a:r>
              <a:rPr spc="-20" dirty="0"/>
              <a:t>sûr.</a:t>
            </a:r>
          </a:p>
          <a:p>
            <a:pPr marL="12700" marR="1024255">
              <a:lnSpc>
                <a:spcPct val="178300"/>
              </a:lnSpc>
            </a:pPr>
            <a:r>
              <a:rPr b="1" spc="-20" dirty="0">
                <a:latin typeface="Times New Roman"/>
                <a:cs typeface="Times New Roman"/>
              </a:rPr>
              <a:t>Gestion</a:t>
            </a:r>
            <a:r>
              <a:rPr b="1" spc="-55" dirty="0">
                <a:latin typeface="Times New Roman"/>
                <a:cs typeface="Times New Roman"/>
              </a:rPr>
              <a:t> </a:t>
            </a:r>
            <a:r>
              <a:rPr b="1" spc="-50" dirty="0">
                <a:latin typeface="Times New Roman"/>
                <a:cs typeface="Times New Roman"/>
              </a:rPr>
              <a:t>simplifiée</a:t>
            </a:r>
            <a:r>
              <a:rPr b="1" spc="-55" dirty="0">
                <a:latin typeface="Times New Roman"/>
                <a:cs typeface="Times New Roman"/>
              </a:rPr>
              <a:t> </a:t>
            </a:r>
            <a:r>
              <a:rPr dirty="0"/>
              <a:t>:</a:t>
            </a:r>
            <a:r>
              <a:rPr spc="-55" dirty="0"/>
              <a:t> </a:t>
            </a:r>
            <a:r>
              <a:rPr spc="100" dirty="0"/>
              <a:t>pas</a:t>
            </a:r>
            <a:r>
              <a:rPr spc="-55" dirty="0"/>
              <a:t> </a:t>
            </a:r>
            <a:r>
              <a:rPr spc="65" dirty="0"/>
              <a:t>de</a:t>
            </a:r>
            <a:r>
              <a:rPr spc="-50" dirty="0"/>
              <a:t> </a:t>
            </a:r>
            <a:r>
              <a:rPr spc="50" dirty="0"/>
              <a:t>multiplication </a:t>
            </a:r>
            <a:r>
              <a:rPr dirty="0"/>
              <a:t>exponentielle</a:t>
            </a:r>
            <a:r>
              <a:rPr spc="295" dirty="0"/>
              <a:t> </a:t>
            </a:r>
            <a:r>
              <a:rPr dirty="0"/>
              <a:t>des</a:t>
            </a:r>
            <a:r>
              <a:rPr spc="310" dirty="0"/>
              <a:t> </a:t>
            </a:r>
            <a:r>
              <a:rPr spc="-10" dirty="0"/>
              <a:t>clés.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9777397" y="3899457"/>
            <a:ext cx="7999095" cy="297815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050" b="1" spc="-35" dirty="0">
                <a:latin typeface="Times New Roman"/>
                <a:cs typeface="Times New Roman"/>
              </a:rPr>
              <a:t>Complexité</a:t>
            </a:r>
            <a:r>
              <a:rPr sz="3050" b="1" spc="-10" dirty="0">
                <a:latin typeface="Times New Roman"/>
                <a:cs typeface="Times New Roman"/>
              </a:rPr>
              <a:t> </a:t>
            </a:r>
            <a:r>
              <a:rPr sz="3050" b="1" spc="-200" dirty="0">
                <a:latin typeface="Times New Roman"/>
                <a:cs typeface="Times New Roman"/>
              </a:rPr>
              <a:t>:</a:t>
            </a:r>
            <a:r>
              <a:rPr sz="3050" b="1" dirty="0">
                <a:latin typeface="Times New Roman"/>
                <a:cs typeface="Times New Roman"/>
              </a:rPr>
              <a:t> </a:t>
            </a:r>
            <a:r>
              <a:rPr sz="3050" spc="70" dirty="0">
                <a:latin typeface="Times New Roman"/>
                <a:cs typeface="Times New Roman"/>
              </a:rPr>
              <a:t>combine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65" dirty="0">
                <a:latin typeface="Times New Roman"/>
                <a:cs typeface="Times New Roman"/>
              </a:rPr>
              <a:t>deux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50" dirty="0">
                <a:latin typeface="Times New Roman"/>
                <a:cs typeface="Times New Roman"/>
              </a:rPr>
              <a:t>types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65" dirty="0">
                <a:latin typeface="Times New Roman"/>
                <a:cs typeface="Times New Roman"/>
              </a:rPr>
              <a:t>de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35" dirty="0">
                <a:latin typeface="Times New Roman"/>
                <a:cs typeface="Times New Roman"/>
              </a:rPr>
              <a:t>chiffrement.</a:t>
            </a:r>
            <a:endParaRPr sz="3050">
              <a:latin typeface="Times New Roman"/>
              <a:cs typeface="Times New Roman"/>
            </a:endParaRPr>
          </a:p>
          <a:p>
            <a:pPr marL="12700" marR="283210">
              <a:lnSpc>
                <a:spcPct val="178300"/>
              </a:lnSpc>
            </a:pPr>
            <a:r>
              <a:rPr sz="3050" spc="95" dirty="0">
                <a:latin typeface="Times New Roman"/>
                <a:cs typeface="Times New Roman"/>
              </a:rPr>
              <a:t>Dépendance</a:t>
            </a:r>
            <a:r>
              <a:rPr sz="3050" dirty="0">
                <a:latin typeface="Times New Roman"/>
                <a:cs typeface="Times New Roman"/>
              </a:rPr>
              <a:t> </a:t>
            </a:r>
            <a:r>
              <a:rPr sz="3050" spc="105" dirty="0">
                <a:latin typeface="Times New Roman"/>
                <a:cs typeface="Times New Roman"/>
              </a:rPr>
              <a:t>aux</a:t>
            </a:r>
            <a:r>
              <a:rPr sz="3050" dirty="0">
                <a:latin typeface="Times New Roman"/>
                <a:cs typeface="Times New Roman"/>
              </a:rPr>
              <a:t> clés : </a:t>
            </a:r>
            <a:r>
              <a:rPr sz="3050" spc="70" dirty="0">
                <a:latin typeface="Times New Roman"/>
                <a:cs typeface="Times New Roman"/>
              </a:rPr>
              <a:t>compromission</a:t>
            </a:r>
            <a:r>
              <a:rPr sz="3050" dirty="0">
                <a:latin typeface="Times New Roman"/>
                <a:cs typeface="Times New Roman"/>
              </a:rPr>
              <a:t> </a:t>
            </a:r>
            <a:r>
              <a:rPr sz="3050" spc="65" dirty="0">
                <a:latin typeface="Times New Roman"/>
                <a:cs typeface="Times New Roman"/>
              </a:rPr>
              <a:t>de</a:t>
            </a:r>
            <a:r>
              <a:rPr sz="3050" dirty="0">
                <a:latin typeface="Times New Roman"/>
                <a:cs typeface="Times New Roman"/>
              </a:rPr>
              <a:t> </a:t>
            </a:r>
            <a:r>
              <a:rPr sz="3050" spc="70" dirty="0">
                <a:latin typeface="Times New Roman"/>
                <a:cs typeface="Times New Roman"/>
              </a:rPr>
              <a:t>la</a:t>
            </a:r>
            <a:r>
              <a:rPr sz="3050" dirty="0">
                <a:latin typeface="Times New Roman"/>
                <a:cs typeface="Times New Roman"/>
              </a:rPr>
              <a:t> </a:t>
            </a:r>
            <a:r>
              <a:rPr sz="3050" spc="-25" dirty="0">
                <a:latin typeface="Times New Roman"/>
                <a:cs typeface="Times New Roman"/>
              </a:rPr>
              <a:t>clé </a:t>
            </a:r>
            <a:r>
              <a:rPr sz="3050" dirty="0">
                <a:latin typeface="Times New Roman"/>
                <a:cs typeface="Times New Roman"/>
              </a:rPr>
              <a:t>privée</a:t>
            </a:r>
            <a:r>
              <a:rPr sz="3050" spc="20" dirty="0">
                <a:latin typeface="Times New Roman"/>
                <a:cs typeface="Times New Roman"/>
              </a:rPr>
              <a:t> </a:t>
            </a:r>
            <a:r>
              <a:rPr sz="3050" spc="310" dirty="0">
                <a:latin typeface="Times New Roman"/>
                <a:cs typeface="Times New Roman"/>
              </a:rPr>
              <a:t>=</a:t>
            </a:r>
            <a:r>
              <a:rPr sz="3050" spc="25" dirty="0">
                <a:latin typeface="Times New Roman"/>
                <a:cs typeface="Times New Roman"/>
              </a:rPr>
              <a:t> </a:t>
            </a:r>
            <a:r>
              <a:rPr sz="3050" spc="65" dirty="0">
                <a:latin typeface="Times New Roman"/>
                <a:cs typeface="Times New Roman"/>
              </a:rPr>
              <a:t>risque</a:t>
            </a:r>
            <a:r>
              <a:rPr sz="3050" spc="25" dirty="0">
                <a:latin typeface="Times New Roman"/>
                <a:cs typeface="Times New Roman"/>
              </a:rPr>
              <a:t> </a:t>
            </a:r>
            <a:r>
              <a:rPr sz="3050" spc="150" dirty="0">
                <a:latin typeface="Times New Roman"/>
                <a:cs typeface="Times New Roman"/>
              </a:rPr>
              <a:t>pour</a:t>
            </a:r>
            <a:r>
              <a:rPr sz="3050" spc="2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le</a:t>
            </a:r>
            <a:r>
              <a:rPr sz="3050" spc="20" dirty="0">
                <a:latin typeface="Times New Roman"/>
                <a:cs typeface="Times New Roman"/>
              </a:rPr>
              <a:t> </a:t>
            </a:r>
            <a:r>
              <a:rPr sz="3050" spc="90" dirty="0">
                <a:latin typeface="Times New Roman"/>
                <a:cs typeface="Times New Roman"/>
              </a:rPr>
              <a:t>document.</a:t>
            </a:r>
            <a:endParaRPr sz="3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865"/>
              </a:spcBef>
            </a:pPr>
            <a:r>
              <a:rPr sz="3050" b="1" spc="-55" dirty="0">
                <a:latin typeface="Times New Roman"/>
                <a:cs typeface="Times New Roman"/>
              </a:rPr>
              <a:t>Ressources</a:t>
            </a:r>
            <a:r>
              <a:rPr sz="3050" b="1" spc="-25" dirty="0">
                <a:latin typeface="Times New Roman"/>
                <a:cs typeface="Times New Roman"/>
              </a:rPr>
              <a:t> </a:t>
            </a:r>
            <a:r>
              <a:rPr sz="3050" b="1" spc="-200" dirty="0">
                <a:latin typeface="Times New Roman"/>
                <a:cs typeface="Times New Roman"/>
              </a:rPr>
              <a:t>:</a:t>
            </a:r>
            <a:r>
              <a:rPr sz="3050" b="1" spc="-5" dirty="0">
                <a:latin typeface="Times New Roman"/>
                <a:cs typeface="Times New Roman"/>
              </a:rPr>
              <a:t> </a:t>
            </a:r>
            <a:r>
              <a:rPr sz="3050" spc="45" dirty="0">
                <a:latin typeface="Times New Roman"/>
                <a:cs typeface="Times New Roman"/>
              </a:rPr>
              <a:t>chiffrement</a:t>
            </a:r>
            <a:r>
              <a:rPr sz="3050" spc="-10" dirty="0">
                <a:latin typeface="Times New Roman"/>
                <a:cs typeface="Times New Roman"/>
              </a:rPr>
              <a:t> </a:t>
            </a:r>
            <a:r>
              <a:rPr sz="3050" spc="75" dirty="0">
                <a:latin typeface="Times New Roman"/>
                <a:cs typeface="Times New Roman"/>
              </a:rPr>
              <a:t>asymétrique</a:t>
            </a:r>
            <a:r>
              <a:rPr sz="3050" spc="-15" dirty="0">
                <a:latin typeface="Times New Roman"/>
                <a:cs typeface="Times New Roman"/>
              </a:rPr>
              <a:t> </a:t>
            </a:r>
            <a:r>
              <a:rPr sz="3050" spc="40" dirty="0">
                <a:latin typeface="Times New Roman"/>
                <a:cs typeface="Times New Roman"/>
              </a:rPr>
              <a:t>plus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777397" y="7214157"/>
            <a:ext cx="1438910" cy="4921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050" spc="65" dirty="0">
                <a:latin typeface="Times New Roman"/>
                <a:cs typeface="Times New Roman"/>
              </a:rPr>
              <a:t>coûteux.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777397" y="8042832"/>
            <a:ext cx="7301865" cy="4921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050" b="1" spc="-10" dirty="0">
                <a:latin typeface="Times New Roman"/>
                <a:cs typeface="Times New Roman"/>
              </a:rPr>
              <a:t>Non-</a:t>
            </a:r>
            <a:r>
              <a:rPr sz="3050" b="1" spc="-85" dirty="0">
                <a:latin typeface="Times New Roman"/>
                <a:cs typeface="Times New Roman"/>
              </a:rPr>
              <a:t>répudiation</a:t>
            </a:r>
            <a:r>
              <a:rPr sz="3050" b="1" spc="-15" dirty="0">
                <a:latin typeface="Times New Roman"/>
                <a:cs typeface="Times New Roman"/>
              </a:rPr>
              <a:t> </a:t>
            </a:r>
            <a:r>
              <a:rPr sz="3050" b="1" spc="-200" dirty="0">
                <a:latin typeface="Times New Roman"/>
                <a:cs typeface="Times New Roman"/>
              </a:rPr>
              <a:t>:</a:t>
            </a:r>
            <a:r>
              <a:rPr sz="3050" b="1" dirty="0">
                <a:latin typeface="Times New Roman"/>
                <a:cs typeface="Times New Roman"/>
              </a:rPr>
              <a:t> </a:t>
            </a:r>
            <a:r>
              <a:rPr sz="3050" spc="145" dirty="0">
                <a:latin typeface="Times New Roman"/>
                <a:cs typeface="Times New Roman"/>
              </a:rPr>
              <a:t>non</a:t>
            </a:r>
            <a:r>
              <a:rPr sz="3050" spc="-10" dirty="0">
                <a:latin typeface="Times New Roman"/>
                <a:cs typeface="Times New Roman"/>
              </a:rPr>
              <a:t> </a:t>
            </a:r>
            <a:r>
              <a:rPr sz="3050" spc="50" dirty="0">
                <a:latin typeface="Times New Roman"/>
                <a:cs typeface="Times New Roman"/>
              </a:rPr>
              <a:t>assurée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70" dirty="0">
                <a:latin typeface="Times New Roman"/>
                <a:cs typeface="Times New Roman"/>
              </a:rPr>
              <a:t>sans</a:t>
            </a:r>
            <a:r>
              <a:rPr sz="3050" spc="-10" dirty="0">
                <a:latin typeface="Times New Roman"/>
                <a:cs typeface="Times New Roman"/>
              </a:rPr>
              <a:t> </a:t>
            </a:r>
            <a:r>
              <a:rPr sz="3050" spc="55" dirty="0">
                <a:latin typeface="Times New Roman"/>
                <a:cs typeface="Times New Roman"/>
              </a:rPr>
              <a:t>signature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777397" y="8871507"/>
            <a:ext cx="1868170" cy="4921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050" spc="45" dirty="0">
                <a:latin typeface="Times New Roman"/>
                <a:cs typeface="Times New Roman"/>
              </a:rPr>
              <a:t>numérique.</a:t>
            </a:r>
            <a:endParaRPr sz="3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612" y="512176"/>
            <a:ext cx="904240" cy="1033780"/>
          </a:xfrm>
          <a:custGeom>
            <a:avLst/>
            <a:gdLst/>
            <a:ahLst/>
            <a:cxnLst/>
            <a:rect l="l" t="t" r="r" b="b"/>
            <a:pathLst>
              <a:path w="904239" h="1033780">
                <a:moveTo>
                  <a:pt x="0" y="1033158"/>
                </a:moveTo>
                <a:lnTo>
                  <a:pt x="0" y="0"/>
                </a:lnTo>
                <a:lnTo>
                  <a:pt x="904014" y="516579"/>
                </a:lnTo>
                <a:lnTo>
                  <a:pt x="0" y="1033158"/>
                </a:lnTo>
                <a:close/>
              </a:path>
            </a:pathLst>
          </a:custGeom>
          <a:solidFill>
            <a:srgbClr val="B40C1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8636" y="5143500"/>
            <a:ext cx="628649" cy="5810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454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140"/>
              </a:spcBef>
            </a:pPr>
            <a:r>
              <a:rPr sz="4400" dirty="0"/>
              <a:t>Les</a:t>
            </a:r>
            <a:r>
              <a:rPr sz="4400" spc="15" dirty="0"/>
              <a:t> </a:t>
            </a:r>
            <a:r>
              <a:rPr sz="4400" dirty="0"/>
              <a:t>fonctions</a:t>
            </a:r>
            <a:r>
              <a:rPr sz="4400" spc="15" dirty="0"/>
              <a:t> </a:t>
            </a:r>
            <a:r>
              <a:rPr sz="4400" dirty="0"/>
              <a:t>de</a:t>
            </a:r>
            <a:r>
              <a:rPr sz="4400" spc="20" dirty="0"/>
              <a:t> </a:t>
            </a:r>
            <a:r>
              <a:rPr sz="4400" spc="-10" dirty="0"/>
              <a:t>hachage</a:t>
            </a:r>
            <a:endParaRPr sz="4400"/>
          </a:p>
        </p:txBody>
      </p:sp>
      <p:sp>
        <p:nvSpPr>
          <p:cNvPr id="5" name="object 5"/>
          <p:cNvSpPr txBox="1"/>
          <p:nvPr/>
        </p:nvSpPr>
        <p:spPr>
          <a:xfrm>
            <a:off x="1622489" y="2334163"/>
            <a:ext cx="15410815" cy="61239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400" spc="155" dirty="0">
                <a:latin typeface="Times New Roman"/>
                <a:cs typeface="Times New Roman"/>
              </a:rPr>
              <a:t>Une</a:t>
            </a:r>
            <a:r>
              <a:rPr sz="3400" spc="-60" dirty="0">
                <a:latin typeface="Times New Roman"/>
                <a:cs typeface="Times New Roman"/>
              </a:rPr>
              <a:t> </a:t>
            </a:r>
            <a:r>
              <a:rPr sz="3400" spc="75" dirty="0">
                <a:latin typeface="Times New Roman"/>
                <a:cs typeface="Times New Roman"/>
              </a:rPr>
              <a:t>fonction</a:t>
            </a:r>
            <a:r>
              <a:rPr sz="3400" spc="-60" dirty="0">
                <a:latin typeface="Times New Roman"/>
                <a:cs typeface="Times New Roman"/>
              </a:rPr>
              <a:t> </a:t>
            </a:r>
            <a:r>
              <a:rPr sz="3400" spc="65" dirty="0">
                <a:latin typeface="Times New Roman"/>
                <a:cs typeface="Times New Roman"/>
              </a:rPr>
              <a:t>de</a:t>
            </a:r>
            <a:r>
              <a:rPr sz="3400" spc="-60" dirty="0">
                <a:latin typeface="Times New Roman"/>
                <a:cs typeface="Times New Roman"/>
              </a:rPr>
              <a:t> </a:t>
            </a:r>
            <a:r>
              <a:rPr sz="3400" spc="75" dirty="0">
                <a:latin typeface="Times New Roman"/>
                <a:cs typeface="Times New Roman"/>
              </a:rPr>
              <a:t>hachage</a:t>
            </a:r>
            <a:r>
              <a:rPr sz="3400" spc="-60" dirty="0">
                <a:latin typeface="Times New Roman"/>
                <a:cs typeface="Times New Roman"/>
              </a:rPr>
              <a:t> </a:t>
            </a:r>
            <a:r>
              <a:rPr sz="3400" spc="95" dirty="0">
                <a:latin typeface="Times New Roman"/>
                <a:cs typeface="Times New Roman"/>
              </a:rPr>
              <a:t>transforme</a:t>
            </a:r>
            <a:r>
              <a:rPr sz="3400" spc="-60" dirty="0">
                <a:latin typeface="Times New Roman"/>
                <a:cs typeface="Times New Roman"/>
              </a:rPr>
              <a:t> </a:t>
            </a:r>
            <a:r>
              <a:rPr sz="3400" b="1" spc="-110" dirty="0">
                <a:latin typeface="Times New Roman"/>
                <a:cs typeface="Times New Roman"/>
              </a:rPr>
              <a:t>une</a:t>
            </a:r>
            <a:r>
              <a:rPr sz="3400" b="1" spc="-60" dirty="0">
                <a:latin typeface="Times New Roman"/>
                <a:cs typeface="Times New Roman"/>
              </a:rPr>
              <a:t> </a:t>
            </a:r>
            <a:r>
              <a:rPr sz="3400" b="1" spc="-65" dirty="0">
                <a:latin typeface="Times New Roman"/>
                <a:cs typeface="Times New Roman"/>
              </a:rPr>
              <a:t>chaîne</a:t>
            </a:r>
            <a:r>
              <a:rPr sz="3400" b="1" spc="-60" dirty="0">
                <a:latin typeface="Times New Roman"/>
                <a:cs typeface="Times New Roman"/>
              </a:rPr>
              <a:t> </a:t>
            </a:r>
            <a:r>
              <a:rPr sz="3400" b="1" spc="-20" dirty="0">
                <a:latin typeface="Times New Roman"/>
                <a:cs typeface="Times New Roman"/>
              </a:rPr>
              <a:t>de</a:t>
            </a:r>
            <a:r>
              <a:rPr sz="3400" b="1" spc="-60" dirty="0">
                <a:latin typeface="Times New Roman"/>
                <a:cs typeface="Times New Roman"/>
              </a:rPr>
              <a:t> </a:t>
            </a:r>
            <a:r>
              <a:rPr sz="3400" b="1" spc="-85" dirty="0">
                <a:latin typeface="Times New Roman"/>
                <a:cs typeface="Times New Roman"/>
              </a:rPr>
              <a:t>données</a:t>
            </a:r>
            <a:r>
              <a:rPr sz="3400" b="1" spc="-60" dirty="0">
                <a:latin typeface="Times New Roman"/>
                <a:cs typeface="Times New Roman"/>
              </a:rPr>
              <a:t> </a:t>
            </a:r>
            <a:r>
              <a:rPr sz="3400" b="1" spc="-20" dirty="0">
                <a:latin typeface="Times New Roman"/>
                <a:cs typeface="Times New Roman"/>
              </a:rPr>
              <a:t>de</a:t>
            </a:r>
            <a:r>
              <a:rPr sz="3400" b="1" spc="-60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taille</a:t>
            </a:r>
            <a:r>
              <a:rPr sz="3400" b="1" spc="-60" dirty="0">
                <a:latin typeface="Times New Roman"/>
                <a:cs typeface="Times New Roman"/>
              </a:rPr>
              <a:t> </a:t>
            </a:r>
            <a:r>
              <a:rPr sz="3400" b="1" spc="-105" dirty="0">
                <a:latin typeface="Times New Roman"/>
                <a:cs typeface="Times New Roman"/>
              </a:rPr>
              <a:t>quelconque</a:t>
            </a:r>
            <a:r>
              <a:rPr sz="3400" b="1" spc="-60" dirty="0">
                <a:latin typeface="Times New Roman"/>
                <a:cs typeface="Times New Roman"/>
              </a:rPr>
              <a:t> </a:t>
            </a:r>
            <a:r>
              <a:rPr sz="3400" spc="330" dirty="0">
                <a:latin typeface="Times New Roman"/>
                <a:cs typeface="Times New Roman"/>
              </a:rPr>
              <a:t>M</a:t>
            </a:r>
            <a:r>
              <a:rPr sz="3400" spc="-55" dirty="0">
                <a:latin typeface="Times New Roman"/>
                <a:cs typeface="Times New Roman"/>
              </a:rPr>
              <a:t> </a:t>
            </a:r>
            <a:r>
              <a:rPr sz="3400" spc="40" dirty="0">
                <a:latin typeface="Times New Roman"/>
                <a:cs typeface="Times New Roman"/>
              </a:rPr>
              <a:t>en</a:t>
            </a:r>
            <a:endParaRPr sz="3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84"/>
              </a:spcBef>
            </a:pP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400" b="1" spc="-110" dirty="0">
                <a:latin typeface="Times New Roman"/>
                <a:cs typeface="Times New Roman"/>
              </a:rPr>
              <a:t>une</a:t>
            </a:r>
            <a:r>
              <a:rPr sz="3400" b="1" spc="-10" dirty="0">
                <a:latin typeface="Times New Roman"/>
                <a:cs typeface="Times New Roman"/>
              </a:rPr>
              <a:t> </a:t>
            </a:r>
            <a:r>
              <a:rPr sz="3400" b="1" spc="-110" dirty="0">
                <a:latin typeface="Times New Roman"/>
                <a:cs typeface="Times New Roman"/>
              </a:rPr>
              <a:t>empreinte</a:t>
            </a:r>
            <a:r>
              <a:rPr sz="3400" b="1" spc="-10" dirty="0">
                <a:latin typeface="Times New Roman"/>
                <a:cs typeface="Times New Roman"/>
              </a:rPr>
              <a:t> </a:t>
            </a:r>
            <a:r>
              <a:rPr sz="3400" b="1" spc="-20" dirty="0">
                <a:latin typeface="Times New Roman"/>
                <a:cs typeface="Times New Roman"/>
              </a:rPr>
              <a:t>de</a:t>
            </a:r>
            <a:r>
              <a:rPr sz="3400" b="1" spc="-10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taille</a:t>
            </a:r>
            <a:r>
              <a:rPr sz="3400" b="1" spc="-10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fixe</a:t>
            </a:r>
            <a:r>
              <a:rPr sz="3400" b="1" spc="-10" dirty="0">
                <a:latin typeface="Times New Roman"/>
                <a:cs typeface="Times New Roman"/>
              </a:rPr>
              <a:t> </a:t>
            </a:r>
            <a:r>
              <a:rPr sz="3400" spc="170" dirty="0">
                <a:latin typeface="Times New Roman"/>
                <a:cs typeface="Times New Roman"/>
              </a:rPr>
              <a:t>h=H(M),</a:t>
            </a:r>
            <a:r>
              <a:rPr sz="3400" spc="-1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appelée</a:t>
            </a:r>
            <a:r>
              <a:rPr sz="3400" spc="-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digest</a:t>
            </a:r>
            <a:r>
              <a:rPr sz="3400" spc="-10" dirty="0">
                <a:latin typeface="Times New Roman"/>
                <a:cs typeface="Times New Roman"/>
              </a:rPr>
              <a:t> </a:t>
            </a:r>
            <a:r>
              <a:rPr sz="3400" spc="165" dirty="0">
                <a:latin typeface="Times New Roman"/>
                <a:cs typeface="Times New Roman"/>
              </a:rPr>
              <a:t>ou</a:t>
            </a:r>
            <a:r>
              <a:rPr sz="3400" spc="-10" dirty="0">
                <a:latin typeface="Times New Roman"/>
                <a:cs typeface="Times New Roman"/>
              </a:rPr>
              <a:t> condensé.</a:t>
            </a:r>
            <a:endParaRPr sz="3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40"/>
              </a:spcBef>
            </a:pPr>
            <a:endParaRPr sz="3400">
              <a:latin typeface="Times New Roman"/>
              <a:cs typeface="Times New Roman"/>
            </a:endParaRPr>
          </a:p>
          <a:p>
            <a:pPr marL="2092325" marR="2916555">
              <a:lnSpc>
                <a:spcPct val="209000"/>
              </a:lnSpc>
            </a:pPr>
            <a:r>
              <a:rPr sz="3050" dirty="0">
                <a:latin typeface="Times New Roman"/>
                <a:cs typeface="Times New Roman"/>
              </a:rPr>
              <a:t>Difficile</a:t>
            </a:r>
            <a:r>
              <a:rPr sz="3050" spc="35" dirty="0">
                <a:latin typeface="Times New Roman"/>
                <a:cs typeface="Times New Roman"/>
              </a:rPr>
              <a:t> </a:t>
            </a:r>
            <a:r>
              <a:rPr sz="3050" spc="100" dirty="0">
                <a:latin typeface="Times New Roman"/>
                <a:cs typeface="Times New Roman"/>
              </a:rPr>
              <a:t>que</a:t>
            </a:r>
            <a:r>
              <a:rPr sz="3050" spc="40" dirty="0">
                <a:latin typeface="Times New Roman"/>
                <a:cs typeface="Times New Roman"/>
              </a:rPr>
              <a:t> </a:t>
            </a:r>
            <a:r>
              <a:rPr sz="3050" spc="75" dirty="0">
                <a:latin typeface="Times New Roman"/>
                <a:cs typeface="Times New Roman"/>
              </a:rPr>
              <a:t>deux</a:t>
            </a:r>
            <a:r>
              <a:rPr sz="3050" spc="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messages</a:t>
            </a:r>
            <a:r>
              <a:rPr sz="3050" spc="40" dirty="0">
                <a:latin typeface="Times New Roman"/>
                <a:cs typeface="Times New Roman"/>
              </a:rPr>
              <a:t> </a:t>
            </a:r>
            <a:r>
              <a:rPr sz="3050" spc="135" dirty="0">
                <a:latin typeface="Times New Roman"/>
                <a:cs typeface="Times New Roman"/>
              </a:rPr>
              <a:t>donnent</a:t>
            </a:r>
            <a:r>
              <a:rPr sz="3050" spc="4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le</a:t>
            </a:r>
            <a:r>
              <a:rPr sz="3050" spc="35" dirty="0">
                <a:latin typeface="Times New Roman"/>
                <a:cs typeface="Times New Roman"/>
              </a:rPr>
              <a:t> </a:t>
            </a:r>
            <a:r>
              <a:rPr sz="3050" spc="60" dirty="0">
                <a:latin typeface="Times New Roman"/>
                <a:cs typeface="Times New Roman"/>
              </a:rPr>
              <a:t>même</a:t>
            </a:r>
            <a:r>
              <a:rPr sz="3050" spc="40" dirty="0">
                <a:latin typeface="Times New Roman"/>
                <a:cs typeface="Times New Roman"/>
              </a:rPr>
              <a:t> condensé. </a:t>
            </a:r>
            <a:r>
              <a:rPr sz="3050" dirty="0">
                <a:latin typeface="Times New Roman"/>
                <a:cs typeface="Times New Roman"/>
              </a:rPr>
              <a:t>Difficile</a:t>
            </a:r>
            <a:r>
              <a:rPr sz="3050" spc="75" dirty="0">
                <a:latin typeface="Times New Roman"/>
                <a:cs typeface="Times New Roman"/>
              </a:rPr>
              <a:t> </a:t>
            </a:r>
            <a:r>
              <a:rPr sz="3050" spc="70" dirty="0">
                <a:latin typeface="Times New Roman"/>
                <a:cs typeface="Times New Roman"/>
              </a:rPr>
              <a:t>de </a:t>
            </a:r>
            <a:r>
              <a:rPr sz="3050" spc="80" dirty="0">
                <a:latin typeface="Times New Roman"/>
                <a:cs typeface="Times New Roman"/>
              </a:rPr>
              <a:t>retrouver</a:t>
            </a:r>
            <a:r>
              <a:rPr sz="3050" spc="7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le</a:t>
            </a:r>
            <a:r>
              <a:rPr sz="3050" spc="7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message</a:t>
            </a:r>
            <a:r>
              <a:rPr sz="3050" spc="7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d’origine</a:t>
            </a:r>
            <a:r>
              <a:rPr sz="3050" spc="70" dirty="0">
                <a:latin typeface="Times New Roman"/>
                <a:cs typeface="Times New Roman"/>
              </a:rPr>
              <a:t> </a:t>
            </a:r>
            <a:r>
              <a:rPr sz="3050" spc="175" dirty="0">
                <a:latin typeface="Times New Roman"/>
                <a:cs typeface="Times New Roman"/>
              </a:rPr>
              <a:t>à</a:t>
            </a:r>
            <a:r>
              <a:rPr sz="3050" spc="75" dirty="0">
                <a:latin typeface="Times New Roman"/>
                <a:cs typeface="Times New Roman"/>
              </a:rPr>
              <a:t> </a:t>
            </a:r>
            <a:r>
              <a:rPr sz="3050" spc="130" dirty="0">
                <a:latin typeface="Times New Roman"/>
                <a:cs typeface="Times New Roman"/>
              </a:rPr>
              <a:t>partir</a:t>
            </a:r>
            <a:r>
              <a:rPr sz="3050" spc="70" dirty="0">
                <a:latin typeface="Times New Roman"/>
                <a:cs typeface="Times New Roman"/>
              </a:rPr>
              <a:t> </a:t>
            </a:r>
            <a:r>
              <a:rPr sz="3050" spc="165" dirty="0">
                <a:latin typeface="Times New Roman"/>
                <a:cs typeface="Times New Roman"/>
              </a:rPr>
              <a:t>du</a:t>
            </a:r>
            <a:r>
              <a:rPr sz="3050" spc="75" dirty="0">
                <a:latin typeface="Times New Roman"/>
                <a:cs typeface="Times New Roman"/>
              </a:rPr>
              <a:t> </a:t>
            </a:r>
            <a:r>
              <a:rPr sz="3050" spc="40" dirty="0">
                <a:latin typeface="Times New Roman"/>
                <a:cs typeface="Times New Roman"/>
              </a:rPr>
              <a:t>condensé.</a:t>
            </a:r>
            <a:endParaRPr sz="3050">
              <a:latin typeface="Times New Roman"/>
              <a:cs typeface="Times New Roman"/>
            </a:endParaRPr>
          </a:p>
          <a:p>
            <a:pPr marL="2092325" marR="895985">
              <a:lnSpc>
                <a:spcPct val="209000"/>
              </a:lnSpc>
            </a:pPr>
            <a:r>
              <a:rPr sz="3050" dirty="0">
                <a:latin typeface="Times New Roman"/>
                <a:cs typeface="Times New Roman"/>
              </a:rPr>
              <a:t>Difficile</a:t>
            </a:r>
            <a:r>
              <a:rPr sz="3050" spc="15" dirty="0">
                <a:latin typeface="Times New Roman"/>
                <a:cs typeface="Times New Roman"/>
              </a:rPr>
              <a:t> </a:t>
            </a:r>
            <a:r>
              <a:rPr sz="3050" spc="70" dirty="0">
                <a:latin typeface="Times New Roman"/>
                <a:cs typeface="Times New Roman"/>
              </a:rPr>
              <a:t>de</a:t>
            </a:r>
            <a:r>
              <a:rPr sz="3050" spc="15" dirty="0">
                <a:latin typeface="Times New Roman"/>
                <a:cs typeface="Times New Roman"/>
              </a:rPr>
              <a:t> </a:t>
            </a:r>
            <a:r>
              <a:rPr sz="3050" spc="90" dirty="0">
                <a:latin typeface="Times New Roman"/>
                <a:cs typeface="Times New Roman"/>
              </a:rPr>
              <a:t>trouver</a:t>
            </a:r>
            <a:r>
              <a:rPr sz="3050" spc="15" dirty="0">
                <a:latin typeface="Times New Roman"/>
                <a:cs typeface="Times New Roman"/>
              </a:rPr>
              <a:t> </a:t>
            </a:r>
            <a:r>
              <a:rPr sz="3050" spc="165" dirty="0">
                <a:latin typeface="Times New Roman"/>
                <a:cs typeface="Times New Roman"/>
              </a:rPr>
              <a:t>un</a:t>
            </a:r>
            <a:r>
              <a:rPr sz="3050" spc="20" dirty="0">
                <a:latin typeface="Times New Roman"/>
                <a:cs typeface="Times New Roman"/>
              </a:rPr>
              <a:t> </a:t>
            </a:r>
            <a:r>
              <a:rPr sz="3050" spc="120" dirty="0">
                <a:latin typeface="Times New Roman"/>
                <a:cs typeface="Times New Roman"/>
              </a:rPr>
              <a:t>autre</a:t>
            </a:r>
            <a:r>
              <a:rPr sz="3050" spc="1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message</a:t>
            </a:r>
            <a:r>
              <a:rPr sz="3050" spc="1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avec</a:t>
            </a:r>
            <a:r>
              <a:rPr sz="3050" spc="2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le</a:t>
            </a:r>
            <a:r>
              <a:rPr sz="3050" spc="10" dirty="0">
                <a:latin typeface="Times New Roman"/>
                <a:cs typeface="Times New Roman"/>
              </a:rPr>
              <a:t> </a:t>
            </a:r>
            <a:r>
              <a:rPr sz="3050" spc="60" dirty="0">
                <a:latin typeface="Times New Roman"/>
                <a:cs typeface="Times New Roman"/>
              </a:rPr>
              <a:t>même</a:t>
            </a:r>
            <a:r>
              <a:rPr sz="3050" spc="20" dirty="0">
                <a:latin typeface="Times New Roman"/>
                <a:cs typeface="Times New Roman"/>
              </a:rPr>
              <a:t> </a:t>
            </a:r>
            <a:r>
              <a:rPr sz="3050" spc="70" dirty="0">
                <a:latin typeface="Times New Roman"/>
                <a:cs typeface="Times New Roman"/>
              </a:rPr>
              <a:t>condensé</a:t>
            </a:r>
            <a:r>
              <a:rPr sz="3050" spc="15" dirty="0">
                <a:latin typeface="Times New Roman"/>
                <a:cs typeface="Times New Roman"/>
              </a:rPr>
              <a:t> </a:t>
            </a:r>
            <a:r>
              <a:rPr sz="3050" spc="90" dirty="0">
                <a:latin typeface="Times New Roman"/>
                <a:cs typeface="Times New Roman"/>
              </a:rPr>
              <a:t>qu’un</a:t>
            </a:r>
            <a:r>
              <a:rPr sz="3050" spc="15" dirty="0">
                <a:latin typeface="Times New Roman"/>
                <a:cs typeface="Times New Roman"/>
              </a:rPr>
              <a:t> </a:t>
            </a:r>
            <a:r>
              <a:rPr sz="3050" spc="-10" dirty="0">
                <a:latin typeface="Times New Roman"/>
                <a:cs typeface="Times New Roman"/>
              </a:rPr>
              <a:t>message </a:t>
            </a:r>
            <a:r>
              <a:rPr sz="3050" spc="75" dirty="0">
                <a:latin typeface="Times New Roman"/>
                <a:cs typeface="Times New Roman"/>
              </a:rPr>
              <a:t>donné.</a:t>
            </a:r>
            <a:endParaRPr sz="305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8636" y="6112328"/>
            <a:ext cx="628649" cy="5810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8636" y="7082872"/>
            <a:ext cx="628649" cy="5810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58108" y="3725817"/>
            <a:ext cx="1594604" cy="283416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95" dirty="0"/>
              <a:t>18</a:t>
            </a:fld>
            <a:endParaRPr spc="-9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612" y="512176"/>
            <a:ext cx="904240" cy="1033780"/>
          </a:xfrm>
          <a:custGeom>
            <a:avLst/>
            <a:gdLst/>
            <a:ahLst/>
            <a:cxnLst/>
            <a:rect l="l" t="t" r="r" b="b"/>
            <a:pathLst>
              <a:path w="904239" h="1033780">
                <a:moveTo>
                  <a:pt x="0" y="1033158"/>
                </a:moveTo>
                <a:lnTo>
                  <a:pt x="0" y="0"/>
                </a:lnTo>
                <a:lnTo>
                  <a:pt x="904014" y="516579"/>
                </a:lnTo>
                <a:lnTo>
                  <a:pt x="0" y="1033158"/>
                </a:lnTo>
                <a:close/>
              </a:path>
            </a:pathLst>
          </a:custGeom>
          <a:solidFill>
            <a:srgbClr val="B40C1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5849805"/>
            <a:ext cx="18288000" cy="3072130"/>
            <a:chOff x="0" y="5849805"/>
            <a:chExt cx="18288000" cy="3072130"/>
          </a:xfrm>
        </p:grpSpPr>
        <p:sp>
          <p:nvSpPr>
            <p:cNvPr id="4" name="object 4"/>
            <p:cNvSpPr/>
            <p:nvPr/>
          </p:nvSpPr>
          <p:spPr>
            <a:xfrm>
              <a:off x="0" y="5859330"/>
              <a:ext cx="18288000" cy="3053080"/>
            </a:xfrm>
            <a:custGeom>
              <a:avLst/>
              <a:gdLst/>
              <a:ahLst/>
              <a:cxnLst/>
              <a:rect l="l" t="t" r="r" b="b"/>
              <a:pathLst>
                <a:path w="18288000" h="3053079">
                  <a:moveTo>
                    <a:pt x="18288000" y="3052803"/>
                  </a:moveTo>
                  <a:lnTo>
                    <a:pt x="0" y="3052803"/>
                  </a:lnTo>
                  <a:lnTo>
                    <a:pt x="0" y="0"/>
                  </a:lnTo>
                  <a:lnTo>
                    <a:pt x="18288000" y="0"/>
                  </a:lnTo>
                  <a:lnTo>
                    <a:pt x="18288000" y="3052803"/>
                  </a:lnTo>
                  <a:close/>
                </a:path>
              </a:pathLst>
            </a:custGeom>
            <a:solidFill>
              <a:srgbClr val="FFEBEC">
                <a:alpha val="7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5849810"/>
              <a:ext cx="18288000" cy="3072130"/>
            </a:xfrm>
            <a:custGeom>
              <a:avLst/>
              <a:gdLst/>
              <a:ahLst/>
              <a:cxnLst/>
              <a:rect l="l" t="t" r="r" b="b"/>
              <a:pathLst>
                <a:path w="18288000" h="3072129">
                  <a:moveTo>
                    <a:pt x="18287988" y="3052762"/>
                  </a:moveTo>
                  <a:lnTo>
                    <a:pt x="0" y="3052762"/>
                  </a:lnTo>
                  <a:lnTo>
                    <a:pt x="0" y="3071812"/>
                  </a:lnTo>
                  <a:lnTo>
                    <a:pt x="18287988" y="3071812"/>
                  </a:lnTo>
                  <a:lnTo>
                    <a:pt x="18287988" y="3052762"/>
                  </a:lnTo>
                  <a:close/>
                </a:path>
                <a:path w="18288000" h="3072129">
                  <a:moveTo>
                    <a:pt x="18287988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18287988" y="19050"/>
                  </a:lnTo>
                  <a:lnTo>
                    <a:pt x="18287988" y="0"/>
                  </a:lnTo>
                  <a:close/>
                </a:path>
              </a:pathLst>
            </a:custGeom>
            <a:solidFill>
              <a:srgbClr val="040505">
                <a:alpha val="7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1193332" y="5695870"/>
            <a:ext cx="16066135" cy="0"/>
          </a:xfrm>
          <a:custGeom>
            <a:avLst/>
            <a:gdLst/>
            <a:ahLst/>
            <a:cxnLst/>
            <a:rect l="l" t="t" r="r" b="b"/>
            <a:pathLst>
              <a:path w="16066135">
                <a:moveTo>
                  <a:pt x="0" y="0"/>
                </a:moveTo>
                <a:lnTo>
                  <a:pt x="16065965" y="0"/>
                </a:lnTo>
              </a:path>
            </a:pathLst>
          </a:custGeom>
          <a:ln w="38099">
            <a:solidFill>
              <a:srgbClr val="8B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568023" y="6314997"/>
            <a:ext cx="0" cy="1733550"/>
          </a:xfrm>
          <a:custGeom>
            <a:avLst/>
            <a:gdLst/>
            <a:ahLst/>
            <a:cxnLst/>
            <a:rect l="l" t="t" r="r" b="b"/>
            <a:pathLst>
              <a:path h="1733550">
                <a:moveTo>
                  <a:pt x="0" y="0"/>
                </a:moveTo>
                <a:lnTo>
                  <a:pt x="0" y="1732960"/>
                </a:lnTo>
              </a:path>
            </a:pathLst>
          </a:custGeom>
          <a:ln w="9524">
            <a:solidFill>
              <a:srgbClr val="04050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2384747" y="6314997"/>
            <a:ext cx="0" cy="1733550"/>
          </a:xfrm>
          <a:custGeom>
            <a:avLst/>
            <a:gdLst/>
            <a:ahLst/>
            <a:cxnLst/>
            <a:rect l="l" t="t" r="r" b="b"/>
            <a:pathLst>
              <a:path h="1733550">
                <a:moveTo>
                  <a:pt x="0" y="0"/>
                </a:moveTo>
                <a:lnTo>
                  <a:pt x="0" y="1732960"/>
                </a:lnTo>
              </a:path>
            </a:pathLst>
          </a:custGeom>
          <a:ln w="9524">
            <a:solidFill>
              <a:srgbClr val="04050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125195" y="4512038"/>
            <a:ext cx="624205" cy="386080"/>
          </a:xfrm>
          <a:custGeom>
            <a:avLst/>
            <a:gdLst/>
            <a:ahLst/>
            <a:cxnLst/>
            <a:rect l="l" t="t" r="r" b="b"/>
            <a:pathLst>
              <a:path w="624205" h="386079">
                <a:moveTo>
                  <a:pt x="623966" y="385632"/>
                </a:moveTo>
                <a:lnTo>
                  <a:pt x="5580" y="385632"/>
                </a:lnTo>
                <a:lnTo>
                  <a:pt x="0" y="380047"/>
                </a:lnTo>
                <a:lnTo>
                  <a:pt x="0" y="62191"/>
                </a:lnTo>
                <a:lnTo>
                  <a:pt x="4883" y="37982"/>
                </a:lnTo>
                <a:lnTo>
                  <a:pt x="18199" y="18214"/>
                </a:lnTo>
                <a:lnTo>
                  <a:pt x="37951" y="4886"/>
                </a:lnTo>
                <a:lnTo>
                  <a:pt x="62140" y="0"/>
                </a:lnTo>
                <a:lnTo>
                  <a:pt x="623966" y="0"/>
                </a:lnTo>
                <a:lnTo>
                  <a:pt x="623966" y="128542"/>
                </a:lnTo>
                <a:lnTo>
                  <a:pt x="179563" y="128542"/>
                </a:lnTo>
                <a:lnTo>
                  <a:pt x="154808" y="133544"/>
                </a:lnTo>
                <a:lnTo>
                  <a:pt x="134594" y="147184"/>
                </a:lnTo>
                <a:lnTo>
                  <a:pt x="120966" y="167415"/>
                </a:lnTo>
                <a:lnTo>
                  <a:pt x="115969" y="192188"/>
                </a:lnTo>
                <a:lnTo>
                  <a:pt x="120967" y="216963"/>
                </a:lnTo>
                <a:lnTo>
                  <a:pt x="134596" y="237196"/>
                </a:lnTo>
                <a:lnTo>
                  <a:pt x="154810" y="250837"/>
                </a:lnTo>
                <a:lnTo>
                  <a:pt x="179563" y="255839"/>
                </a:lnTo>
                <a:lnTo>
                  <a:pt x="623966" y="255839"/>
                </a:lnTo>
                <a:lnTo>
                  <a:pt x="623966" y="385632"/>
                </a:lnTo>
                <a:close/>
              </a:path>
              <a:path w="624205" h="386079">
                <a:moveTo>
                  <a:pt x="364118" y="255839"/>
                </a:moveTo>
                <a:lnTo>
                  <a:pt x="179563" y="255839"/>
                </a:lnTo>
                <a:lnTo>
                  <a:pt x="204315" y="250837"/>
                </a:lnTo>
                <a:lnTo>
                  <a:pt x="224529" y="237196"/>
                </a:lnTo>
                <a:lnTo>
                  <a:pt x="238158" y="216963"/>
                </a:lnTo>
                <a:lnTo>
                  <a:pt x="243156" y="192188"/>
                </a:lnTo>
                <a:lnTo>
                  <a:pt x="238159" y="167415"/>
                </a:lnTo>
                <a:lnTo>
                  <a:pt x="224531" y="147184"/>
                </a:lnTo>
                <a:lnTo>
                  <a:pt x="204317" y="133544"/>
                </a:lnTo>
                <a:lnTo>
                  <a:pt x="179563" y="128542"/>
                </a:lnTo>
                <a:lnTo>
                  <a:pt x="364118" y="128542"/>
                </a:lnTo>
                <a:lnTo>
                  <a:pt x="339363" y="133544"/>
                </a:lnTo>
                <a:lnTo>
                  <a:pt x="319147" y="147184"/>
                </a:lnTo>
                <a:lnTo>
                  <a:pt x="305517" y="167415"/>
                </a:lnTo>
                <a:lnTo>
                  <a:pt x="300519" y="192188"/>
                </a:lnTo>
                <a:lnTo>
                  <a:pt x="305518" y="216963"/>
                </a:lnTo>
                <a:lnTo>
                  <a:pt x="319149" y="237196"/>
                </a:lnTo>
                <a:lnTo>
                  <a:pt x="339365" y="250837"/>
                </a:lnTo>
                <a:lnTo>
                  <a:pt x="364118" y="255839"/>
                </a:lnTo>
                <a:close/>
              </a:path>
              <a:path w="624205" h="386079">
                <a:moveTo>
                  <a:pt x="623966" y="255839"/>
                </a:moveTo>
                <a:lnTo>
                  <a:pt x="364118" y="255839"/>
                </a:lnTo>
                <a:lnTo>
                  <a:pt x="388871" y="250837"/>
                </a:lnTo>
                <a:lnTo>
                  <a:pt x="409085" y="237196"/>
                </a:lnTo>
                <a:lnTo>
                  <a:pt x="422714" y="216963"/>
                </a:lnTo>
                <a:lnTo>
                  <a:pt x="427712" y="192188"/>
                </a:lnTo>
                <a:lnTo>
                  <a:pt x="422715" y="167415"/>
                </a:lnTo>
                <a:lnTo>
                  <a:pt x="409087" y="147184"/>
                </a:lnTo>
                <a:lnTo>
                  <a:pt x="388873" y="133544"/>
                </a:lnTo>
                <a:lnTo>
                  <a:pt x="364118" y="128542"/>
                </a:lnTo>
                <a:lnTo>
                  <a:pt x="623966" y="128542"/>
                </a:lnTo>
                <a:lnTo>
                  <a:pt x="623966" y="2558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125195" y="4059245"/>
            <a:ext cx="654685" cy="386080"/>
          </a:xfrm>
          <a:custGeom>
            <a:avLst/>
            <a:gdLst/>
            <a:ahLst/>
            <a:cxnLst/>
            <a:rect l="l" t="t" r="r" b="b"/>
            <a:pathLst>
              <a:path w="654685" h="386079">
                <a:moveTo>
                  <a:pt x="623966" y="385632"/>
                </a:moveTo>
                <a:lnTo>
                  <a:pt x="5580" y="385632"/>
                </a:lnTo>
                <a:lnTo>
                  <a:pt x="0" y="380047"/>
                </a:lnTo>
                <a:lnTo>
                  <a:pt x="0" y="62197"/>
                </a:lnTo>
                <a:lnTo>
                  <a:pt x="4883" y="37988"/>
                </a:lnTo>
                <a:lnTo>
                  <a:pt x="18199" y="18220"/>
                </a:lnTo>
                <a:lnTo>
                  <a:pt x="37951" y="4892"/>
                </a:lnTo>
                <a:lnTo>
                  <a:pt x="62168" y="0"/>
                </a:lnTo>
                <a:lnTo>
                  <a:pt x="654239" y="0"/>
                </a:lnTo>
                <a:lnTo>
                  <a:pt x="641158" y="26889"/>
                </a:lnTo>
                <a:lnTo>
                  <a:pt x="631680" y="54665"/>
                </a:lnTo>
                <a:lnTo>
                  <a:pt x="625913" y="83114"/>
                </a:lnTo>
                <a:lnTo>
                  <a:pt x="623966" y="112018"/>
                </a:lnTo>
                <a:lnTo>
                  <a:pt x="623966" y="128553"/>
                </a:lnTo>
                <a:lnTo>
                  <a:pt x="179563" y="128553"/>
                </a:lnTo>
                <a:lnTo>
                  <a:pt x="154810" y="133554"/>
                </a:lnTo>
                <a:lnTo>
                  <a:pt x="134596" y="147194"/>
                </a:lnTo>
                <a:lnTo>
                  <a:pt x="120967" y="167424"/>
                </a:lnTo>
                <a:lnTo>
                  <a:pt x="115969" y="192199"/>
                </a:lnTo>
                <a:lnTo>
                  <a:pt x="120966" y="216972"/>
                </a:lnTo>
                <a:lnTo>
                  <a:pt x="134594" y="237202"/>
                </a:lnTo>
                <a:lnTo>
                  <a:pt x="154808" y="250843"/>
                </a:lnTo>
                <a:lnTo>
                  <a:pt x="179563" y="255845"/>
                </a:lnTo>
                <a:lnTo>
                  <a:pt x="623966" y="255845"/>
                </a:lnTo>
                <a:lnTo>
                  <a:pt x="623966" y="385632"/>
                </a:lnTo>
                <a:close/>
              </a:path>
              <a:path w="654685" h="386079">
                <a:moveTo>
                  <a:pt x="364118" y="255845"/>
                </a:moveTo>
                <a:lnTo>
                  <a:pt x="179563" y="255845"/>
                </a:lnTo>
                <a:lnTo>
                  <a:pt x="204318" y="250843"/>
                </a:lnTo>
                <a:lnTo>
                  <a:pt x="224533" y="237202"/>
                </a:lnTo>
                <a:lnTo>
                  <a:pt x="238161" y="216972"/>
                </a:lnTo>
                <a:lnTo>
                  <a:pt x="243156" y="192199"/>
                </a:lnTo>
                <a:lnTo>
                  <a:pt x="238157" y="167424"/>
                </a:lnTo>
                <a:lnTo>
                  <a:pt x="224526" y="147194"/>
                </a:lnTo>
                <a:lnTo>
                  <a:pt x="204311" y="133554"/>
                </a:lnTo>
                <a:lnTo>
                  <a:pt x="179563" y="128553"/>
                </a:lnTo>
                <a:lnTo>
                  <a:pt x="364118" y="128553"/>
                </a:lnTo>
                <a:lnTo>
                  <a:pt x="339366" y="133554"/>
                </a:lnTo>
                <a:lnTo>
                  <a:pt x="319152" y="147194"/>
                </a:lnTo>
                <a:lnTo>
                  <a:pt x="305523" y="167424"/>
                </a:lnTo>
                <a:lnTo>
                  <a:pt x="300525" y="192199"/>
                </a:lnTo>
                <a:lnTo>
                  <a:pt x="305522" y="216972"/>
                </a:lnTo>
                <a:lnTo>
                  <a:pt x="319150" y="237202"/>
                </a:lnTo>
                <a:lnTo>
                  <a:pt x="339364" y="250843"/>
                </a:lnTo>
                <a:lnTo>
                  <a:pt x="364118" y="255845"/>
                </a:lnTo>
                <a:close/>
              </a:path>
              <a:path w="654685" h="386079">
                <a:moveTo>
                  <a:pt x="623966" y="255845"/>
                </a:moveTo>
                <a:lnTo>
                  <a:pt x="364118" y="255845"/>
                </a:lnTo>
                <a:lnTo>
                  <a:pt x="388871" y="250843"/>
                </a:lnTo>
                <a:lnTo>
                  <a:pt x="409085" y="237202"/>
                </a:lnTo>
                <a:lnTo>
                  <a:pt x="422714" y="216972"/>
                </a:lnTo>
                <a:lnTo>
                  <a:pt x="427712" y="192199"/>
                </a:lnTo>
                <a:lnTo>
                  <a:pt x="422712" y="167424"/>
                </a:lnTo>
                <a:lnTo>
                  <a:pt x="409082" y="147194"/>
                </a:lnTo>
                <a:lnTo>
                  <a:pt x="388867" y="133554"/>
                </a:lnTo>
                <a:lnTo>
                  <a:pt x="364118" y="128553"/>
                </a:lnTo>
                <a:lnTo>
                  <a:pt x="623966" y="128553"/>
                </a:lnTo>
                <a:lnTo>
                  <a:pt x="623966" y="2558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125192" y="3606469"/>
            <a:ext cx="1858010" cy="1753235"/>
          </a:xfrm>
          <a:custGeom>
            <a:avLst/>
            <a:gdLst/>
            <a:ahLst/>
            <a:cxnLst/>
            <a:rect l="l" t="t" r="r" b="b"/>
            <a:pathLst>
              <a:path w="1858010" h="1753235">
                <a:moveTo>
                  <a:pt x="1288122" y="62191"/>
                </a:moveTo>
                <a:lnTo>
                  <a:pt x="1283246" y="37985"/>
                </a:lnTo>
                <a:lnTo>
                  <a:pt x="1269923" y="18211"/>
                </a:lnTo>
                <a:lnTo>
                  <a:pt x="1250175" y="4889"/>
                </a:lnTo>
                <a:lnTo>
                  <a:pt x="1225981" y="0"/>
                </a:lnTo>
                <a:lnTo>
                  <a:pt x="427710" y="0"/>
                </a:lnTo>
                <a:lnTo>
                  <a:pt x="427710" y="192189"/>
                </a:lnTo>
                <a:lnTo>
                  <a:pt x="422706" y="216966"/>
                </a:lnTo>
                <a:lnTo>
                  <a:pt x="409079" y="237197"/>
                </a:lnTo>
                <a:lnTo>
                  <a:pt x="388874" y="250837"/>
                </a:lnTo>
                <a:lnTo>
                  <a:pt x="364121" y="255841"/>
                </a:lnTo>
                <a:lnTo>
                  <a:pt x="339356" y="250837"/>
                </a:lnTo>
                <a:lnTo>
                  <a:pt x="319151" y="237197"/>
                </a:lnTo>
                <a:lnTo>
                  <a:pt x="305523" y="216966"/>
                </a:lnTo>
                <a:lnTo>
                  <a:pt x="300520" y="192189"/>
                </a:lnTo>
                <a:lnTo>
                  <a:pt x="305523" y="167424"/>
                </a:lnTo>
                <a:lnTo>
                  <a:pt x="319151" y="147193"/>
                </a:lnTo>
                <a:lnTo>
                  <a:pt x="339369" y="133553"/>
                </a:lnTo>
                <a:lnTo>
                  <a:pt x="364121" y="128549"/>
                </a:lnTo>
                <a:lnTo>
                  <a:pt x="388861" y="133553"/>
                </a:lnTo>
                <a:lnTo>
                  <a:pt x="409079" y="147193"/>
                </a:lnTo>
                <a:lnTo>
                  <a:pt x="422706" y="167424"/>
                </a:lnTo>
                <a:lnTo>
                  <a:pt x="427710" y="192189"/>
                </a:lnTo>
                <a:lnTo>
                  <a:pt x="427710" y="0"/>
                </a:lnTo>
                <a:lnTo>
                  <a:pt x="243154" y="0"/>
                </a:lnTo>
                <a:lnTo>
                  <a:pt x="243154" y="192189"/>
                </a:lnTo>
                <a:lnTo>
                  <a:pt x="238163" y="216966"/>
                </a:lnTo>
                <a:lnTo>
                  <a:pt x="224536" y="237197"/>
                </a:lnTo>
                <a:lnTo>
                  <a:pt x="204317" y="250837"/>
                </a:lnTo>
                <a:lnTo>
                  <a:pt x="179565" y="255841"/>
                </a:lnTo>
                <a:lnTo>
                  <a:pt x="154800" y="250837"/>
                </a:lnTo>
                <a:lnTo>
                  <a:pt x="134594" y="237197"/>
                </a:lnTo>
                <a:lnTo>
                  <a:pt x="120967" y="216966"/>
                </a:lnTo>
                <a:lnTo>
                  <a:pt x="115963" y="192189"/>
                </a:lnTo>
                <a:lnTo>
                  <a:pt x="120967" y="167424"/>
                </a:lnTo>
                <a:lnTo>
                  <a:pt x="134594" y="147193"/>
                </a:lnTo>
                <a:lnTo>
                  <a:pt x="154813" y="133553"/>
                </a:lnTo>
                <a:lnTo>
                  <a:pt x="179565" y="128549"/>
                </a:lnTo>
                <a:lnTo>
                  <a:pt x="204304" y="133553"/>
                </a:lnTo>
                <a:lnTo>
                  <a:pt x="224523" y="147193"/>
                </a:lnTo>
                <a:lnTo>
                  <a:pt x="238150" y="167424"/>
                </a:lnTo>
                <a:lnTo>
                  <a:pt x="243154" y="192189"/>
                </a:lnTo>
                <a:lnTo>
                  <a:pt x="243154" y="0"/>
                </a:lnTo>
                <a:lnTo>
                  <a:pt x="62141" y="0"/>
                </a:lnTo>
                <a:lnTo>
                  <a:pt x="37947" y="4889"/>
                </a:lnTo>
                <a:lnTo>
                  <a:pt x="18199" y="18211"/>
                </a:lnTo>
                <a:lnTo>
                  <a:pt x="4876" y="37985"/>
                </a:lnTo>
                <a:lnTo>
                  <a:pt x="0" y="62191"/>
                </a:lnTo>
                <a:lnTo>
                  <a:pt x="0" y="380047"/>
                </a:lnTo>
                <a:lnTo>
                  <a:pt x="5575" y="385635"/>
                </a:lnTo>
                <a:lnTo>
                  <a:pt x="707478" y="385635"/>
                </a:lnTo>
                <a:lnTo>
                  <a:pt x="710463" y="382841"/>
                </a:lnTo>
                <a:lnTo>
                  <a:pt x="711987" y="381469"/>
                </a:lnTo>
                <a:lnTo>
                  <a:pt x="732447" y="364375"/>
                </a:lnTo>
                <a:lnTo>
                  <a:pt x="755027" y="348132"/>
                </a:lnTo>
                <a:lnTo>
                  <a:pt x="779665" y="332740"/>
                </a:lnTo>
                <a:lnTo>
                  <a:pt x="806335" y="318236"/>
                </a:lnTo>
                <a:lnTo>
                  <a:pt x="742543" y="318236"/>
                </a:lnTo>
                <a:lnTo>
                  <a:pt x="736968" y="312648"/>
                </a:lnTo>
                <a:lnTo>
                  <a:pt x="736968" y="255841"/>
                </a:lnTo>
                <a:lnTo>
                  <a:pt x="736968" y="128549"/>
                </a:lnTo>
                <a:lnTo>
                  <a:pt x="736968" y="94195"/>
                </a:lnTo>
                <a:lnTo>
                  <a:pt x="742543" y="88607"/>
                </a:lnTo>
                <a:lnTo>
                  <a:pt x="1210221" y="88607"/>
                </a:lnTo>
                <a:lnTo>
                  <a:pt x="1215809" y="94195"/>
                </a:lnTo>
                <a:lnTo>
                  <a:pt x="1215809" y="224866"/>
                </a:lnTo>
                <a:lnTo>
                  <a:pt x="1233754" y="224104"/>
                </a:lnTo>
                <a:lnTo>
                  <a:pt x="1251800" y="223570"/>
                </a:lnTo>
                <a:lnTo>
                  <a:pt x="1275981" y="223126"/>
                </a:lnTo>
                <a:lnTo>
                  <a:pt x="1288122" y="223126"/>
                </a:lnTo>
                <a:lnTo>
                  <a:pt x="1288122" y="88607"/>
                </a:lnTo>
                <a:lnTo>
                  <a:pt x="1288122" y="62191"/>
                </a:lnTo>
                <a:close/>
              </a:path>
              <a:path w="1858010" h="1753235">
                <a:moveTo>
                  <a:pt x="1857387" y="559409"/>
                </a:moveTo>
                <a:lnTo>
                  <a:pt x="1846605" y="508609"/>
                </a:lnTo>
                <a:lnTo>
                  <a:pt x="1800707" y="445109"/>
                </a:lnTo>
                <a:lnTo>
                  <a:pt x="1762493" y="414134"/>
                </a:lnTo>
                <a:lnTo>
                  <a:pt x="1762493" y="559409"/>
                </a:lnTo>
                <a:lnTo>
                  <a:pt x="1762480" y="559447"/>
                </a:lnTo>
                <a:lnTo>
                  <a:pt x="1762480" y="1511909"/>
                </a:lnTo>
                <a:lnTo>
                  <a:pt x="1753819" y="1537309"/>
                </a:lnTo>
                <a:lnTo>
                  <a:pt x="1729193" y="1562709"/>
                </a:lnTo>
                <a:lnTo>
                  <a:pt x="1690636" y="1588109"/>
                </a:lnTo>
                <a:lnTo>
                  <a:pt x="1640179" y="1600809"/>
                </a:lnTo>
                <a:lnTo>
                  <a:pt x="1598333" y="1613509"/>
                </a:lnTo>
                <a:lnTo>
                  <a:pt x="1552981" y="1626209"/>
                </a:lnTo>
                <a:lnTo>
                  <a:pt x="1504569" y="1638909"/>
                </a:lnTo>
                <a:lnTo>
                  <a:pt x="1453464" y="1651609"/>
                </a:lnTo>
                <a:lnTo>
                  <a:pt x="1400086" y="1651609"/>
                </a:lnTo>
                <a:lnTo>
                  <a:pt x="1344841" y="1664309"/>
                </a:lnTo>
                <a:lnTo>
                  <a:pt x="1231404" y="1664309"/>
                </a:lnTo>
                <a:lnTo>
                  <a:pt x="1176159" y="1651609"/>
                </a:lnTo>
                <a:lnTo>
                  <a:pt x="1122781" y="1651609"/>
                </a:lnTo>
                <a:lnTo>
                  <a:pt x="1071676" y="1638909"/>
                </a:lnTo>
                <a:lnTo>
                  <a:pt x="1023251" y="1626209"/>
                </a:lnTo>
                <a:lnTo>
                  <a:pt x="977912" y="1613509"/>
                </a:lnTo>
                <a:lnTo>
                  <a:pt x="936053" y="1600809"/>
                </a:lnTo>
                <a:lnTo>
                  <a:pt x="885609" y="1588109"/>
                </a:lnTo>
                <a:lnTo>
                  <a:pt x="847051" y="1562709"/>
                </a:lnTo>
                <a:lnTo>
                  <a:pt x="822426" y="1537309"/>
                </a:lnTo>
                <a:lnTo>
                  <a:pt x="813765" y="1511909"/>
                </a:lnTo>
                <a:lnTo>
                  <a:pt x="813765" y="1321409"/>
                </a:lnTo>
                <a:lnTo>
                  <a:pt x="833335" y="1334109"/>
                </a:lnTo>
                <a:lnTo>
                  <a:pt x="854621" y="1346809"/>
                </a:lnTo>
                <a:lnTo>
                  <a:pt x="902233" y="1372209"/>
                </a:lnTo>
                <a:lnTo>
                  <a:pt x="942682" y="1384909"/>
                </a:lnTo>
                <a:lnTo>
                  <a:pt x="985939" y="1397609"/>
                </a:lnTo>
                <a:lnTo>
                  <a:pt x="1031722" y="1410309"/>
                </a:lnTo>
                <a:lnTo>
                  <a:pt x="1079728" y="1410309"/>
                </a:lnTo>
                <a:lnTo>
                  <a:pt x="1129677" y="1423009"/>
                </a:lnTo>
                <a:lnTo>
                  <a:pt x="1181252" y="1423009"/>
                </a:lnTo>
                <a:lnTo>
                  <a:pt x="1234160" y="1435709"/>
                </a:lnTo>
                <a:lnTo>
                  <a:pt x="1342085" y="1435709"/>
                </a:lnTo>
                <a:lnTo>
                  <a:pt x="1394993" y="1423009"/>
                </a:lnTo>
                <a:lnTo>
                  <a:pt x="1446568" y="1423009"/>
                </a:lnTo>
                <a:lnTo>
                  <a:pt x="1496517" y="1410309"/>
                </a:lnTo>
                <a:lnTo>
                  <a:pt x="1544523" y="1410309"/>
                </a:lnTo>
                <a:lnTo>
                  <a:pt x="1590306" y="1397609"/>
                </a:lnTo>
                <a:lnTo>
                  <a:pt x="1633562" y="1384909"/>
                </a:lnTo>
                <a:lnTo>
                  <a:pt x="1674012" y="1372209"/>
                </a:lnTo>
                <a:lnTo>
                  <a:pt x="1721637" y="1346809"/>
                </a:lnTo>
                <a:lnTo>
                  <a:pt x="1762480" y="1321409"/>
                </a:lnTo>
                <a:lnTo>
                  <a:pt x="1762480" y="1181709"/>
                </a:lnTo>
                <a:lnTo>
                  <a:pt x="1753819" y="1207109"/>
                </a:lnTo>
                <a:lnTo>
                  <a:pt x="1729193" y="1232509"/>
                </a:lnTo>
                <a:lnTo>
                  <a:pt x="1690636" y="1257909"/>
                </a:lnTo>
                <a:lnTo>
                  <a:pt x="1640179" y="1283309"/>
                </a:lnTo>
                <a:lnTo>
                  <a:pt x="1598333" y="1296009"/>
                </a:lnTo>
                <a:lnTo>
                  <a:pt x="1552981" y="1308709"/>
                </a:lnTo>
                <a:lnTo>
                  <a:pt x="1504569" y="1321409"/>
                </a:lnTo>
                <a:lnTo>
                  <a:pt x="1453464" y="1321409"/>
                </a:lnTo>
                <a:lnTo>
                  <a:pt x="1400086" y="1334109"/>
                </a:lnTo>
                <a:lnTo>
                  <a:pt x="1176159" y="1334109"/>
                </a:lnTo>
                <a:lnTo>
                  <a:pt x="1122781" y="1321409"/>
                </a:lnTo>
                <a:lnTo>
                  <a:pt x="1071676" y="1321409"/>
                </a:lnTo>
                <a:lnTo>
                  <a:pt x="1023251" y="1308709"/>
                </a:lnTo>
                <a:lnTo>
                  <a:pt x="977912" y="1296009"/>
                </a:lnTo>
                <a:lnTo>
                  <a:pt x="936053" y="1283309"/>
                </a:lnTo>
                <a:lnTo>
                  <a:pt x="885609" y="1257909"/>
                </a:lnTo>
                <a:lnTo>
                  <a:pt x="847051" y="1232509"/>
                </a:lnTo>
                <a:lnTo>
                  <a:pt x="813765" y="1181709"/>
                </a:lnTo>
                <a:lnTo>
                  <a:pt x="813765" y="1029309"/>
                </a:lnTo>
                <a:lnTo>
                  <a:pt x="833335" y="1029309"/>
                </a:lnTo>
                <a:lnTo>
                  <a:pt x="854621" y="1042009"/>
                </a:lnTo>
                <a:lnTo>
                  <a:pt x="877595" y="1054709"/>
                </a:lnTo>
                <a:lnTo>
                  <a:pt x="942682" y="1080109"/>
                </a:lnTo>
                <a:lnTo>
                  <a:pt x="985939" y="1092809"/>
                </a:lnTo>
                <a:lnTo>
                  <a:pt x="1031722" y="1105509"/>
                </a:lnTo>
                <a:lnTo>
                  <a:pt x="1079728" y="1118209"/>
                </a:lnTo>
                <a:lnTo>
                  <a:pt x="1129677" y="1118209"/>
                </a:lnTo>
                <a:lnTo>
                  <a:pt x="1181252" y="1130909"/>
                </a:lnTo>
                <a:lnTo>
                  <a:pt x="1394993" y="1130909"/>
                </a:lnTo>
                <a:lnTo>
                  <a:pt x="1446568" y="1118209"/>
                </a:lnTo>
                <a:lnTo>
                  <a:pt x="1496517" y="1118209"/>
                </a:lnTo>
                <a:lnTo>
                  <a:pt x="1544523" y="1105509"/>
                </a:lnTo>
                <a:lnTo>
                  <a:pt x="1590306" y="1092809"/>
                </a:lnTo>
                <a:lnTo>
                  <a:pt x="1633562" y="1080109"/>
                </a:lnTo>
                <a:lnTo>
                  <a:pt x="1674012" y="1067409"/>
                </a:lnTo>
                <a:lnTo>
                  <a:pt x="1721637" y="1042009"/>
                </a:lnTo>
                <a:lnTo>
                  <a:pt x="1742909" y="1029309"/>
                </a:lnTo>
                <a:lnTo>
                  <a:pt x="1762480" y="1029309"/>
                </a:lnTo>
                <a:lnTo>
                  <a:pt x="1762480" y="876909"/>
                </a:lnTo>
                <a:lnTo>
                  <a:pt x="1753819" y="902309"/>
                </a:lnTo>
                <a:lnTo>
                  <a:pt x="1729193" y="927709"/>
                </a:lnTo>
                <a:lnTo>
                  <a:pt x="1690636" y="953109"/>
                </a:lnTo>
                <a:lnTo>
                  <a:pt x="1640179" y="978509"/>
                </a:lnTo>
                <a:lnTo>
                  <a:pt x="1598333" y="991209"/>
                </a:lnTo>
                <a:lnTo>
                  <a:pt x="1552981" y="1003909"/>
                </a:lnTo>
                <a:lnTo>
                  <a:pt x="1504569" y="1016609"/>
                </a:lnTo>
                <a:lnTo>
                  <a:pt x="1453464" y="1029309"/>
                </a:lnTo>
                <a:lnTo>
                  <a:pt x="1122781" y="1029309"/>
                </a:lnTo>
                <a:lnTo>
                  <a:pt x="1071676" y="1016609"/>
                </a:lnTo>
                <a:lnTo>
                  <a:pt x="1023251" y="1003909"/>
                </a:lnTo>
                <a:lnTo>
                  <a:pt x="977912" y="991209"/>
                </a:lnTo>
                <a:lnTo>
                  <a:pt x="936053" y="978509"/>
                </a:lnTo>
                <a:lnTo>
                  <a:pt x="885609" y="953109"/>
                </a:lnTo>
                <a:lnTo>
                  <a:pt x="847051" y="927709"/>
                </a:lnTo>
                <a:lnTo>
                  <a:pt x="813765" y="876909"/>
                </a:lnTo>
                <a:lnTo>
                  <a:pt x="813765" y="699109"/>
                </a:lnTo>
                <a:lnTo>
                  <a:pt x="833335" y="711809"/>
                </a:lnTo>
                <a:lnTo>
                  <a:pt x="854621" y="724509"/>
                </a:lnTo>
                <a:lnTo>
                  <a:pt x="877595" y="737209"/>
                </a:lnTo>
                <a:lnTo>
                  <a:pt x="902233" y="749909"/>
                </a:lnTo>
                <a:lnTo>
                  <a:pt x="942682" y="762609"/>
                </a:lnTo>
                <a:lnTo>
                  <a:pt x="985939" y="775309"/>
                </a:lnTo>
                <a:lnTo>
                  <a:pt x="1031722" y="775309"/>
                </a:lnTo>
                <a:lnTo>
                  <a:pt x="1079728" y="788009"/>
                </a:lnTo>
                <a:lnTo>
                  <a:pt x="1129677" y="800709"/>
                </a:lnTo>
                <a:lnTo>
                  <a:pt x="1446568" y="800709"/>
                </a:lnTo>
                <a:lnTo>
                  <a:pt x="1496517" y="788009"/>
                </a:lnTo>
                <a:lnTo>
                  <a:pt x="1544523" y="775309"/>
                </a:lnTo>
                <a:lnTo>
                  <a:pt x="1590306" y="775309"/>
                </a:lnTo>
                <a:lnTo>
                  <a:pt x="1633562" y="762609"/>
                </a:lnTo>
                <a:lnTo>
                  <a:pt x="1674012" y="749909"/>
                </a:lnTo>
                <a:lnTo>
                  <a:pt x="1721637" y="724509"/>
                </a:lnTo>
                <a:lnTo>
                  <a:pt x="1762480" y="699109"/>
                </a:lnTo>
                <a:lnTo>
                  <a:pt x="1762480" y="559447"/>
                </a:lnTo>
                <a:lnTo>
                  <a:pt x="1753831" y="584809"/>
                </a:lnTo>
                <a:lnTo>
                  <a:pt x="1729193" y="610209"/>
                </a:lnTo>
                <a:lnTo>
                  <a:pt x="1690636" y="635609"/>
                </a:lnTo>
                <a:lnTo>
                  <a:pt x="1640192" y="661009"/>
                </a:lnTo>
                <a:lnTo>
                  <a:pt x="1598333" y="673709"/>
                </a:lnTo>
                <a:lnTo>
                  <a:pt x="1552994" y="686409"/>
                </a:lnTo>
                <a:lnTo>
                  <a:pt x="1504569" y="686409"/>
                </a:lnTo>
                <a:lnTo>
                  <a:pt x="1453464" y="699109"/>
                </a:lnTo>
                <a:lnTo>
                  <a:pt x="1400086" y="699109"/>
                </a:lnTo>
                <a:lnTo>
                  <a:pt x="1344841" y="711809"/>
                </a:lnTo>
                <a:lnTo>
                  <a:pt x="1231404" y="711809"/>
                </a:lnTo>
                <a:lnTo>
                  <a:pt x="1176159" y="699109"/>
                </a:lnTo>
                <a:lnTo>
                  <a:pt x="1122781" y="699109"/>
                </a:lnTo>
                <a:lnTo>
                  <a:pt x="1071689" y="686409"/>
                </a:lnTo>
                <a:lnTo>
                  <a:pt x="1023264" y="686409"/>
                </a:lnTo>
                <a:lnTo>
                  <a:pt x="977925" y="673709"/>
                </a:lnTo>
                <a:lnTo>
                  <a:pt x="936066" y="661009"/>
                </a:lnTo>
                <a:lnTo>
                  <a:pt x="885609" y="635609"/>
                </a:lnTo>
                <a:lnTo>
                  <a:pt x="847051" y="610209"/>
                </a:lnTo>
                <a:lnTo>
                  <a:pt x="813765" y="559409"/>
                </a:lnTo>
                <a:lnTo>
                  <a:pt x="822426" y="534009"/>
                </a:lnTo>
                <a:lnTo>
                  <a:pt x="885609" y="483209"/>
                </a:lnTo>
                <a:lnTo>
                  <a:pt x="936066" y="457809"/>
                </a:lnTo>
                <a:lnTo>
                  <a:pt x="977925" y="445109"/>
                </a:lnTo>
                <a:lnTo>
                  <a:pt x="1023264" y="432409"/>
                </a:lnTo>
                <a:lnTo>
                  <a:pt x="1071689" y="419709"/>
                </a:lnTo>
                <a:lnTo>
                  <a:pt x="1122781" y="419709"/>
                </a:lnTo>
                <a:lnTo>
                  <a:pt x="1176159" y="407009"/>
                </a:lnTo>
                <a:lnTo>
                  <a:pt x="1400086" y="407009"/>
                </a:lnTo>
                <a:lnTo>
                  <a:pt x="1453464" y="419709"/>
                </a:lnTo>
                <a:lnTo>
                  <a:pt x="1504569" y="419709"/>
                </a:lnTo>
                <a:lnTo>
                  <a:pt x="1552994" y="432409"/>
                </a:lnTo>
                <a:lnTo>
                  <a:pt x="1598333" y="445109"/>
                </a:lnTo>
                <a:lnTo>
                  <a:pt x="1640192" y="457809"/>
                </a:lnTo>
                <a:lnTo>
                  <a:pt x="1690636" y="483209"/>
                </a:lnTo>
                <a:lnTo>
                  <a:pt x="1729193" y="508609"/>
                </a:lnTo>
                <a:lnTo>
                  <a:pt x="1762493" y="559409"/>
                </a:lnTo>
                <a:lnTo>
                  <a:pt x="1762493" y="414134"/>
                </a:lnTo>
                <a:lnTo>
                  <a:pt x="1745894" y="407009"/>
                </a:lnTo>
                <a:lnTo>
                  <a:pt x="1712036" y="394309"/>
                </a:lnTo>
                <a:lnTo>
                  <a:pt x="1674012" y="368909"/>
                </a:lnTo>
                <a:lnTo>
                  <a:pt x="1633562" y="356209"/>
                </a:lnTo>
                <a:lnTo>
                  <a:pt x="1590306" y="343509"/>
                </a:lnTo>
                <a:lnTo>
                  <a:pt x="1544523" y="330809"/>
                </a:lnTo>
                <a:lnTo>
                  <a:pt x="1496517" y="330809"/>
                </a:lnTo>
                <a:lnTo>
                  <a:pt x="1446568" y="318109"/>
                </a:lnTo>
                <a:lnTo>
                  <a:pt x="1129677" y="318109"/>
                </a:lnTo>
                <a:lnTo>
                  <a:pt x="1079728" y="330809"/>
                </a:lnTo>
                <a:lnTo>
                  <a:pt x="1031722" y="330809"/>
                </a:lnTo>
                <a:lnTo>
                  <a:pt x="985939" y="343509"/>
                </a:lnTo>
                <a:lnTo>
                  <a:pt x="942682" y="356209"/>
                </a:lnTo>
                <a:lnTo>
                  <a:pt x="902233" y="368909"/>
                </a:lnTo>
                <a:lnTo>
                  <a:pt x="864222" y="394309"/>
                </a:lnTo>
                <a:lnTo>
                  <a:pt x="830351" y="407009"/>
                </a:lnTo>
                <a:lnTo>
                  <a:pt x="775538" y="445109"/>
                </a:lnTo>
                <a:lnTo>
                  <a:pt x="746925" y="483209"/>
                </a:lnTo>
                <a:lnTo>
                  <a:pt x="721131" y="534009"/>
                </a:lnTo>
                <a:lnTo>
                  <a:pt x="718870" y="559409"/>
                </a:lnTo>
                <a:lnTo>
                  <a:pt x="718870" y="1511909"/>
                </a:lnTo>
                <a:lnTo>
                  <a:pt x="729640" y="1562709"/>
                </a:lnTo>
                <a:lnTo>
                  <a:pt x="775538" y="1626209"/>
                </a:lnTo>
                <a:lnTo>
                  <a:pt x="800760" y="1638909"/>
                </a:lnTo>
                <a:lnTo>
                  <a:pt x="830351" y="1664309"/>
                </a:lnTo>
                <a:lnTo>
                  <a:pt x="902233" y="1689709"/>
                </a:lnTo>
                <a:lnTo>
                  <a:pt x="942682" y="1702409"/>
                </a:lnTo>
                <a:lnTo>
                  <a:pt x="985939" y="1715109"/>
                </a:lnTo>
                <a:lnTo>
                  <a:pt x="1031722" y="1727809"/>
                </a:lnTo>
                <a:lnTo>
                  <a:pt x="1079728" y="1740509"/>
                </a:lnTo>
                <a:lnTo>
                  <a:pt x="1129677" y="1740509"/>
                </a:lnTo>
                <a:lnTo>
                  <a:pt x="1181252" y="1753209"/>
                </a:lnTo>
                <a:lnTo>
                  <a:pt x="1394993" y="1753209"/>
                </a:lnTo>
                <a:lnTo>
                  <a:pt x="1446568" y="1740509"/>
                </a:lnTo>
                <a:lnTo>
                  <a:pt x="1496517" y="1740509"/>
                </a:lnTo>
                <a:lnTo>
                  <a:pt x="1544523" y="1727809"/>
                </a:lnTo>
                <a:lnTo>
                  <a:pt x="1590306" y="1715109"/>
                </a:lnTo>
                <a:lnTo>
                  <a:pt x="1633562" y="1702409"/>
                </a:lnTo>
                <a:lnTo>
                  <a:pt x="1674012" y="1689709"/>
                </a:lnTo>
                <a:lnTo>
                  <a:pt x="1712023" y="1677009"/>
                </a:lnTo>
                <a:lnTo>
                  <a:pt x="1775485" y="1638909"/>
                </a:lnTo>
                <a:lnTo>
                  <a:pt x="1800707" y="1626209"/>
                </a:lnTo>
                <a:lnTo>
                  <a:pt x="1829320" y="1588109"/>
                </a:lnTo>
                <a:lnTo>
                  <a:pt x="1846605" y="1562709"/>
                </a:lnTo>
                <a:lnTo>
                  <a:pt x="1855114" y="1537309"/>
                </a:lnTo>
                <a:lnTo>
                  <a:pt x="1857387" y="1511909"/>
                </a:lnTo>
                <a:lnTo>
                  <a:pt x="1857387" y="5594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32615" y="3624598"/>
            <a:ext cx="1819274" cy="1743074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4729739" y="3544239"/>
            <a:ext cx="1055370" cy="1055370"/>
          </a:xfrm>
          <a:custGeom>
            <a:avLst/>
            <a:gdLst/>
            <a:ahLst/>
            <a:cxnLst/>
            <a:rect l="l" t="t" r="r" b="b"/>
            <a:pathLst>
              <a:path w="1055369" h="1055370">
                <a:moveTo>
                  <a:pt x="981900" y="527558"/>
                </a:moveTo>
                <a:lnTo>
                  <a:pt x="980236" y="494792"/>
                </a:lnTo>
                <a:lnTo>
                  <a:pt x="979538" y="481152"/>
                </a:lnTo>
                <a:lnTo>
                  <a:pt x="976617" y="461987"/>
                </a:lnTo>
                <a:lnTo>
                  <a:pt x="976541" y="461530"/>
                </a:lnTo>
                <a:lnTo>
                  <a:pt x="972642" y="436067"/>
                </a:lnTo>
                <a:lnTo>
                  <a:pt x="962063" y="394995"/>
                </a:lnTo>
                <a:lnTo>
                  <a:pt x="946124" y="350799"/>
                </a:lnTo>
                <a:lnTo>
                  <a:pt x="926973" y="311073"/>
                </a:lnTo>
                <a:lnTo>
                  <a:pt x="904189" y="273583"/>
                </a:lnTo>
                <a:lnTo>
                  <a:pt x="878014" y="238582"/>
                </a:lnTo>
                <a:lnTo>
                  <a:pt x="863574" y="222694"/>
                </a:lnTo>
                <a:lnTo>
                  <a:pt x="848664" y="206286"/>
                </a:lnTo>
                <a:lnTo>
                  <a:pt x="816381" y="176936"/>
                </a:lnTo>
                <a:lnTo>
                  <a:pt x="781392" y="150749"/>
                </a:lnTo>
                <a:lnTo>
                  <a:pt x="743927" y="127952"/>
                </a:lnTo>
                <a:lnTo>
                  <a:pt x="711288" y="112204"/>
                </a:lnTo>
                <a:lnTo>
                  <a:pt x="711288" y="530555"/>
                </a:lnTo>
                <a:lnTo>
                  <a:pt x="711288" y="777697"/>
                </a:lnTo>
                <a:lnTo>
                  <a:pt x="708482" y="791603"/>
                </a:lnTo>
                <a:lnTo>
                  <a:pt x="700811" y="802970"/>
                </a:lnTo>
                <a:lnTo>
                  <a:pt x="689457" y="810641"/>
                </a:lnTo>
                <a:lnTo>
                  <a:pt x="675551" y="813460"/>
                </a:lnTo>
                <a:lnTo>
                  <a:pt x="379526" y="813460"/>
                </a:lnTo>
                <a:lnTo>
                  <a:pt x="346595" y="791603"/>
                </a:lnTo>
                <a:lnTo>
                  <a:pt x="343763" y="530555"/>
                </a:lnTo>
                <a:lnTo>
                  <a:pt x="345097" y="520852"/>
                </a:lnTo>
                <a:lnTo>
                  <a:pt x="373684" y="494792"/>
                </a:lnTo>
                <a:lnTo>
                  <a:pt x="675551" y="494792"/>
                </a:lnTo>
                <a:lnTo>
                  <a:pt x="689457" y="497598"/>
                </a:lnTo>
                <a:lnTo>
                  <a:pt x="700824" y="505269"/>
                </a:lnTo>
                <a:lnTo>
                  <a:pt x="708482" y="516636"/>
                </a:lnTo>
                <a:lnTo>
                  <a:pt x="711288" y="530555"/>
                </a:lnTo>
                <a:lnTo>
                  <a:pt x="711288" y="112204"/>
                </a:lnTo>
                <a:lnTo>
                  <a:pt x="704227" y="108788"/>
                </a:lnTo>
                <a:lnTo>
                  <a:pt x="683209" y="101092"/>
                </a:lnTo>
                <a:lnTo>
                  <a:pt x="683209" y="378371"/>
                </a:lnTo>
                <a:lnTo>
                  <a:pt x="683209" y="387527"/>
                </a:lnTo>
                <a:lnTo>
                  <a:pt x="675754" y="394995"/>
                </a:lnTo>
                <a:lnTo>
                  <a:pt x="657390" y="394995"/>
                </a:lnTo>
                <a:lnTo>
                  <a:pt x="649947" y="387527"/>
                </a:lnTo>
                <a:lnTo>
                  <a:pt x="649947" y="378371"/>
                </a:lnTo>
                <a:lnTo>
                  <a:pt x="640308" y="330771"/>
                </a:lnTo>
                <a:lnTo>
                  <a:pt x="614045" y="291858"/>
                </a:lnTo>
                <a:lnTo>
                  <a:pt x="575132" y="265595"/>
                </a:lnTo>
                <a:lnTo>
                  <a:pt x="527532" y="255955"/>
                </a:lnTo>
                <a:lnTo>
                  <a:pt x="479945" y="265595"/>
                </a:lnTo>
                <a:lnTo>
                  <a:pt x="441032" y="291858"/>
                </a:lnTo>
                <a:lnTo>
                  <a:pt x="414769" y="330771"/>
                </a:lnTo>
                <a:lnTo>
                  <a:pt x="405130" y="378371"/>
                </a:lnTo>
                <a:lnTo>
                  <a:pt x="405130" y="461530"/>
                </a:lnTo>
                <a:lnTo>
                  <a:pt x="376961" y="461530"/>
                </a:lnTo>
                <a:lnTo>
                  <a:pt x="374396" y="461708"/>
                </a:lnTo>
                <a:lnTo>
                  <a:pt x="371868" y="461987"/>
                </a:lnTo>
                <a:lnTo>
                  <a:pt x="371868" y="378371"/>
                </a:lnTo>
                <a:lnTo>
                  <a:pt x="379818" y="329222"/>
                </a:lnTo>
                <a:lnTo>
                  <a:pt x="401942" y="286486"/>
                </a:lnTo>
                <a:lnTo>
                  <a:pt x="435660" y="252768"/>
                </a:lnTo>
                <a:lnTo>
                  <a:pt x="478383" y="230644"/>
                </a:lnTo>
                <a:lnTo>
                  <a:pt x="527532" y="222694"/>
                </a:lnTo>
                <a:lnTo>
                  <a:pt x="576681" y="230644"/>
                </a:lnTo>
                <a:lnTo>
                  <a:pt x="619417" y="252768"/>
                </a:lnTo>
                <a:lnTo>
                  <a:pt x="653135" y="286486"/>
                </a:lnTo>
                <a:lnTo>
                  <a:pt x="675259" y="329222"/>
                </a:lnTo>
                <a:lnTo>
                  <a:pt x="683209" y="378371"/>
                </a:lnTo>
                <a:lnTo>
                  <a:pt x="683209" y="101092"/>
                </a:lnTo>
                <a:lnTo>
                  <a:pt x="662495" y="93484"/>
                </a:lnTo>
                <a:lnTo>
                  <a:pt x="618985" y="82257"/>
                </a:lnTo>
                <a:lnTo>
                  <a:pt x="573925" y="75361"/>
                </a:lnTo>
                <a:lnTo>
                  <a:pt x="527532" y="73012"/>
                </a:lnTo>
                <a:lnTo>
                  <a:pt x="481152" y="75361"/>
                </a:lnTo>
                <a:lnTo>
                  <a:pt x="436079" y="82257"/>
                </a:lnTo>
                <a:lnTo>
                  <a:pt x="392582" y="93484"/>
                </a:lnTo>
                <a:lnTo>
                  <a:pt x="350850" y="108788"/>
                </a:lnTo>
                <a:lnTo>
                  <a:pt x="311150" y="127952"/>
                </a:lnTo>
                <a:lnTo>
                  <a:pt x="273685" y="150749"/>
                </a:lnTo>
                <a:lnTo>
                  <a:pt x="238696" y="176936"/>
                </a:lnTo>
                <a:lnTo>
                  <a:pt x="206413" y="206286"/>
                </a:lnTo>
                <a:lnTo>
                  <a:pt x="177063" y="238582"/>
                </a:lnTo>
                <a:lnTo>
                  <a:pt x="150888" y="273583"/>
                </a:lnTo>
                <a:lnTo>
                  <a:pt x="128104" y="311073"/>
                </a:lnTo>
                <a:lnTo>
                  <a:pt x="108940" y="350799"/>
                </a:lnTo>
                <a:lnTo>
                  <a:pt x="93637" y="392531"/>
                </a:lnTo>
                <a:lnTo>
                  <a:pt x="82423" y="436067"/>
                </a:lnTo>
                <a:lnTo>
                  <a:pt x="75526" y="481152"/>
                </a:lnTo>
                <a:lnTo>
                  <a:pt x="73177" y="527558"/>
                </a:lnTo>
                <a:lnTo>
                  <a:pt x="75526" y="573951"/>
                </a:lnTo>
                <a:lnTo>
                  <a:pt x="82423" y="619010"/>
                </a:lnTo>
                <a:lnTo>
                  <a:pt x="93637" y="662520"/>
                </a:lnTo>
                <a:lnTo>
                  <a:pt x="108940" y="704253"/>
                </a:lnTo>
                <a:lnTo>
                  <a:pt x="128104" y="743966"/>
                </a:lnTo>
                <a:lnTo>
                  <a:pt x="150888" y="781431"/>
                </a:lnTo>
                <a:lnTo>
                  <a:pt x="177063" y="816419"/>
                </a:lnTo>
                <a:lnTo>
                  <a:pt x="206413" y="848702"/>
                </a:lnTo>
                <a:lnTo>
                  <a:pt x="238696" y="878039"/>
                </a:lnTo>
                <a:lnTo>
                  <a:pt x="273685" y="904227"/>
                </a:lnTo>
                <a:lnTo>
                  <a:pt x="311150" y="927011"/>
                </a:lnTo>
                <a:lnTo>
                  <a:pt x="350850" y="946175"/>
                </a:lnTo>
                <a:lnTo>
                  <a:pt x="392582" y="961478"/>
                </a:lnTo>
                <a:lnTo>
                  <a:pt x="436079" y="972693"/>
                </a:lnTo>
                <a:lnTo>
                  <a:pt x="481152" y="979589"/>
                </a:lnTo>
                <a:lnTo>
                  <a:pt x="527532" y="981938"/>
                </a:lnTo>
                <a:lnTo>
                  <a:pt x="573925" y="979589"/>
                </a:lnTo>
                <a:lnTo>
                  <a:pt x="618998" y="972693"/>
                </a:lnTo>
                <a:lnTo>
                  <a:pt x="662508" y="961478"/>
                </a:lnTo>
                <a:lnTo>
                  <a:pt x="704227" y="946175"/>
                </a:lnTo>
                <a:lnTo>
                  <a:pt x="743940" y="927011"/>
                </a:lnTo>
                <a:lnTo>
                  <a:pt x="781405" y="904227"/>
                </a:lnTo>
                <a:lnTo>
                  <a:pt x="816394" y="878039"/>
                </a:lnTo>
                <a:lnTo>
                  <a:pt x="848677" y="848702"/>
                </a:lnTo>
                <a:lnTo>
                  <a:pt x="878014" y="816419"/>
                </a:lnTo>
                <a:lnTo>
                  <a:pt x="904201" y="781431"/>
                </a:lnTo>
                <a:lnTo>
                  <a:pt x="926985" y="743966"/>
                </a:lnTo>
                <a:lnTo>
                  <a:pt x="946137" y="704253"/>
                </a:lnTo>
                <a:lnTo>
                  <a:pt x="961440" y="662520"/>
                </a:lnTo>
                <a:lnTo>
                  <a:pt x="972654" y="619010"/>
                </a:lnTo>
                <a:lnTo>
                  <a:pt x="979551" y="573951"/>
                </a:lnTo>
                <a:lnTo>
                  <a:pt x="981900" y="527558"/>
                </a:lnTo>
                <a:close/>
              </a:path>
              <a:path w="1055369" h="1055370">
                <a:moveTo>
                  <a:pt x="1055077" y="527558"/>
                </a:moveTo>
                <a:lnTo>
                  <a:pt x="1052906" y="479602"/>
                </a:lnTo>
                <a:lnTo>
                  <a:pt x="1046556" y="432841"/>
                </a:lnTo>
                <a:lnTo>
                  <a:pt x="1036193" y="387464"/>
                </a:lnTo>
                <a:lnTo>
                  <a:pt x="1022019" y="343662"/>
                </a:lnTo>
                <a:lnTo>
                  <a:pt x="1021816" y="343192"/>
                </a:lnTo>
                <a:lnTo>
                  <a:pt x="1021816" y="527558"/>
                </a:lnTo>
                <a:lnTo>
                  <a:pt x="1019543" y="575094"/>
                </a:lnTo>
                <a:lnTo>
                  <a:pt x="1019479" y="575500"/>
                </a:lnTo>
                <a:lnTo>
                  <a:pt x="1012888" y="621360"/>
                </a:lnTo>
                <a:lnTo>
                  <a:pt x="1002030" y="666153"/>
                </a:lnTo>
                <a:lnTo>
                  <a:pt x="987209" y="709282"/>
                </a:lnTo>
                <a:lnTo>
                  <a:pt x="968616" y="750506"/>
                </a:lnTo>
                <a:lnTo>
                  <a:pt x="946467" y="789635"/>
                </a:lnTo>
                <a:lnTo>
                  <a:pt x="920965" y="826452"/>
                </a:lnTo>
                <a:lnTo>
                  <a:pt x="892314" y="860767"/>
                </a:lnTo>
                <a:lnTo>
                  <a:pt x="860742" y="892340"/>
                </a:lnTo>
                <a:lnTo>
                  <a:pt x="826427" y="920991"/>
                </a:lnTo>
                <a:lnTo>
                  <a:pt x="789609" y="946492"/>
                </a:lnTo>
                <a:lnTo>
                  <a:pt x="750481" y="968654"/>
                </a:lnTo>
                <a:lnTo>
                  <a:pt x="709256" y="987247"/>
                </a:lnTo>
                <a:lnTo>
                  <a:pt x="666140" y="1002068"/>
                </a:lnTo>
                <a:lnTo>
                  <a:pt x="621347" y="1012926"/>
                </a:lnTo>
                <a:lnTo>
                  <a:pt x="575068" y="1019581"/>
                </a:lnTo>
                <a:lnTo>
                  <a:pt x="527532" y="1021854"/>
                </a:lnTo>
                <a:lnTo>
                  <a:pt x="480009" y="1019581"/>
                </a:lnTo>
                <a:lnTo>
                  <a:pt x="433730" y="1012926"/>
                </a:lnTo>
                <a:lnTo>
                  <a:pt x="388937" y="1002068"/>
                </a:lnTo>
                <a:lnTo>
                  <a:pt x="345808" y="987247"/>
                </a:lnTo>
                <a:lnTo>
                  <a:pt x="304584" y="968654"/>
                </a:lnTo>
                <a:lnTo>
                  <a:pt x="265455" y="946492"/>
                </a:lnTo>
                <a:lnTo>
                  <a:pt x="228638" y="920991"/>
                </a:lnTo>
                <a:lnTo>
                  <a:pt x="194335" y="892340"/>
                </a:lnTo>
                <a:lnTo>
                  <a:pt x="162750" y="860767"/>
                </a:lnTo>
                <a:lnTo>
                  <a:pt x="134112" y="826452"/>
                </a:lnTo>
                <a:lnTo>
                  <a:pt x="108610" y="789635"/>
                </a:lnTo>
                <a:lnTo>
                  <a:pt x="86461" y="750506"/>
                </a:lnTo>
                <a:lnTo>
                  <a:pt x="67868" y="709282"/>
                </a:lnTo>
                <a:lnTo>
                  <a:pt x="53035" y="666153"/>
                </a:lnTo>
                <a:lnTo>
                  <a:pt x="42189" y="621360"/>
                </a:lnTo>
                <a:lnTo>
                  <a:pt x="35534" y="575094"/>
                </a:lnTo>
                <a:lnTo>
                  <a:pt x="33261" y="527558"/>
                </a:lnTo>
                <a:lnTo>
                  <a:pt x="35534" y="480021"/>
                </a:lnTo>
                <a:lnTo>
                  <a:pt x="35598" y="479602"/>
                </a:lnTo>
                <a:lnTo>
                  <a:pt x="42189" y="433743"/>
                </a:lnTo>
                <a:lnTo>
                  <a:pt x="53047" y="388950"/>
                </a:lnTo>
                <a:lnTo>
                  <a:pt x="67868" y="345833"/>
                </a:lnTo>
                <a:lnTo>
                  <a:pt x="86461" y="304596"/>
                </a:lnTo>
                <a:lnTo>
                  <a:pt x="108610" y="265468"/>
                </a:lnTo>
                <a:lnTo>
                  <a:pt x="134112" y="228650"/>
                </a:lnTo>
                <a:lnTo>
                  <a:pt x="162763" y="194335"/>
                </a:lnTo>
                <a:lnTo>
                  <a:pt x="194335" y="162763"/>
                </a:lnTo>
                <a:lnTo>
                  <a:pt x="228650" y="134112"/>
                </a:lnTo>
                <a:lnTo>
                  <a:pt x="265468" y="108610"/>
                </a:lnTo>
                <a:lnTo>
                  <a:pt x="304596" y="86448"/>
                </a:lnTo>
                <a:lnTo>
                  <a:pt x="345821" y="67856"/>
                </a:lnTo>
                <a:lnTo>
                  <a:pt x="388937" y="53035"/>
                </a:lnTo>
                <a:lnTo>
                  <a:pt x="433730" y="42189"/>
                </a:lnTo>
                <a:lnTo>
                  <a:pt x="480009" y="35521"/>
                </a:lnTo>
                <a:lnTo>
                  <a:pt x="527532" y="33261"/>
                </a:lnTo>
                <a:lnTo>
                  <a:pt x="575068" y="35521"/>
                </a:lnTo>
                <a:lnTo>
                  <a:pt x="621334" y="42189"/>
                </a:lnTo>
                <a:lnTo>
                  <a:pt x="666140" y="53035"/>
                </a:lnTo>
                <a:lnTo>
                  <a:pt x="709256" y="67856"/>
                </a:lnTo>
                <a:lnTo>
                  <a:pt x="750481" y="86448"/>
                </a:lnTo>
                <a:lnTo>
                  <a:pt x="789609" y="108610"/>
                </a:lnTo>
                <a:lnTo>
                  <a:pt x="826427" y="134112"/>
                </a:lnTo>
                <a:lnTo>
                  <a:pt x="860729" y="162763"/>
                </a:lnTo>
                <a:lnTo>
                  <a:pt x="892314" y="194335"/>
                </a:lnTo>
                <a:lnTo>
                  <a:pt x="920953" y="228650"/>
                </a:lnTo>
                <a:lnTo>
                  <a:pt x="946454" y="265468"/>
                </a:lnTo>
                <a:lnTo>
                  <a:pt x="968616" y="304596"/>
                </a:lnTo>
                <a:lnTo>
                  <a:pt x="987209" y="345833"/>
                </a:lnTo>
                <a:lnTo>
                  <a:pt x="1002030" y="388950"/>
                </a:lnTo>
                <a:lnTo>
                  <a:pt x="1012875" y="433743"/>
                </a:lnTo>
                <a:lnTo>
                  <a:pt x="1019543" y="480021"/>
                </a:lnTo>
                <a:lnTo>
                  <a:pt x="1021816" y="527558"/>
                </a:lnTo>
                <a:lnTo>
                  <a:pt x="1021816" y="343192"/>
                </a:lnTo>
                <a:lnTo>
                  <a:pt x="1004201" y="301599"/>
                </a:lnTo>
                <a:lnTo>
                  <a:pt x="982941" y="261493"/>
                </a:lnTo>
                <a:lnTo>
                  <a:pt x="958430" y="223507"/>
                </a:lnTo>
                <a:lnTo>
                  <a:pt x="930846" y="187845"/>
                </a:lnTo>
                <a:lnTo>
                  <a:pt x="900379" y="154686"/>
                </a:lnTo>
                <a:lnTo>
                  <a:pt x="867232" y="124218"/>
                </a:lnTo>
                <a:lnTo>
                  <a:pt x="831570" y="96634"/>
                </a:lnTo>
                <a:lnTo>
                  <a:pt x="793584" y="72123"/>
                </a:lnTo>
                <a:lnTo>
                  <a:pt x="753478" y="50863"/>
                </a:lnTo>
                <a:lnTo>
                  <a:pt x="711911" y="33261"/>
                </a:lnTo>
                <a:lnTo>
                  <a:pt x="667613" y="18872"/>
                </a:lnTo>
                <a:lnTo>
                  <a:pt x="622236" y="8509"/>
                </a:lnTo>
                <a:lnTo>
                  <a:pt x="575487" y="2159"/>
                </a:lnTo>
                <a:lnTo>
                  <a:pt x="527532" y="0"/>
                </a:lnTo>
                <a:lnTo>
                  <a:pt x="479590" y="2159"/>
                </a:lnTo>
                <a:lnTo>
                  <a:pt x="432841" y="8509"/>
                </a:lnTo>
                <a:lnTo>
                  <a:pt x="387464" y="18872"/>
                </a:lnTo>
                <a:lnTo>
                  <a:pt x="343662" y="33058"/>
                </a:lnTo>
                <a:lnTo>
                  <a:pt x="301599" y="50863"/>
                </a:lnTo>
                <a:lnTo>
                  <a:pt x="261493" y="72123"/>
                </a:lnTo>
                <a:lnTo>
                  <a:pt x="223507" y="96634"/>
                </a:lnTo>
                <a:lnTo>
                  <a:pt x="187845" y="124218"/>
                </a:lnTo>
                <a:lnTo>
                  <a:pt x="154698" y="154686"/>
                </a:lnTo>
                <a:lnTo>
                  <a:pt x="124231" y="187845"/>
                </a:lnTo>
                <a:lnTo>
                  <a:pt x="96647" y="223507"/>
                </a:lnTo>
                <a:lnTo>
                  <a:pt x="72136" y="261493"/>
                </a:lnTo>
                <a:lnTo>
                  <a:pt x="50876" y="301599"/>
                </a:lnTo>
                <a:lnTo>
                  <a:pt x="33058" y="343662"/>
                </a:lnTo>
                <a:lnTo>
                  <a:pt x="18884" y="387464"/>
                </a:lnTo>
                <a:lnTo>
                  <a:pt x="8521" y="432841"/>
                </a:lnTo>
                <a:lnTo>
                  <a:pt x="2159" y="479602"/>
                </a:lnTo>
                <a:lnTo>
                  <a:pt x="2146" y="480021"/>
                </a:lnTo>
                <a:lnTo>
                  <a:pt x="0" y="527558"/>
                </a:lnTo>
                <a:lnTo>
                  <a:pt x="2159" y="575500"/>
                </a:lnTo>
                <a:lnTo>
                  <a:pt x="8521" y="622261"/>
                </a:lnTo>
                <a:lnTo>
                  <a:pt x="18884" y="667639"/>
                </a:lnTo>
                <a:lnTo>
                  <a:pt x="33058" y="711441"/>
                </a:lnTo>
                <a:lnTo>
                  <a:pt x="50876" y="753503"/>
                </a:lnTo>
                <a:lnTo>
                  <a:pt x="72136" y="793610"/>
                </a:lnTo>
                <a:lnTo>
                  <a:pt x="96647" y="831596"/>
                </a:lnTo>
                <a:lnTo>
                  <a:pt x="124231" y="867257"/>
                </a:lnTo>
                <a:lnTo>
                  <a:pt x="154698" y="900417"/>
                </a:lnTo>
                <a:lnTo>
                  <a:pt x="187845" y="930884"/>
                </a:lnTo>
                <a:lnTo>
                  <a:pt x="223507" y="958469"/>
                </a:lnTo>
                <a:lnTo>
                  <a:pt x="261493" y="982980"/>
                </a:lnTo>
                <a:lnTo>
                  <a:pt x="301599" y="1004239"/>
                </a:lnTo>
                <a:lnTo>
                  <a:pt x="343662" y="1022057"/>
                </a:lnTo>
                <a:lnTo>
                  <a:pt x="387464" y="1036231"/>
                </a:lnTo>
                <a:lnTo>
                  <a:pt x="432841" y="1046594"/>
                </a:lnTo>
                <a:lnTo>
                  <a:pt x="479590" y="1052957"/>
                </a:lnTo>
                <a:lnTo>
                  <a:pt x="527532" y="1055116"/>
                </a:lnTo>
                <a:lnTo>
                  <a:pt x="575487" y="1052957"/>
                </a:lnTo>
                <a:lnTo>
                  <a:pt x="622236" y="1046594"/>
                </a:lnTo>
                <a:lnTo>
                  <a:pt x="667613" y="1036231"/>
                </a:lnTo>
                <a:lnTo>
                  <a:pt x="711428" y="1022057"/>
                </a:lnTo>
                <a:lnTo>
                  <a:pt x="753478" y="1004239"/>
                </a:lnTo>
                <a:lnTo>
                  <a:pt x="793584" y="982980"/>
                </a:lnTo>
                <a:lnTo>
                  <a:pt x="831570" y="958469"/>
                </a:lnTo>
                <a:lnTo>
                  <a:pt x="867232" y="930884"/>
                </a:lnTo>
                <a:lnTo>
                  <a:pt x="900391" y="900417"/>
                </a:lnTo>
                <a:lnTo>
                  <a:pt x="930846" y="867257"/>
                </a:lnTo>
                <a:lnTo>
                  <a:pt x="958430" y="831596"/>
                </a:lnTo>
                <a:lnTo>
                  <a:pt x="982941" y="793610"/>
                </a:lnTo>
                <a:lnTo>
                  <a:pt x="1004201" y="753503"/>
                </a:lnTo>
                <a:lnTo>
                  <a:pt x="1022019" y="711441"/>
                </a:lnTo>
                <a:lnTo>
                  <a:pt x="1036193" y="667639"/>
                </a:lnTo>
                <a:lnTo>
                  <a:pt x="1046556" y="622261"/>
                </a:lnTo>
                <a:lnTo>
                  <a:pt x="1052906" y="575500"/>
                </a:lnTo>
                <a:lnTo>
                  <a:pt x="1052931" y="575094"/>
                </a:lnTo>
                <a:lnTo>
                  <a:pt x="1055077" y="5275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4209523" y="4720932"/>
            <a:ext cx="2095500" cy="645160"/>
          </a:xfrm>
          <a:custGeom>
            <a:avLst/>
            <a:gdLst/>
            <a:ahLst/>
            <a:cxnLst/>
            <a:rect l="l" t="t" r="r" b="b"/>
            <a:pathLst>
              <a:path w="2095500" h="645160">
                <a:moveTo>
                  <a:pt x="515569" y="313461"/>
                </a:moveTo>
                <a:lnTo>
                  <a:pt x="508127" y="306019"/>
                </a:lnTo>
                <a:lnTo>
                  <a:pt x="498932" y="306019"/>
                </a:lnTo>
                <a:lnTo>
                  <a:pt x="379869" y="306019"/>
                </a:lnTo>
                <a:lnTo>
                  <a:pt x="464121" y="221818"/>
                </a:lnTo>
                <a:lnTo>
                  <a:pt x="467779" y="216319"/>
                </a:lnTo>
                <a:lnTo>
                  <a:pt x="468998" y="210058"/>
                </a:lnTo>
                <a:lnTo>
                  <a:pt x="467779" y="203809"/>
                </a:lnTo>
                <a:lnTo>
                  <a:pt x="464121" y="198297"/>
                </a:lnTo>
                <a:lnTo>
                  <a:pt x="458622" y="194640"/>
                </a:lnTo>
                <a:lnTo>
                  <a:pt x="452374" y="193421"/>
                </a:lnTo>
                <a:lnTo>
                  <a:pt x="446112" y="194640"/>
                </a:lnTo>
                <a:lnTo>
                  <a:pt x="440613" y="198297"/>
                </a:lnTo>
                <a:lnTo>
                  <a:pt x="356412" y="282435"/>
                </a:lnTo>
                <a:lnTo>
                  <a:pt x="356412" y="154127"/>
                </a:lnTo>
                <a:lnTo>
                  <a:pt x="348970" y="146697"/>
                </a:lnTo>
                <a:lnTo>
                  <a:pt x="330581" y="146697"/>
                </a:lnTo>
                <a:lnTo>
                  <a:pt x="323151" y="154127"/>
                </a:lnTo>
                <a:lnTo>
                  <a:pt x="323151" y="282613"/>
                </a:lnTo>
                <a:lnTo>
                  <a:pt x="238798" y="198297"/>
                </a:lnTo>
                <a:lnTo>
                  <a:pt x="233286" y="194665"/>
                </a:lnTo>
                <a:lnTo>
                  <a:pt x="227025" y="193446"/>
                </a:lnTo>
                <a:lnTo>
                  <a:pt x="220764" y="194665"/>
                </a:lnTo>
                <a:lnTo>
                  <a:pt x="215265" y="198323"/>
                </a:lnTo>
                <a:lnTo>
                  <a:pt x="211607" y="203835"/>
                </a:lnTo>
                <a:lnTo>
                  <a:pt x="210400" y="210096"/>
                </a:lnTo>
                <a:lnTo>
                  <a:pt x="211620" y="216344"/>
                </a:lnTo>
                <a:lnTo>
                  <a:pt x="215277" y="221856"/>
                </a:lnTo>
                <a:lnTo>
                  <a:pt x="299529" y="306044"/>
                </a:lnTo>
                <a:lnTo>
                  <a:pt x="171259" y="306044"/>
                </a:lnTo>
                <a:lnTo>
                  <a:pt x="163817" y="313474"/>
                </a:lnTo>
                <a:lnTo>
                  <a:pt x="163817" y="331876"/>
                </a:lnTo>
                <a:lnTo>
                  <a:pt x="171259" y="339305"/>
                </a:lnTo>
                <a:lnTo>
                  <a:pt x="299529" y="339305"/>
                </a:lnTo>
                <a:lnTo>
                  <a:pt x="215265" y="423506"/>
                </a:lnTo>
                <a:lnTo>
                  <a:pt x="211607" y="429018"/>
                </a:lnTo>
                <a:lnTo>
                  <a:pt x="210375" y="435267"/>
                </a:lnTo>
                <a:lnTo>
                  <a:pt x="211594" y="441528"/>
                </a:lnTo>
                <a:lnTo>
                  <a:pt x="215239" y="447040"/>
                </a:lnTo>
                <a:lnTo>
                  <a:pt x="218490" y="450291"/>
                </a:lnTo>
                <a:lnTo>
                  <a:pt x="222758" y="451916"/>
                </a:lnTo>
                <a:lnTo>
                  <a:pt x="231279" y="451916"/>
                </a:lnTo>
                <a:lnTo>
                  <a:pt x="235534" y="450291"/>
                </a:lnTo>
                <a:lnTo>
                  <a:pt x="323126" y="362750"/>
                </a:lnTo>
                <a:lnTo>
                  <a:pt x="323126" y="491058"/>
                </a:lnTo>
                <a:lnTo>
                  <a:pt x="330568" y="498487"/>
                </a:lnTo>
                <a:lnTo>
                  <a:pt x="348957" y="498487"/>
                </a:lnTo>
                <a:lnTo>
                  <a:pt x="356387" y="491058"/>
                </a:lnTo>
                <a:lnTo>
                  <a:pt x="356387" y="362902"/>
                </a:lnTo>
                <a:lnTo>
                  <a:pt x="443839" y="450291"/>
                </a:lnTo>
                <a:lnTo>
                  <a:pt x="448094" y="451916"/>
                </a:lnTo>
                <a:lnTo>
                  <a:pt x="456603" y="451916"/>
                </a:lnTo>
                <a:lnTo>
                  <a:pt x="460870" y="450291"/>
                </a:lnTo>
                <a:lnTo>
                  <a:pt x="464108" y="447040"/>
                </a:lnTo>
                <a:lnTo>
                  <a:pt x="467766" y="441540"/>
                </a:lnTo>
                <a:lnTo>
                  <a:pt x="468985" y="435292"/>
                </a:lnTo>
                <a:lnTo>
                  <a:pt x="467766" y="429031"/>
                </a:lnTo>
                <a:lnTo>
                  <a:pt x="464108" y="423532"/>
                </a:lnTo>
                <a:lnTo>
                  <a:pt x="379857" y="339293"/>
                </a:lnTo>
                <a:lnTo>
                  <a:pt x="508127" y="339293"/>
                </a:lnTo>
                <a:lnTo>
                  <a:pt x="515569" y="331851"/>
                </a:lnTo>
                <a:lnTo>
                  <a:pt x="515569" y="313461"/>
                </a:lnTo>
                <a:close/>
              </a:path>
              <a:path w="2095500" h="645160">
                <a:moveTo>
                  <a:pt x="986383" y="313486"/>
                </a:moveTo>
                <a:lnTo>
                  <a:pt x="978941" y="306019"/>
                </a:lnTo>
                <a:lnTo>
                  <a:pt x="969759" y="306019"/>
                </a:lnTo>
                <a:lnTo>
                  <a:pt x="850760" y="306019"/>
                </a:lnTo>
                <a:lnTo>
                  <a:pt x="934961" y="221818"/>
                </a:lnTo>
                <a:lnTo>
                  <a:pt x="938618" y="216319"/>
                </a:lnTo>
                <a:lnTo>
                  <a:pt x="939838" y="210058"/>
                </a:lnTo>
                <a:lnTo>
                  <a:pt x="938618" y="203809"/>
                </a:lnTo>
                <a:lnTo>
                  <a:pt x="934961" y="198297"/>
                </a:lnTo>
                <a:lnTo>
                  <a:pt x="929462" y="194640"/>
                </a:lnTo>
                <a:lnTo>
                  <a:pt x="923201" y="193421"/>
                </a:lnTo>
                <a:lnTo>
                  <a:pt x="916952" y="194640"/>
                </a:lnTo>
                <a:lnTo>
                  <a:pt x="911453" y="198297"/>
                </a:lnTo>
                <a:lnTo>
                  <a:pt x="827239" y="282511"/>
                </a:lnTo>
                <a:lnTo>
                  <a:pt x="827239" y="154127"/>
                </a:lnTo>
                <a:lnTo>
                  <a:pt x="819810" y="146697"/>
                </a:lnTo>
                <a:lnTo>
                  <a:pt x="801420" y="146697"/>
                </a:lnTo>
                <a:lnTo>
                  <a:pt x="793978" y="154127"/>
                </a:lnTo>
                <a:lnTo>
                  <a:pt x="793978" y="282524"/>
                </a:lnTo>
                <a:lnTo>
                  <a:pt x="709777" y="198323"/>
                </a:lnTo>
                <a:lnTo>
                  <a:pt x="704278" y="194665"/>
                </a:lnTo>
                <a:lnTo>
                  <a:pt x="698017" y="193433"/>
                </a:lnTo>
                <a:lnTo>
                  <a:pt x="691769" y="194665"/>
                </a:lnTo>
                <a:lnTo>
                  <a:pt x="686269" y="198323"/>
                </a:lnTo>
                <a:lnTo>
                  <a:pt x="682612" y="203822"/>
                </a:lnTo>
                <a:lnTo>
                  <a:pt x="681393" y="210070"/>
                </a:lnTo>
                <a:lnTo>
                  <a:pt x="682612" y="216331"/>
                </a:lnTo>
                <a:lnTo>
                  <a:pt x="686269" y="221830"/>
                </a:lnTo>
                <a:lnTo>
                  <a:pt x="770470" y="306044"/>
                </a:lnTo>
                <a:lnTo>
                  <a:pt x="642073" y="306044"/>
                </a:lnTo>
                <a:lnTo>
                  <a:pt x="634644" y="313474"/>
                </a:lnTo>
                <a:lnTo>
                  <a:pt x="634644" y="331876"/>
                </a:lnTo>
                <a:lnTo>
                  <a:pt x="642073" y="339305"/>
                </a:lnTo>
                <a:lnTo>
                  <a:pt x="770445" y="339305"/>
                </a:lnTo>
                <a:lnTo>
                  <a:pt x="686244" y="423506"/>
                </a:lnTo>
                <a:lnTo>
                  <a:pt x="682586" y="429018"/>
                </a:lnTo>
                <a:lnTo>
                  <a:pt x="681367" y="435267"/>
                </a:lnTo>
                <a:lnTo>
                  <a:pt x="682586" y="441528"/>
                </a:lnTo>
                <a:lnTo>
                  <a:pt x="686244" y="447027"/>
                </a:lnTo>
                <a:lnTo>
                  <a:pt x="689495" y="450265"/>
                </a:lnTo>
                <a:lnTo>
                  <a:pt x="693750" y="451904"/>
                </a:lnTo>
                <a:lnTo>
                  <a:pt x="702259" y="451904"/>
                </a:lnTo>
                <a:lnTo>
                  <a:pt x="706526" y="450265"/>
                </a:lnTo>
                <a:lnTo>
                  <a:pt x="793965" y="362826"/>
                </a:lnTo>
                <a:lnTo>
                  <a:pt x="793965" y="491032"/>
                </a:lnTo>
                <a:lnTo>
                  <a:pt x="801395" y="498475"/>
                </a:lnTo>
                <a:lnTo>
                  <a:pt x="819797" y="498475"/>
                </a:lnTo>
                <a:lnTo>
                  <a:pt x="827227" y="491032"/>
                </a:lnTo>
                <a:lnTo>
                  <a:pt x="827227" y="362839"/>
                </a:lnTo>
                <a:lnTo>
                  <a:pt x="914679" y="450291"/>
                </a:lnTo>
                <a:lnTo>
                  <a:pt x="918933" y="451916"/>
                </a:lnTo>
                <a:lnTo>
                  <a:pt x="927442" y="451916"/>
                </a:lnTo>
                <a:lnTo>
                  <a:pt x="931710" y="450291"/>
                </a:lnTo>
                <a:lnTo>
                  <a:pt x="934948" y="447040"/>
                </a:lnTo>
                <a:lnTo>
                  <a:pt x="938606" y="441540"/>
                </a:lnTo>
                <a:lnTo>
                  <a:pt x="939825" y="435292"/>
                </a:lnTo>
                <a:lnTo>
                  <a:pt x="938606" y="429031"/>
                </a:lnTo>
                <a:lnTo>
                  <a:pt x="934948" y="423532"/>
                </a:lnTo>
                <a:lnTo>
                  <a:pt x="850747" y="339318"/>
                </a:lnTo>
                <a:lnTo>
                  <a:pt x="978954" y="339318"/>
                </a:lnTo>
                <a:lnTo>
                  <a:pt x="986383" y="331889"/>
                </a:lnTo>
                <a:lnTo>
                  <a:pt x="986383" y="313486"/>
                </a:lnTo>
                <a:close/>
              </a:path>
              <a:path w="2095500" h="645160">
                <a:moveTo>
                  <a:pt x="1460868" y="313448"/>
                </a:moveTo>
                <a:lnTo>
                  <a:pt x="1453438" y="306019"/>
                </a:lnTo>
                <a:lnTo>
                  <a:pt x="1444244" y="306019"/>
                </a:lnTo>
                <a:lnTo>
                  <a:pt x="1325079" y="306019"/>
                </a:lnTo>
                <a:lnTo>
                  <a:pt x="1409280" y="221818"/>
                </a:lnTo>
                <a:lnTo>
                  <a:pt x="1412938" y="216319"/>
                </a:lnTo>
                <a:lnTo>
                  <a:pt x="1414157" y="210058"/>
                </a:lnTo>
                <a:lnTo>
                  <a:pt x="1412938" y="203809"/>
                </a:lnTo>
                <a:lnTo>
                  <a:pt x="1409280" y="198297"/>
                </a:lnTo>
                <a:lnTo>
                  <a:pt x="1403781" y="194640"/>
                </a:lnTo>
                <a:lnTo>
                  <a:pt x="1397520" y="193421"/>
                </a:lnTo>
                <a:lnTo>
                  <a:pt x="1391272" y="194640"/>
                </a:lnTo>
                <a:lnTo>
                  <a:pt x="1385760" y="198297"/>
                </a:lnTo>
                <a:lnTo>
                  <a:pt x="1301559" y="282511"/>
                </a:lnTo>
                <a:lnTo>
                  <a:pt x="1301559" y="154127"/>
                </a:lnTo>
                <a:lnTo>
                  <a:pt x="1294130" y="146697"/>
                </a:lnTo>
                <a:lnTo>
                  <a:pt x="1275727" y="146697"/>
                </a:lnTo>
                <a:lnTo>
                  <a:pt x="1268298" y="154127"/>
                </a:lnTo>
                <a:lnTo>
                  <a:pt x="1268298" y="282511"/>
                </a:lnTo>
                <a:lnTo>
                  <a:pt x="1184097" y="198297"/>
                </a:lnTo>
                <a:lnTo>
                  <a:pt x="1178598" y="194640"/>
                </a:lnTo>
                <a:lnTo>
                  <a:pt x="1172337" y="193421"/>
                </a:lnTo>
                <a:lnTo>
                  <a:pt x="1166088" y="194640"/>
                </a:lnTo>
                <a:lnTo>
                  <a:pt x="1160576" y="198297"/>
                </a:lnTo>
                <a:lnTo>
                  <a:pt x="1156919" y="203809"/>
                </a:lnTo>
                <a:lnTo>
                  <a:pt x="1155700" y="210058"/>
                </a:lnTo>
                <a:lnTo>
                  <a:pt x="1156919" y="216319"/>
                </a:lnTo>
                <a:lnTo>
                  <a:pt x="1160576" y="221818"/>
                </a:lnTo>
                <a:lnTo>
                  <a:pt x="1244777" y="306019"/>
                </a:lnTo>
                <a:lnTo>
                  <a:pt x="1116558" y="306019"/>
                </a:lnTo>
                <a:lnTo>
                  <a:pt x="1109129" y="313461"/>
                </a:lnTo>
                <a:lnTo>
                  <a:pt x="1109129" y="331851"/>
                </a:lnTo>
                <a:lnTo>
                  <a:pt x="1116558" y="339293"/>
                </a:lnTo>
                <a:lnTo>
                  <a:pt x="1244765" y="339293"/>
                </a:lnTo>
                <a:lnTo>
                  <a:pt x="1160564" y="423494"/>
                </a:lnTo>
                <a:lnTo>
                  <a:pt x="1156906" y="428993"/>
                </a:lnTo>
                <a:lnTo>
                  <a:pt x="1155687" y="435254"/>
                </a:lnTo>
                <a:lnTo>
                  <a:pt x="1156906" y="441502"/>
                </a:lnTo>
                <a:lnTo>
                  <a:pt x="1160564" y="447014"/>
                </a:lnTo>
                <a:lnTo>
                  <a:pt x="1163802" y="450253"/>
                </a:lnTo>
                <a:lnTo>
                  <a:pt x="1168069" y="451891"/>
                </a:lnTo>
                <a:lnTo>
                  <a:pt x="1176578" y="451891"/>
                </a:lnTo>
                <a:lnTo>
                  <a:pt x="1180833" y="450253"/>
                </a:lnTo>
                <a:lnTo>
                  <a:pt x="1268285" y="362800"/>
                </a:lnTo>
                <a:lnTo>
                  <a:pt x="1268285" y="491007"/>
                </a:lnTo>
                <a:lnTo>
                  <a:pt x="1275715" y="498436"/>
                </a:lnTo>
                <a:lnTo>
                  <a:pt x="1294104" y="498436"/>
                </a:lnTo>
                <a:lnTo>
                  <a:pt x="1301546" y="491007"/>
                </a:lnTo>
                <a:lnTo>
                  <a:pt x="1301546" y="362788"/>
                </a:lnTo>
                <a:lnTo>
                  <a:pt x="1388986" y="450240"/>
                </a:lnTo>
                <a:lnTo>
                  <a:pt x="1393253" y="451866"/>
                </a:lnTo>
                <a:lnTo>
                  <a:pt x="1401762" y="451866"/>
                </a:lnTo>
                <a:lnTo>
                  <a:pt x="1406017" y="450240"/>
                </a:lnTo>
                <a:lnTo>
                  <a:pt x="1409268" y="447001"/>
                </a:lnTo>
                <a:lnTo>
                  <a:pt x="1412925" y="441490"/>
                </a:lnTo>
                <a:lnTo>
                  <a:pt x="1414145" y="435241"/>
                </a:lnTo>
                <a:lnTo>
                  <a:pt x="1412925" y="428980"/>
                </a:lnTo>
                <a:lnTo>
                  <a:pt x="1409268" y="423481"/>
                </a:lnTo>
                <a:lnTo>
                  <a:pt x="1325054" y="339267"/>
                </a:lnTo>
                <a:lnTo>
                  <a:pt x="1453438" y="339267"/>
                </a:lnTo>
                <a:lnTo>
                  <a:pt x="1460868" y="331838"/>
                </a:lnTo>
                <a:lnTo>
                  <a:pt x="1460868" y="313448"/>
                </a:lnTo>
                <a:close/>
              </a:path>
              <a:path w="2095500" h="645160">
                <a:moveTo>
                  <a:pt x="1931670" y="313461"/>
                </a:moveTo>
                <a:lnTo>
                  <a:pt x="1924253" y="306019"/>
                </a:lnTo>
                <a:lnTo>
                  <a:pt x="1915058" y="306019"/>
                </a:lnTo>
                <a:lnTo>
                  <a:pt x="1796046" y="306019"/>
                </a:lnTo>
                <a:lnTo>
                  <a:pt x="1880247" y="221818"/>
                </a:lnTo>
                <a:lnTo>
                  <a:pt x="1883905" y="216319"/>
                </a:lnTo>
                <a:lnTo>
                  <a:pt x="1885124" y="210058"/>
                </a:lnTo>
                <a:lnTo>
                  <a:pt x="1883905" y="203809"/>
                </a:lnTo>
                <a:lnTo>
                  <a:pt x="1880247" y="198297"/>
                </a:lnTo>
                <a:lnTo>
                  <a:pt x="1874748" y="194640"/>
                </a:lnTo>
                <a:lnTo>
                  <a:pt x="1868487" y="193421"/>
                </a:lnTo>
                <a:lnTo>
                  <a:pt x="1862239" y="194640"/>
                </a:lnTo>
                <a:lnTo>
                  <a:pt x="1856740" y="198297"/>
                </a:lnTo>
                <a:lnTo>
                  <a:pt x="1772386" y="282651"/>
                </a:lnTo>
                <a:lnTo>
                  <a:pt x="1772386" y="154127"/>
                </a:lnTo>
                <a:lnTo>
                  <a:pt x="1764944" y="146697"/>
                </a:lnTo>
                <a:lnTo>
                  <a:pt x="1746554" y="146697"/>
                </a:lnTo>
                <a:lnTo>
                  <a:pt x="1739125" y="154127"/>
                </a:lnTo>
                <a:lnTo>
                  <a:pt x="1739125" y="282511"/>
                </a:lnTo>
                <a:lnTo>
                  <a:pt x="1654924" y="198297"/>
                </a:lnTo>
                <a:lnTo>
                  <a:pt x="1649412" y="194640"/>
                </a:lnTo>
                <a:lnTo>
                  <a:pt x="1643164" y="193421"/>
                </a:lnTo>
                <a:lnTo>
                  <a:pt x="1636903" y="194640"/>
                </a:lnTo>
                <a:lnTo>
                  <a:pt x="1631403" y="198297"/>
                </a:lnTo>
                <a:lnTo>
                  <a:pt x="1627746" y="203809"/>
                </a:lnTo>
                <a:lnTo>
                  <a:pt x="1626527" y="210058"/>
                </a:lnTo>
                <a:lnTo>
                  <a:pt x="1627746" y="216319"/>
                </a:lnTo>
                <a:lnTo>
                  <a:pt x="1631403" y="221818"/>
                </a:lnTo>
                <a:lnTo>
                  <a:pt x="1715604" y="306019"/>
                </a:lnTo>
                <a:lnTo>
                  <a:pt x="1587385" y="306019"/>
                </a:lnTo>
                <a:lnTo>
                  <a:pt x="1579943" y="313461"/>
                </a:lnTo>
                <a:lnTo>
                  <a:pt x="1579943" y="331851"/>
                </a:lnTo>
                <a:lnTo>
                  <a:pt x="1587385" y="339293"/>
                </a:lnTo>
                <a:lnTo>
                  <a:pt x="1715592" y="339293"/>
                </a:lnTo>
                <a:lnTo>
                  <a:pt x="1631391" y="423494"/>
                </a:lnTo>
                <a:lnTo>
                  <a:pt x="1627733" y="428993"/>
                </a:lnTo>
                <a:lnTo>
                  <a:pt x="1626514" y="435254"/>
                </a:lnTo>
                <a:lnTo>
                  <a:pt x="1627733" y="441502"/>
                </a:lnTo>
                <a:lnTo>
                  <a:pt x="1631391" y="447014"/>
                </a:lnTo>
                <a:lnTo>
                  <a:pt x="1634629" y="450253"/>
                </a:lnTo>
                <a:lnTo>
                  <a:pt x="1638884" y="451891"/>
                </a:lnTo>
                <a:lnTo>
                  <a:pt x="1647405" y="451891"/>
                </a:lnTo>
                <a:lnTo>
                  <a:pt x="1651660" y="450253"/>
                </a:lnTo>
                <a:lnTo>
                  <a:pt x="1739099" y="362800"/>
                </a:lnTo>
                <a:lnTo>
                  <a:pt x="1739099" y="491020"/>
                </a:lnTo>
                <a:lnTo>
                  <a:pt x="1746542" y="498449"/>
                </a:lnTo>
                <a:lnTo>
                  <a:pt x="1764931" y="498449"/>
                </a:lnTo>
                <a:lnTo>
                  <a:pt x="1772361" y="491020"/>
                </a:lnTo>
                <a:lnTo>
                  <a:pt x="1772361" y="362635"/>
                </a:lnTo>
                <a:lnTo>
                  <a:pt x="1859965" y="450253"/>
                </a:lnTo>
                <a:lnTo>
                  <a:pt x="1864220" y="451891"/>
                </a:lnTo>
                <a:lnTo>
                  <a:pt x="1872729" y="451891"/>
                </a:lnTo>
                <a:lnTo>
                  <a:pt x="1876996" y="450253"/>
                </a:lnTo>
                <a:lnTo>
                  <a:pt x="1880235" y="447014"/>
                </a:lnTo>
                <a:lnTo>
                  <a:pt x="1883892" y="441502"/>
                </a:lnTo>
                <a:lnTo>
                  <a:pt x="1885111" y="435254"/>
                </a:lnTo>
                <a:lnTo>
                  <a:pt x="1883892" y="428993"/>
                </a:lnTo>
                <a:lnTo>
                  <a:pt x="1880235" y="423494"/>
                </a:lnTo>
                <a:lnTo>
                  <a:pt x="1796034" y="339293"/>
                </a:lnTo>
                <a:lnTo>
                  <a:pt x="1924240" y="339293"/>
                </a:lnTo>
                <a:lnTo>
                  <a:pt x="1931670" y="331851"/>
                </a:lnTo>
                <a:lnTo>
                  <a:pt x="1931670" y="313461"/>
                </a:lnTo>
                <a:close/>
              </a:path>
              <a:path w="2095500" h="645160">
                <a:moveTo>
                  <a:pt x="2095500" y="169151"/>
                </a:moveTo>
                <a:lnTo>
                  <a:pt x="2089454" y="124231"/>
                </a:lnTo>
                <a:lnTo>
                  <a:pt x="2072386" y="83845"/>
                </a:lnTo>
                <a:lnTo>
                  <a:pt x="2062238" y="70726"/>
                </a:lnTo>
                <a:lnTo>
                  <a:pt x="2062238" y="169151"/>
                </a:lnTo>
                <a:lnTo>
                  <a:pt x="2062238" y="476173"/>
                </a:lnTo>
                <a:lnTo>
                  <a:pt x="2055304" y="519010"/>
                </a:lnTo>
                <a:lnTo>
                  <a:pt x="2035987" y="556260"/>
                </a:lnTo>
                <a:lnTo>
                  <a:pt x="2006561" y="585647"/>
                </a:lnTo>
                <a:lnTo>
                  <a:pt x="1969274" y="604939"/>
                </a:lnTo>
                <a:lnTo>
                  <a:pt x="1926374" y="611860"/>
                </a:lnTo>
                <a:lnTo>
                  <a:pt x="169138" y="611860"/>
                </a:lnTo>
                <a:lnTo>
                  <a:pt x="126238" y="604939"/>
                </a:lnTo>
                <a:lnTo>
                  <a:pt x="88950" y="585647"/>
                </a:lnTo>
                <a:lnTo>
                  <a:pt x="59512" y="556260"/>
                </a:lnTo>
                <a:lnTo>
                  <a:pt x="40208" y="519010"/>
                </a:lnTo>
                <a:lnTo>
                  <a:pt x="33274" y="476173"/>
                </a:lnTo>
                <a:lnTo>
                  <a:pt x="33274" y="169151"/>
                </a:lnTo>
                <a:lnTo>
                  <a:pt x="40208" y="126238"/>
                </a:lnTo>
                <a:lnTo>
                  <a:pt x="59512" y="88950"/>
                </a:lnTo>
                <a:lnTo>
                  <a:pt x="88950" y="59512"/>
                </a:lnTo>
                <a:lnTo>
                  <a:pt x="126238" y="40208"/>
                </a:lnTo>
                <a:lnTo>
                  <a:pt x="169138" y="33261"/>
                </a:lnTo>
                <a:lnTo>
                  <a:pt x="1926374" y="33261"/>
                </a:lnTo>
                <a:lnTo>
                  <a:pt x="1969274" y="40208"/>
                </a:lnTo>
                <a:lnTo>
                  <a:pt x="2006561" y="59512"/>
                </a:lnTo>
                <a:lnTo>
                  <a:pt x="2035987" y="88950"/>
                </a:lnTo>
                <a:lnTo>
                  <a:pt x="2055304" y="126238"/>
                </a:lnTo>
                <a:lnTo>
                  <a:pt x="2062238" y="169151"/>
                </a:lnTo>
                <a:lnTo>
                  <a:pt x="2062238" y="70726"/>
                </a:lnTo>
                <a:lnTo>
                  <a:pt x="2024773" y="33261"/>
                </a:lnTo>
                <a:lnTo>
                  <a:pt x="1971281" y="6057"/>
                </a:lnTo>
                <a:lnTo>
                  <a:pt x="1926374" y="0"/>
                </a:lnTo>
                <a:lnTo>
                  <a:pt x="169138" y="0"/>
                </a:lnTo>
                <a:lnTo>
                  <a:pt x="124231" y="6057"/>
                </a:lnTo>
                <a:lnTo>
                  <a:pt x="83845" y="23126"/>
                </a:lnTo>
                <a:lnTo>
                  <a:pt x="49593" y="49606"/>
                </a:lnTo>
                <a:lnTo>
                  <a:pt x="23126" y="83845"/>
                </a:lnTo>
                <a:lnTo>
                  <a:pt x="6057" y="124231"/>
                </a:lnTo>
                <a:lnTo>
                  <a:pt x="0" y="169151"/>
                </a:lnTo>
                <a:lnTo>
                  <a:pt x="0" y="476173"/>
                </a:lnTo>
                <a:lnTo>
                  <a:pt x="6057" y="521030"/>
                </a:lnTo>
                <a:lnTo>
                  <a:pt x="23126" y="561378"/>
                </a:lnTo>
                <a:lnTo>
                  <a:pt x="49593" y="595579"/>
                </a:lnTo>
                <a:lnTo>
                  <a:pt x="83832" y="622020"/>
                </a:lnTo>
                <a:lnTo>
                  <a:pt x="124231" y="639076"/>
                </a:lnTo>
                <a:lnTo>
                  <a:pt x="169138" y="645134"/>
                </a:lnTo>
                <a:lnTo>
                  <a:pt x="1926374" y="645134"/>
                </a:lnTo>
                <a:lnTo>
                  <a:pt x="1971281" y="639076"/>
                </a:lnTo>
                <a:lnTo>
                  <a:pt x="2011667" y="622020"/>
                </a:lnTo>
                <a:lnTo>
                  <a:pt x="2045906" y="595579"/>
                </a:lnTo>
                <a:lnTo>
                  <a:pt x="2072373" y="561378"/>
                </a:lnTo>
                <a:lnTo>
                  <a:pt x="2089454" y="521030"/>
                </a:lnTo>
                <a:lnTo>
                  <a:pt x="2095500" y="476173"/>
                </a:lnTo>
                <a:lnTo>
                  <a:pt x="2095500" y="1691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2313185" y="643471"/>
            <a:ext cx="10149205" cy="13785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90"/>
              </a:spcBef>
            </a:pPr>
            <a:r>
              <a:rPr sz="4400" dirty="0"/>
              <a:t>Les</a:t>
            </a:r>
            <a:r>
              <a:rPr sz="4400" spc="15" dirty="0"/>
              <a:t> </a:t>
            </a:r>
            <a:r>
              <a:rPr sz="4400" dirty="0"/>
              <a:t>fonctions</a:t>
            </a:r>
            <a:r>
              <a:rPr sz="4400" spc="15" dirty="0"/>
              <a:t> </a:t>
            </a:r>
            <a:r>
              <a:rPr sz="4400" dirty="0"/>
              <a:t>de</a:t>
            </a:r>
            <a:r>
              <a:rPr sz="4400" spc="15" dirty="0"/>
              <a:t> </a:t>
            </a:r>
            <a:r>
              <a:rPr sz="4400" dirty="0"/>
              <a:t>hachage</a:t>
            </a:r>
            <a:r>
              <a:rPr sz="4400" spc="20" dirty="0"/>
              <a:t> </a:t>
            </a:r>
            <a:r>
              <a:rPr sz="4400" dirty="0"/>
              <a:t>:</a:t>
            </a:r>
            <a:r>
              <a:rPr sz="4400" spc="15" dirty="0"/>
              <a:t> </a:t>
            </a:r>
            <a:r>
              <a:rPr sz="4400" spc="-10" dirty="0"/>
              <a:t>Utilisations principales</a:t>
            </a:r>
            <a:endParaRPr sz="4400"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95" dirty="0"/>
              <a:t>19</a:t>
            </a:fld>
            <a:endParaRPr spc="-95" dirty="0"/>
          </a:p>
        </p:txBody>
      </p:sp>
      <p:sp>
        <p:nvSpPr>
          <p:cNvPr id="16" name="object 16"/>
          <p:cNvSpPr txBox="1"/>
          <p:nvPr/>
        </p:nvSpPr>
        <p:spPr>
          <a:xfrm>
            <a:off x="1482867" y="6418239"/>
            <a:ext cx="3145790" cy="16319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40"/>
              </a:spcBef>
            </a:pPr>
            <a:r>
              <a:rPr sz="3500" b="1" dirty="0">
                <a:latin typeface="Trebuchet MS"/>
                <a:cs typeface="Trebuchet MS"/>
              </a:rPr>
              <a:t>Vérification</a:t>
            </a:r>
            <a:r>
              <a:rPr sz="3500" b="1" spc="100" dirty="0">
                <a:latin typeface="Trebuchet MS"/>
                <a:cs typeface="Trebuchet MS"/>
              </a:rPr>
              <a:t> </a:t>
            </a:r>
            <a:r>
              <a:rPr sz="3500" b="1" spc="-25" dirty="0">
                <a:latin typeface="Trebuchet MS"/>
                <a:cs typeface="Trebuchet MS"/>
              </a:rPr>
              <a:t>de </a:t>
            </a:r>
            <a:r>
              <a:rPr sz="3500" b="1" dirty="0">
                <a:latin typeface="Trebuchet MS"/>
                <a:cs typeface="Trebuchet MS"/>
              </a:rPr>
              <a:t>l’intégrité</a:t>
            </a:r>
            <a:r>
              <a:rPr sz="3500" b="1" spc="45" dirty="0">
                <a:latin typeface="Trebuchet MS"/>
                <a:cs typeface="Trebuchet MS"/>
              </a:rPr>
              <a:t> </a:t>
            </a:r>
            <a:r>
              <a:rPr sz="3500" b="1" spc="-25" dirty="0">
                <a:latin typeface="Trebuchet MS"/>
                <a:cs typeface="Trebuchet MS"/>
              </a:rPr>
              <a:t>des </a:t>
            </a:r>
            <a:r>
              <a:rPr sz="3500" b="1" spc="-10" dirty="0">
                <a:latin typeface="Trebuchet MS"/>
                <a:cs typeface="Trebuchet MS"/>
              </a:rPr>
              <a:t>données</a:t>
            </a:r>
            <a:endParaRPr sz="35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731854" y="6742477"/>
            <a:ext cx="4824730" cy="5651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500" b="1" dirty="0">
                <a:latin typeface="Trebuchet MS"/>
                <a:cs typeface="Trebuchet MS"/>
              </a:rPr>
              <a:t>Signatures</a:t>
            </a:r>
            <a:r>
              <a:rPr sz="3500" b="1" spc="75" dirty="0">
                <a:latin typeface="Trebuchet MS"/>
                <a:cs typeface="Trebuchet MS"/>
              </a:rPr>
              <a:t> </a:t>
            </a:r>
            <a:r>
              <a:rPr sz="3500" b="1" spc="-10" dirty="0">
                <a:latin typeface="Trebuchet MS"/>
                <a:cs typeface="Trebuchet MS"/>
              </a:rPr>
              <a:t>numériques</a:t>
            </a:r>
            <a:endParaRPr sz="35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317394" y="6475777"/>
            <a:ext cx="4582795" cy="10985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816610" marR="5080" indent="-804545">
              <a:lnSpc>
                <a:spcPct val="100000"/>
              </a:lnSpc>
              <a:spcBef>
                <a:spcPts val="140"/>
              </a:spcBef>
            </a:pPr>
            <a:r>
              <a:rPr sz="3500" b="1" dirty="0">
                <a:latin typeface="Trebuchet MS"/>
                <a:cs typeface="Trebuchet MS"/>
              </a:rPr>
              <a:t>Stockage</a:t>
            </a:r>
            <a:r>
              <a:rPr sz="3500" b="1" spc="20" dirty="0">
                <a:latin typeface="Trebuchet MS"/>
                <a:cs typeface="Trebuchet MS"/>
              </a:rPr>
              <a:t> </a:t>
            </a:r>
            <a:r>
              <a:rPr sz="3500" b="1" dirty="0">
                <a:latin typeface="Trebuchet MS"/>
                <a:cs typeface="Trebuchet MS"/>
              </a:rPr>
              <a:t>sécurisé</a:t>
            </a:r>
            <a:r>
              <a:rPr sz="3500" b="1" spc="25" dirty="0">
                <a:latin typeface="Trebuchet MS"/>
                <a:cs typeface="Trebuchet MS"/>
              </a:rPr>
              <a:t> </a:t>
            </a:r>
            <a:r>
              <a:rPr sz="3500" b="1" spc="-25" dirty="0">
                <a:latin typeface="Trebuchet MS"/>
                <a:cs typeface="Trebuchet MS"/>
              </a:rPr>
              <a:t>des </a:t>
            </a:r>
            <a:r>
              <a:rPr sz="3500" b="1" dirty="0">
                <a:latin typeface="Trebuchet MS"/>
                <a:cs typeface="Trebuchet MS"/>
              </a:rPr>
              <a:t>mots</a:t>
            </a:r>
            <a:r>
              <a:rPr sz="3500" b="1" spc="25" dirty="0">
                <a:latin typeface="Trebuchet MS"/>
                <a:cs typeface="Trebuchet MS"/>
              </a:rPr>
              <a:t> </a:t>
            </a:r>
            <a:r>
              <a:rPr sz="3500" b="1" dirty="0">
                <a:latin typeface="Trebuchet MS"/>
                <a:cs typeface="Trebuchet MS"/>
              </a:rPr>
              <a:t>de</a:t>
            </a:r>
            <a:r>
              <a:rPr sz="3500" b="1" spc="25" dirty="0">
                <a:latin typeface="Trebuchet MS"/>
                <a:cs typeface="Trebuchet MS"/>
              </a:rPr>
              <a:t> </a:t>
            </a:r>
            <a:r>
              <a:rPr sz="3500" b="1" spc="-10" dirty="0">
                <a:latin typeface="Trebuchet MS"/>
                <a:cs typeface="Trebuchet MS"/>
              </a:rPr>
              <a:t>passe</a:t>
            </a:r>
            <a:endParaRPr sz="3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9104" rIns="0" bIns="0" rtlCol="0">
            <a:spAutoFit/>
          </a:bodyPr>
          <a:lstStyle/>
          <a:p>
            <a:pPr marL="59055" marR="5080">
              <a:lnSpc>
                <a:spcPct val="100899"/>
              </a:lnSpc>
              <a:spcBef>
                <a:spcPts val="90"/>
              </a:spcBef>
            </a:pPr>
            <a:r>
              <a:rPr sz="4400" dirty="0"/>
              <a:t>Les</a:t>
            </a:r>
            <a:r>
              <a:rPr sz="4400" spc="15" dirty="0"/>
              <a:t> </a:t>
            </a:r>
            <a:r>
              <a:rPr sz="4400" dirty="0"/>
              <a:t>fonctions</a:t>
            </a:r>
            <a:r>
              <a:rPr sz="4400" spc="15" dirty="0"/>
              <a:t> </a:t>
            </a:r>
            <a:r>
              <a:rPr sz="4400" dirty="0"/>
              <a:t>de</a:t>
            </a:r>
            <a:r>
              <a:rPr sz="4400" spc="15" dirty="0"/>
              <a:t> </a:t>
            </a:r>
            <a:r>
              <a:rPr sz="4400" dirty="0"/>
              <a:t>hachage</a:t>
            </a:r>
            <a:r>
              <a:rPr sz="4400" spc="20" dirty="0"/>
              <a:t> </a:t>
            </a:r>
            <a:r>
              <a:rPr sz="4400" dirty="0"/>
              <a:t>:</a:t>
            </a:r>
            <a:r>
              <a:rPr sz="4400" spc="15" dirty="0"/>
              <a:t> </a:t>
            </a:r>
            <a:r>
              <a:rPr sz="4400" spc="-10" dirty="0"/>
              <a:t>Exemple d’algorithmes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12416" y="2816902"/>
            <a:ext cx="12570307" cy="71442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95" dirty="0"/>
              <a:t>20</a:t>
            </a:fld>
            <a:endParaRPr spc="-9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612" y="512176"/>
            <a:ext cx="904240" cy="1033780"/>
          </a:xfrm>
          <a:custGeom>
            <a:avLst/>
            <a:gdLst/>
            <a:ahLst/>
            <a:cxnLst/>
            <a:rect l="l" t="t" r="r" b="b"/>
            <a:pathLst>
              <a:path w="904239" h="1033780">
                <a:moveTo>
                  <a:pt x="0" y="1033158"/>
                </a:moveTo>
                <a:lnTo>
                  <a:pt x="0" y="0"/>
                </a:lnTo>
                <a:lnTo>
                  <a:pt x="904014" y="516579"/>
                </a:lnTo>
                <a:lnTo>
                  <a:pt x="0" y="1033158"/>
                </a:lnTo>
                <a:close/>
              </a:path>
            </a:pathLst>
          </a:custGeom>
          <a:solidFill>
            <a:srgbClr val="B40C1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6476" y="4538202"/>
            <a:ext cx="95250" cy="952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6476" y="5566902"/>
            <a:ext cx="95250" cy="952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6476" y="6595602"/>
            <a:ext cx="95250" cy="9524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66101" y="2197020"/>
            <a:ext cx="17205325" cy="46374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250" spc="155" dirty="0">
                <a:latin typeface="Times New Roman"/>
                <a:cs typeface="Times New Roman"/>
              </a:rPr>
              <a:t>Une</a:t>
            </a:r>
            <a:r>
              <a:rPr sz="3250" spc="-30" dirty="0">
                <a:latin typeface="Times New Roman"/>
                <a:cs typeface="Times New Roman"/>
              </a:rPr>
              <a:t> </a:t>
            </a:r>
            <a:r>
              <a:rPr sz="3250" spc="70" dirty="0">
                <a:latin typeface="Times New Roman"/>
                <a:cs typeface="Times New Roman"/>
              </a:rPr>
              <a:t>signature</a:t>
            </a:r>
            <a:r>
              <a:rPr sz="3250" spc="-30" dirty="0">
                <a:latin typeface="Times New Roman"/>
                <a:cs typeface="Times New Roman"/>
              </a:rPr>
              <a:t> </a:t>
            </a:r>
            <a:r>
              <a:rPr sz="3250" spc="80" dirty="0">
                <a:latin typeface="Times New Roman"/>
                <a:cs typeface="Times New Roman"/>
              </a:rPr>
              <a:t>numérique</a:t>
            </a:r>
            <a:r>
              <a:rPr sz="3250" spc="-3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est</a:t>
            </a:r>
            <a:r>
              <a:rPr sz="3250" spc="-30" dirty="0">
                <a:latin typeface="Times New Roman"/>
                <a:cs typeface="Times New Roman"/>
              </a:rPr>
              <a:t> </a:t>
            </a:r>
            <a:r>
              <a:rPr sz="3250" b="1" spc="-114" dirty="0">
                <a:latin typeface="Times New Roman"/>
                <a:cs typeface="Times New Roman"/>
              </a:rPr>
              <a:t>une</a:t>
            </a:r>
            <a:r>
              <a:rPr sz="3250" b="1" spc="-25" dirty="0">
                <a:latin typeface="Times New Roman"/>
                <a:cs typeface="Times New Roman"/>
              </a:rPr>
              <a:t> </a:t>
            </a:r>
            <a:r>
              <a:rPr sz="3250" b="1" spc="-95" dirty="0">
                <a:latin typeface="Times New Roman"/>
                <a:cs typeface="Times New Roman"/>
              </a:rPr>
              <a:t>donnée</a:t>
            </a:r>
            <a:r>
              <a:rPr sz="3250" b="1" spc="-30" dirty="0">
                <a:latin typeface="Times New Roman"/>
                <a:cs typeface="Times New Roman"/>
              </a:rPr>
              <a:t> </a:t>
            </a:r>
            <a:r>
              <a:rPr sz="3250" b="1" spc="-20" dirty="0">
                <a:latin typeface="Times New Roman"/>
                <a:cs typeface="Times New Roman"/>
              </a:rPr>
              <a:t>attachée</a:t>
            </a:r>
            <a:r>
              <a:rPr sz="3250" b="1" spc="-30" dirty="0">
                <a:latin typeface="Times New Roman"/>
                <a:cs typeface="Times New Roman"/>
              </a:rPr>
              <a:t> </a:t>
            </a:r>
            <a:r>
              <a:rPr sz="3250" spc="160" dirty="0">
                <a:latin typeface="Times New Roman"/>
                <a:cs typeface="Times New Roman"/>
              </a:rPr>
              <a:t>ou</a:t>
            </a:r>
            <a:r>
              <a:rPr sz="3250" spc="-30" dirty="0">
                <a:latin typeface="Times New Roman"/>
                <a:cs typeface="Times New Roman"/>
              </a:rPr>
              <a:t> </a:t>
            </a:r>
            <a:r>
              <a:rPr sz="3250" b="1" spc="-114" dirty="0">
                <a:latin typeface="Times New Roman"/>
                <a:cs typeface="Times New Roman"/>
              </a:rPr>
              <a:t>une</a:t>
            </a:r>
            <a:r>
              <a:rPr sz="3250" b="1" spc="-25" dirty="0">
                <a:latin typeface="Times New Roman"/>
                <a:cs typeface="Times New Roman"/>
              </a:rPr>
              <a:t> </a:t>
            </a:r>
            <a:r>
              <a:rPr sz="3250" b="1" spc="-80" dirty="0">
                <a:latin typeface="Times New Roman"/>
                <a:cs typeface="Times New Roman"/>
              </a:rPr>
              <a:t>transformation</a:t>
            </a:r>
            <a:r>
              <a:rPr sz="3250" b="1" spc="-30" dirty="0">
                <a:latin typeface="Times New Roman"/>
                <a:cs typeface="Times New Roman"/>
              </a:rPr>
              <a:t> </a:t>
            </a:r>
            <a:r>
              <a:rPr sz="3250" b="1" spc="-100" dirty="0">
                <a:latin typeface="Times New Roman"/>
                <a:cs typeface="Times New Roman"/>
              </a:rPr>
              <a:t>cryptographique</a:t>
            </a:r>
            <a:r>
              <a:rPr sz="3250" b="1" spc="-35" dirty="0">
                <a:latin typeface="Times New Roman"/>
                <a:cs typeface="Times New Roman"/>
              </a:rPr>
              <a:t> </a:t>
            </a:r>
            <a:r>
              <a:rPr sz="3250" spc="60" dirty="0">
                <a:latin typeface="Times New Roman"/>
                <a:cs typeface="Times New Roman"/>
              </a:rPr>
              <a:t>appliquée</a:t>
            </a:r>
            <a:endParaRPr sz="3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3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250" spc="185" dirty="0">
                <a:latin typeface="Times New Roman"/>
                <a:cs typeface="Times New Roman"/>
              </a:rPr>
              <a:t>à</a:t>
            </a:r>
            <a:r>
              <a:rPr sz="3250" spc="30" dirty="0">
                <a:latin typeface="Times New Roman"/>
                <a:cs typeface="Times New Roman"/>
              </a:rPr>
              <a:t> </a:t>
            </a:r>
            <a:r>
              <a:rPr sz="3250" spc="160" dirty="0">
                <a:latin typeface="Times New Roman"/>
                <a:cs typeface="Times New Roman"/>
              </a:rPr>
              <a:t>un</a:t>
            </a:r>
            <a:r>
              <a:rPr sz="3250" spc="3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message</a:t>
            </a:r>
            <a:r>
              <a:rPr sz="3250" spc="35" dirty="0">
                <a:latin typeface="Times New Roman"/>
                <a:cs typeface="Times New Roman"/>
              </a:rPr>
              <a:t> </a:t>
            </a:r>
            <a:r>
              <a:rPr sz="3250" spc="160" dirty="0">
                <a:latin typeface="Times New Roman"/>
                <a:cs typeface="Times New Roman"/>
              </a:rPr>
              <a:t>ou</a:t>
            </a:r>
            <a:r>
              <a:rPr sz="3250" spc="30" dirty="0">
                <a:latin typeface="Times New Roman"/>
                <a:cs typeface="Times New Roman"/>
              </a:rPr>
              <a:t> </a:t>
            </a:r>
            <a:r>
              <a:rPr sz="3250" spc="105" dirty="0">
                <a:latin typeface="Times New Roman"/>
                <a:cs typeface="Times New Roman"/>
              </a:rPr>
              <a:t>document,</a:t>
            </a:r>
            <a:r>
              <a:rPr sz="3250" spc="35" dirty="0">
                <a:latin typeface="Times New Roman"/>
                <a:cs typeface="Times New Roman"/>
              </a:rPr>
              <a:t> </a:t>
            </a:r>
            <a:r>
              <a:rPr sz="3250" spc="135" dirty="0">
                <a:latin typeface="Times New Roman"/>
                <a:cs typeface="Times New Roman"/>
              </a:rPr>
              <a:t>permettant</a:t>
            </a:r>
            <a:r>
              <a:rPr sz="3250" spc="35" dirty="0">
                <a:latin typeface="Times New Roman"/>
                <a:cs typeface="Times New Roman"/>
              </a:rPr>
              <a:t> </a:t>
            </a:r>
            <a:r>
              <a:rPr sz="3250" spc="70" dirty="0">
                <a:latin typeface="Times New Roman"/>
                <a:cs typeface="Times New Roman"/>
              </a:rPr>
              <a:t>de</a:t>
            </a:r>
            <a:r>
              <a:rPr sz="3250" spc="30" dirty="0">
                <a:latin typeface="Times New Roman"/>
                <a:cs typeface="Times New Roman"/>
              </a:rPr>
              <a:t> </a:t>
            </a:r>
            <a:r>
              <a:rPr sz="3250" spc="-50" dirty="0">
                <a:latin typeface="Times New Roman"/>
                <a:cs typeface="Times New Roman"/>
              </a:rPr>
              <a:t>:</a:t>
            </a:r>
            <a:endParaRPr sz="3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3250">
              <a:latin typeface="Times New Roman"/>
              <a:cs typeface="Times New Roman"/>
            </a:endParaRPr>
          </a:p>
          <a:p>
            <a:pPr marL="716280">
              <a:lnSpc>
                <a:spcPct val="100000"/>
              </a:lnSpc>
            </a:pPr>
            <a:r>
              <a:rPr sz="3250" b="1" spc="-100" dirty="0">
                <a:solidFill>
                  <a:srgbClr val="8B0101"/>
                </a:solidFill>
                <a:latin typeface="Times New Roman"/>
                <a:cs typeface="Times New Roman"/>
              </a:rPr>
              <a:t>Vérifier</a:t>
            </a:r>
            <a:r>
              <a:rPr sz="3250" b="1" spc="50" dirty="0">
                <a:solidFill>
                  <a:srgbClr val="8B0101"/>
                </a:solidFill>
                <a:latin typeface="Times New Roman"/>
                <a:cs typeface="Times New Roman"/>
              </a:rPr>
              <a:t> </a:t>
            </a:r>
            <a:r>
              <a:rPr sz="3250" b="1" spc="-65" dirty="0">
                <a:solidFill>
                  <a:srgbClr val="8B0101"/>
                </a:solidFill>
                <a:latin typeface="Times New Roman"/>
                <a:cs typeface="Times New Roman"/>
              </a:rPr>
              <a:t>l’origine</a:t>
            </a:r>
            <a:r>
              <a:rPr sz="3250" b="1" spc="45" dirty="0">
                <a:solidFill>
                  <a:srgbClr val="8B0101"/>
                </a:solidFill>
                <a:latin typeface="Times New Roman"/>
                <a:cs typeface="Times New Roman"/>
              </a:rPr>
              <a:t> </a:t>
            </a:r>
            <a:r>
              <a:rPr sz="3250" b="1" spc="-210" dirty="0">
                <a:solidFill>
                  <a:srgbClr val="8B0101"/>
                </a:solidFill>
                <a:latin typeface="Times New Roman"/>
                <a:cs typeface="Times New Roman"/>
              </a:rPr>
              <a:t>:</a:t>
            </a:r>
            <a:r>
              <a:rPr sz="3250" b="1" spc="45" dirty="0">
                <a:solidFill>
                  <a:srgbClr val="8B0101"/>
                </a:solidFill>
                <a:latin typeface="Times New Roman"/>
                <a:cs typeface="Times New Roman"/>
              </a:rPr>
              <a:t> </a:t>
            </a:r>
            <a:r>
              <a:rPr sz="3250" spc="90" dirty="0">
                <a:latin typeface="Times New Roman"/>
                <a:cs typeface="Times New Roman"/>
              </a:rPr>
              <a:t>confirmer</a:t>
            </a:r>
            <a:r>
              <a:rPr sz="3250" spc="5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l’expéditeur</a:t>
            </a:r>
            <a:r>
              <a:rPr sz="3250" spc="50" dirty="0">
                <a:latin typeface="Times New Roman"/>
                <a:cs typeface="Times New Roman"/>
              </a:rPr>
              <a:t> </a:t>
            </a:r>
            <a:r>
              <a:rPr sz="3250" spc="160" dirty="0">
                <a:latin typeface="Times New Roman"/>
                <a:cs typeface="Times New Roman"/>
              </a:rPr>
              <a:t>du</a:t>
            </a:r>
            <a:r>
              <a:rPr sz="3250" spc="45" dirty="0">
                <a:latin typeface="Times New Roman"/>
                <a:cs typeface="Times New Roman"/>
              </a:rPr>
              <a:t> </a:t>
            </a:r>
            <a:r>
              <a:rPr sz="3250" spc="-10" dirty="0">
                <a:latin typeface="Times New Roman"/>
                <a:cs typeface="Times New Roman"/>
              </a:rPr>
              <a:t>message.</a:t>
            </a:r>
            <a:endParaRPr sz="3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3250">
              <a:latin typeface="Times New Roman"/>
              <a:cs typeface="Times New Roman"/>
            </a:endParaRPr>
          </a:p>
          <a:p>
            <a:pPr marL="716280">
              <a:lnSpc>
                <a:spcPct val="100000"/>
              </a:lnSpc>
            </a:pPr>
            <a:r>
              <a:rPr sz="3250" b="1" spc="-95" dirty="0">
                <a:solidFill>
                  <a:srgbClr val="8B0101"/>
                </a:solidFill>
                <a:latin typeface="Times New Roman"/>
                <a:cs typeface="Times New Roman"/>
              </a:rPr>
              <a:t>Assurer</a:t>
            </a:r>
            <a:r>
              <a:rPr sz="3250" b="1" dirty="0">
                <a:solidFill>
                  <a:srgbClr val="8B0101"/>
                </a:solidFill>
                <a:latin typeface="Times New Roman"/>
                <a:cs typeface="Times New Roman"/>
              </a:rPr>
              <a:t> </a:t>
            </a:r>
            <a:r>
              <a:rPr sz="3250" b="1" spc="-55" dirty="0">
                <a:solidFill>
                  <a:srgbClr val="8B0101"/>
                </a:solidFill>
                <a:latin typeface="Times New Roman"/>
                <a:cs typeface="Times New Roman"/>
              </a:rPr>
              <a:t>l’intégrité</a:t>
            </a:r>
            <a:r>
              <a:rPr sz="3250" b="1" spc="15" dirty="0">
                <a:solidFill>
                  <a:srgbClr val="8B0101"/>
                </a:solidFill>
                <a:latin typeface="Times New Roman"/>
                <a:cs typeface="Times New Roman"/>
              </a:rPr>
              <a:t> </a:t>
            </a:r>
            <a:r>
              <a:rPr sz="3250" b="1" spc="-210" dirty="0">
                <a:solidFill>
                  <a:srgbClr val="8B0101"/>
                </a:solidFill>
                <a:latin typeface="Times New Roman"/>
                <a:cs typeface="Times New Roman"/>
              </a:rPr>
              <a:t>:</a:t>
            </a:r>
            <a:r>
              <a:rPr sz="3250" b="1" spc="10" dirty="0">
                <a:solidFill>
                  <a:srgbClr val="8B0101"/>
                </a:solidFill>
                <a:latin typeface="Times New Roman"/>
                <a:cs typeface="Times New Roman"/>
              </a:rPr>
              <a:t> </a:t>
            </a:r>
            <a:r>
              <a:rPr sz="3250" spc="120" dirty="0">
                <a:latin typeface="Times New Roman"/>
                <a:cs typeface="Times New Roman"/>
              </a:rPr>
              <a:t>garantir</a:t>
            </a:r>
            <a:r>
              <a:rPr sz="3250" spc="10" dirty="0">
                <a:latin typeface="Times New Roman"/>
                <a:cs typeface="Times New Roman"/>
              </a:rPr>
              <a:t> </a:t>
            </a:r>
            <a:r>
              <a:rPr sz="3250" spc="100" dirty="0">
                <a:latin typeface="Times New Roman"/>
                <a:cs typeface="Times New Roman"/>
              </a:rPr>
              <a:t>que</a:t>
            </a:r>
            <a:r>
              <a:rPr sz="3250" spc="1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le</a:t>
            </a:r>
            <a:r>
              <a:rPr sz="3250" spc="1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message</a:t>
            </a:r>
            <a:r>
              <a:rPr sz="3250" spc="1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n’a</a:t>
            </a:r>
            <a:r>
              <a:rPr sz="3250" spc="10" dirty="0">
                <a:latin typeface="Times New Roman"/>
                <a:cs typeface="Times New Roman"/>
              </a:rPr>
              <a:t> </a:t>
            </a:r>
            <a:r>
              <a:rPr sz="3250" spc="105" dirty="0">
                <a:latin typeface="Times New Roman"/>
                <a:cs typeface="Times New Roman"/>
              </a:rPr>
              <a:t>pas</a:t>
            </a:r>
            <a:r>
              <a:rPr sz="3250" spc="1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été</a:t>
            </a:r>
            <a:r>
              <a:rPr sz="3250" spc="15" dirty="0">
                <a:latin typeface="Times New Roman"/>
                <a:cs typeface="Times New Roman"/>
              </a:rPr>
              <a:t> </a:t>
            </a:r>
            <a:r>
              <a:rPr sz="3250" spc="-10" dirty="0">
                <a:latin typeface="Times New Roman"/>
                <a:cs typeface="Times New Roman"/>
              </a:rPr>
              <a:t>modifié.</a:t>
            </a:r>
            <a:endParaRPr sz="3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3250">
              <a:latin typeface="Times New Roman"/>
              <a:cs typeface="Times New Roman"/>
            </a:endParaRPr>
          </a:p>
          <a:p>
            <a:pPr marL="716280">
              <a:lnSpc>
                <a:spcPct val="100000"/>
              </a:lnSpc>
            </a:pPr>
            <a:r>
              <a:rPr sz="3250" b="1" spc="-25" dirty="0">
                <a:solidFill>
                  <a:srgbClr val="8B0101"/>
                </a:solidFill>
                <a:latin typeface="Times New Roman"/>
                <a:cs typeface="Times New Roman"/>
              </a:rPr>
              <a:t>Protéger </a:t>
            </a:r>
            <a:r>
              <a:rPr sz="3250" b="1" spc="-70" dirty="0">
                <a:solidFill>
                  <a:srgbClr val="8B0101"/>
                </a:solidFill>
                <a:latin typeface="Times New Roman"/>
                <a:cs typeface="Times New Roman"/>
              </a:rPr>
              <a:t>contre</a:t>
            </a:r>
            <a:r>
              <a:rPr sz="3250" b="1" spc="-15" dirty="0">
                <a:solidFill>
                  <a:srgbClr val="8B0101"/>
                </a:solidFill>
                <a:latin typeface="Times New Roman"/>
                <a:cs typeface="Times New Roman"/>
              </a:rPr>
              <a:t> </a:t>
            </a:r>
            <a:r>
              <a:rPr sz="3250" b="1" dirty="0">
                <a:solidFill>
                  <a:srgbClr val="8B0101"/>
                </a:solidFill>
                <a:latin typeface="Times New Roman"/>
                <a:cs typeface="Times New Roman"/>
              </a:rPr>
              <a:t>la</a:t>
            </a:r>
            <a:r>
              <a:rPr sz="3250" b="1" spc="-10" dirty="0">
                <a:solidFill>
                  <a:srgbClr val="8B0101"/>
                </a:solidFill>
                <a:latin typeface="Times New Roman"/>
                <a:cs typeface="Times New Roman"/>
              </a:rPr>
              <a:t> </a:t>
            </a:r>
            <a:r>
              <a:rPr sz="3250" b="1" spc="-25" dirty="0">
                <a:solidFill>
                  <a:srgbClr val="8B0101"/>
                </a:solidFill>
                <a:latin typeface="Times New Roman"/>
                <a:cs typeface="Times New Roman"/>
              </a:rPr>
              <a:t>falsification</a:t>
            </a:r>
            <a:r>
              <a:rPr sz="3250" b="1" spc="-10" dirty="0">
                <a:solidFill>
                  <a:srgbClr val="8B0101"/>
                </a:solidFill>
                <a:latin typeface="Times New Roman"/>
                <a:cs typeface="Times New Roman"/>
              </a:rPr>
              <a:t> </a:t>
            </a:r>
            <a:r>
              <a:rPr sz="3250" b="1" spc="-210" dirty="0">
                <a:solidFill>
                  <a:srgbClr val="8B0101"/>
                </a:solidFill>
                <a:latin typeface="Times New Roman"/>
                <a:cs typeface="Times New Roman"/>
              </a:rPr>
              <a:t>:</a:t>
            </a:r>
            <a:r>
              <a:rPr sz="3250" b="1" spc="-5" dirty="0">
                <a:solidFill>
                  <a:srgbClr val="8B0101"/>
                </a:solidFill>
                <a:latin typeface="Times New Roman"/>
                <a:cs typeface="Times New Roman"/>
              </a:rPr>
              <a:t> </a:t>
            </a:r>
            <a:r>
              <a:rPr sz="3250" spc="65" dirty="0">
                <a:latin typeface="Times New Roman"/>
                <a:cs typeface="Times New Roman"/>
              </a:rPr>
              <a:t>empêcher</a:t>
            </a:r>
            <a:r>
              <a:rPr sz="3250" spc="-10" dirty="0">
                <a:latin typeface="Times New Roman"/>
                <a:cs typeface="Times New Roman"/>
              </a:rPr>
              <a:t> </a:t>
            </a:r>
            <a:r>
              <a:rPr sz="3250" spc="80" dirty="0">
                <a:latin typeface="Times New Roman"/>
                <a:cs typeface="Times New Roman"/>
              </a:rPr>
              <a:t>qu’un</a:t>
            </a:r>
            <a:r>
              <a:rPr sz="3250" spc="-15" dirty="0">
                <a:latin typeface="Times New Roman"/>
                <a:cs typeface="Times New Roman"/>
              </a:rPr>
              <a:t> </a:t>
            </a:r>
            <a:r>
              <a:rPr sz="3250" spc="55" dirty="0">
                <a:latin typeface="Times New Roman"/>
                <a:cs typeface="Times New Roman"/>
              </a:rPr>
              <a:t>tiers</a:t>
            </a:r>
            <a:r>
              <a:rPr sz="3250" spc="-10" dirty="0">
                <a:latin typeface="Times New Roman"/>
                <a:cs typeface="Times New Roman"/>
              </a:rPr>
              <a:t> </a:t>
            </a:r>
            <a:r>
              <a:rPr sz="3250" spc="70" dirty="0">
                <a:latin typeface="Times New Roman"/>
                <a:cs typeface="Times New Roman"/>
              </a:rPr>
              <a:t>ne</a:t>
            </a:r>
            <a:r>
              <a:rPr sz="3250" spc="-15" dirty="0">
                <a:latin typeface="Times New Roman"/>
                <a:cs typeface="Times New Roman"/>
              </a:rPr>
              <a:t> </a:t>
            </a:r>
            <a:r>
              <a:rPr sz="3250" spc="60" dirty="0">
                <a:latin typeface="Times New Roman"/>
                <a:cs typeface="Times New Roman"/>
              </a:rPr>
              <a:t>contrefasse</a:t>
            </a:r>
            <a:r>
              <a:rPr sz="3250" spc="-1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le</a:t>
            </a:r>
            <a:r>
              <a:rPr sz="3250" spc="-1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message</a:t>
            </a:r>
            <a:r>
              <a:rPr sz="3250" spc="-10" dirty="0">
                <a:latin typeface="Times New Roman"/>
                <a:cs typeface="Times New Roman"/>
              </a:rPr>
              <a:t> </a:t>
            </a:r>
            <a:r>
              <a:rPr sz="3250" spc="160" dirty="0">
                <a:latin typeface="Times New Roman"/>
                <a:cs typeface="Times New Roman"/>
              </a:rPr>
              <a:t>ou</a:t>
            </a:r>
            <a:r>
              <a:rPr sz="3250" spc="-15" dirty="0">
                <a:latin typeface="Times New Roman"/>
                <a:cs typeface="Times New Roman"/>
              </a:rPr>
              <a:t> </a:t>
            </a:r>
            <a:r>
              <a:rPr sz="3250" spc="80" dirty="0">
                <a:latin typeface="Times New Roman"/>
                <a:cs typeface="Times New Roman"/>
              </a:rPr>
              <a:t>la</a:t>
            </a:r>
            <a:r>
              <a:rPr sz="3250" spc="-10" dirty="0">
                <a:latin typeface="Times New Roman"/>
                <a:cs typeface="Times New Roman"/>
              </a:rPr>
              <a:t> </a:t>
            </a:r>
            <a:r>
              <a:rPr sz="3250" spc="40" dirty="0">
                <a:latin typeface="Times New Roman"/>
                <a:cs typeface="Times New Roman"/>
              </a:rPr>
              <a:t>signature.</a:t>
            </a:r>
            <a:endParaRPr sz="325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262217" y="7555910"/>
            <a:ext cx="2978977" cy="229877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454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140"/>
              </a:spcBef>
            </a:pPr>
            <a:r>
              <a:rPr sz="4400" dirty="0"/>
              <a:t>La</a:t>
            </a:r>
            <a:r>
              <a:rPr sz="4400" spc="5" dirty="0"/>
              <a:t> </a:t>
            </a:r>
            <a:r>
              <a:rPr sz="4400" dirty="0"/>
              <a:t>signature</a:t>
            </a:r>
            <a:r>
              <a:rPr sz="4400" spc="10" dirty="0"/>
              <a:t> </a:t>
            </a:r>
            <a:r>
              <a:rPr sz="4400" spc="-10" dirty="0"/>
              <a:t>numérique</a:t>
            </a:r>
            <a:endParaRPr sz="440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95" dirty="0"/>
              <a:t>21</a:t>
            </a:fld>
            <a:endParaRPr spc="-9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612" y="512176"/>
            <a:ext cx="904240" cy="1033780"/>
          </a:xfrm>
          <a:custGeom>
            <a:avLst/>
            <a:gdLst/>
            <a:ahLst/>
            <a:cxnLst/>
            <a:rect l="l" t="t" r="r" b="b"/>
            <a:pathLst>
              <a:path w="904239" h="1033780">
                <a:moveTo>
                  <a:pt x="0" y="1033158"/>
                </a:moveTo>
                <a:lnTo>
                  <a:pt x="0" y="0"/>
                </a:lnTo>
                <a:lnTo>
                  <a:pt x="904014" y="516579"/>
                </a:lnTo>
                <a:lnTo>
                  <a:pt x="0" y="1033158"/>
                </a:lnTo>
                <a:close/>
              </a:path>
            </a:pathLst>
          </a:custGeom>
          <a:solidFill>
            <a:srgbClr val="B40C1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53675" y="6339547"/>
            <a:ext cx="11296649" cy="310514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5832" rIns="0" bIns="0" rtlCol="0">
            <a:spAutoFit/>
          </a:bodyPr>
          <a:lstStyle/>
          <a:p>
            <a:pPr marL="59055" marR="5080">
              <a:lnSpc>
                <a:spcPct val="116500"/>
              </a:lnSpc>
              <a:spcBef>
                <a:spcPts val="90"/>
              </a:spcBef>
            </a:pPr>
            <a:r>
              <a:rPr sz="4400" dirty="0"/>
              <a:t>La</a:t>
            </a:r>
            <a:r>
              <a:rPr sz="4400" spc="20" dirty="0"/>
              <a:t> </a:t>
            </a:r>
            <a:r>
              <a:rPr sz="4400" dirty="0"/>
              <a:t>signature</a:t>
            </a:r>
            <a:r>
              <a:rPr sz="4400" spc="20" dirty="0"/>
              <a:t> </a:t>
            </a:r>
            <a:r>
              <a:rPr sz="4400" dirty="0"/>
              <a:t>numérique</a:t>
            </a:r>
            <a:r>
              <a:rPr sz="4400" spc="20" dirty="0"/>
              <a:t> </a:t>
            </a:r>
            <a:r>
              <a:rPr sz="4400" dirty="0"/>
              <a:t>:</a:t>
            </a:r>
            <a:r>
              <a:rPr sz="4400" spc="20" dirty="0"/>
              <a:t> </a:t>
            </a:r>
            <a:r>
              <a:rPr sz="4400" dirty="0"/>
              <a:t>Principe</a:t>
            </a:r>
            <a:r>
              <a:rPr sz="4400" spc="20" dirty="0"/>
              <a:t> </a:t>
            </a:r>
            <a:r>
              <a:rPr sz="4400" spc="-25" dirty="0"/>
              <a:t>de </a:t>
            </a:r>
            <a:r>
              <a:rPr sz="4400" spc="-10" dirty="0"/>
              <a:t>fonctionnement</a:t>
            </a:r>
            <a:endParaRPr sz="4400"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4580" y="4170238"/>
            <a:ext cx="95250" cy="952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4580" y="5198938"/>
            <a:ext cx="95250" cy="9524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94722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pc="90" dirty="0"/>
              <a:t>Imaginons</a:t>
            </a:r>
            <a:r>
              <a:rPr spc="35" dirty="0"/>
              <a:t> </a:t>
            </a:r>
            <a:r>
              <a:rPr spc="100" dirty="0"/>
              <a:t>que</a:t>
            </a:r>
            <a:r>
              <a:rPr spc="35" dirty="0"/>
              <a:t> </a:t>
            </a:r>
            <a:r>
              <a:rPr dirty="0"/>
              <a:t>Alice</a:t>
            </a:r>
            <a:r>
              <a:rPr spc="35" dirty="0"/>
              <a:t> </a:t>
            </a:r>
            <a:r>
              <a:rPr spc="95" dirty="0"/>
              <a:t>souhaite</a:t>
            </a:r>
            <a:r>
              <a:rPr spc="35" dirty="0"/>
              <a:t> </a:t>
            </a:r>
            <a:r>
              <a:rPr dirty="0"/>
              <a:t>envoyer</a:t>
            </a:r>
            <a:r>
              <a:rPr spc="40" dirty="0"/>
              <a:t> </a:t>
            </a:r>
            <a:r>
              <a:rPr spc="160" dirty="0"/>
              <a:t>un</a:t>
            </a:r>
            <a:r>
              <a:rPr spc="35" dirty="0"/>
              <a:t> </a:t>
            </a:r>
            <a:r>
              <a:rPr spc="110" dirty="0"/>
              <a:t>document</a:t>
            </a:r>
            <a:r>
              <a:rPr spc="35" dirty="0"/>
              <a:t> </a:t>
            </a:r>
            <a:r>
              <a:rPr dirty="0"/>
              <a:t>signé</a:t>
            </a:r>
            <a:r>
              <a:rPr spc="35" dirty="0"/>
              <a:t> </a:t>
            </a:r>
            <a:r>
              <a:rPr spc="185" dirty="0"/>
              <a:t>à</a:t>
            </a:r>
            <a:r>
              <a:rPr spc="40" dirty="0"/>
              <a:t> </a:t>
            </a:r>
            <a:r>
              <a:rPr spc="-20" dirty="0"/>
              <a:t>Bob.</a:t>
            </a:r>
          </a:p>
          <a:p>
            <a:pPr marL="583565" marR="5080">
              <a:lnSpc>
                <a:spcPct val="207700"/>
              </a:lnSpc>
            </a:pPr>
            <a:r>
              <a:rPr spc="85" dirty="0"/>
              <a:t>Tout</a:t>
            </a:r>
            <a:r>
              <a:rPr spc="20" dirty="0"/>
              <a:t> </a:t>
            </a:r>
            <a:r>
              <a:rPr spc="100" dirty="0"/>
              <a:t>d'abord,</a:t>
            </a:r>
            <a:r>
              <a:rPr spc="20" dirty="0"/>
              <a:t> </a:t>
            </a:r>
            <a:r>
              <a:rPr dirty="0"/>
              <a:t>elle</a:t>
            </a:r>
            <a:r>
              <a:rPr spc="25" dirty="0"/>
              <a:t> </a:t>
            </a:r>
            <a:r>
              <a:rPr dirty="0"/>
              <a:t>génére</a:t>
            </a:r>
            <a:r>
              <a:rPr spc="15" dirty="0"/>
              <a:t> </a:t>
            </a:r>
            <a:r>
              <a:rPr spc="55" dirty="0"/>
              <a:t>l'empreinte</a:t>
            </a:r>
            <a:r>
              <a:rPr spc="25" dirty="0"/>
              <a:t> </a:t>
            </a:r>
            <a:r>
              <a:rPr spc="160" dirty="0"/>
              <a:t>du</a:t>
            </a:r>
            <a:r>
              <a:rPr spc="20" dirty="0"/>
              <a:t> </a:t>
            </a:r>
            <a:r>
              <a:rPr spc="110" dirty="0"/>
              <a:t>document</a:t>
            </a:r>
            <a:r>
              <a:rPr spc="20" dirty="0"/>
              <a:t> </a:t>
            </a:r>
            <a:r>
              <a:rPr spc="170" dirty="0"/>
              <a:t>au</a:t>
            </a:r>
            <a:r>
              <a:rPr spc="20" dirty="0"/>
              <a:t> </a:t>
            </a:r>
            <a:r>
              <a:rPr spc="60" dirty="0"/>
              <a:t>moyen</a:t>
            </a:r>
            <a:r>
              <a:rPr spc="25" dirty="0"/>
              <a:t> </a:t>
            </a:r>
            <a:r>
              <a:rPr spc="85" dirty="0"/>
              <a:t>d'une</a:t>
            </a:r>
            <a:r>
              <a:rPr spc="20" dirty="0"/>
              <a:t> </a:t>
            </a:r>
            <a:r>
              <a:rPr spc="75" dirty="0"/>
              <a:t>fonction</a:t>
            </a:r>
            <a:r>
              <a:rPr spc="20" dirty="0"/>
              <a:t> </a:t>
            </a:r>
            <a:r>
              <a:rPr spc="70" dirty="0"/>
              <a:t>de</a:t>
            </a:r>
            <a:r>
              <a:rPr spc="20" dirty="0"/>
              <a:t> </a:t>
            </a:r>
            <a:r>
              <a:rPr spc="45" dirty="0"/>
              <a:t>hachage. </a:t>
            </a:r>
            <a:r>
              <a:rPr dirty="0"/>
              <a:t>Puis,</a:t>
            </a:r>
            <a:r>
              <a:rPr spc="-30" dirty="0"/>
              <a:t> </a:t>
            </a:r>
            <a:r>
              <a:rPr dirty="0"/>
              <a:t>elle</a:t>
            </a:r>
            <a:r>
              <a:rPr spc="-15" dirty="0"/>
              <a:t> </a:t>
            </a:r>
            <a:r>
              <a:rPr spc="75" dirty="0"/>
              <a:t>crypte</a:t>
            </a:r>
            <a:r>
              <a:rPr spc="-15" dirty="0"/>
              <a:t> </a:t>
            </a:r>
            <a:r>
              <a:rPr spc="55" dirty="0"/>
              <a:t>cette</a:t>
            </a:r>
            <a:r>
              <a:rPr spc="-15" dirty="0"/>
              <a:t> </a:t>
            </a:r>
            <a:r>
              <a:rPr spc="75" dirty="0"/>
              <a:t>empreinte</a:t>
            </a:r>
            <a:r>
              <a:rPr spc="-15" dirty="0"/>
              <a:t> </a:t>
            </a:r>
            <a:r>
              <a:rPr dirty="0"/>
              <a:t>avec</a:t>
            </a:r>
            <a:r>
              <a:rPr spc="-15" dirty="0"/>
              <a:t> </a:t>
            </a:r>
            <a:r>
              <a:rPr spc="80" dirty="0"/>
              <a:t>sa</a:t>
            </a:r>
            <a:r>
              <a:rPr spc="-15" dirty="0"/>
              <a:t> </a:t>
            </a:r>
            <a:r>
              <a:rPr dirty="0"/>
              <a:t>clé</a:t>
            </a:r>
            <a:r>
              <a:rPr spc="-15" dirty="0"/>
              <a:t> </a:t>
            </a:r>
            <a:r>
              <a:rPr spc="-10" dirty="0"/>
              <a:t>privée.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95" dirty="0"/>
              <a:t>22</a:t>
            </a:fld>
            <a:endParaRPr spc="-9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612" y="512176"/>
            <a:ext cx="904240" cy="1033780"/>
          </a:xfrm>
          <a:custGeom>
            <a:avLst/>
            <a:gdLst/>
            <a:ahLst/>
            <a:cxnLst/>
            <a:rect l="l" t="t" r="r" b="b"/>
            <a:pathLst>
              <a:path w="904239" h="1033780">
                <a:moveTo>
                  <a:pt x="0" y="1033158"/>
                </a:moveTo>
                <a:lnTo>
                  <a:pt x="0" y="0"/>
                </a:lnTo>
                <a:lnTo>
                  <a:pt x="904014" y="516579"/>
                </a:lnTo>
                <a:lnTo>
                  <a:pt x="0" y="1033158"/>
                </a:lnTo>
                <a:close/>
              </a:path>
            </a:pathLst>
          </a:custGeom>
          <a:solidFill>
            <a:srgbClr val="B40C1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33851" y="5143500"/>
            <a:ext cx="11296649" cy="24764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6500"/>
              </a:lnSpc>
              <a:spcBef>
                <a:spcPts val="90"/>
              </a:spcBef>
            </a:pPr>
            <a:r>
              <a:rPr sz="4400" dirty="0"/>
              <a:t>La</a:t>
            </a:r>
            <a:r>
              <a:rPr sz="4400" spc="20" dirty="0"/>
              <a:t> </a:t>
            </a:r>
            <a:r>
              <a:rPr sz="4400" dirty="0"/>
              <a:t>signature</a:t>
            </a:r>
            <a:r>
              <a:rPr sz="4400" spc="20" dirty="0"/>
              <a:t> </a:t>
            </a:r>
            <a:r>
              <a:rPr sz="4400" dirty="0"/>
              <a:t>numérique</a:t>
            </a:r>
            <a:r>
              <a:rPr sz="4400" spc="20" dirty="0"/>
              <a:t> </a:t>
            </a:r>
            <a:r>
              <a:rPr sz="4400" dirty="0"/>
              <a:t>:</a:t>
            </a:r>
            <a:r>
              <a:rPr sz="4400" spc="20" dirty="0"/>
              <a:t> </a:t>
            </a:r>
            <a:r>
              <a:rPr sz="4400" dirty="0"/>
              <a:t>Principe</a:t>
            </a:r>
            <a:r>
              <a:rPr sz="4400" spc="20" dirty="0"/>
              <a:t> </a:t>
            </a:r>
            <a:r>
              <a:rPr sz="4400" spc="-25" dirty="0"/>
              <a:t>de </a:t>
            </a:r>
            <a:r>
              <a:rPr sz="4400" spc="-10" dirty="0"/>
              <a:t>fonctionnement</a:t>
            </a:r>
            <a:endParaRPr sz="4400"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76374" y="3502808"/>
            <a:ext cx="95250" cy="9524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719659" y="3219027"/>
            <a:ext cx="15631160" cy="522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250" dirty="0">
                <a:latin typeface="Times New Roman"/>
                <a:cs typeface="Times New Roman"/>
              </a:rPr>
              <a:t>Elle</a:t>
            </a:r>
            <a:r>
              <a:rPr sz="3250" spc="40" dirty="0">
                <a:latin typeface="Times New Roman"/>
                <a:cs typeface="Times New Roman"/>
              </a:rPr>
              <a:t> </a:t>
            </a:r>
            <a:r>
              <a:rPr sz="3250" spc="110" dirty="0">
                <a:latin typeface="Times New Roman"/>
                <a:cs typeface="Times New Roman"/>
              </a:rPr>
              <a:t>obtient</a:t>
            </a:r>
            <a:r>
              <a:rPr sz="3250" spc="45" dirty="0">
                <a:latin typeface="Times New Roman"/>
                <a:cs typeface="Times New Roman"/>
              </a:rPr>
              <a:t> </a:t>
            </a:r>
            <a:r>
              <a:rPr sz="3250" spc="55" dirty="0">
                <a:latin typeface="Times New Roman"/>
                <a:cs typeface="Times New Roman"/>
              </a:rPr>
              <a:t>ainsi</a:t>
            </a:r>
            <a:r>
              <a:rPr sz="3250" spc="45" dirty="0">
                <a:latin typeface="Times New Roman"/>
                <a:cs typeface="Times New Roman"/>
              </a:rPr>
              <a:t> </a:t>
            </a:r>
            <a:r>
              <a:rPr sz="3250" spc="80" dirty="0">
                <a:latin typeface="Times New Roman"/>
                <a:cs typeface="Times New Roman"/>
              </a:rPr>
              <a:t>la</a:t>
            </a:r>
            <a:r>
              <a:rPr sz="3250" spc="45" dirty="0">
                <a:latin typeface="Times New Roman"/>
                <a:cs typeface="Times New Roman"/>
              </a:rPr>
              <a:t> </a:t>
            </a:r>
            <a:r>
              <a:rPr sz="3250" spc="70" dirty="0">
                <a:latin typeface="Times New Roman"/>
                <a:cs typeface="Times New Roman"/>
              </a:rPr>
              <a:t>signature</a:t>
            </a:r>
            <a:r>
              <a:rPr sz="3250" spc="45" dirty="0">
                <a:latin typeface="Times New Roman"/>
                <a:cs typeface="Times New Roman"/>
              </a:rPr>
              <a:t> </a:t>
            </a:r>
            <a:r>
              <a:rPr sz="3250" spc="70" dirty="0">
                <a:latin typeface="Times New Roman"/>
                <a:cs typeface="Times New Roman"/>
              </a:rPr>
              <a:t>de</a:t>
            </a:r>
            <a:r>
              <a:rPr sz="3250" spc="45" dirty="0">
                <a:latin typeface="Times New Roman"/>
                <a:cs typeface="Times New Roman"/>
              </a:rPr>
              <a:t> </a:t>
            </a:r>
            <a:r>
              <a:rPr sz="3250" spc="100" dirty="0">
                <a:latin typeface="Times New Roman"/>
                <a:cs typeface="Times New Roman"/>
              </a:rPr>
              <a:t>son</a:t>
            </a:r>
            <a:r>
              <a:rPr sz="3250" spc="40" dirty="0">
                <a:latin typeface="Times New Roman"/>
                <a:cs typeface="Times New Roman"/>
              </a:rPr>
              <a:t> </a:t>
            </a:r>
            <a:r>
              <a:rPr sz="3250" spc="105" dirty="0">
                <a:latin typeface="Times New Roman"/>
                <a:cs typeface="Times New Roman"/>
              </a:rPr>
              <a:t>document.</a:t>
            </a:r>
            <a:r>
              <a:rPr sz="3250" spc="4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Elle</a:t>
            </a:r>
            <a:r>
              <a:rPr sz="3250" spc="5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envoie</a:t>
            </a:r>
            <a:r>
              <a:rPr sz="3250" spc="40" dirty="0">
                <a:latin typeface="Times New Roman"/>
                <a:cs typeface="Times New Roman"/>
              </a:rPr>
              <a:t> </a:t>
            </a:r>
            <a:r>
              <a:rPr sz="3250" spc="110" dirty="0">
                <a:latin typeface="Times New Roman"/>
                <a:cs typeface="Times New Roman"/>
              </a:rPr>
              <a:t>donc</a:t>
            </a:r>
            <a:r>
              <a:rPr sz="3250" spc="4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ces</a:t>
            </a:r>
            <a:r>
              <a:rPr sz="3250" spc="45" dirty="0">
                <a:latin typeface="Times New Roman"/>
                <a:cs typeface="Times New Roman"/>
              </a:rPr>
              <a:t> </a:t>
            </a:r>
            <a:r>
              <a:rPr sz="3250" spc="70" dirty="0">
                <a:latin typeface="Times New Roman"/>
                <a:cs typeface="Times New Roman"/>
              </a:rPr>
              <a:t>deux</a:t>
            </a:r>
            <a:r>
              <a:rPr sz="3250" spc="4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éléments</a:t>
            </a:r>
            <a:r>
              <a:rPr sz="3250" spc="45" dirty="0">
                <a:latin typeface="Times New Roman"/>
                <a:cs typeface="Times New Roman"/>
              </a:rPr>
              <a:t> </a:t>
            </a:r>
            <a:r>
              <a:rPr sz="3250" spc="185" dirty="0">
                <a:latin typeface="Times New Roman"/>
                <a:cs typeface="Times New Roman"/>
              </a:rPr>
              <a:t>à</a:t>
            </a:r>
            <a:r>
              <a:rPr sz="3250" spc="45" dirty="0">
                <a:latin typeface="Times New Roman"/>
                <a:cs typeface="Times New Roman"/>
              </a:rPr>
              <a:t> </a:t>
            </a:r>
            <a:r>
              <a:rPr sz="3250" spc="80" dirty="0">
                <a:latin typeface="Times New Roman"/>
                <a:cs typeface="Times New Roman"/>
              </a:rPr>
              <a:t>Bob</a:t>
            </a:r>
            <a:endParaRPr sz="32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95" dirty="0"/>
              <a:t>23</a:t>
            </a:fld>
            <a:endParaRPr spc="-9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612" y="512176"/>
            <a:ext cx="904240" cy="1033780"/>
          </a:xfrm>
          <a:custGeom>
            <a:avLst/>
            <a:gdLst/>
            <a:ahLst/>
            <a:cxnLst/>
            <a:rect l="l" t="t" r="r" b="b"/>
            <a:pathLst>
              <a:path w="904239" h="1033780">
                <a:moveTo>
                  <a:pt x="0" y="1033158"/>
                </a:moveTo>
                <a:lnTo>
                  <a:pt x="0" y="0"/>
                </a:lnTo>
                <a:lnTo>
                  <a:pt x="904014" y="516579"/>
                </a:lnTo>
                <a:lnTo>
                  <a:pt x="0" y="1033158"/>
                </a:lnTo>
                <a:close/>
              </a:path>
            </a:pathLst>
          </a:custGeom>
          <a:solidFill>
            <a:srgbClr val="B40C1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5832" rIns="0" bIns="0" rtlCol="0">
            <a:spAutoFit/>
          </a:bodyPr>
          <a:lstStyle/>
          <a:p>
            <a:pPr marL="59055" marR="5080">
              <a:lnSpc>
                <a:spcPct val="116500"/>
              </a:lnSpc>
              <a:spcBef>
                <a:spcPts val="90"/>
              </a:spcBef>
            </a:pPr>
            <a:r>
              <a:rPr sz="4400" dirty="0"/>
              <a:t>La</a:t>
            </a:r>
            <a:r>
              <a:rPr sz="4400" spc="20" dirty="0"/>
              <a:t> </a:t>
            </a:r>
            <a:r>
              <a:rPr sz="4400" dirty="0"/>
              <a:t>signature</a:t>
            </a:r>
            <a:r>
              <a:rPr sz="4400" spc="20" dirty="0"/>
              <a:t> </a:t>
            </a:r>
            <a:r>
              <a:rPr sz="4400" dirty="0"/>
              <a:t>numérique</a:t>
            </a:r>
            <a:r>
              <a:rPr sz="4400" spc="20" dirty="0"/>
              <a:t> </a:t>
            </a:r>
            <a:r>
              <a:rPr sz="4400" dirty="0"/>
              <a:t>:</a:t>
            </a:r>
            <a:r>
              <a:rPr sz="4400" spc="20" dirty="0"/>
              <a:t> </a:t>
            </a:r>
            <a:r>
              <a:rPr sz="4400" dirty="0"/>
              <a:t>Principe</a:t>
            </a:r>
            <a:r>
              <a:rPr sz="4400" spc="20" dirty="0"/>
              <a:t> </a:t>
            </a:r>
            <a:r>
              <a:rPr sz="4400" spc="-25" dirty="0"/>
              <a:t>de </a:t>
            </a:r>
            <a:r>
              <a:rPr sz="4400" spc="-10" dirty="0"/>
              <a:t>fonctionnement</a:t>
            </a:r>
            <a:endParaRPr sz="44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8274" y="3163303"/>
            <a:ext cx="95250" cy="952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8274" y="5087352"/>
            <a:ext cx="95250" cy="952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8274" y="7973427"/>
            <a:ext cx="95250" cy="9524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675010" y="2896285"/>
            <a:ext cx="11883390" cy="5300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50" spc="110" dirty="0">
                <a:latin typeface="Times New Roman"/>
                <a:cs typeface="Times New Roman"/>
              </a:rPr>
              <a:t>Pour</a:t>
            </a:r>
            <a:r>
              <a:rPr sz="3050" spc="7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vérifier</a:t>
            </a:r>
            <a:r>
              <a:rPr sz="3050" spc="85" dirty="0">
                <a:latin typeface="Times New Roman"/>
                <a:cs typeface="Times New Roman"/>
              </a:rPr>
              <a:t> </a:t>
            </a:r>
            <a:r>
              <a:rPr sz="3050" spc="70" dirty="0">
                <a:latin typeface="Times New Roman"/>
                <a:cs typeface="Times New Roman"/>
              </a:rPr>
              <a:t>la</a:t>
            </a:r>
            <a:r>
              <a:rPr sz="3050" spc="8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validité</a:t>
            </a:r>
            <a:r>
              <a:rPr sz="3050" spc="75" dirty="0">
                <a:latin typeface="Times New Roman"/>
                <a:cs typeface="Times New Roman"/>
              </a:rPr>
              <a:t> </a:t>
            </a:r>
            <a:r>
              <a:rPr sz="3050" spc="150" dirty="0">
                <a:latin typeface="Times New Roman"/>
                <a:cs typeface="Times New Roman"/>
              </a:rPr>
              <a:t>du</a:t>
            </a:r>
            <a:r>
              <a:rPr sz="3050" spc="75" dirty="0">
                <a:latin typeface="Times New Roman"/>
                <a:cs typeface="Times New Roman"/>
              </a:rPr>
              <a:t> </a:t>
            </a:r>
            <a:r>
              <a:rPr sz="3050" spc="95" dirty="0">
                <a:latin typeface="Times New Roman"/>
                <a:cs typeface="Times New Roman"/>
              </a:rPr>
              <a:t>document,</a:t>
            </a:r>
            <a:r>
              <a:rPr sz="3050" spc="80" dirty="0">
                <a:latin typeface="Times New Roman"/>
                <a:cs typeface="Times New Roman"/>
              </a:rPr>
              <a:t> </a:t>
            </a:r>
            <a:r>
              <a:rPr sz="3050" spc="90" dirty="0">
                <a:latin typeface="Times New Roman"/>
                <a:cs typeface="Times New Roman"/>
              </a:rPr>
              <a:t>Bob</a:t>
            </a:r>
            <a:r>
              <a:rPr sz="3050" spc="70" dirty="0">
                <a:latin typeface="Times New Roman"/>
                <a:cs typeface="Times New Roman"/>
              </a:rPr>
              <a:t> </a:t>
            </a:r>
            <a:r>
              <a:rPr sz="3050" spc="105" dirty="0">
                <a:latin typeface="Times New Roman"/>
                <a:cs typeface="Times New Roman"/>
              </a:rPr>
              <a:t>doit</a:t>
            </a:r>
            <a:r>
              <a:rPr sz="3050" spc="80" dirty="0">
                <a:latin typeface="Times New Roman"/>
                <a:cs typeface="Times New Roman"/>
              </a:rPr>
              <a:t> </a:t>
            </a:r>
            <a:r>
              <a:rPr sz="3050" spc="150" dirty="0">
                <a:latin typeface="Times New Roman"/>
                <a:cs typeface="Times New Roman"/>
              </a:rPr>
              <a:t>tout</a:t>
            </a:r>
            <a:r>
              <a:rPr sz="3050" spc="80" dirty="0">
                <a:latin typeface="Times New Roman"/>
                <a:cs typeface="Times New Roman"/>
              </a:rPr>
              <a:t> </a:t>
            </a:r>
            <a:r>
              <a:rPr sz="3050" spc="105" dirty="0">
                <a:latin typeface="Times New Roman"/>
                <a:cs typeface="Times New Roman"/>
              </a:rPr>
              <a:t>d'abord</a:t>
            </a:r>
            <a:r>
              <a:rPr sz="3050" spc="7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déchiffrer</a:t>
            </a:r>
            <a:r>
              <a:rPr sz="3050" spc="80" dirty="0">
                <a:latin typeface="Times New Roman"/>
                <a:cs typeface="Times New Roman"/>
              </a:rPr>
              <a:t> </a:t>
            </a:r>
            <a:r>
              <a:rPr sz="3050" spc="45" dirty="0">
                <a:latin typeface="Times New Roman"/>
                <a:cs typeface="Times New Roman"/>
              </a:rPr>
              <a:t>la</a:t>
            </a:r>
            <a:endParaRPr sz="3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3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050" spc="60" dirty="0">
                <a:latin typeface="Times New Roman"/>
                <a:cs typeface="Times New Roman"/>
              </a:rPr>
              <a:t>signature</a:t>
            </a:r>
            <a:r>
              <a:rPr sz="3050" spc="5" dirty="0">
                <a:latin typeface="Times New Roman"/>
                <a:cs typeface="Times New Roman"/>
              </a:rPr>
              <a:t> </a:t>
            </a:r>
            <a:r>
              <a:rPr sz="3050" spc="65" dirty="0">
                <a:latin typeface="Times New Roman"/>
                <a:cs typeface="Times New Roman"/>
              </a:rPr>
              <a:t>en</a:t>
            </a:r>
            <a:r>
              <a:rPr sz="3050" dirty="0">
                <a:latin typeface="Times New Roman"/>
                <a:cs typeface="Times New Roman"/>
              </a:rPr>
              <a:t> </a:t>
            </a:r>
            <a:r>
              <a:rPr sz="3050" spc="70" dirty="0">
                <a:latin typeface="Times New Roman"/>
                <a:cs typeface="Times New Roman"/>
              </a:rPr>
              <a:t>utilisant</a:t>
            </a:r>
            <a:r>
              <a:rPr sz="3050" spc="10" dirty="0">
                <a:latin typeface="Times New Roman"/>
                <a:cs typeface="Times New Roman"/>
              </a:rPr>
              <a:t> </a:t>
            </a:r>
            <a:r>
              <a:rPr sz="3050" spc="70" dirty="0">
                <a:latin typeface="Times New Roman"/>
                <a:cs typeface="Times New Roman"/>
              </a:rPr>
              <a:t>la</a:t>
            </a:r>
            <a:r>
              <a:rPr sz="3050" spc="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clé</a:t>
            </a:r>
            <a:r>
              <a:rPr sz="3050" spc="10" dirty="0">
                <a:latin typeface="Times New Roman"/>
                <a:cs typeface="Times New Roman"/>
              </a:rPr>
              <a:t> </a:t>
            </a:r>
            <a:r>
              <a:rPr sz="3050" spc="75" dirty="0">
                <a:latin typeface="Times New Roman"/>
                <a:cs typeface="Times New Roman"/>
              </a:rPr>
              <a:t>publique</a:t>
            </a:r>
            <a:r>
              <a:rPr sz="3050" spc="5" dirty="0">
                <a:latin typeface="Times New Roman"/>
                <a:cs typeface="Times New Roman"/>
              </a:rPr>
              <a:t> </a:t>
            </a:r>
            <a:r>
              <a:rPr sz="3050" spc="-10" dirty="0">
                <a:latin typeface="Times New Roman"/>
                <a:cs typeface="Times New Roman"/>
              </a:rPr>
              <a:t>d'Alice.</a:t>
            </a:r>
            <a:endParaRPr sz="3050">
              <a:latin typeface="Times New Roman"/>
              <a:cs typeface="Times New Roman"/>
            </a:endParaRPr>
          </a:p>
          <a:p>
            <a:pPr marL="12700" marR="116205">
              <a:lnSpc>
                <a:spcPts val="7570"/>
              </a:lnSpc>
              <a:spcBef>
                <a:spcPts val="910"/>
              </a:spcBef>
            </a:pPr>
            <a:r>
              <a:rPr sz="3050" spc="55" dirty="0">
                <a:latin typeface="Times New Roman"/>
                <a:cs typeface="Times New Roman"/>
              </a:rPr>
              <a:t>Ensuite,</a:t>
            </a:r>
            <a:r>
              <a:rPr sz="3050" spc="45" dirty="0">
                <a:latin typeface="Times New Roman"/>
                <a:cs typeface="Times New Roman"/>
              </a:rPr>
              <a:t> </a:t>
            </a:r>
            <a:r>
              <a:rPr sz="3050" spc="90" dirty="0">
                <a:latin typeface="Times New Roman"/>
                <a:cs typeface="Times New Roman"/>
              </a:rPr>
              <a:t>Bob</a:t>
            </a:r>
            <a:r>
              <a:rPr sz="3050" spc="4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génère</a:t>
            </a:r>
            <a:r>
              <a:rPr sz="3050" spc="55" dirty="0">
                <a:latin typeface="Times New Roman"/>
                <a:cs typeface="Times New Roman"/>
              </a:rPr>
              <a:t> </a:t>
            </a:r>
            <a:r>
              <a:rPr sz="3050" spc="50" dirty="0">
                <a:latin typeface="Times New Roman"/>
                <a:cs typeface="Times New Roman"/>
              </a:rPr>
              <a:t>l'empreinte</a:t>
            </a:r>
            <a:r>
              <a:rPr sz="3050" spc="45" dirty="0">
                <a:latin typeface="Times New Roman"/>
                <a:cs typeface="Times New Roman"/>
              </a:rPr>
              <a:t> </a:t>
            </a:r>
            <a:r>
              <a:rPr sz="3050" spc="150" dirty="0">
                <a:latin typeface="Times New Roman"/>
                <a:cs typeface="Times New Roman"/>
              </a:rPr>
              <a:t>du</a:t>
            </a:r>
            <a:r>
              <a:rPr sz="3050" spc="45" dirty="0">
                <a:latin typeface="Times New Roman"/>
                <a:cs typeface="Times New Roman"/>
              </a:rPr>
              <a:t> </a:t>
            </a:r>
            <a:r>
              <a:rPr sz="3050" spc="100" dirty="0">
                <a:latin typeface="Times New Roman"/>
                <a:cs typeface="Times New Roman"/>
              </a:rPr>
              <a:t>document</a:t>
            </a:r>
            <a:r>
              <a:rPr sz="3050" spc="5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qu'il</a:t>
            </a:r>
            <a:r>
              <a:rPr sz="3050" spc="50" dirty="0">
                <a:latin typeface="Times New Roman"/>
                <a:cs typeface="Times New Roman"/>
              </a:rPr>
              <a:t> </a:t>
            </a:r>
            <a:r>
              <a:rPr sz="3050" spc="175" dirty="0">
                <a:latin typeface="Times New Roman"/>
                <a:cs typeface="Times New Roman"/>
              </a:rPr>
              <a:t>a</a:t>
            </a:r>
            <a:r>
              <a:rPr sz="3050" spc="50" dirty="0">
                <a:latin typeface="Times New Roman"/>
                <a:cs typeface="Times New Roman"/>
              </a:rPr>
              <a:t> </a:t>
            </a:r>
            <a:r>
              <a:rPr sz="3050" spc="55" dirty="0">
                <a:latin typeface="Times New Roman"/>
                <a:cs typeface="Times New Roman"/>
              </a:rPr>
              <a:t>reçu,</a:t>
            </a:r>
            <a:r>
              <a:rPr sz="3050" spc="45" dirty="0">
                <a:latin typeface="Times New Roman"/>
                <a:cs typeface="Times New Roman"/>
              </a:rPr>
              <a:t> </a:t>
            </a:r>
            <a:r>
              <a:rPr sz="3050" spc="65" dirty="0">
                <a:latin typeface="Times New Roman"/>
                <a:cs typeface="Times New Roman"/>
              </a:rPr>
              <a:t>en</a:t>
            </a:r>
            <a:r>
              <a:rPr sz="3050" spc="45" dirty="0">
                <a:latin typeface="Times New Roman"/>
                <a:cs typeface="Times New Roman"/>
              </a:rPr>
              <a:t> </a:t>
            </a:r>
            <a:r>
              <a:rPr sz="3050" spc="70" dirty="0">
                <a:latin typeface="Times New Roman"/>
                <a:cs typeface="Times New Roman"/>
              </a:rPr>
              <a:t>utilisant</a:t>
            </a:r>
            <a:r>
              <a:rPr sz="3050" spc="50" dirty="0">
                <a:latin typeface="Times New Roman"/>
                <a:cs typeface="Times New Roman"/>
              </a:rPr>
              <a:t> </a:t>
            </a:r>
            <a:r>
              <a:rPr sz="3050" spc="45" dirty="0">
                <a:latin typeface="Times New Roman"/>
                <a:cs typeface="Times New Roman"/>
              </a:rPr>
              <a:t>la </a:t>
            </a:r>
            <a:r>
              <a:rPr sz="3050" dirty="0">
                <a:latin typeface="Times New Roman"/>
                <a:cs typeface="Times New Roman"/>
              </a:rPr>
              <a:t>même</a:t>
            </a:r>
            <a:r>
              <a:rPr sz="3050" spc="114" dirty="0">
                <a:latin typeface="Times New Roman"/>
                <a:cs typeface="Times New Roman"/>
              </a:rPr>
              <a:t> </a:t>
            </a:r>
            <a:r>
              <a:rPr sz="3050" spc="70" dirty="0">
                <a:latin typeface="Times New Roman"/>
                <a:cs typeface="Times New Roman"/>
              </a:rPr>
              <a:t>fonction</a:t>
            </a:r>
            <a:r>
              <a:rPr sz="3050" spc="114" dirty="0">
                <a:latin typeface="Times New Roman"/>
                <a:cs typeface="Times New Roman"/>
              </a:rPr>
              <a:t> </a:t>
            </a:r>
            <a:r>
              <a:rPr sz="3050" spc="65" dirty="0">
                <a:latin typeface="Times New Roman"/>
                <a:cs typeface="Times New Roman"/>
              </a:rPr>
              <a:t>de</a:t>
            </a:r>
            <a:r>
              <a:rPr sz="3050" spc="114" dirty="0">
                <a:latin typeface="Times New Roman"/>
                <a:cs typeface="Times New Roman"/>
              </a:rPr>
              <a:t> </a:t>
            </a:r>
            <a:r>
              <a:rPr sz="3050" spc="75" dirty="0">
                <a:latin typeface="Times New Roman"/>
                <a:cs typeface="Times New Roman"/>
              </a:rPr>
              <a:t>hachage</a:t>
            </a:r>
            <a:r>
              <a:rPr sz="3050" spc="114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qu'Alice</a:t>
            </a:r>
            <a:r>
              <a:rPr sz="3050" spc="114" dirty="0">
                <a:latin typeface="Times New Roman"/>
                <a:cs typeface="Times New Roman"/>
              </a:rPr>
              <a:t> </a:t>
            </a:r>
            <a:r>
              <a:rPr sz="3050" spc="90" dirty="0">
                <a:latin typeface="Times New Roman"/>
                <a:cs typeface="Times New Roman"/>
              </a:rPr>
              <a:t>(On</a:t>
            </a:r>
            <a:r>
              <a:rPr sz="3050" spc="114" dirty="0">
                <a:latin typeface="Times New Roman"/>
                <a:cs typeface="Times New Roman"/>
              </a:rPr>
              <a:t> </a:t>
            </a:r>
            <a:r>
              <a:rPr sz="3050" spc="90" dirty="0">
                <a:latin typeface="Times New Roman"/>
                <a:cs typeface="Times New Roman"/>
              </a:rPr>
              <a:t>supposera</a:t>
            </a:r>
            <a:r>
              <a:rPr sz="3050" spc="114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qu'ils</a:t>
            </a:r>
            <a:r>
              <a:rPr sz="3050" spc="114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suivent</a:t>
            </a:r>
            <a:r>
              <a:rPr sz="3050" spc="114" dirty="0">
                <a:latin typeface="Times New Roman"/>
                <a:cs typeface="Times New Roman"/>
              </a:rPr>
              <a:t> </a:t>
            </a:r>
            <a:r>
              <a:rPr sz="3050" spc="125" dirty="0">
                <a:latin typeface="Times New Roman"/>
                <a:cs typeface="Times New Roman"/>
              </a:rPr>
              <a:t>un </a:t>
            </a:r>
            <a:r>
              <a:rPr sz="3050" spc="80" dirty="0">
                <a:latin typeface="Times New Roman"/>
                <a:cs typeface="Times New Roman"/>
              </a:rPr>
              <a:t>protocole</a:t>
            </a:r>
            <a:r>
              <a:rPr sz="3050" spc="8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établi</a:t>
            </a:r>
            <a:r>
              <a:rPr sz="3050" spc="80" dirty="0">
                <a:latin typeface="Times New Roman"/>
                <a:cs typeface="Times New Roman"/>
              </a:rPr>
              <a:t> </a:t>
            </a:r>
            <a:r>
              <a:rPr sz="3050" spc="160" dirty="0">
                <a:latin typeface="Times New Roman"/>
                <a:cs typeface="Times New Roman"/>
              </a:rPr>
              <a:t>au</a:t>
            </a:r>
            <a:r>
              <a:rPr sz="3050" spc="80" dirty="0">
                <a:latin typeface="Times New Roman"/>
                <a:cs typeface="Times New Roman"/>
              </a:rPr>
              <a:t> </a:t>
            </a:r>
            <a:r>
              <a:rPr sz="3050" spc="-10" dirty="0">
                <a:latin typeface="Times New Roman"/>
                <a:cs typeface="Times New Roman"/>
              </a:rPr>
              <a:t>préalable).</a:t>
            </a:r>
            <a:endParaRPr sz="3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20"/>
              </a:spcBef>
            </a:pPr>
            <a:r>
              <a:rPr sz="3050" dirty="0">
                <a:latin typeface="Times New Roman"/>
                <a:cs typeface="Times New Roman"/>
              </a:rPr>
              <a:t>Puis,</a:t>
            </a:r>
            <a:r>
              <a:rPr sz="3050" spc="2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il</a:t>
            </a:r>
            <a:r>
              <a:rPr sz="3050" spc="15" dirty="0">
                <a:latin typeface="Times New Roman"/>
                <a:cs typeface="Times New Roman"/>
              </a:rPr>
              <a:t> </a:t>
            </a:r>
            <a:r>
              <a:rPr sz="3050" spc="95" dirty="0">
                <a:latin typeface="Times New Roman"/>
                <a:cs typeface="Times New Roman"/>
              </a:rPr>
              <a:t>compare</a:t>
            </a:r>
            <a:r>
              <a:rPr sz="3050" spc="20" dirty="0">
                <a:latin typeface="Times New Roman"/>
                <a:cs typeface="Times New Roman"/>
              </a:rPr>
              <a:t> </a:t>
            </a:r>
            <a:r>
              <a:rPr sz="3050" spc="50" dirty="0">
                <a:latin typeface="Times New Roman"/>
                <a:cs typeface="Times New Roman"/>
              </a:rPr>
              <a:t>l'empreinte</a:t>
            </a:r>
            <a:r>
              <a:rPr sz="3050" spc="1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générée</a:t>
            </a:r>
            <a:r>
              <a:rPr sz="3050" spc="20" dirty="0">
                <a:latin typeface="Times New Roman"/>
                <a:cs typeface="Times New Roman"/>
              </a:rPr>
              <a:t> </a:t>
            </a:r>
            <a:r>
              <a:rPr sz="3050" spc="70" dirty="0">
                <a:latin typeface="Times New Roman"/>
                <a:cs typeface="Times New Roman"/>
              </a:rPr>
              <a:t>et</a:t>
            </a:r>
            <a:r>
              <a:rPr sz="3050" spc="2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celle</a:t>
            </a:r>
            <a:r>
              <a:rPr sz="3050" spc="2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issue</a:t>
            </a:r>
            <a:r>
              <a:rPr sz="3050" spc="15" dirty="0">
                <a:latin typeface="Times New Roman"/>
                <a:cs typeface="Times New Roman"/>
              </a:rPr>
              <a:t> </a:t>
            </a:r>
            <a:r>
              <a:rPr sz="3050" spc="65" dirty="0">
                <a:latin typeface="Times New Roman"/>
                <a:cs typeface="Times New Roman"/>
              </a:rPr>
              <a:t>de</a:t>
            </a:r>
            <a:r>
              <a:rPr sz="3050" spc="20" dirty="0">
                <a:latin typeface="Times New Roman"/>
                <a:cs typeface="Times New Roman"/>
              </a:rPr>
              <a:t> </a:t>
            </a:r>
            <a:r>
              <a:rPr sz="3050" spc="70" dirty="0">
                <a:latin typeface="Times New Roman"/>
                <a:cs typeface="Times New Roman"/>
              </a:rPr>
              <a:t>la</a:t>
            </a:r>
            <a:r>
              <a:rPr sz="3050" spc="20" dirty="0">
                <a:latin typeface="Times New Roman"/>
                <a:cs typeface="Times New Roman"/>
              </a:rPr>
              <a:t> </a:t>
            </a:r>
            <a:r>
              <a:rPr sz="3050" spc="35" dirty="0">
                <a:latin typeface="Times New Roman"/>
                <a:cs typeface="Times New Roman"/>
              </a:rPr>
              <a:t>signature.</a:t>
            </a:r>
            <a:endParaRPr sz="305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336571" y="5143500"/>
            <a:ext cx="3143488" cy="462886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7626947" y="9582746"/>
            <a:ext cx="301625" cy="35433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900" spc="-95" dirty="0">
                <a:latin typeface="Lucida Sans Unicode"/>
                <a:cs typeface="Lucida Sans Unicode"/>
              </a:rPr>
              <a:t>24</a:t>
            </a:r>
            <a:endParaRPr sz="19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612" y="512176"/>
            <a:ext cx="904240" cy="1033780"/>
          </a:xfrm>
          <a:custGeom>
            <a:avLst/>
            <a:gdLst/>
            <a:ahLst/>
            <a:cxnLst/>
            <a:rect l="l" t="t" r="r" b="b"/>
            <a:pathLst>
              <a:path w="904239" h="1033780">
                <a:moveTo>
                  <a:pt x="0" y="1033158"/>
                </a:moveTo>
                <a:lnTo>
                  <a:pt x="0" y="0"/>
                </a:lnTo>
                <a:lnTo>
                  <a:pt x="904014" y="516579"/>
                </a:lnTo>
                <a:lnTo>
                  <a:pt x="0" y="1033158"/>
                </a:lnTo>
                <a:close/>
              </a:path>
            </a:pathLst>
          </a:custGeom>
          <a:solidFill>
            <a:srgbClr val="B40C1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5832" rIns="0" bIns="0" rtlCol="0">
            <a:spAutoFit/>
          </a:bodyPr>
          <a:lstStyle/>
          <a:p>
            <a:pPr marL="59055" marR="5080">
              <a:lnSpc>
                <a:spcPct val="116500"/>
              </a:lnSpc>
              <a:spcBef>
                <a:spcPts val="90"/>
              </a:spcBef>
            </a:pPr>
            <a:r>
              <a:rPr sz="4400" dirty="0"/>
              <a:t>La</a:t>
            </a:r>
            <a:r>
              <a:rPr sz="4400" spc="20" dirty="0"/>
              <a:t> </a:t>
            </a:r>
            <a:r>
              <a:rPr sz="4400" dirty="0"/>
              <a:t>signature</a:t>
            </a:r>
            <a:r>
              <a:rPr sz="4400" spc="20" dirty="0"/>
              <a:t> </a:t>
            </a:r>
            <a:r>
              <a:rPr sz="4400" dirty="0"/>
              <a:t>numérique</a:t>
            </a:r>
            <a:r>
              <a:rPr sz="4400" spc="20" dirty="0"/>
              <a:t> </a:t>
            </a:r>
            <a:r>
              <a:rPr sz="4400" dirty="0"/>
              <a:t>:</a:t>
            </a:r>
            <a:r>
              <a:rPr sz="4400" spc="20" dirty="0"/>
              <a:t> </a:t>
            </a:r>
            <a:r>
              <a:rPr sz="4400" dirty="0"/>
              <a:t>Principe</a:t>
            </a:r>
            <a:r>
              <a:rPr sz="4400" spc="20" dirty="0"/>
              <a:t> </a:t>
            </a:r>
            <a:r>
              <a:rPr sz="4400" spc="-25" dirty="0"/>
              <a:t>de </a:t>
            </a:r>
            <a:r>
              <a:rPr sz="4400" spc="-10" dirty="0"/>
              <a:t>fonctionnement</a:t>
            </a:r>
            <a:endParaRPr sz="44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82041" y="3204742"/>
            <a:ext cx="95250" cy="9524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759766" y="2937724"/>
            <a:ext cx="15186660" cy="2414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71195">
              <a:lnSpc>
                <a:spcPct val="100000"/>
              </a:lnSpc>
              <a:spcBef>
                <a:spcPts val="100"/>
              </a:spcBef>
            </a:pPr>
            <a:r>
              <a:rPr sz="3050" b="1" spc="50" dirty="0">
                <a:solidFill>
                  <a:srgbClr val="3F7D34"/>
                </a:solidFill>
                <a:latin typeface="Times New Roman"/>
                <a:cs typeface="Times New Roman"/>
              </a:rPr>
              <a:t>Si</a:t>
            </a:r>
            <a:r>
              <a:rPr sz="3050" b="1" spc="-90" dirty="0">
                <a:solidFill>
                  <a:srgbClr val="3F7D34"/>
                </a:solidFill>
                <a:latin typeface="Times New Roman"/>
                <a:cs typeface="Times New Roman"/>
              </a:rPr>
              <a:t> </a:t>
            </a:r>
            <a:r>
              <a:rPr sz="3050" b="1" dirty="0">
                <a:solidFill>
                  <a:srgbClr val="3F7D34"/>
                </a:solidFill>
                <a:latin typeface="Times New Roman"/>
                <a:cs typeface="Times New Roman"/>
              </a:rPr>
              <a:t>les</a:t>
            </a:r>
            <a:r>
              <a:rPr sz="3050" b="1" spc="-80" dirty="0">
                <a:solidFill>
                  <a:srgbClr val="3F7D34"/>
                </a:solidFill>
                <a:latin typeface="Times New Roman"/>
                <a:cs typeface="Times New Roman"/>
              </a:rPr>
              <a:t> </a:t>
            </a:r>
            <a:r>
              <a:rPr sz="3050" b="1" spc="-25" dirty="0">
                <a:solidFill>
                  <a:srgbClr val="3F7D34"/>
                </a:solidFill>
                <a:latin typeface="Times New Roman"/>
                <a:cs typeface="Times New Roman"/>
              </a:rPr>
              <a:t>deux</a:t>
            </a:r>
            <a:r>
              <a:rPr sz="3050" b="1" spc="-90" dirty="0">
                <a:solidFill>
                  <a:srgbClr val="3F7D34"/>
                </a:solidFill>
                <a:latin typeface="Times New Roman"/>
                <a:cs typeface="Times New Roman"/>
              </a:rPr>
              <a:t> </a:t>
            </a:r>
            <a:r>
              <a:rPr sz="3050" b="1" spc="-85" dirty="0">
                <a:solidFill>
                  <a:srgbClr val="3F7D34"/>
                </a:solidFill>
                <a:latin typeface="Times New Roman"/>
                <a:cs typeface="Times New Roman"/>
              </a:rPr>
              <a:t>empreintes</a:t>
            </a:r>
            <a:r>
              <a:rPr sz="3050" b="1" spc="-80" dirty="0">
                <a:solidFill>
                  <a:srgbClr val="3F7D34"/>
                </a:solidFill>
                <a:latin typeface="Times New Roman"/>
                <a:cs typeface="Times New Roman"/>
              </a:rPr>
              <a:t> </a:t>
            </a:r>
            <a:r>
              <a:rPr sz="3050" b="1" spc="-20" dirty="0">
                <a:solidFill>
                  <a:srgbClr val="3F7D34"/>
                </a:solidFill>
                <a:latin typeface="Times New Roman"/>
                <a:cs typeface="Times New Roman"/>
              </a:rPr>
              <a:t>sont</a:t>
            </a:r>
            <a:r>
              <a:rPr sz="3050" b="1" spc="-85" dirty="0">
                <a:solidFill>
                  <a:srgbClr val="3F7D34"/>
                </a:solidFill>
                <a:latin typeface="Times New Roman"/>
                <a:cs typeface="Times New Roman"/>
              </a:rPr>
              <a:t> </a:t>
            </a:r>
            <a:r>
              <a:rPr sz="3050" b="1" spc="-65" dirty="0">
                <a:solidFill>
                  <a:srgbClr val="3F7D34"/>
                </a:solidFill>
                <a:latin typeface="Times New Roman"/>
                <a:cs typeface="Times New Roman"/>
              </a:rPr>
              <a:t>identiques,</a:t>
            </a:r>
            <a:r>
              <a:rPr sz="3050" b="1" spc="-80" dirty="0">
                <a:solidFill>
                  <a:srgbClr val="3F7D34"/>
                </a:solidFill>
                <a:latin typeface="Times New Roman"/>
                <a:cs typeface="Times New Roman"/>
              </a:rPr>
              <a:t> </a:t>
            </a:r>
            <a:r>
              <a:rPr sz="3050" b="1" dirty="0">
                <a:solidFill>
                  <a:srgbClr val="3F7D34"/>
                </a:solidFill>
                <a:latin typeface="Times New Roman"/>
                <a:cs typeface="Times New Roman"/>
              </a:rPr>
              <a:t>la</a:t>
            </a:r>
            <a:r>
              <a:rPr sz="3050" b="1" spc="-85" dirty="0">
                <a:solidFill>
                  <a:srgbClr val="3F7D34"/>
                </a:solidFill>
                <a:latin typeface="Times New Roman"/>
                <a:cs typeface="Times New Roman"/>
              </a:rPr>
              <a:t> </a:t>
            </a:r>
            <a:r>
              <a:rPr sz="3050" b="1" spc="-75" dirty="0">
                <a:solidFill>
                  <a:srgbClr val="3F7D34"/>
                </a:solidFill>
                <a:latin typeface="Times New Roman"/>
                <a:cs typeface="Times New Roman"/>
              </a:rPr>
              <a:t>signature</a:t>
            </a:r>
            <a:r>
              <a:rPr sz="3050" b="1" spc="-80" dirty="0">
                <a:solidFill>
                  <a:srgbClr val="3F7D34"/>
                </a:solidFill>
                <a:latin typeface="Times New Roman"/>
                <a:cs typeface="Times New Roman"/>
              </a:rPr>
              <a:t> </a:t>
            </a:r>
            <a:r>
              <a:rPr sz="3050" b="1" dirty="0">
                <a:solidFill>
                  <a:srgbClr val="3F7D34"/>
                </a:solidFill>
                <a:latin typeface="Times New Roman"/>
                <a:cs typeface="Times New Roman"/>
              </a:rPr>
              <a:t>est</a:t>
            </a:r>
            <a:r>
              <a:rPr sz="3050" b="1" spc="-85" dirty="0">
                <a:solidFill>
                  <a:srgbClr val="3F7D34"/>
                </a:solidFill>
                <a:latin typeface="Times New Roman"/>
                <a:cs typeface="Times New Roman"/>
              </a:rPr>
              <a:t> </a:t>
            </a:r>
            <a:r>
              <a:rPr sz="3050" b="1" spc="-45" dirty="0">
                <a:solidFill>
                  <a:srgbClr val="3F7D34"/>
                </a:solidFill>
                <a:latin typeface="Times New Roman"/>
                <a:cs typeface="Times New Roman"/>
              </a:rPr>
              <a:t>validée.</a:t>
            </a:r>
            <a:r>
              <a:rPr sz="3050" b="1" spc="-80" dirty="0">
                <a:solidFill>
                  <a:srgbClr val="3F7D34"/>
                </a:solidFill>
                <a:latin typeface="Times New Roman"/>
                <a:cs typeface="Times New Roman"/>
              </a:rPr>
              <a:t> </a:t>
            </a:r>
            <a:r>
              <a:rPr sz="3050" b="1" dirty="0">
                <a:solidFill>
                  <a:srgbClr val="3F7D34"/>
                </a:solidFill>
                <a:latin typeface="Times New Roman"/>
                <a:cs typeface="Times New Roman"/>
              </a:rPr>
              <a:t>Nous</a:t>
            </a:r>
            <a:r>
              <a:rPr sz="3050" b="1" spc="-85" dirty="0">
                <a:solidFill>
                  <a:srgbClr val="3F7D34"/>
                </a:solidFill>
                <a:latin typeface="Times New Roman"/>
                <a:cs typeface="Times New Roman"/>
              </a:rPr>
              <a:t> </a:t>
            </a:r>
            <a:r>
              <a:rPr sz="3050" b="1" spc="-70" dirty="0">
                <a:solidFill>
                  <a:srgbClr val="3F7D34"/>
                </a:solidFill>
                <a:latin typeface="Times New Roman"/>
                <a:cs typeface="Times New Roman"/>
              </a:rPr>
              <a:t>sommes</a:t>
            </a:r>
            <a:r>
              <a:rPr sz="3050" b="1" spc="-80" dirty="0">
                <a:solidFill>
                  <a:srgbClr val="3F7D34"/>
                </a:solidFill>
                <a:latin typeface="Times New Roman"/>
                <a:cs typeface="Times New Roman"/>
              </a:rPr>
              <a:t> </a:t>
            </a:r>
            <a:r>
              <a:rPr sz="3050" b="1" spc="-75" dirty="0">
                <a:solidFill>
                  <a:srgbClr val="3F7D34"/>
                </a:solidFill>
                <a:latin typeface="Times New Roman"/>
                <a:cs typeface="Times New Roman"/>
              </a:rPr>
              <a:t>donc</a:t>
            </a:r>
            <a:r>
              <a:rPr sz="3050" b="1" spc="-85" dirty="0">
                <a:solidFill>
                  <a:srgbClr val="3F7D34"/>
                </a:solidFill>
                <a:latin typeface="Times New Roman"/>
                <a:cs typeface="Times New Roman"/>
              </a:rPr>
              <a:t> </a:t>
            </a:r>
            <a:r>
              <a:rPr sz="3050" b="1" spc="-110" dirty="0">
                <a:solidFill>
                  <a:srgbClr val="3F7D34"/>
                </a:solidFill>
                <a:latin typeface="Times New Roman"/>
                <a:cs typeface="Times New Roman"/>
              </a:rPr>
              <a:t>sûr</a:t>
            </a:r>
            <a:r>
              <a:rPr sz="3050" b="1" spc="-80" dirty="0">
                <a:solidFill>
                  <a:srgbClr val="3F7D34"/>
                </a:solidFill>
                <a:latin typeface="Times New Roman"/>
                <a:cs typeface="Times New Roman"/>
              </a:rPr>
              <a:t> </a:t>
            </a:r>
            <a:r>
              <a:rPr sz="3050" b="1" spc="-110" dirty="0">
                <a:solidFill>
                  <a:srgbClr val="3F7D34"/>
                </a:solidFill>
                <a:latin typeface="Times New Roman"/>
                <a:cs typeface="Times New Roman"/>
              </a:rPr>
              <a:t>que</a:t>
            </a:r>
            <a:r>
              <a:rPr sz="3050" b="1" spc="-80" dirty="0">
                <a:solidFill>
                  <a:srgbClr val="3F7D34"/>
                </a:solidFill>
                <a:latin typeface="Times New Roman"/>
                <a:cs typeface="Times New Roman"/>
              </a:rPr>
              <a:t> </a:t>
            </a:r>
            <a:r>
              <a:rPr sz="3050" b="1" spc="-50" dirty="0">
                <a:solidFill>
                  <a:srgbClr val="3F7D34"/>
                </a:solidFill>
                <a:latin typeface="Times New Roman"/>
                <a:cs typeface="Times New Roman"/>
              </a:rPr>
              <a:t>:</a:t>
            </a:r>
            <a:endParaRPr sz="3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3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050" b="1" dirty="0">
                <a:solidFill>
                  <a:srgbClr val="3F7D34"/>
                </a:solidFill>
                <a:latin typeface="Times New Roman"/>
                <a:cs typeface="Times New Roman"/>
              </a:rPr>
              <a:t>C'est</a:t>
            </a:r>
            <a:r>
              <a:rPr sz="3050" b="1" spc="-75" dirty="0">
                <a:solidFill>
                  <a:srgbClr val="3F7D34"/>
                </a:solidFill>
                <a:latin typeface="Times New Roman"/>
                <a:cs typeface="Times New Roman"/>
              </a:rPr>
              <a:t> </a:t>
            </a:r>
            <a:r>
              <a:rPr sz="3050" b="1" dirty="0">
                <a:solidFill>
                  <a:srgbClr val="3F7D34"/>
                </a:solidFill>
                <a:latin typeface="Times New Roman"/>
                <a:cs typeface="Times New Roman"/>
              </a:rPr>
              <a:t>Alice</a:t>
            </a:r>
            <a:r>
              <a:rPr sz="3050" b="1" spc="-60" dirty="0">
                <a:solidFill>
                  <a:srgbClr val="3F7D34"/>
                </a:solidFill>
                <a:latin typeface="Times New Roman"/>
                <a:cs typeface="Times New Roman"/>
              </a:rPr>
              <a:t> </a:t>
            </a:r>
            <a:r>
              <a:rPr sz="3050" b="1" spc="-114" dirty="0">
                <a:solidFill>
                  <a:srgbClr val="3F7D34"/>
                </a:solidFill>
                <a:latin typeface="Times New Roman"/>
                <a:cs typeface="Times New Roman"/>
              </a:rPr>
              <a:t>qui</a:t>
            </a:r>
            <a:r>
              <a:rPr sz="3050" b="1" spc="-65" dirty="0">
                <a:solidFill>
                  <a:srgbClr val="3F7D34"/>
                </a:solidFill>
                <a:latin typeface="Times New Roman"/>
                <a:cs typeface="Times New Roman"/>
              </a:rPr>
              <a:t> </a:t>
            </a:r>
            <a:r>
              <a:rPr sz="3050" b="1" dirty="0">
                <a:solidFill>
                  <a:srgbClr val="3F7D34"/>
                </a:solidFill>
                <a:latin typeface="Times New Roman"/>
                <a:cs typeface="Times New Roman"/>
              </a:rPr>
              <a:t>a</a:t>
            </a:r>
            <a:r>
              <a:rPr sz="3050" b="1" spc="-60" dirty="0">
                <a:solidFill>
                  <a:srgbClr val="3F7D34"/>
                </a:solidFill>
                <a:latin typeface="Times New Roman"/>
                <a:cs typeface="Times New Roman"/>
              </a:rPr>
              <a:t> </a:t>
            </a:r>
            <a:r>
              <a:rPr sz="3050" b="1" spc="-114" dirty="0">
                <a:solidFill>
                  <a:srgbClr val="3F7D34"/>
                </a:solidFill>
                <a:latin typeface="Times New Roman"/>
                <a:cs typeface="Times New Roman"/>
              </a:rPr>
              <a:t>envoyé</a:t>
            </a:r>
            <a:r>
              <a:rPr sz="3050" b="1" spc="-65" dirty="0">
                <a:solidFill>
                  <a:srgbClr val="3F7D34"/>
                </a:solidFill>
                <a:latin typeface="Times New Roman"/>
                <a:cs typeface="Times New Roman"/>
              </a:rPr>
              <a:t> </a:t>
            </a:r>
            <a:r>
              <a:rPr sz="3050" b="1" dirty="0">
                <a:solidFill>
                  <a:srgbClr val="3F7D34"/>
                </a:solidFill>
                <a:latin typeface="Times New Roman"/>
                <a:cs typeface="Times New Roman"/>
              </a:rPr>
              <a:t>le</a:t>
            </a:r>
            <a:r>
              <a:rPr sz="3050" b="1" spc="-60" dirty="0">
                <a:solidFill>
                  <a:srgbClr val="3F7D34"/>
                </a:solidFill>
                <a:latin typeface="Times New Roman"/>
                <a:cs typeface="Times New Roman"/>
              </a:rPr>
              <a:t> </a:t>
            </a:r>
            <a:r>
              <a:rPr sz="3050" b="1" spc="-10" dirty="0">
                <a:solidFill>
                  <a:srgbClr val="3F7D34"/>
                </a:solidFill>
                <a:latin typeface="Times New Roman"/>
                <a:cs typeface="Times New Roman"/>
              </a:rPr>
              <a:t>document,</a:t>
            </a:r>
            <a:endParaRPr sz="3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3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050" b="1" dirty="0">
                <a:solidFill>
                  <a:srgbClr val="3F7D34"/>
                </a:solidFill>
                <a:latin typeface="Times New Roman"/>
                <a:cs typeface="Times New Roman"/>
              </a:rPr>
              <a:t>Le</a:t>
            </a:r>
            <a:r>
              <a:rPr sz="3050" b="1" spc="-90" dirty="0">
                <a:solidFill>
                  <a:srgbClr val="3F7D34"/>
                </a:solidFill>
                <a:latin typeface="Times New Roman"/>
                <a:cs typeface="Times New Roman"/>
              </a:rPr>
              <a:t> </a:t>
            </a:r>
            <a:r>
              <a:rPr sz="3050" b="1" spc="-95" dirty="0">
                <a:solidFill>
                  <a:srgbClr val="3F7D34"/>
                </a:solidFill>
                <a:latin typeface="Times New Roman"/>
                <a:cs typeface="Times New Roman"/>
              </a:rPr>
              <a:t>document</a:t>
            </a:r>
            <a:r>
              <a:rPr sz="3050" b="1" spc="-85" dirty="0">
                <a:solidFill>
                  <a:srgbClr val="3F7D34"/>
                </a:solidFill>
                <a:latin typeface="Times New Roman"/>
                <a:cs typeface="Times New Roman"/>
              </a:rPr>
              <a:t> </a:t>
            </a:r>
            <a:r>
              <a:rPr sz="3050" b="1" spc="-10" dirty="0">
                <a:solidFill>
                  <a:srgbClr val="3F7D34"/>
                </a:solidFill>
                <a:latin typeface="Times New Roman"/>
                <a:cs typeface="Times New Roman"/>
              </a:rPr>
              <a:t>n'a</a:t>
            </a:r>
            <a:r>
              <a:rPr sz="3050" b="1" spc="-85" dirty="0">
                <a:solidFill>
                  <a:srgbClr val="3F7D34"/>
                </a:solidFill>
                <a:latin typeface="Times New Roman"/>
                <a:cs typeface="Times New Roman"/>
              </a:rPr>
              <a:t> </a:t>
            </a:r>
            <a:r>
              <a:rPr sz="3050" b="1" spc="-20" dirty="0">
                <a:solidFill>
                  <a:srgbClr val="3F7D34"/>
                </a:solidFill>
                <a:latin typeface="Times New Roman"/>
                <a:cs typeface="Times New Roman"/>
              </a:rPr>
              <a:t>pas</a:t>
            </a:r>
            <a:r>
              <a:rPr sz="3050" b="1" spc="-90" dirty="0">
                <a:solidFill>
                  <a:srgbClr val="3F7D34"/>
                </a:solidFill>
                <a:latin typeface="Times New Roman"/>
                <a:cs typeface="Times New Roman"/>
              </a:rPr>
              <a:t> </a:t>
            </a:r>
            <a:r>
              <a:rPr sz="3050" b="1" dirty="0">
                <a:solidFill>
                  <a:srgbClr val="3F7D34"/>
                </a:solidFill>
                <a:latin typeface="Times New Roman"/>
                <a:cs typeface="Times New Roman"/>
              </a:rPr>
              <a:t>été</a:t>
            </a:r>
            <a:r>
              <a:rPr sz="3050" b="1" spc="-85" dirty="0">
                <a:solidFill>
                  <a:srgbClr val="3F7D34"/>
                </a:solidFill>
                <a:latin typeface="Times New Roman"/>
                <a:cs typeface="Times New Roman"/>
              </a:rPr>
              <a:t> </a:t>
            </a:r>
            <a:r>
              <a:rPr sz="3050" b="1" spc="-60" dirty="0">
                <a:solidFill>
                  <a:srgbClr val="3F7D34"/>
                </a:solidFill>
                <a:latin typeface="Times New Roman"/>
                <a:cs typeface="Times New Roman"/>
              </a:rPr>
              <a:t>modifié</a:t>
            </a:r>
            <a:r>
              <a:rPr sz="3050" b="1" spc="-85" dirty="0">
                <a:solidFill>
                  <a:srgbClr val="3F7D34"/>
                </a:solidFill>
                <a:latin typeface="Times New Roman"/>
                <a:cs typeface="Times New Roman"/>
              </a:rPr>
              <a:t> </a:t>
            </a:r>
            <a:r>
              <a:rPr sz="3050" b="1" spc="-95" dirty="0">
                <a:solidFill>
                  <a:srgbClr val="3F7D34"/>
                </a:solidFill>
                <a:latin typeface="Times New Roman"/>
                <a:cs typeface="Times New Roman"/>
              </a:rPr>
              <a:t>depuis</a:t>
            </a:r>
            <a:r>
              <a:rPr sz="3050" b="1" spc="-85" dirty="0">
                <a:solidFill>
                  <a:srgbClr val="3F7D34"/>
                </a:solidFill>
                <a:latin typeface="Times New Roman"/>
                <a:cs typeface="Times New Roman"/>
              </a:rPr>
              <a:t> </a:t>
            </a:r>
            <a:r>
              <a:rPr sz="3050" b="1" spc="-55" dirty="0">
                <a:solidFill>
                  <a:srgbClr val="3F7D34"/>
                </a:solidFill>
                <a:latin typeface="Times New Roman"/>
                <a:cs typeface="Times New Roman"/>
              </a:rPr>
              <a:t>qu'Alice</a:t>
            </a:r>
            <a:r>
              <a:rPr sz="3050" b="1" spc="-90" dirty="0">
                <a:solidFill>
                  <a:srgbClr val="3F7D34"/>
                </a:solidFill>
                <a:latin typeface="Times New Roman"/>
                <a:cs typeface="Times New Roman"/>
              </a:rPr>
              <a:t> </a:t>
            </a:r>
            <a:r>
              <a:rPr sz="3050" b="1" dirty="0">
                <a:solidFill>
                  <a:srgbClr val="3F7D34"/>
                </a:solidFill>
                <a:latin typeface="Times New Roman"/>
                <a:cs typeface="Times New Roman"/>
              </a:rPr>
              <a:t>l'a</a:t>
            </a:r>
            <a:r>
              <a:rPr sz="3050" b="1" spc="-85" dirty="0">
                <a:solidFill>
                  <a:srgbClr val="3F7D34"/>
                </a:solidFill>
                <a:latin typeface="Times New Roman"/>
                <a:cs typeface="Times New Roman"/>
              </a:rPr>
              <a:t> </a:t>
            </a:r>
            <a:r>
              <a:rPr sz="3050" b="1" spc="-10" dirty="0">
                <a:solidFill>
                  <a:srgbClr val="3F7D34"/>
                </a:solidFill>
                <a:latin typeface="Times New Roman"/>
                <a:cs typeface="Times New Roman"/>
              </a:rPr>
              <a:t>signé.</a:t>
            </a:r>
            <a:endParaRPr sz="305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82041" y="7052842"/>
            <a:ext cx="95250" cy="9524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759766" y="6785825"/>
            <a:ext cx="9004935" cy="2414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8350">
              <a:lnSpc>
                <a:spcPct val="100000"/>
              </a:lnSpc>
              <a:spcBef>
                <a:spcPts val="100"/>
              </a:spcBef>
            </a:pPr>
            <a:r>
              <a:rPr sz="3050" b="1" dirty="0">
                <a:solidFill>
                  <a:srgbClr val="8B0101"/>
                </a:solidFill>
                <a:latin typeface="Times New Roman"/>
                <a:cs typeface="Times New Roman"/>
              </a:rPr>
              <a:t>Dans</a:t>
            </a:r>
            <a:r>
              <a:rPr sz="3050" b="1" spc="-85" dirty="0">
                <a:solidFill>
                  <a:srgbClr val="8B0101"/>
                </a:solidFill>
                <a:latin typeface="Times New Roman"/>
                <a:cs typeface="Times New Roman"/>
              </a:rPr>
              <a:t> </a:t>
            </a:r>
            <a:r>
              <a:rPr sz="3050" b="1" dirty="0">
                <a:solidFill>
                  <a:srgbClr val="8B0101"/>
                </a:solidFill>
                <a:latin typeface="Times New Roman"/>
                <a:cs typeface="Times New Roman"/>
              </a:rPr>
              <a:t>le</a:t>
            </a:r>
            <a:r>
              <a:rPr sz="3050" b="1" spc="-80" dirty="0">
                <a:solidFill>
                  <a:srgbClr val="8B0101"/>
                </a:solidFill>
                <a:latin typeface="Times New Roman"/>
                <a:cs typeface="Times New Roman"/>
              </a:rPr>
              <a:t> </a:t>
            </a:r>
            <a:r>
              <a:rPr sz="3050" b="1" dirty="0">
                <a:solidFill>
                  <a:srgbClr val="8B0101"/>
                </a:solidFill>
                <a:latin typeface="Times New Roman"/>
                <a:cs typeface="Times New Roman"/>
              </a:rPr>
              <a:t>cas</a:t>
            </a:r>
            <a:r>
              <a:rPr sz="3050" b="1" spc="-80" dirty="0">
                <a:solidFill>
                  <a:srgbClr val="8B0101"/>
                </a:solidFill>
                <a:latin typeface="Times New Roman"/>
                <a:cs typeface="Times New Roman"/>
              </a:rPr>
              <a:t> </a:t>
            </a:r>
            <a:r>
              <a:rPr sz="3050" b="1" spc="-60" dirty="0">
                <a:solidFill>
                  <a:srgbClr val="8B0101"/>
                </a:solidFill>
                <a:latin typeface="Times New Roman"/>
                <a:cs typeface="Times New Roman"/>
              </a:rPr>
              <a:t>contraire,</a:t>
            </a:r>
            <a:r>
              <a:rPr sz="3050" b="1" spc="-80" dirty="0">
                <a:solidFill>
                  <a:srgbClr val="8B0101"/>
                </a:solidFill>
                <a:latin typeface="Times New Roman"/>
                <a:cs typeface="Times New Roman"/>
              </a:rPr>
              <a:t> </a:t>
            </a:r>
            <a:r>
              <a:rPr sz="3050" b="1" dirty="0">
                <a:solidFill>
                  <a:srgbClr val="8B0101"/>
                </a:solidFill>
                <a:latin typeface="Times New Roman"/>
                <a:cs typeface="Times New Roman"/>
              </a:rPr>
              <a:t>cela</a:t>
            </a:r>
            <a:r>
              <a:rPr sz="3050" b="1" spc="-80" dirty="0">
                <a:solidFill>
                  <a:srgbClr val="8B0101"/>
                </a:solidFill>
                <a:latin typeface="Times New Roman"/>
                <a:cs typeface="Times New Roman"/>
              </a:rPr>
              <a:t> </a:t>
            </a:r>
            <a:r>
              <a:rPr sz="3050" b="1" spc="-75" dirty="0">
                <a:solidFill>
                  <a:srgbClr val="8B0101"/>
                </a:solidFill>
                <a:latin typeface="Times New Roman"/>
                <a:cs typeface="Times New Roman"/>
              </a:rPr>
              <a:t>peut</a:t>
            </a:r>
            <a:r>
              <a:rPr sz="3050" b="1" spc="-80" dirty="0">
                <a:solidFill>
                  <a:srgbClr val="8B0101"/>
                </a:solidFill>
                <a:latin typeface="Times New Roman"/>
                <a:cs typeface="Times New Roman"/>
              </a:rPr>
              <a:t> </a:t>
            </a:r>
            <a:r>
              <a:rPr sz="3050" b="1" spc="-50" dirty="0">
                <a:solidFill>
                  <a:srgbClr val="8B0101"/>
                </a:solidFill>
                <a:latin typeface="Times New Roman"/>
                <a:cs typeface="Times New Roman"/>
              </a:rPr>
              <a:t>signifier</a:t>
            </a:r>
            <a:r>
              <a:rPr sz="3050" b="1" spc="-80" dirty="0">
                <a:solidFill>
                  <a:srgbClr val="8B0101"/>
                </a:solidFill>
                <a:latin typeface="Times New Roman"/>
                <a:cs typeface="Times New Roman"/>
              </a:rPr>
              <a:t> </a:t>
            </a:r>
            <a:r>
              <a:rPr sz="3050" b="1" spc="-110" dirty="0">
                <a:solidFill>
                  <a:srgbClr val="8B0101"/>
                </a:solidFill>
                <a:latin typeface="Times New Roman"/>
                <a:cs typeface="Times New Roman"/>
              </a:rPr>
              <a:t>que</a:t>
            </a:r>
            <a:r>
              <a:rPr sz="3050" b="1" spc="-80" dirty="0">
                <a:solidFill>
                  <a:srgbClr val="8B0101"/>
                </a:solidFill>
                <a:latin typeface="Times New Roman"/>
                <a:cs typeface="Times New Roman"/>
              </a:rPr>
              <a:t> </a:t>
            </a:r>
            <a:r>
              <a:rPr sz="3050" b="1" spc="-50" dirty="0">
                <a:solidFill>
                  <a:srgbClr val="8B0101"/>
                </a:solidFill>
                <a:latin typeface="Times New Roman"/>
                <a:cs typeface="Times New Roman"/>
              </a:rPr>
              <a:t>:</a:t>
            </a:r>
            <a:endParaRPr sz="3050">
              <a:latin typeface="Times New Roman"/>
              <a:cs typeface="Times New Roman"/>
            </a:endParaRPr>
          </a:p>
          <a:p>
            <a:pPr marL="12700" marR="5080">
              <a:lnSpc>
                <a:spcPts val="7570"/>
              </a:lnSpc>
              <a:spcBef>
                <a:spcPts val="710"/>
              </a:spcBef>
            </a:pPr>
            <a:r>
              <a:rPr sz="3050" b="1" dirty="0">
                <a:solidFill>
                  <a:srgbClr val="8B0101"/>
                </a:solidFill>
                <a:latin typeface="Times New Roman"/>
                <a:cs typeface="Times New Roman"/>
              </a:rPr>
              <a:t>Le</a:t>
            </a:r>
            <a:r>
              <a:rPr sz="3050" b="1" spc="-55" dirty="0">
                <a:solidFill>
                  <a:srgbClr val="8B0101"/>
                </a:solidFill>
                <a:latin typeface="Times New Roman"/>
                <a:cs typeface="Times New Roman"/>
              </a:rPr>
              <a:t> </a:t>
            </a:r>
            <a:r>
              <a:rPr sz="3050" b="1" spc="-95" dirty="0">
                <a:solidFill>
                  <a:srgbClr val="8B0101"/>
                </a:solidFill>
                <a:latin typeface="Times New Roman"/>
                <a:cs typeface="Times New Roman"/>
              </a:rPr>
              <a:t>document</a:t>
            </a:r>
            <a:r>
              <a:rPr sz="3050" b="1" spc="-55" dirty="0">
                <a:solidFill>
                  <a:srgbClr val="8B0101"/>
                </a:solidFill>
                <a:latin typeface="Times New Roman"/>
                <a:cs typeface="Times New Roman"/>
              </a:rPr>
              <a:t> </a:t>
            </a:r>
            <a:r>
              <a:rPr sz="3050" b="1" dirty="0">
                <a:solidFill>
                  <a:srgbClr val="8B0101"/>
                </a:solidFill>
                <a:latin typeface="Times New Roman"/>
                <a:cs typeface="Times New Roman"/>
              </a:rPr>
              <a:t>a</a:t>
            </a:r>
            <a:r>
              <a:rPr sz="3050" b="1" spc="-55" dirty="0">
                <a:solidFill>
                  <a:srgbClr val="8B0101"/>
                </a:solidFill>
                <a:latin typeface="Times New Roman"/>
                <a:cs typeface="Times New Roman"/>
              </a:rPr>
              <a:t> </a:t>
            </a:r>
            <a:r>
              <a:rPr sz="3050" b="1" dirty="0">
                <a:solidFill>
                  <a:srgbClr val="8B0101"/>
                </a:solidFill>
                <a:latin typeface="Times New Roman"/>
                <a:cs typeface="Times New Roman"/>
              </a:rPr>
              <a:t>été</a:t>
            </a:r>
            <a:r>
              <a:rPr sz="3050" b="1" spc="-50" dirty="0">
                <a:solidFill>
                  <a:srgbClr val="8B0101"/>
                </a:solidFill>
                <a:latin typeface="Times New Roman"/>
                <a:cs typeface="Times New Roman"/>
              </a:rPr>
              <a:t> </a:t>
            </a:r>
            <a:r>
              <a:rPr sz="3050" b="1" spc="-60" dirty="0">
                <a:solidFill>
                  <a:srgbClr val="8B0101"/>
                </a:solidFill>
                <a:latin typeface="Times New Roman"/>
                <a:cs typeface="Times New Roman"/>
              </a:rPr>
              <a:t>modifié</a:t>
            </a:r>
            <a:r>
              <a:rPr sz="3050" b="1" spc="-55" dirty="0">
                <a:solidFill>
                  <a:srgbClr val="8B0101"/>
                </a:solidFill>
                <a:latin typeface="Times New Roman"/>
                <a:cs typeface="Times New Roman"/>
              </a:rPr>
              <a:t> </a:t>
            </a:r>
            <a:r>
              <a:rPr sz="3050" b="1" spc="-95" dirty="0">
                <a:solidFill>
                  <a:srgbClr val="8B0101"/>
                </a:solidFill>
                <a:latin typeface="Times New Roman"/>
                <a:cs typeface="Times New Roman"/>
              </a:rPr>
              <a:t>depuis</a:t>
            </a:r>
            <a:r>
              <a:rPr sz="3050" b="1" spc="-55" dirty="0">
                <a:solidFill>
                  <a:srgbClr val="8B0101"/>
                </a:solidFill>
                <a:latin typeface="Times New Roman"/>
                <a:cs typeface="Times New Roman"/>
              </a:rPr>
              <a:t> </a:t>
            </a:r>
            <a:r>
              <a:rPr sz="3050" b="1" dirty="0">
                <a:solidFill>
                  <a:srgbClr val="8B0101"/>
                </a:solidFill>
                <a:latin typeface="Times New Roman"/>
                <a:cs typeface="Times New Roman"/>
              </a:rPr>
              <a:t>sa</a:t>
            </a:r>
            <a:r>
              <a:rPr sz="3050" b="1" spc="-55" dirty="0">
                <a:solidFill>
                  <a:srgbClr val="8B0101"/>
                </a:solidFill>
                <a:latin typeface="Times New Roman"/>
                <a:cs typeface="Times New Roman"/>
              </a:rPr>
              <a:t> </a:t>
            </a:r>
            <a:r>
              <a:rPr sz="3050" b="1" spc="-75" dirty="0">
                <a:solidFill>
                  <a:srgbClr val="8B0101"/>
                </a:solidFill>
                <a:latin typeface="Times New Roman"/>
                <a:cs typeface="Times New Roman"/>
              </a:rPr>
              <a:t>signature</a:t>
            </a:r>
            <a:r>
              <a:rPr sz="3050" b="1" spc="-50" dirty="0">
                <a:solidFill>
                  <a:srgbClr val="8B0101"/>
                </a:solidFill>
                <a:latin typeface="Times New Roman"/>
                <a:cs typeface="Times New Roman"/>
              </a:rPr>
              <a:t> </a:t>
            </a:r>
            <a:r>
              <a:rPr sz="3050" b="1" spc="-100" dirty="0">
                <a:solidFill>
                  <a:srgbClr val="8B0101"/>
                </a:solidFill>
                <a:latin typeface="Times New Roman"/>
                <a:cs typeface="Times New Roman"/>
              </a:rPr>
              <a:t>par</a:t>
            </a:r>
            <a:r>
              <a:rPr sz="3050" b="1" spc="-55" dirty="0">
                <a:solidFill>
                  <a:srgbClr val="8B0101"/>
                </a:solidFill>
                <a:latin typeface="Times New Roman"/>
                <a:cs typeface="Times New Roman"/>
              </a:rPr>
              <a:t> </a:t>
            </a:r>
            <a:r>
              <a:rPr sz="3050" b="1" spc="-10" dirty="0">
                <a:solidFill>
                  <a:srgbClr val="8B0101"/>
                </a:solidFill>
                <a:latin typeface="Times New Roman"/>
                <a:cs typeface="Times New Roman"/>
              </a:rPr>
              <a:t>Alice, </a:t>
            </a:r>
            <a:r>
              <a:rPr sz="3050" b="1" dirty="0">
                <a:solidFill>
                  <a:srgbClr val="8B0101"/>
                </a:solidFill>
                <a:latin typeface="Times New Roman"/>
                <a:cs typeface="Times New Roman"/>
              </a:rPr>
              <a:t>Ce</a:t>
            </a:r>
            <a:r>
              <a:rPr sz="3050" b="1" spc="-75" dirty="0">
                <a:solidFill>
                  <a:srgbClr val="8B0101"/>
                </a:solidFill>
                <a:latin typeface="Times New Roman"/>
                <a:cs typeface="Times New Roman"/>
              </a:rPr>
              <a:t> </a:t>
            </a:r>
            <a:r>
              <a:rPr sz="3050" b="1" spc="-20" dirty="0">
                <a:solidFill>
                  <a:srgbClr val="8B0101"/>
                </a:solidFill>
                <a:latin typeface="Times New Roman"/>
                <a:cs typeface="Times New Roman"/>
              </a:rPr>
              <a:t>n'est</a:t>
            </a:r>
            <a:r>
              <a:rPr sz="3050" b="1" spc="-75" dirty="0">
                <a:solidFill>
                  <a:srgbClr val="8B0101"/>
                </a:solidFill>
                <a:latin typeface="Times New Roman"/>
                <a:cs typeface="Times New Roman"/>
              </a:rPr>
              <a:t> </a:t>
            </a:r>
            <a:r>
              <a:rPr sz="3050" b="1" spc="-20" dirty="0">
                <a:solidFill>
                  <a:srgbClr val="8B0101"/>
                </a:solidFill>
                <a:latin typeface="Times New Roman"/>
                <a:cs typeface="Times New Roman"/>
              </a:rPr>
              <a:t>pas</a:t>
            </a:r>
            <a:r>
              <a:rPr sz="3050" b="1" spc="-70" dirty="0">
                <a:solidFill>
                  <a:srgbClr val="8B0101"/>
                </a:solidFill>
                <a:latin typeface="Times New Roman"/>
                <a:cs typeface="Times New Roman"/>
              </a:rPr>
              <a:t> </a:t>
            </a:r>
            <a:r>
              <a:rPr sz="3050" b="1" dirty="0">
                <a:solidFill>
                  <a:srgbClr val="8B0101"/>
                </a:solidFill>
                <a:latin typeface="Times New Roman"/>
                <a:cs typeface="Times New Roman"/>
              </a:rPr>
              <a:t>ce</a:t>
            </a:r>
            <a:r>
              <a:rPr sz="3050" b="1" spc="-75" dirty="0">
                <a:solidFill>
                  <a:srgbClr val="8B0101"/>
                </a:solidFill>
                <a:latin typeface="Times New Roman"/>
                <a:cs typeface="Times New Roman"/>
              </a:rPr>
              <a:t> </a:t>
            </a:r>
            <a:r>
              <a:rPr sz="3050" b="1" spc="-95" dirty="0">
                <a:solidFill>
                  <a:srgbClr val="8B0101"/>
                </a:solidFill>
                <a:latin typeface="Times New Roman"/>
                <a:cs typeface="Times New Roman"/>
              </a:rPr>
              <a:t>document</a:t>
            </a:r>
            <a:r>
              <a:rPr sz="3050" b="1" spc="-75" dirty="0">
                <a:solidFill>
                  <a:srgbClr val="8B0101"/>
                </a:solidFill>
                <a:latin typeface="Times New Roman"/>
                <a:cs typeface="Times New Roman"/>
              </a:rPr>
              <a:t> </a:t>
            </a:r>
            <a:r>
              <a:rPr sz="3050" b="1" spc="-55" dirty="0">
                <a:solidFill>
                  <a:srgbClr val="8B0101"/>
                </a:solidFill>
                <a:latin typeface="Times New Roman"/>
                <a:cs typeface="Times New Roman"/>
              </a:rPr>
              <a:t>qu'Alice</a:t>
            </a:r>
            <a:r>
              <a:rPr sz="3050" b="1" spc="-70" dirty="0">
                <a:solidFill>
                  <a:srgbClr val="8B0101"/>
                </a:solidFill>
                <a:latin typeface="Times New Roman"/>
                <a:cs typeface="Times New Roman"/>
              </a:rPr>
              <a:t> </a:t>
            </a:r>
            <a:r>
              <a:rPr sz="3050" b="1" dirty="0">
                <a:solidFill>
                  <a:srgbClr val="8B0101"/>
                </a:solidFill>
                <a:latin typeface="Times New Roman"/>
                <a:cs typeface="Times New Roman"/>
              </a:rPr>
              <a:t>a</a:t>
            </a:r>
            <a:r>
              <a:rPr sz="3050" b="1" spc="-80" dirty="0">
                <a:solidFill>
                  <a:srgbClr val="8B0101"/>
                </a:solidFill>
                <a:latin typeface="Times New Roman"/>
                <a:cs typeface="Times New Roman"/>
              </a:rPr>
              <a:t> </a:t>
            </a:r>
            <a:r>
              <a:rPr sz="3050" b="1" spc="-10" dirty="0">
                <a:solidFill>
                  <a:srgbClr val="8B0101"/>
                </a:solidFill>
                <a:latin typeface="Times New Roman"/>
                <a:cs typeface="Times New Roman"/>
              </a:rPr>
              <a:t>signé</a:t>
            </a:r>
            <a:endParaRPr sz="305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73182" y="4904769"/>
            <a:ext cx="3369992" cy="474974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7389510" y="9554081"/>
            <a:ext cx="365125" cy="35433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z="1900" spc="-25" dirty="0">
                <a:latin typeface="Lucida Sans Unicode"/>
                <a:cs typeface="Lucida Sans Unicode"/>
              </a:rPr>
              <a:t>25</a:t>
            </a:fld>
            <a:endParaRPr sz="19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612" y="512176"/>
            <a:ext cx="904240" cy="1033780"/>
          </a:xfrm>
          <a:custGeom>
            <a:avLst/>
            <a:gdLst/>
            <a:ahLst/>
            <a:cxnLst/>
            <a:rect l="l" t="t" r="r" b="b"/>
            <a:pathLst>
              <a:path w="904239" h="1033780">
                <a:moveTo>
                  <a:pt x="0" y="1033158"/>
                </a:moveTo>
                <a:lnTo>
                  <a:pt x="0" y="0"/>
                </a:lnTo>
                <a:lnTo>
                  <a:pt x="904014" y="516579"/>
                </a:lnTo>
                <a:lnTo>
                  <a:pt x="0" y="1033158"/>
                </a:lnTo>
                <a:close/>
              </a:path>
            </a:pathLst>
          </a:custGeom>
          <a:solidFill>
            <a:srgbClr val="B40C1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4697" rIns="0" bIns="0" rtlCol="0">
            <a:spAutoFit/>
          </a:bodyPr>
          <a:lstStyle/>
          <a:p>
            <a:pPr marL="298450">
              <a:lnSpc>
                <a:spcPct val="100000"/>
              </a:lnSpc>
              <a:spcBef>
                <a:spcPts val="140"/>
              </a:spcBef>
            </a:pPr>
            <a:r>
              <a:rPr sz="4400" dirty="0"/>
              <a:t>Le</a:t>
            </a:r>
            <a:r>
              <a:rPr sz="4400" spc="15" dirty="0"/>
              <a:t> </a:t>
            </a:r>
            <a:r>
              <a:rPr sz="4400" dirty="0"/>
              <a:t>certificat</a:t>
            </a:r>
            <a:r>
              <a:rPr sz="4400" spc="20" dirty="0"/>
              <a:t> </a:t>
            </a:r>
            <a:r>
              <a:rPr sz="4400" spc="-10" dirty="0"/>
              <a:t>numérique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852714" y="2671024"/>
            <a:ext cx="16840200" cy="2414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50" spc="225" dirty="0">
                <a:latin typeface="Times New Roman"/>
                <a:cs typeface="Times New Roman"/>
              </a:rPr>
              <a:t>Un</a:t>
            </a:r>
            <a:r>
              <a:rPr sz="3050" spc="-75" dirty="0">
                <a:latin typeface="Times New Roman"/>
                <a:cs typeface="Times New Roman"/>
              </a:rPr>
              <a:t> </a:t>
            </a:r>
            <a:r>
              <a:rPr sz="3050" spc="45" dirty="0">
                <a:latin typeface="Times New Roman"/>
                <a:cs typeface="Times New Roman"/>
              </a:rPr>
              <a:t>certificat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spc="75" dirty="0">
                <a:latin typeface="Times New Roman"/>
                <a:cs typeface="Times New Roman"/>
              </a:rPr>
              <a:t>numérique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est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b="1" spc="-190" dirty="0">
                <a:latin typeface="Times New Roman"/>
                <a:cs typeface="Times New Roman"/>
              </a:rPr>
              <a:t>un</a:t>
            </a:r>
            <a:r>
              <a:rPr sz="3050" b="1" dirty="0">
                <a:latin typeface="Times New Roman"/>
                <a:cs typeface="Times New Roman"/>
              </a:rPr>
              <a:t> </a:t>
            </a:r>
            <a:r>
              <a:rPr sz="3050" b="1" spc="-95" dirty="0">
                <a:latin typeface="Times New Roman"/>
                <a:cs typeface="Times New Roman"/>
              </a:rPr>
              <a:t>document</a:t>
            </a:r>
            <a:r>
              <a:rPr sz="3050" b="1" spc="-35" dirty="0">
                <a:latin typeface="Times New Roman"/>
                <a:cs typeface="Times New Roman"/>
              </a:rPr>
              <a:t> </a:t>
            </a:r>
            <a:r>
              <a:rPr sz="3050" b="1" spc="-45" dirty="0">
                <a:latin typeface="Times New Roman"/>
                <a:cs typeface="Times New Roman"/>
              </a:rPr>
              <a:t>crypté</a:t>
            </a:r>
            <a:r>
              <a:rPr sz="3050" b="1" spc="-40" dirty="0">
                <a:latin typeface="Times New Roman"/>
                <a:cs typeface="Times New Roman"/>
              </a:rPr>
              <a:t> </a:t>
            </a:r>
            <a:r>
              <a:rPr sz="3050" b="1" dirty="0">
                <a:latin typeface="Times New Roman"/>
                <a:cs typeface="Times New Roman"/>
              </a:rPr>
              <a:t>et</a:t>
            </a:r>
            <a:r>
              <a:rPr sz="3050" b="1" spc="-35" dirty="0">
                <a:latin typeface="Times New Roman"/>
                <a:cs typeface="Times New Roman"/>
              </a:rPr>
              <a:t> </a:t>
            </a:r>
            <a:r>
              <a:rPr sz="3050" b="1" spc="-25" dirty="0">
                <a:latin typeface="Times New Roman"/>
                <a:cs typeface="Times New Roman"/>
              </a:rPr>
              <a:t>signé</a:t>
            </a:r>
            <a:r>
              <a:rPr sz="3050" b="1" spc="-35" dirty="0">
                <a:latin typeface="Times New Roman"/>
                <a:cs typeface="Times New Roman"/>
              </a:rPr>
              <a:t> </a:t>
            </a:r>
            <a:r>
              <a:rPr sz="3050" spc="85" dirty="0">
                <a:latin typeface="Times New Roman"/>
                <a:cs typeface="Times New Roman"/>
              </a:rPr>
              <a:t>qui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spc="85" dirty="0">
                <a:latin typeface="Times New Roman"/>
                <a:cs typeface="Times New Roman"/>
              </a:rPr>
              <a:t>contient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b="1" spc="-30" dirty="0">
                <a:latin typeface="Times New Roman"/>
                <a:cs typeface="Times New Roman"/>
              </a:rPr>
              <a:t>des</a:t>
            </a:r>
            <a:r>
              <a:rPr sz="3050" b="1" spc="-35" dirty="0">
                <a:latin typeface="Times New Roman"/>
                <a:cs typeface="Times New Roman"/>
              </a:rPr>
              <a:t> </a:t>
            </a:r>
            <a:r>
              <a:rPr sz="3050" b="1" spc="-65" dirty="0">
                <a:latin typeface="Times New Roman"/>
                <a:cs typeface="Times New Roman"/>
              </a:rPr>
              <a:t>informations</a:t>
            </a:r>
            <a:r>
              <a:rPr sz="3050" b="1" spc="-30" dirty="0">
                <a:latin typeface="Times New Roman"/>
                <a:cs typeface="Times New Roman"/>
              </a:rPr>
              <a:t> </a:t>
            </a:r>
            <a:r>
              <a:rPr sz="3050" b="1" spc="-110" dirty="0">
                <a:latin typeface="Times New Roman"/>
                <a:cs typeface="Times New Roman"/>
              </a:rPr>
              <a:t>sur</a:t>
            </a:r>
            <a:r>
              <a:rPr sz="3050" b="1" spc="-40" dirty="0">
                <a:latin typeface="Times New Roman"/>
                <a:cs typeface="Times New Roman"/>
              </a:rPr>
              <a:t> </a:t>
            </a:r>
            <a:r>
              <a:rPr sz="3050" b="1" spc="-10" dirty="0">
                <a:latin typeface="Times New Roman"/>
                <a:cs typeface="Times New Roman"/>
              </a:rPr>
              <a:t>l’identification</a:t>
            </a:r>
            <a:endParaRPr sz="3050">
              <a:latin typeface="Times New Roman"/>
              <a:cs typeface="Times New Roman"/>
            </a:endParaRPr>
          </a:p>
          <a:p>
            <a:pPr marL="12700" marR="139065">
              <a:lnSpc>
                <a:spcPts val="7580"/>
              </a:lnSpc>
              <a:spcBef>
                <a:spcPts val="700"/>
              </a:spcBef>
            </a:pPr>
            <a:r>
              <a:rPr sz="3050" b="1" spc="-195" dirty="0">
                <a:latin typeface="Times New Roman"/>
                <a:cs typeface="Times New Roman"/>
              </a:rPr>
              <a:t>d’un</a:t>
            </a:r>
            <a:r>
              <a:rPr sz="3050" b="1" dirty="0">
                <a:latin typeface="Times New Roman"/>
                <a:cs typeface="Times New Roman"/>
              </a:rPr>
              <a:t> </a:t>
            </a:r>
            <a:r>
              <a:rPr sz="3050" b="1" spc="-125" dirty="0">
                <a:latin typeface="Times New Roman"/>
                <a:cs typeface="Times New Roman"/>
              </a:rPr>
              <a:t>serveur</a:t>
            </a:r>
            <a:r>
              <a:rPr sz="3050" b="1" spc="-5" dirty="0">
                <a:latin typeface="Times New Roman"/>
                <a:cs typeface="Times New Roman"/>
              </a:rPr>
              <a:t> </a:t>
            </a:r>
            <a:r>
              <a:rPr sz="3050" b="1" spc="-10" dirty="0">
                <a:latin typeface="Times New Roman"/>
                <a:cs typeface="Times New Roman"/>
              </a:rPr>
              <a:t>ou</a:t>
            </a:r>
            <a:r>
              <a:rPr sz="3050" b="1" dirty="0">
                <a:latin typeface="Times New Roman"/>
                <a:cs typeface="Times New Roman"/>
              </a:rPr>
              <a:t> </a:t>
            </a:r>
            <a:r>
              <a:rPr sz="3050" b="1" spc="-195" dirty="0">
                <a:latin typeface="Times New Roman"/>
                <a:cs typeface="Times New Roman"/>
              </a:rPr>
              <a:t>d’un</a:t>
            </a:r>
            <a:r>
              <a:rPr sz="3050" b="1" dirty="0">
                <a:latin typeface="Times New Roman"/>
                <a:cs typeface="Times New Roman"/>
              </a:rPr>
              <a:t> </a:t>
            </a:r>
            <a:r>
              <a:rPr sz="3050" b="1" spc="-65" dirty="0">
                <a:latin typeface="Times New Roman"/>
                <a:cs typeface="Times New Roman"/>
              </a:rPr>
              <a:t>utilisateur.</a:t>
            </a:r>
            <a:r>
              <a:rPr sz="3050" b="1" spc="-5" dirty="0">
                <a:latin typeface="Times New Roman"/>
                <a:cs typeface="Times New Roman"/>
              </a:rPr>
              <a:t> </a:t>
            </a:r>
            <a:r>
              <a:rPr sz="3050" spc="65" dirty="0">
                <a:latin typeface="Times New Roman"/>
                <a:cs typeface="Times New Roman"/>
              </a:rPr>
              <a:t>Il</a:t>
            </a:r>
            <a:r>
              <a:rPr sz="3050" dirty="0">
                <a:latin typeface="Times New Roman"/>
                <a:cs typeface="Times New Roman"/>
              </a:rPr>
              <a:t> lie </a:t>
            </a:r>
            <a:r>
              <a:rPr sz="3050" spc="90" dirty="0">
                <a:latin typeface="Times New Roman"/>
                <a:cs typeface="Times New Roman"/>
              </a:rPr>
              <a:t>une</a:t>
            </a:r>
            <a:r>
              <a:rPr sz="3050" dirty="0">
                <a:latin typeface="Times New Roman"/>
                <a:cs typeface="Times New Roman"/>
              </a:rPr>
              <a:t> clé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75" dirty="0">
                <a:latin typeface="Times New Roman"/>
                <a:cs typeface="Times New Roman"/>
              </a:rPr>
              <a:t>publique</a:t>
            </a:r>
            <a:r>
              <a:rPr sz="3050" dirty="0">
                <a:latin typeface="Times New Roman"/>
                <a:cs typeface="Times New Roman"/>
              </a:rPr>
              <a:t> </a:t>
            </a:r>
            <a:r>
              <a:rPr sz="3050" spc="175" dirty="0">
                <a:latin typeface="Times New Roman"/>
                <a:cs typeface="Times New Roman"/>
              </a:rPr>
              <a:t>à</a:t>
            </a:r>
            <a:r>
              <a:rPr sz="3050" dirty="0">
                <a:latin typeface="Times New Roman"/>
                <a:cs typeface="Times New Roman"/>
              </a:rPr>
              <a:t> l’identité </a:t>
            </a:r>
            <a:r>
              <a:rPr sz="3050" spc="65" dirty="0">
                <a:latin typeface="Times New Roman"/>
                <a:cs typeface="Times New Roman"/>
              </a:rPr>
              <a:t>de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90" dirty="0">
                <a:latin typeface="Times New Roman"/>
                <a:cs typeface="Times New Roman"/>
              </a:rPr>
              <a:t>son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70" dirty="0">
                <a:latin typeface="Times New Roman"/>
                <a:cs typeface="Times New Roman"/>
              </a:rPr>
              <a:t>propriétaire,</a:t>
            </a:r>
            <a:r>
              <a:rPr sz="3050" dirty="0">
                <a:latin typeface="Times New Roman"/>
                <a:cs typeface="Times New Roman"/>
              </a:rPr>
              <a:t> </a:t>
            </a:r>
            <a:r>
              <a:rPr sz="3050" spc="95" dirty="0">
                <a:latin typeface="Times New Roman"/>
                <a:cs typeface="Times New Roman"/>
              </a:rPr>
              <a:t>garantissant</a:t>
            </a:r>
            <a:r>
              <a:rPr sz="3050" dirty="0">
                <a:latin typeface="Times New Roman"/>
                <a:cs typeface="Times New Roman"/>
              </a:rPr>
              <a:t> </a:t>
            </a:r>
            <a:r>
              <a:rPr sz="3050" spc="-20" dirty="0">
                <a:latin typeface="Times New Roman"/>
                <a:cs typeface="Times New Roman"/>
              </a:rPr>
              <a:t>ainsi </a:t>
            </a:r>
            <a:r>
              <a:rPr sz="3050" spc="-10" dirty="0">
                <a:latin typeface="Times New Roman"/>
                <a:cs typeface="Times New Roman"/>
              </a:rPr>
              <a:t>l’authenticité.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20311" y="6521483"/>
            <a:ext cx="15519400" cy="1196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100" dirty="0">
                <a:solidFill>
                  <a:srgbClr val="8B0101"/>
                </a:solidFill>
                <a:latin typeface="Arial Black"/>
                <a:cs typeface="Arial Black"/>
              </a:rPr>
              <a:t>Garantir</a:t>
            </a:r>
            <a:r>
              <a:rPr sz="2500" spc="-155" dirty="0">
                <a:solidFill>
                  <a:srgbClr val="8B0101"/>
                </a:solidFill>
                <a:latin typeface="Arial Black"/>
                <a:cs typeface="Arial Black"/>
              </a:rPr>
              <a:t> </a:t>
            </a:r>
            <a:r>
              <a:rPr sz="2500" spc="-110" dirty="0">
                <a:solidFill>
                  <a:srgbClr val="8B0101"/>
                </a:solidFill>
                <a:latin typeface="Arial Black"/>
                <a:cs typeface="Arial Black"/>
              </a:rPr>
              <a:t>que</a:t>
            </a:r>
            <a:r>
              <a:rPr sz="2500" spc="-155" dirty="0">
                <a:solidFill>
                  <a:srgbClr val="8B0101"/>
                </a:solidFill>
                <a:latin typeface="Arial Black"/>
                <a:cs typeface="Arial Black"/>
              </a:rPr>
              <a:t> </a:t>
            </a:r>
            <a:r>
              <a:rPr sz="2500" spc="-130" dirty="0">
                <a:solidFill>
                  <a:srgbClr val="8B0101"/>
                </a:solidFill>
                <a:latin typeface="Arial Black"/>
                <a:cs typeface="Arial Black"/>
              </a:rPr>
              <a:t>la</a:t>
            </a:r>
            <a:r>
              <a:rPr sz="2500" spc="-160" dirty="0">
                <a:solidFill>
                  <a:srgbClr val="8B0101"/>
                </a:solidFill>
                <a:latin typeface="Arial Black"/>
                <a:cs typeface="Arial Black"/>
              </a:rPr>
              <a:t> </a:t>
            </a:r>
            <a:r>
              <a:rPr sz="2500" spc="-229" dirty="0">
                <a:solidFill>
                  <a:srgbClr val="8B0101"/>
                </a:solidFill>
                <a:latin typeface="Arial Black"/>
                <a:cs typeface="Arial Black"/>
              </a:rPr>
              <a:t>clé</a:t>
            </a:r>
            <a:r>
              <a:rPr sz="2500" spc="-155" dirty="0">
                <a:solidFill>
                  <a:srgbClr val="8B0101"/>
                </a:solidFill>
                <a:latin typeface="Arial Black"/>
                <a:cs typeface="Arial Black"/>
              </a:rPr>
              <a:t> </a:t>
            </a:r>
            <a:r>
              <a:rPr sz="2500" spc="-90" dirty="0">
                <a:solidFill>
                  <a:srgbClr val="8B0101"/>
                </a:solidFill>
                <a:latin typeface="Arial Black"/>
                <a:cs typeface="Arial Black"/>
              </a:rPr>
              <a:t>publique</a:t>
            </a:r>
            <a:r>
              <a:rPr sz="2500" spc="-155" dirty="0">
                <a:solidFill>
                  <a:srgbClr val="8B0101"/>
                </a:solidFill>
                <a:latin typeface="Arial Black"/>
                <a:cs typeface="Arial Black"/>
              </a:rPr>
              <a:t> </a:t>
            </a:r>
            <a:r>
              <a:rPr sz="2500" spc="-95" dirty="0">
                <a:solidFill>
                  <a:srgbClr val="8B0101"/>
                </a:solidFill>
                <a:latin typeface="Arial Black"/>
                <a:cs typeface="Arial Black"/>
              </a:rPr>
              <a:t>appartient</a:t>
            </a:r>
            <a:r>
              <a:rPr sz="2500" spc="-155" dirty="0">
                <a:solidFill>
                  <a:srgbClr val="8B0101"/>
                </a:solidFill>
                <a:latin typeface="Arial Black"/>
                <a:cs typeface="Arial Black"/>
              </a:rPr>
              <a:t> </a:t>
            </a:r>
            <a:r>
              <a:rPr sz="2500" spc="-110" dirty="0">
                <a:solidFill>
                  <a:srgbClr val="8B0101"/>
                </a:solidFill>
                <a:latin typeface="Arial Black"/>
                <a:cs typeface="Arial Black"/>
              </a:rPr>
              <a:t>bien</a:t>
            </a:r>
            <a:r>
              <a:rPr sz="2500" spc="-155" dirty="0">
                <a:solidFill>
                  <a:srgbClr val="8B0101"/>
                </a:solidFill>
                <a:latin typeface="Arial Black"/>
                <a:cs typeface="Arial Black"/>
              </a:rPr>
              <a:t> </a:t>
            </a:r>
            <a:r>
              <a:rPr sz="2500" spc="-175" dirty="0">
                <a:solidFill>
                  <a:srgbClr val="8B0101"/>
                </a:solidFill>
                <a:latin typeface="Arial Black"/>
                <a:cs typeface="Arial Black"/>
              </a:rPr>
              <a:t>à</a:t>
            </a:r>
            <a:r>
              <a:rPr sz="2500" spc="-155" dirty="0">
                <a:solidFill>
                  <a:srgbClr val="8B0101"/>
                </a:solidFill>
                <a:latin typeface="Arial Black"/>
                <a:cs typeface="Arial Black"/>
              </a:rPr>
              <a:t> </a:t>
            </a:r>
            <a:r>
              <a:rPr sz="2500" spc="-130" dirty="0">
                <a:solidFill>
                  <a:srgbClr val="8B0101"/>
                </a:solidFill>
                <a:latin typeface="Arial Black"/>
                <a:cs typeface="Arial Black"/>
              </a:rPr>
              <a:t>la</a:t>
            </a:r>
            <a:r>
              <a:rPr sz="2500" spc="-155" dirty="0">
                <a:solidFill>
                  <a:srgbClr val="8B0101"/>
                </a:solidFill>
                <a:latin typeface="Arial Black"/>
                <a:cs typeface="Arial Black"/>
              </a:rPr>
              <a:t> </a:t>
            </a:r>
            <a:r>
              <a:rPr sz="2500" spc="-125" dirty="0">
                <a:solidFill>
                  <a:srgbClr val="8B0101"/>
                </a:solidFill>
                <a:latin typeface="Arial Black"/>
                <a:cs typeface="Arial Black"/>
              </a:rPr>
              <a:t>personne</a:t>
            </a:r>
            <a:r>
              <a:rPr sz="2500" spc="-155" dirty="0">
                <a:solidFill>
                  <a:srgbClr val="8B0101"/>
                </a:solidFill>
                <a:latin typeface="Arial Black"/>
                <a:cs typeface="Arial Black"/>
              </a:rPr>
              <a:t> </a:t>
            </a:r>
            <a:r>
              <a:rPr sz="2500" spc="-85" dirty="0">
                <a:solidFill>
                  <a:srgbClr val="8B0101"/>
                </a:solidFill>
                <a:latin typeface="Arial Black"/>
                <a:cs typeface="Arial Black"/>
              </a:rPr>
              <a:t>ou</a:t>
            </a:r>
            <a:r>
              <a:rPr sz="2500" spc="-155" dirty="0">
                <a:solidFill>
                  <a:srgbClr val="8B0101"/>
                </a:solidFill>
                <a:latin typeface="Arial Black"/>
                <a:cs typeface="Arial Black"/>
              </a:rPr>
              <a:t> </a:t>
            </a:r>
            <a:r>
              <a:rPr sz="2500" spc="-110" dirty="0">
                <a:solidFill>
                  <a:srgbClr val="8B0101"/>
                </a:solidFill>
                <a:latin typeface="Arial Black"/>
                <a:cs typeface="Arial Black"/>
              </a:rPr>
              <a:t>l’entité</a:t>
            </a:r>
            <a:r>
              <a:rPr sz="2500" spc="-155" dirty="0">
                <a:solidFill>
                  <a:srgbClr val="8B0101"/>
                </a:solidFill>
                <a:latin typeface="Arial Black"/>
                <a:cs typeface="Arial Black"/>
              </a:rPr>
              <a:t> annoncée </a:t>
            </a:r>
            <a:r>
              <a:rPr sz="2500" spc="-60" dirty="0">
                <a:solidFill>
                  <a:srgbClr val="8B0101"/>
                </a:solidFill>
                <a:latin typeface="Arial Black"/>
                <a:cs typeface="Arial Black"/>
              </a:rPr>
              <a:t>(authentification).</a:t>
            </a:r>
            <a:endParaRPr sz="2500">
              <a:latin typeface="Arial Black"/>
              <a:cs typeface="Arial Black"/>
            </a:endParaRPr>
          </a:p>
          <a:p>
            <a:pPr marL="139700">
              <a:lnSpc>
                <a:spcPct val="100000"/>
              </a:lnSpc>
              <a:spcBef>
                <a:spcPts val="3225"/>
              </a:spcBef>
            </a:pPr>
            <a:r>
              <a:rPr sz="2500" spc="-135" dirty="0">
                <a:solidFill>
                  <a:srgbClr val="8B0101"/>
                </a:solidFill>
                <a:latin typeface="Arial Black"/>
                <a:cs typeface="Arial Black"/>
              </a:rPr>
              <a:t>Servir</a:t>
            </a:r>
            <a:r>
              <a:rPr sz="2500" spc="-155" dirty="0">
                <a:solidFill>
                  <a:srgbClr val="8B0101"/>
                </a:solidFill>
                <a:latin typeface="Arial Black"/>
                <a:cs typeface="Arial Black"/>
              </a:rPr>
              <a:t> </a:t>
            </a:r>
            <a:r>
              <a:rPr sz="2500" spc="-150" dirty="0">
                <a:solidFill>
                  <a:srgbClr val="8B0101"/>
                </a:solidFill>
                <a:latin typeface="Arial Black"/>
                <a:cs typeface="Arial Black"/>
              </a:rPr>
              <a:t>de</a:t>
            </a:r>
            <a:r>
              <a:rPr sz="2500" spc="-155" dirty="0">
                <a:solidFill>
                  <a:srgbClr val="8B0101"/>
                </a:solidFill>
                <a:latin typeface="Arial Black"/>
                <a:cs typeface="Arial Black"/>
              </a:rPr>
              <a:t> </a:t>
            </a:r>
            <a:r>
              <a:rPr sz="2500" spc="-110" dirty="0">
                <a:solidFill>
                  <a:srgbClr val="8B0101"/>
                </a:solidFill>
                <a:latin typeface="Arial Black"/>
                <a:cs typeface="Arial Black"/>
              </a:rPr>
              <a:t>preuve</a:t>
            </a:r>
            <a:r>
              <a:rPr sz="2500" spc="-155" dirty="0">
                <a:solidFill>
                  <a:srgbClr val="8B0101"/>
                </a:solidFill>
                <a:latin typeface="Arial Black"/>
                <a:cs typeface="Arial Black"/>
              </a:rPr>
              <a:t> </a:t>
            </a:r>
            <a:r>
              <a:rPr sz="2500" spc="-150" dirty="0">
                <a:solidFill>
                  <a:srgbClr val="8B0101"/>
                </a:solidFill>
                <a:latin typeface="Arial Black"/>
                <a:cs typeface="Arial Black"/>
              </a:rPr>
              <a:t>dans</a:t>
            </a:r>
            <a:r>
              <a:rPr sz="2500" spc="-155" dirty="0">
                <a:solidFill>
                  <a:srgbClr val="8B0101"/>
                </a:solidFill>
                <a:latin typeface="Arial Black"/>
                <a:cs typeface="Arial Black"/>
              </a:rPr>
              <a:t> </a:t>
            </a:r>
            <a:r>
              <a:rPr sz="2500" spc="-40" dirty="0">
                <a:solidFill>
                  <a:srgbClr val="8B0101"/>
                </a:solidFill>
                <a:latin typeface="Arial Black"/>
                <a:cs typeface="Arial Black"/>
              </a:rPr>
              <a:t>un</a:t>
            </a:r>
            <a:r>
              <a:rPr sz="2500" spc="-155" dirty="0">
                <a:solidFill>
                  <a:srgbClr val="8B0101"/>
                </a:solidFill>
                <a:latin typeface="Arial Black"/>
                <a:cs typeface="Arial Black"/>
              </a:rPr>
              <a:t> </a:t>
            </a:r>
            <a:r>
              <a:rPr sz="2500" spc="-95" dirty="0">
                <a:solidFill>
                  <a:srgbClr val="8B0101"/>
                </a:solidFill>
                <a:latin typeface="Arial Black"/>
                <a:cs typeface="Arial Black"/>
              </a:rPr>
              <a:t>environnement</a:t>
            </a:r>
            <a:r>
              <a:rPr sz="2500" spc="-155" dirty="0">
                <a:solidFill>
                  <a:srgbClr val="8B0101"/>
                </a:solidFill>
                <a:latin typeface="Arial Black"/>
                <a:cs typeface="Arial Black"/>
              </a:rPr>
              <a:t> </a:t>
            </a:r>
            <a:r>
              <a:rPr sz="2500" spc="-150" dirty="0">
                <a:solidFill>
                  <a:srgbClr val="8B0101"/>
                </a:solidFill>
                <a:latin typeface="Arial Black"/>
                <a:cs typeface="Arial Black"/>
              </a:rPr>
              <a:t>de</a:t>
            </a:r>
            <a:r>
              <a:rPr sz="2500" spc="-155" dirty="0">
                <a:solidFill>
                  <a:srgbClr val="8B0101"/>
                </a:solidFill>
                <a:latin typeface="Arial Black"/>
                <a:cs typeface="Arial Black"/>
              </a:rPr>
              <a:t> </a:t>
            </a:r>
            <a:r>
              <a:rPr sz="2500" spc="-165" dirty="0">
                <a:solidFill>
                  <a:srgbClr val="8B0101"/>
                </a:solidFill>
                <a:latin typeface="Arial Black"/>
                <a:cs typeface="Arial Black"/>
              </a:rPr>
              <a:t>confiance</a:t>
            </a:r>
            <a:r>
              <a:rPr sz="2500" spc="-155" dirty="0">
                <a:solidFill>
                  <a:srgbClr val="8B0101"/>
                </a:solidFill>
                <a:latin typeface="Arial Black"/>
                <a:cs typeface="Arial Black"/>
              </a:rPr>
              <a:t> </a:t>
            </a:r>
            <a:r>
              <a:rPr sz="2500" spc="-204" dirty="0">
                <a:solidFill>
                  <a:srgbClr val="8B0101"/>
                </a:solidFill>
                <a:latin typeface="Arial Black"/>
                <a:cs typeface="Arial Black"/>
              </a:rPr>
              <a:t>grâce</a:t>
            </a:r>
            <a:r>
              <a:rPr sz="2500" spc="-155" dirty="0">
                <a:solidFill>
                  <a:srgbClr val="8B0101"/>
                </a:solidFill>
                <a:latin typeface="Arial Black"/>
                <a:cs typeface="Arial Black"/>
              </a:rPr>
              <a:t> </a:t>
            </a:r>
            <a:r>
              <a:rPr sz="2500" spc="-175" dirty="0">
                <a:solidFill>
                  <a:srgbClr val="8B0101"/>
                </a:solidFill>
                <a:latin typeface="Arial Black"/>
                <a:cs typeface="Arial Black"/>
              </a:rPr>
              <a:t>à</a:t>
            </a:r>
            <a:r>
              <a:rPr sz="2500" spc="-155" dirty="0">
                <a:solidFill>
                  <a:srgbClr val="8B0101"/>
                </a:solidFill>
                <a:latin typeface="Arial Black"/>
                <a:cs typeface="Arial Black"/>
              </a:rPr>
              <a:t> </a:t>
            </a:r>
            <a:r>
              <a:rPr sz="2500" spc="-100" dirty="0">
                <a:solidFill>
                  <a:srgbClr val="8B0101"/>
                </a:solidFill>
                <a:latin typeface="Arial Black"/>
                <a:cs typeface="Arial Black"/>
              </a:rPr>
              <a:t>une</a:t>
            </a:r>
            <a:r>
              <a:rPr sz="2500" spc="-155" dirty="0">
                <a:solidFill>
                  <a:srgbClr val="8B0101"/>
                </a:solidFill>
                <a:latin typeface="Arial Black"/>
                <a:cs typeface="Arial Black"/>
              </a:rPr>
              <a:t> </a:t>
            </a:r>
            <a:r>
              <a:rPr sz="2500" spc="-95" dirty="0">
                <a:solidFill>
                  <a:srgbClr val="8B0101"/>
                </a:solidFill>
                <a:latin typeface="Arial Black"/>
                <a:cs typeface="Arial Black"/>
              </a:rPr>
              <a:t>Autorité</a:t>
            </a:r>
            <a:r>
              <a:rPr sz="2500" spc="-155" dirty="0">
                <a:solidFill>
                  <a:srgbClr val="8B0101"/>
                </a:solidFill>
                <a:latin typeface="Arial Black"/>
                <a:cs typeface="Arial Black"/>
              </a:rPr>
              <a:t> </a:t>
            </a:r>
            <a:r>
              <a:rPr sz="2500" spc="-150" dirty="0">
                <a:solidFill>
                  <a:srgbClr val="8B0101"/>
                </a:solidFill>
                <a:latin typeface="Arial Black"/>
                <a:cs typeface="Arial Black"/>
              </a:rPr>
              <a:t>de</a:t>
            </a:r>
            <a:r>
              <a:rPr sz="2500" spc="-155" dirty="0">
                <a:solidFill>
                  <a:srgbClr val="8B0101"/>
                </a:solidFill>
                <a:latin typeface="Arial Black"/>
                <a:cs typeface="Arial Black"/>
              </a:rPr>
              <a:t> </a:t>
            </a:r>
            <a:r>
              <a:rPr sz="2500" spc="-130" dirty="0">
                <a:solidFill>
                  <a:srgbClr val="8B0101"/>
                </a:solidFill>
                <a:latin typeface="Arial Black"/>
                <a:cs typeface="Arial Black"/>
              </a:rPr>
              <a:t>Certification</a:t>
            </a:r>
            <a:r>
              <a:rPr sz="2500" spc="-155" dirty="0">
                <a:solidFill>
                  <a:srgbClr val="8B0101"/>
                </a:solidFill>
                <a:latin typeface="Arial Black"/>
                <a:cs typeface="Arial Black"/>
              </a:rPr>
              <a:t> </a:t>
            </a:r>
            <a:r>
              <a:rPr sz="2500" spc="-20" dirty="0">
                <a:solidFill>
                  <a:srgbClr val="8B0101"/>
                </a:solidFill>
                <a:latin typeface="Arial Black"/>
                <a:cs typeface="Arial Black"/>
              </a:rPr>
              <a:t>(CA).</a:t>
            </a:r>
            <a:endParaRPr sz="2500">
              <a:latin typeface="Arial Black"/>
              <a:cs typeface="Arial Black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028700" y="6543675"/>
            <a:ext cx="485775" cy="1168400"/>
            <a:chOff x="1028700" y="6543675"/>
            <a:chExt cx="485775" cy="116840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8700" y="6543675"/>
              <a:ext cx="485774" cy="4095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8700" y="7302168"/>
              <a:ext cx="485774" cy="409574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7389510" y="9554081"/>
            <a:ext cx="365125" cy="35433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z="1900" spc="-25" dirty="0">
                <a:latin typeface="Lucida Sans Unicode"/>
                <a:cs typeface="Lucida Sans Unicode"/>
              </a:rPr>
              <a:t>26</a:t>
            </a:fld>
            <a:endParaRPr sz="19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612" y="512176"/>
            <a:ext cx="904240" cy="1033780"/>
          </a:xfrm>
          <a:custGeom>
            <a:avLst/>
            <a:gdLst/>
            <a:ahLst/>
            <a:cxnLst/>
            <a:rect l="l" t="t" r="r" b="b"/>
            <a:pathLst>
              <a:path w="904239" h="1033780">
                <a:moveTo>
                  <a:pt x="0" y="1033158"/>
                </a:moveTo>
                <a:lnTo>
                  <a:pt x="0" y="0"/>
                </a:lnTo>
                <a:lnTo>
                  <a:pt x="904014" y="516579"/>
                </a:lnTo>
                <a:lnTo>
                  <a:pt x="0" y="1033158"/>
                </a:lnTo>
                <a:close/>
              </a:path>
            </a:pathLst>
          </a:custGeom>
          <a:solidFill>
            <a:srgbClr val="B40C1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52880" y="642715"/>
            <a:ext cx="6304915" cy="7023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4400" dirty="0"/>
              <a:t>Le</a:t>
            </a:r>
            <a:r>
              <a:rPr sz="4400" spc="15" dirty="0"/>
              <a:t> </a:t>
            </a:r>
            <a:r>
              <a:rPr sz="4400" dirty="0"/>
              <a:t>certificat</a:t>
            </a:r>
            <a:r>
              <a:rPr sz="4400" spc="20" dirty="0"/>
              <a:t> </a:t>
            </a:r>
            <a:r>
              <a:rPr sz="4400" spc="-10" dirty="0"/>
              <a:t>numérique</a:t>
            </a:r>
            <a:endParaRPr sz="44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0820" y="3370168"/>
            <a:ext cx="104775" cy="1047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0820" y="4379818"/>
            <a:ext cx="104775" cy="1047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0820" y="5389468"/>
            <a:ext cx="104775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0820" y="6399118"/>
            <a:ext cx="104775" cy="1047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0820" y="7408768"/>
            <a:ext cx="104775" cy="1047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0820" y="8418417"/>
            <a:ext cx="104775" cy="10477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759408" y="2080833"/>
            <a:ext cx="11628120" cy="6569709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40"/>
              </a:spcBef>
            </a:pPr>
            <a:r>
              <a:rPr sz="3150" b="1" spc="-50" dirty="0">
                <a:latin typeface="Times New Roman"/>
                <a:cs typeface="Times New Roman"/>
              </a:rPr>
              <a:t>Comporte</a:t>
            </a:r>
            <a:r>
              <a:rPr sz="3150" b="1" spc="-105" dirty="0">
                <a:latin typeface="Times New Roman"/>
                <a:cs typeface="Times New Roman"/>
              </a:rPr>
              <a:t> </a:t>
            </a:r>
            <a:r>
              <a:rPr sz="3150" b="1" spc="-50" dirty="0">
                <a:latin typeface="Times New Roman"/>
                <a:cs typeface="Times New Roman"/>
              </a:rPr>
              <a:t>généralement,</a:t>
            </a:r>
            <a:r>
              <a:rPr sz="3150" b="1" spc="-100" dirty="0">
                <a:latin typeface="Times New Roman"/>
                <a:cs typeface="Times New Roman"/>
              </a:rPr>
              <a:t> </a:t>
            </a:r>
            <a:r>
              <a:rPr sz="3150" b="1" dirty="0">
                <a:latin typeface="Times New Roman"/>
                <a:cs typeface="Times New Roman"/>
              </a:rPr>
              <a:t>et</a:t>
            </a:r>
            <a:r>
              <a:rPr sz="3150" b="1" spc="-105" dirty="0">
                <a:latin typeface="Times New Roman"/>
                <a:cs typeface="Times New Roman"/>
              </a:rPr>
              <a:t> </a:t>
            </a:r>
            <a:r>
              <a:rPr sz="3150" b="1" dirty="0">
                <a:latin typeface="Times New Roman"/>
                <a:cs typeface="Times New Roman"/>
              </a:rPr>
              <a:t>selon</a:t>
            </a:r>
            <a:r>
              <a:rPr sz="3150" b="1" spc="-100" dirty="0">
                <a:latin typeface="Times New Roman"/>
                <a:cs typeface="Times New Roman"/>
              </a:rPr>
              <a:t> </a:t>
            </a:r>
            <a:r>
              <a:rPr sz="3150" b="1" dirty="0">
                <a:latin typeface="Times New Roman"/>
                <a:cs typeface="Times New Roman"/>
              </a:rPr>
              <a:t>le</a:t>
            </a:r>
            <a:r>
              <a:rPr sz="3150" b="1" spc="-100" dirty="0">
                <a:latin typeface="Times New Roman"/>
                <a:cs typeface="Times New Roman"/>
              </a:rPr>
              <a:t> </a:t>
            </a:r>
            <a:r>
              <a:rPr sz="3150" b="1" spc="-35" dirty="0">
                <a:latin typeface="Times New Roman"/>
                <a:cs typeface="Times New Roman"/>
              </a:rPr>
              <a:t>format</a:t>
            </a:r>
            <a:r>
              <a:rPr sz="3150" b="1" spc="-105" dirty="0">
                <a:latin typeface="Times New Roman"/>
                <a:cs typeface="Times New Roman"/>
              </a:rPr>
              <a:t> </a:t>
            </a:r>
            <a:r>
              <a:rPr sz="3150" b="1" dirty="0">
                <a:latin typeface="Times New Roman"/>
                <a:cs typeface="Times New Roman"/>
              </a:rPr>
              <a:t>de</a:t>
            </a:r>
            <a:r>
              <a:rPr sz="3150" b="1" spc="-100" dirty="0">
                <a:latin typeface="Times New Roman"/>
                <a:cs typeface="Times New Roman"/>
              </a:rPr>
              <a:t> </a:t>
            </a:r>
            <a:r>
              <a:rPr sz="3150" b="1" dirty="0">
                <a:latin typeface="Times New Roman"/>
                <a:cs typeface="Times New Roman"/>
              </a:rPr>
              <a:t>sa</a:t>
            </a:r>
            <a:r>
              <a:rPr sz="3150" b="1" spc="-105" dirty="0">
                <a:latin typeface="Times New Roman"/>
                <a:cs typeface="Times New Roman"/>
              </a:rPr>
              <a:t> </a:t>
            </a:r>
            <a:r>
              <a:rPr sz="3150" b="1" spc="-75" dirty="0">
                <a:latin typeface="Times New Roman"/>
                <a:cs typeface="Times New Roman"/>
              </a:rPr>
              <a:t>norme</a:t>
            </a:r>
            <a:r>
              <a:rPr sz="3150" b="1" spc="-100" dirty="0">
                <a:latin typeface="Times New Roman"/>
                <a:cs typeface="Times New Roman"/>
              </a:rPr>
              <a:t> </a:t>
            </a:r>
            <a:r>
              <a:rPr sz="3150" b="1" dirty="0">
                <a:latin typeface="Times New Roman"/>
                <a:cs typeface="Times New Roman"/>
              </a:rPr>
              <a:t>(ex:</a:t>
            </a:r>
            <a:r>
              <a:rPr sz="3150" b="1" spc="-100" dirty="0">
                <a:latin typeface="Times New Roman"/>
                <a:cs typeface="Times New Roman"/>
              </a:rPr>
              <a:t> </a:t>
            </a:r>
            <a:r>
              <a:rPr sz="3150" b="1" spc="-10" dirty="0">
                <a:latin typeface="Times New Roman"/>
                <a:cs typeface="Times New Roman"/>
              </a:rPr>
              <a:t>x.509v3):</a:t>
            </a:r>
            <a:endParaRPr sz="3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3150">
              <a:latin typeface="Times New Roman"/>
              <a:cs typeface="Times New Roman"/>
            </a:endParaRPr>
          </a:p>
          <a:p>
            <a:pPr marL="80645" algn="ctr">
              <a:lnSpc>
                <a:spcPct val="100000"/>
              </a:lnSpc>
            </a:pPr>
            <a:r>
              <a:rPr sz="3150" spc="170" dirty="0">
                <a:latin typeface="Times New Roman"/>
                <a:cs typeface="Times New Roman"/>
              </a:rPr>
              <a:t>un</a:t>
            </a:r>
            <a:r>
              <a:rPr sz="3150" spc="5" dirty="0">
                <a:latin typeface="Times New Roman"/>
                <a:cs typeface="Times New Roman"/>
              </a:rPr>
              <a:t> </a:t>
            </a:r>
            <a:r>
              <a:rPr sz="3150" spc="100" dirty="0">
                <a:latin typeface="Times New Roman"/>
                <a:cs typeface="Times New Roman"/>
              </a:rPr>
              <a:t>numéro</a:t>
            </a:r>
            <a:r>
              <a:rPr sz="3150" spc="10" dirty="0">
                <a:latin typeface="Times New Roman"/>
                <a:cs typeface="Times New Roman"/>
              </a:rPr>
              <a:t> </a:t>
            </a:r>
            <a:r>
              <a:rPr sz="3150" spc="65" dirty="0">
                <a:latin typeface="Times New Roman"/>
                <a:cs typeface="Times New Roman"/>
              </a:rPr>
              <a:t>d’identification</a:t>
            </a:r>
            <a:r>
              <a:rPr sz="3150" spc="5" dirty="0">
                <a:latin typeface="Times New Roman"/>
                <a:cs typeface="Times New Roman"/>
              </a:rPr>
              <a:t> </a:t>
            </a:r>
            <a:r>
              <a:rPr sz="3150" spc="170" dirty="0">
                <a:latin typeface="Times New Roman"/>
                <a:cs typeface="Times New Roman"/>
              </a:rPr>
              <a:t>du</a:t>
            </a:r>
            <a:r>
              <a:rPr sz="3150" spc="10" dirty="0">
                <a:latin typeface="Times New Roman"/>
                <a:cs typeface="Times New Roman"/>
              </a:rPr>
              <a:t> </a:t>
            </a:r>
            <a:r>
              <a:rPr sz="3150" spc="55" dirty="0">
                <a:latin typeface="Times New Roman"/>
                <a:cs typeface="Times New Roman"/>
              </a:rPr>
              <a:t>certificat</a:t>
            </a:r>
            <a:r>
              <a:rPr sz="3150" spc="10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:</a:t>
            </a:r>
            <a:r>
              <a:rPr sz="3150" spc="5" dirty="0">
                <a:latin typeface="Times New Roman"/>
                <a:cs typeface="Times New Roman"/>
              </a:rPr>
              <a:t> </a:t>
            </a:r>
            <a:r>
              <a:rPr sz="3150" spc="165" dirty="0">
                <a:latin typeface="Times New Roman"/>
                <a:cs typeface="Times New Roman"/>
              </a:rPr>
              <a:t>N°</a:t>
            </a:r>
            <a:r>
              <a:rPr sz="3150" spc="10" dirty="0">
                <a:latin typeface="Times New Roman"/>
                <a:cs typeface="Times New Roman"/>
              </a:rPr>
              <a:t> </a:t>
            </a:r>
            <a:r>
              <a:rPr sz="3150" spc="75" dirty="0">
                <a:latin typeface="Times New Roman"/>
                <a:cs typeface="Times New Roman"/>
              </a:rPr>
              <a:t>de</a:t>
            </a:r>
            <a:r>
              <a:rPr sz="3150" spc="10" dirty="0">
                <a:latin typeface="Times New Roman"/>
                <a:cs typeface="Times New Roman"/>
              </a:rPr>
              <a:t> </a:t>
            </a:r>
            <a:r>
              <a:rPr sz="3150" spc="-10" dirty="0">
                <a:latin typeface="Times New Roman"/>
                <a:cs typeface="Times New Roman"/>
              </a:rPr>
              <a:t>série</a:t>
            </a:r>
            <a:endParaRPr sz="3150">
              <a:latin typeface="Times New Roman"/>
              <a:cs typeface="Times New Roman"/>
            </a:endParaRPr>
          </a:p>
          <a:p>
            <a:pPr marL="1390015" marR="339090">
              <a:lnSpc>
                <a:spcPct val="210300"/>
              </a:lnSpc>
            </a:pPr>
            <a:r>
              <a:rPr sz="3150" spc="165" dirty="0">
                <a:latin typeface="Times New Roman"/>
                <a:cs typeface="Times New Roman"/>
              </a:rPr>
              <a:t>nom</a:t>
            </a:r>
            <a:r>
              <a:rPr sz="3150" spc="10" dirty="0">
                <a:latin typeface="Times New Roman"/>
                <a:cs typeface="Times New Roman"/>
              </a:rPr>
              <a:t> </a:t>
            </a:r>
            <a:r>
              <a:rPr sz="3150" spc="170" dirty="0">
                <a:latin typeface="Times New Roman"/>
                <a:cs typeface="Times New Roman"/>
              </a:rPr>
              <a:t>du</a:t>
            </a:r>
            <a:r>
              <a:rPr sz="3150" spc="10" dirty="0">
                <a:latin typeface="Times New Roman"/>
                <a:cs typeface="Times New Roman"/>
              </a:rPr>
              <a:t> </a:t>
            </a:r>
            <a:r>
              <a:rPr sz="3150" spc="105" dirty="0">
                <a:latin typeface="Times New Roman"/>
                <a:cs typeface="Times New Roman"/>
              </a:rPr>
              <a:t>détenteur</a:t>
            </a:r>
            <a:r>
              <a:rPr sz="3150" spc="10" dirty="0">
                <a:latin typeface="Times New Roman"/>
                <a:cs typeface="Times New Roman"/>
              </a:rPr>
              <a:t> </a:t>
            </a:r>
            <a:r>
              <a:rPr sz="3150" spc="75" dirty="0">
                <a:latin typeface="Times New Roman"/>
                <a:cs typeface="Times New Roman"/>
              </a:rPr>
              <a:t>de</a:t>
            </a:r>
            <a:r>
              <a:rPr sz="3150" spc="10" dirty="0">
                <a:latin typeface="Times New Roman"/>
                <a:cs typeface="Times New Roman"/>
              </a:rPr>
              <a:t> </a:t>
            </a:r>
            <a:r>
              <a:rPr sz="3150" spc="75" dirty="0">
                <a:latin typeface="Times New Roman"/>
                <a:cs typeface="Times New Roman"/>
              </a:rPr>
              <a:t>la</a:t>
            </a:r>
            <a:r>
              <a:rPr sz="3150" spc="10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clé</a:t>
            </a:r>
            <a:r>
              <a:rPr sz="3150" spc="10" dirty="0">
                <a:latin typeface="Times New Roman"/>
                <a:cs typeface="Times New Roman"/>
              </a:rPr>
              <a:t> </a:t>
            </a:r>
            <a:r>
              <a:rPr sz="3150" spc="75" dirty="0">
                <a:latin typeface="Times New Roman"/>
                <a:cs typeface="Times New Roman"/>
              </a:rPr>
              <a:t>publique:</a:t>
            </a:r>
            <a:r>
              <a:rPr sz="3150" spc="10" dirty="0">
                <a:latin typeface="Times New Roman"/>
                <a:cs typeface="Times New Roman"/>
              </a:rPr>
              <a:t> </a:t>
            </a:r>
            <a:r>
              <a:rPr sz="3150" spc="85" dirty="0">
                <a:latin typeface="Times New Roman"/>
                <a:cs typeface="Times New Roman"/>
              </a:rPr>
              <a:t>Distinguished</a:t>
            </a:r>
            <a:r>
              <a:rPr sz="3150" spc="10" dirty="0">
                <a:latin typeface="Times New Roman"/>
                <a:cs typeface="Times New Roman"/>
              </a:rPr>
              <a:t> </a:t>
            </a:r>
            <a:r>
              <a:rPr sz="3150" spc="145" dirty="0">
                <a:latin typeface="Times New Roman"/>
                <a:cs typeface="Times New Roman"/>
              </a:rPr>
              <a:t>Name </a:t>
            </a:r>
            <a:r>
              <a:rPr sz="3150" spc="105" dirty="0">
                <a:latin typeface="Times New Roman"/>
                <a:cs typeface="Times New Roman"/>
              </a:rPr>
              <a:t>une</a:t>
            </a:r>
            <a:r>
              <a:rPr sz="3150" spc="-5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clé </a:t>
            </a:r>
            <a:r>
              <a:rPr sz="3150" spc="90" dirty="0">
                <a:latin typeface="Times New Roman"/>
                <a:cs typeface="Times New Roman"/>
              </a:rPr>
              <a:t>publique</a:t>
            </a:r>
            <a:r>
              <a:rPr sz="3150" dirty="0">
                <a:latin typeface="Times New Roman"/>
                <a:cs typeface="Times New Roman"/>
              </a:rPr>
              <a:t> </a:t>
            </a:r>
            <a:r>
              <a:rPr sz="3150" spc="75" dirty="0">
                <a:latin typeface="Times New Roman"/>
                <a:cs typeface="Times New Roman"/>
              </a:rPr>
              <a:t>de</a:t>
            </a:r>
            <a:r>
              <a:rPr sz="3150" spc="-5" dirty="0">
                <a:latin typeface="Times New Roman"/>
                <a:cs typeface="Times New Roman"/>
              </a:rPr>
              <a:t> </a:t>
            </a:r>
            <a:r>
              <a:rPr sz="3150" spc="45" dirty="0">
                <a:latin typeface="Times New Roman"/>
                <a:cs typeface="Times New Roman"/>
              </a:rPr>
              <a:t>chiffrement</a:t>
            </a:r>
            <a:endParaRPr sz="3150">
              <a:latin typeface="Times New Roman"/>
              <a:cs typeface="Times New Roman"/>
            </a:endParaRPr>
          </a:p>
          <a:p>
            <a:pPr marL="1390015" marR="2799715">
              <a:lnSpc>
                <a:spcPct val="210300"/>
              </a:lnSpc>
            </a:pPr>
            <a:r>
              <a:rPr sz="3150" spc="170" dirty="0">
                <a:latin typeface="Times New Roman"/>
                <a:cs typeface="Times New Roman"/>
              </a:rPr>
              <a:t>un</a:t>
            </a:r>
            <a:r>
              <a:rPr sz="3150" spc="60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délai</a:t>
            </a:r>
            <a:r>
              <a:rPr sz="3150" spc="65" dirty="0">
                <a:latin typeface="Times New Roman"/>
                <a:cs typeface="Times New Roman"/>
              </a:rPr>
              <a:t> </a:t>
            </a:r>
            <a:r>
              <a:rPr sz="3150" spc="75" dirty="0">
                <a:latin typeface="Times New Roman"/>
                <a:cs typeface="Times New Roman"/>
              </a:rPr>
              <a:t>de</a:t>
            </a:r>
            <a:r>
              <a:rPr sz="3150" spc="65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validité</a:t>
            </a:r>
            <a:r>
              <a:rPr sz="3150" spc="65" dirty="0">
                <a:latin typeface="Times New Roman"/>
                <a:cs typeface="Times New Roman"/>
              </a:rPr>
              <a:t> </a:t>
            </a:r>
            <a:r>
              <a:rPr sz="3150" spc="70" dirty="0">
                <a:latin typeface="Times New Roman"/>
                <a:cs typeface="Times New Roman"/>
              </a:rPr>
              <a:t>(entre</a:t>
            </a:r>
            <a:r>
              <a:rPr sz="3150" spc="65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six</a:t>
            </a:r>
            <a:r>
              <a:rPr sz="3150" spc="65" dirty="0">
                <a:latin typeface="Times New Roman"/>
                <a:cs typeface="Times New Roman"/>
              </a:rPr>
              <a:t> </a:t>
            </a:r>
            <a:r>
              <a:rPr sz="3150" spc="75" dirty="0">
                <a:latin typeface="Times New Roman"/>
                <a:cs typeface="Times New Roman"/>
              </a:rPr>
              <a:t>mois</a:t>
            </a:r>
            <a:r>
              <a:rPr sz="3150" spc="65" dirty="0">
                <a:latin typeface="Times New Roman"/>
                <a:cs typeface="Times New Roman"/>
              </a:rPr>
              <a:t> </a:t>
            </a:r>
            <a:r>
              <a:rPr sz="3150" spc="80" dirty="0">
                <a:latin typeface="Times New Roman"/>
                <a:cs typeface="Times New Roman"/>
              </a:rPr>
              <a:t>et</a:t>
            </a:r>
            <a:r>
              <a:rPr sz="3150" spc="65" dirty="0">
                <a:latin typeface="Times New Roman"/>
                <a:cs typeface="Times New Roman"/>
              </a:rPr>
              <a:t> </a:t>
            </a:r>
            <a:r>
              <a:rPr sz="3150" spc="170" dirty="0">
                <a:latin typeface="Times New Roman"/>
                <a:cs typeface="Times New Roman"/>
              </a:rPr>
              <a:t>un</a:t>
            </a:r>
            <a:r>
              <a:rPr sz="3150" spc="60" dirty="0">
                <a:latin typeface="Times New Roman"/>
                <a:cs typeface="Times New Roman"/>
              </a:rPr>
              <a:t> </a:t>
            </a:r>
            <a:r>
              <a:rPr sz="3150" spc="90" dirty="0">
                <a:latin typeface="Times New Roman"/>
                <a:cs typeface="Times New Roman"/>
              </a:rPr>
              <a:t>an) </a:t>
            </a:r>
            <a:r>
              <a:rPr sz="3150" spc="105" dirty="0">
                <a:latin typeface="Times New Roman"/>
                <a:cs typeface="Times New Roman"/>
              </a:rPr>
              <a:t>une</a:t>
            </a:r>
            <a:r>
              <a:rPr sz="3150" spc="10" dirty="0">
                <a:latin typeface="Times New Roman"/>
                <a:cs typeface="Times New Roman"/>
              </a:rPr>
              <a:t> </a:t>
            </a:r>
            <a:r>
              <a:rPr sz="3150" spc="45" dirty="0">
                <a:latin typeface="Times New Roman"/>
                <a:cs typeface="Times New Roman"/>
              </a:rPr>
              <a:t>catégorie</a:t>
            </a:r>
            <a:endParaRPr sz="3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z="3150">
              <a:latin typeface="Times New Roman"/>
              <a:cs typeface="Times New Roman"/>
            </a:endParaRPr>
          </a:p>
          <a:p>
            <a:pPr marL="1390015">
              <a:lnSpc>
                <a:spcPct val="100000"/>
              </a:lnSpc>
            </a:pPr>
            <a:r>
              <a:rPr sz="3150" spc="105" dirty="0">
                <a:latin typeface="Times New Roman"/>
                <a:cs typeface="Times New Roman"/>
              </a:rPr>
              <a:t>raison</a:t>
            </a:r>
            <a:r>
              <a:rPr sz="3150" spc="35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sociale</a:t>
            </a:r>
            <a:r>
              <a:rPr sz="3150" spc="35" dirty="0">
                <a:latin typeface="Times New Roman"/>
                <a:cs typeface="Times New Roman"/>
              </a:rPr>
              <a:t> </a:t>
            </a:r>
            <a:r>
              <a:rPr sz="3150" spc="75" dirty="0">
                <a:latin typeface="Times New Roman"/>
                <a:cs typeface="Times New Roman"/>
              </a:rPr>
              <a:t>de</a:t>
            </a:r>
            <a:r>
              <a:rPr sz="3150" spc="35" dirty="0">
                <a:latin typeface="Times New Roman"/>
                <a:cs typeface="Times New Roman"/>
              </a:rPr>
              <a:t> </a:t>
            </a:r>
            <a:r>
              <a:rPr sz="3150" spc="45" dirty="0">
                <a:latin typeface="Times New Roman"/>
                <a:cs typeface="Times New Roman"/>
              </a:rPr>
              <a:t>l’organisme</a:t>
            </a:r>
            <a:r>
              <a:rPr sz="3150" spc="35" dirty="0">
                <a:latin typeface="Times New Roman"/>
                <a:cs typeface="Times New Roman"/>
              </a:rPr>
              <a:t> </a:t>
            </a:r>
            <a:r>
              <a:rPr sz="3150" spc="75" dirty="0">
                <a:latin typeface="Times New Roman"/>
                <a:cs typeface="Times New Roman"/>
              </a:rPr>
              <a:t>de</a:t>
            </a:r>
            <a:r>
              <a:rPr sz="3150" spc="40" dirty="0">
                <a:latin typeface="Times New Roman"/>
                <a:cs typeface="Times New Roman"/>
              </a:rPr>
              <a:t> </a:t>
            </a:r>
            <a:r>
              <a:rPr sz="3150" spc="55" dirty="0">
                <a:latin typeface="Times New Roman"/>
                <a:cs typeface="Times New Roman"/>
              </a:rPr>
              <a:t>certification.</a:t>
            </a:r>
            <a:endParaRPr sz="3150">
              <a:latin typeface="Times New Roman"/>
              <a:cs typeface="Times New Roman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30437" y="4797913"/>
            <a:ext cx="7426495" cy="461154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7389510" y="9554081"/>
            <a:ext cx="365125" cy="35433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z="1900" spc="-25" dirty="0">
                <a:latin typeface="Lucida Sans Unicode"/>
                <a:cs typeface="Lucida Sans Unicode"/>
              </a:rPr>
              <a:t>27</a:t>
            </a:fld>
            <a:endParaRPr sz="19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612" y="512176"/>
            <a:ext cx="904240" cy="1033780"/>
          </a:xfrm>
          <a:custGeom>
            <a:avLst/>
            <a:gdLst/>
            <a:ahLst/>
            <a:cxnLst/>
            <a:rect l="l" t="t" r="r" b="b"/>
            <a:pathLst>
              <a:path w="904239" h="1033780">
                <a:moveTo>
                  <a:pt x="0" y="1033158"/>
                </a:moveTo>
                <a:lnTo>
                  <a:pt x="0" y="0"/>
                </a:lnTo>
                <a:lnTo>
                  <a:pt x="904014" y="516579"/>
                </a:lnTo>
                <a:lnTo>
                  <a:pt x="0" y="1033158"/>
                </a:lnTo>
                <a:close/>
              </a:path>
            </a:pathLst>
          </a:custGeom>
          <a:solidFill>
            <a:srgbClr val="B40C1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839" rIns="0" bIns="0" rtlCol="0">
            <a:spAutoFit/>
          </a:bodyPr>
          <a:lstStyle/>
          <a:p>
            <a:pPr marL="298450" marR="5080">
              <a:lnSpc>
                <a:spcPct val="116500"/>
              </a:lnSpc>
              <a:spcBef>
                <a:spcPts val="90"/>
              </a:spcBef>
            </a:pPr>
            <a:r>
              <a:rPr sz="4400" dirty="0"/>
              <a:t>Le</a:t>
            </a:r>
            <a:r>
              <a:rPr sz="4400" spc="20" dirty="0"/>
              <a:t> </a:t>
            </a:r>
            <a:r>
              <a:rPr sz="4400" dirty="0"/>
              <a:t>certificat</a:t>
            </a:r>
            <a:r>
              <a:rPr sz="4400" spc="25" dirty="0"/>
              <a:t> </a:t>
            </a:r>
            <a:r>
              <a:rPr sz="4400" dirty="0"/>
              <a:t>numérique</a:t>
            </a:r>
            <a:r>
              <a:rPr sz="4400" spc="25" dirty="0"/>
              <a:t> </a:t>
            </a:r>
            <a:r>
              <a:rPr sz="4400" dirty="0"/>
              <a:t>:</a:t>
            </a:r>
            <a:r>
              <a:rPr sz="4400" spc="25" dirty="0"/>
              <a:t> </a:t>
            </a:r>
            <a:r>
              <a:rPr sz="4400" dirty="0"/>
              <a:t>Autorité</a:t>
            </a:r>
            <a:r>
              <a:rPr sz="4400" spc="25" dirty="0"/>
              <a:t> </a:t>
            </a:r>
            <a:r>
              <a:rPr sz="4400" spc="-25" dirty="0"/>
              <a:t>de </a:t>
            </a:r>
            <a:r>
              <a:rPr sz="4400" dirty="0"/>
              <a:t>Certification</a:t>
            </a:r>
            <a:r>
              <a:rPr sz="4400" spc="20" dirty="0"/>
              <a:t> </a:t>
            </a:r>
            <a:r>
              <a:rPr sz="4400" spc="-20" dirty="0"/>
              <a:t>(CA)</a:t>
            </a:r>
            <a:endParaRPr sz="4400"/>
          </a:p>
        </p:txBody>
      </p:sp>
      <p:sp>
        <p:nvSpPr>
          <p:cNvPr id="5" name="object 5"/>
          <p:cNvSpPr txBox="1"/>
          <p:nvPr/>
        </p:nvSpPr>
        <p:spPr>
          <a:xfrm>
            <a:off x="17389510" y="9554081"/>
            <a:ext cx="365125" cy="35433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z="1900" spc="-25" dirty="0">
                <a:latin typeface="Lucida Sans Unicode"/>
                <a:cs typeface="Lucida Sans Unicode"/>
              </a:rPr>
              <a:t>28</a:t>
            </a:fld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6081" y="3194444"/>
            <a:ext cx="16958945" cy="33769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3050" b="1" dirty="0">
                <a:latin typeface="Times New Roman"/>
                <a:cs typeface="Times New Roman"/>
              </a:rPr>
              <a:t>Une</a:t>
            </a:r>
            <a:r>
              <a:rPr sz="3050" b="1" spc="-40" dirty="0">
                <a:latin typeface="Times New Roman"/>
                <a:cs typeface="Times New Roman"/>
              </a:rPr>
              <a:t> </a:t>
            </a:r>
            <a:r>
              <a:rPr sz="3050" b="1" spc="-60" dirty="0">
                <a:latin typeface="Times New Roman"/>
                <a:cs typeface="Times New Roman"/>
              </a:rPr>
              <a:t>Autorité</a:t>
            </a:r>
            <a:r>
              <a:rPr sz="3050" b="1" spc="-40" dirty="0">
                <a:latin typeface="Times New Roman"/>
                <a:cs typeface="Times New Roman"/>
              </a:rPr>
              <a:t> </a:t>
            </a:r>
            <a:r>
              <a:rPr sz="3050" b="1" spc="-20" dirty="0">
                <a:latin typeface="Times New Roman"/>
                <a:cs typeface="Times New Roman"/>
              </a:rPr>
              <a:t>de</a:t>
            </a:r>
            <a:r>
              <a:rPr sz="3050" b="1" spc="-40" dirty="0">
                <a:latin typeface="Times New Roman"/>
                <a:cs typeface="Times New Roman"/>
              </a:rPr>
              <a:t> Certification </a:t>
            </a:r>
            <a:r>
              <a:rPr sz="3050" b="1" dirty="0">
                <a:latin typeface="Times New Roman"/>
                <a:cs typeface="Times New Roman"/>
              </a:rPr>
              <a:t>(CA)</a:t>
            </a:r>
            <a:r>
              <a:rPr sz="3050" b="1" spc="-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est</a:t>
            </a:r>
            <a:r>
              <a:rPr sz="3050" spc="-40" dirty="0">
                <a:latin typeface="Times New Roman"/>
                <a:cs typeface="Times New Roman"/>
              </a:rPr>
              <a:t> </a:t>
            </a:r>
            <a:r>
              <a:rPr sz="3050" spc="90" dirty="0">
                <a:latin typeface="Times New Roman"/>
                <a:cs typeface="Times New Roman"/>
              </a:rPr>
              <a:t>une</a:t>
            </a:r>
            <a:r>
              <a:rPr sz="3050" spc="-40" dirty="0">
                <a:latin typeface="Times New Roman"/>
                <a:cs typeface="Times New Roman"/>
              </a:rPr>
              <a:t> </a:t>
            </a:r>
            <a:r>
              <a:rPr sz="3050" spc="80" dirty="0">
                <a:latin typeface="Times New Roman"/>
                <a:cs typeface="Times New Roman"/>
              </a:rPr>
              <a:t>organisation</a:t>
            </a:r>
            <a:r>
              <a:rPr sz="3050" spc="-45" dirty="0">
                <a:latin typeface="Times New Roman"/>
                <a:cs typeface="Times New Roman"/>
              </a:rPr>
              <a:t> </a:t>
            </a:r>
            <a:r>
              <a:rPr sz="3050" spc="65" dirty="0">
                <a:latin typeface="Times New Roman"/>
                <a:cs typeface="Times New Roman"/>
              </a:rPr>
              <a:t>de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spc="65" dirty="0">
                <a:latin typeface="Times New Roman"/>
                <a:cs typeface="Times New Roman"/>
              </a:rPr>
              <a:t>confiance</a:t>
            </a:r>
            <a:r>
              <a:rPr sz="3050" spc="-40" dirty="0">
                <a:latin typeface="Times New Roman"/>
                <a:cs typeface="Times New Roman"/>
              </a:rPr>
              <a:t> </a:t>
            </a:r>
            <a:r>
              <a:rPr sz="3050" spc="85" dirty="0">
                <a:latin typeface="Times New Roman"/>
                <a:cs typeface="Times New Roman"/>
              </a:rPr>
              <a:t>qui</a:t>
            </a:r>
            <a:r>
              <a:rPr sz="3050" spc="-40" dirty="0">
                <a:latin typeface="Times New Roman"/>
                <a:cs typeface="Times New Roman"/>
              </a:rPr>
              <a:t> </a:t>
            </a:r>
            <a:r>
              <a:rPr sz="3050" b="1" spc="-100" dirty="0">
                <a:latin typeface="Times New Roman"/>
                <a:cs typeface="Times New Roman"/>
              </a:rPr>
              <a:t>délivre</a:t>
            </a:r>
            <a:r>
              <a:rPr sz="3050" b="1" spc="-40" dirty="0">
                <a:latin typeface="Times New Roman"/>
                <a:cs typeface="Times New Roman"/>
              </a:rPr>
              <a:t> </a:t>
            </a:r>
            <a:r>
              <a:rPr sz="3050" b="1" dirty="0">
                <a:latin typeface="Times New Roman"/>
                <a:cs typeface="Times New Roman"/>
              </a:rPr>
              <a:t>et</a:t>
            </a:r>
            <a:r>
              <a:rPr sz="3050" b="1" spc="-40" dirty="0">
                <a:latin typeface="Times New Roman"/>
                <a:cs typeface="Times New Roman"/>
              </a:rPr>
              <a:t> </a:t>
            </a:r>
            <a:r>
              <a:rPr sz="3050" b="1" spc="-25" dirty="0">
                <a:latin typeface="Times New Roman"/>
                <a:cs typeface="Times New Roman"/>
              </a:rPr>
              <a:t>signe</a:t>
            </a:r>
            <a:r>
              <a:rPr sz="3050" b="1" spc="-35" dirty="0">
                <a:latin typeface="Times New Roman"/>
                <a:cs typeface="Times New Roman"/>
              </a:rPr>
              <a:t> </a:t>
            </a:r>
            <a:r>
              <a:rPr sz="3050" b="1" dirty="0">
                <a:latin typeface="Times New Roman"/>
                <a:cs typeface="Times New Roman"/>
              </a:rPr>
              <a:t>les</a:t>
            </a:r>
            <a:r>
              <a:rPr sz="3050" b="1" spc="-40" dirty="0">
                <a:latin typeface="Times New Roman"/>
                <a:cs typeface="Times New Roman"/>
              </a:rPr>
              <a:t> </a:t>
            </a:r>
            <a:r>
              <a:rPr sz="3050" b="1" spc="-10" dirty="0">
                <a:latin typeface="Times New Roman"/>
                <a:cs typeface="Times New Roman"/>
              </a:rPr>
              <a:t>certificats</a:t>
            </a:r>
            <a:endParaRPr sz="3050">
              <a:latin typeface="Times New Roman"/>
              <a:cs typeface="Times New Roman"/>
            </a:endParaRPr>
          </a:p>
          <a:p>
            <a:pPr marL="12700" marR="5080" algn="just">
              <a:lnSpc>
                <a:spcPts val="7570"/>
              </a:lnSpc>
              <a:spcBef>
                <a:spcPts val="710"/>
              </a:spcBef>
            </a:pPr>
            <a:r>
              <a:rPr sz="3050" b="1" spc="-110" dirty="0">
                <a:latin typeface="Times New Roman"/>
                <a:cs typeface="Times New Roman"/>
              </a:rPr>
              <a:t>numériques.</a:t>
            </a:r>
            <a:r>
              <a:rPr sz="3050" b="1" spc="7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Elle</a:t>
            </a:r>
            <a:r>
              <a:rPr sz="3050" spc="7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vérifie</a:t>
            </a:r>
            <a:r>
              <a:rPr sz="3050" spc="8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l’exactitude</a:t>
            </a:r>
            <a:r>
              <a:rPr sz="3050" spc="7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des</a:t>
            </a:r>
            <a:r>
              <a:rPr sz="3050" spc="80" dirty="0">
                <a:latin typeface="Times New Roman"/>
                <a:cs typeface="Times New Roman"/>
              </a:rPr>
              <a:t> </a:t>
            </a:r>
            <a:r>
              <a:rPr sz="3050" spc="75" dirty="0">
                <a:latin typeface="Times New Roman"/>
                <a:cs typeface="Times New Roman"/>
              </a:rPr>
              <a:t>informations </a:t>
            </a:r>
            <a:r>
              <a:rPr sz="3050" spc="70" dirty="0">
                <a:latin typeface="Times New Roman"/>
                <a:cs typeface="Times New Roman"/>
              </a:rPr>
              <a:t>et</a:t>
            </a:r>
            <a:r>
              <a:rPr sz="3050" spc="80" dirty="0">
                <a:latin typeface="Times New Roman"/>
                <a:cs typeface="Times New Roman"/>
              </a:rPr>
              <a:t> </a:t>
            </a:r>
            <a:r>
              <a:rPr sz="3050" spc="70" dirty="0">
                <a:latin typeface="Times New Roman"/>
                <a:cs typeface="Times New Roman"/>
              </a:rPr>
              <a:t>atteste</a:t>
            </a:r>
            <a:r>
              <a:rPr sz="3050" spc="75" dirty="0">
                <a:latin typeface="Times New Roman"/>
                <a:cs typeface="Times New Roman"/>
              </a:rPr>
              <a:t> </a:t>
            </a:r>
            <a:r>
              <a:rPr sz="3050" spc="150" dirty="0">
                <a:latin typeface="Times New Roman"/>
                <a:cs typeface="Times New Roman"/>
              </a:rPr>
              <a:t>du</a:t>
            </a:r>
            <a:r>
              <a:rPr sz="3050" spc="7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lien</a:t>
            </a:r>
            <a:r>
              <a:rPr sz="3050" spc="70" dirty="0">
                <a:latin typeface="Times New Roman"/>
                <a:cs typeface="Times New Roman"/>
              </a:rPr>
              <a:t> </a:t>
            </a:r>
            <a:r>
              <a:rPr sz="3050" spc="75" dirty="0">
                <a:latin typeface="Times New Roman"/>
                <a:cs typeface="Times New Roman"/>
              </a:rPr>
              <a:t>entre</a:t>
            </a:r>
            <a:r>
              <a:rPr sz="3050" spc="80" dirty="0">
                <a:latin typeface="Times New Roman"/>
                <a:cs typeface="Times New Roman"/>
              </a:rPr>
              <a:t> </a:t>
            </a:r>
            <a:r>
              <a:rPr sz="3050" spc="90" dirty="0">
                <a:latin typeface="Times New Roman"/>
                <a:cs typeface="Times New Roman"/>
              </a:rPr>
              <a:t>une</a:t>
            </a:r>
            <a:r>
              <a:rPr sz="3050" spc="75" dirty="0">
                <a:latin typeface="Times New Roman"/>
                <a:cs typeface="Times New Roman"/>
              </a:rPr>
              <a:t> </a:t>
            </a:r>
            <a:r>
              <a:rPr sz="3050" spc="65" dirty="0">
                <a:latin typeface="Times New Roman"/>
                <a:cs typeface="Times New Roman"/>
              </a:rPr>
              <a:t>entité</a:t>
            </a:r>
            <a:r>
              <a:rPr sz="3050" spc="8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physique</a:t>
            </a:r>
            <a:r>
              <a:rPr sz="3050" spc="80" dirty="0">
                <a:latin typeface="Times New Roman"/>
                <a:cs typeface="Times New Roman"/>
              </a:rPr>
              <a:t> </a:t>
            </a:r>
            <a:r>
              <a:rPr sz="3050" spc="70" dirty="0">
                <a:latin typeface="Times New Roman"/>
                <a:cs typeface="Times New Roman"/>
              </a:rPr>
              <a:t>et</a:t>
            </a:r>
            <a:r>
              <a:rPr sz="3050" spc="75" dirty="0">
                <a:latin typeface="Times New Roman"/>
                <a:cs typeface="Times New Roman"/>
              </a:rPr>
              <a:t> </a:t>
            </a:r>
            <a:r>
              <a:rPr sz="3050" spc="70" dirty="0">
                <a:latin typeface="Times New Roman"/>
                <a:cs typeface="Times New Roman"/>
              </a:rPr>
              <a:t>sa</a:t>
            </a:r>
            <a:r>
              <a:rPr sz="3050" spc="80" dirty="0">
                <a:latin typeface="Times New Roman"/>
                <a:cs typeface="Times New Roman"/>
              </a:rPr>
              <a:t> </a:t>
            </a:r>
            <a:r>
              <a:rPr sz="3050" spc="-25" dirty="0">
                <a:latin typeface="Times New Roman"/>
                <a:cs typeface="Times New Roman"/>
              </a:rPr>
              <a:t>clé </a:t>
            </a:r>
            <a:r>
              <a:rPr sz="3050" spc="55" dirty="0">
                <a:latin typeface="Times New Roman"/>
                <a:cs typeface="Times New Roman"/>
              </a:rPr>
              <a:t>publique,</a:t>
            </a:r>
            <a:r>
              <a:rPr sz="3050" spc="90" dirty="0">
                <a:latin typeface="Times New Roman"/>
                <a:cs typeface="Times New Roman"/>
              </a:rPr>
              <a:t> </a:t>
            </a:r>
            <a:r>
              <a:rPr sz="3050" spc="120" dirty="0">
                <a:latin typeface="Times New Roman"/>
                <a:cs typeface="Times New Roman"/>
              </a:rPr>
              <a:t>permettant</a:t>
            </a:r>
            <a:r>
              <a:rPr sz="3050" spc="9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ainsi</a:t>
            </a:r>
            <a:r>
              <a:rPr sz="3050" spc="95" dirty="0">
                <a:latin typeface="Times New Roman"/>
                <a:cs typeface="Times New Roman"/>
              </a:rPr>
              <a:t> </a:t>
            </a:r>
            <a:r>
              <a:rPr sz="3050" spc="65" dirty="0">
                <a:latin typeface="Times New Roman"/>
                <a:cs typeface="Times New Roman"/>
              </a:rPr>
              <a:t>de</a:t>
            </a:r>
            <a:r>
              <a:rPr sz="3050" spc="85" dirty="0">
                <a:latin typeface="Times New Roman"/>
                <a:cs typeface="Times New Roman"/>
              </a:rPr>
              <a:t> </a:t>
            </a:r>
            <a:r>
              <a:rPr sz="3050" spc="110" dirty="0">
                <a:latin typeface="Times New Roman"/>
                <a:cs typeface="Times New Roman"/>
              </a:rPr>
              <a:t>garantir</a:t>
            </a:r>
            <a:r>
              <a:rPr sz="3050" spc="95" dirty="0">
                <a:latin typeface="Times New Roman"/>
                <a:cs typeface="Times New Roman"/>
              </a:rPr>
              <a:t> </a:t>
            </a:r>
            <a:r>
              <a:rPr sz="3050" spc="50" dirty="0">
                <a:latin typeface="Times New Roman"/>
                <a:cs typeface="Times New Roman"/>
              </a:rPr>
              <a:t>l’authenticité</a:t>
            </a:r>
            <a:r>
              <a:rPr sz="3050" spc="9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des</a:t>
            </a:r>
            <a:r>
              <a:rPr sz="3050" spc="95" dirty="0">
                <a:latin typeface="Times New Roman"/>
                <a:cs typeface="Times New Roman"/>
              </a:rPr>
              <a:t> </a:t>
            </a:r>
            <a:r>
              <a:rPr sz="3050" spc="55" dirty="0">
                <a:latin typeface="Times New Roman"/>
                <a:cs typeface="Times New Roman"/>
              </a:rPr>
              <a:t>communications.</a:t>
            </a:r>
            <a:r>
              <a:rPr sz="3050" spc="9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Les</a:t>
            </a:r>
            <a:r>
              <a:rPr sz="3050" spc="9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certificats</a:t>
            </a:r>
            <a:r>
              <a:rPr sz="3050" spc="9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émis</a:t>
            </a:r>
            <a:r>
              <a:rPr sz="3050" spc="90" dirty="0">
                <a:latin typeface="Times New Roman"/>
                <a:cs typeface="Times New Roman"/>
              </a:rPr>
              <a:t> </a:t>
            </a:r>
            <a:r>
              <a:rPr sz="3050" spc="160" dirty="0">
                <a:latin typeface="Times New Roman"/>
                <a:cs typeface="Times New Roman"/>
              </a:rPr>
              <a:t>par</a:t>
            </a:r>
            <a:r>
              <a:rPr sz="3050" spc="90" dirty="0">
                <a:latin typeface="Times New Roman"/>
                <a:cs typeface="Times New Roman"/>
              </a:rPr>
              <a:t> </a:t>
            </a:r>
            <a:r>
              <a:rPr sz="3050" spc="70" dirty="0">
                <a:latin typeface="Times New Roman"/>
                <a:cs typeface="Times New Roman"/>
              </a:rPr>
              <a:t>la</a:t>
            </a:r>
            <a:r>
              <a:rPr sz="3050" spc="85" dirty="0">
                <a:latin typeface="Times New Roman"/>
                <a:cs typeface="Times New Roman"/>
              </a:rPr>
              <a:t> </a:t>
            </a:r>
            <a:r>
              <a:rPr sz="3050" spc="105" dirty="0">
                <a:latin typeface="Times New Roman"/>
                <a:cs typeface="Times New Roman"/>
              </a:rPr>
              <a:t>CA sont</a:t>
            </a:r>
            <a:r>
              <a:rPr sz="3050" spc="2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vérifiables</a:t>
            </a:r>
            <a:r>
              <a:rPr sz="3050" spc="25" dirty="0">
                <a:latin typeface="Times New Roman"/>
                <a:cs typeface="Times New Roman"/>
              </a:rPr>
              <a:t> </a:t>
            </a:r>
            <a:r>
              <a:rPr sz="3050" spc="50" dirty="0">
                <a:latin typeface="Times New Roman"/>
                <a:cs typeface="Times New Roman"/>
              </a:rPr>
              <a:t>grâce</a:t>
            </a:r>
            <a:r>
              <a:rPr sz="3050" spc="20" dirty="0">
                <a:latin typeface="Times New Roman"/>
                <a:cs typeface="Times New Roman"/>
              </a:rPr>
              <a:t> </a:t>
            </a:r>
            <a:r>
              <a:rPr sz="3050" spc="175" dirty="0">
                <a:latin typeface="Times New Roman"/>
                <a:cs typeface="Times New Roman"/>
              </a:rPr>
              <a:t>à</a:t>
            </a:r>
            <a:r>
              <a:rPr sz="3050" spc="25" dirty="0">
                <a:latin typeface="Times New Roman"/>
                <a:cs typeface="Times New Roman"/>
              </a:rPr>
              <a:t> </a:t>
            </a:r>
            <a:r>
              <a:rPr sz="3050" spc="70" dirty="0">
                <a:latin typeface="Times New Roman"/>
                <a:cs typeface="Times New Roman"/>
              </a:rPr>
              <a:t>sa</a:t>
            </a:r>
            <a:r>
              <a:rPr sz="3050" spc="2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clé</a:t>
            </a:r>
            <a:r>
              <a:rPr sz="3050" spc="25" dirty="0">
                <a:latin typeface="Times New Roman"/>
                <a:cs typeface="Times New Roman"/>
              </a:rPr>
              <a:t> </a:t>
            </a:r>
            <a:r>
              <a:rPr sz="3050" spc="45" dirty="0">
                <a:latin typeface="Times New Roman"/>
                <a:cs typeface="Times New Roman"/>
              </a:rPr>
              <a:t>publique.</a:t>
            </a:r>
            <a:endParaRPr sz="3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612" y="512176"/>
            <a:ext cx="904240" cy="1033780"/>
          </a:xfrm>
          <a:custGeom>
            <a:avLst/>
            <a:gdLst/>
            <a:ahLst/>
            <a:cxnLst/>
            <a:rect l="l" t="t" r="r" b="b"/>
            <a:pathLst>
              <a:path w="904239" h="1033780">
                <a:moveTo>
                  <a:pt x="0" y="1033158"/>
                </a:moveTo>
                <a:lnTo>
                  <a:pt x="0" y="0"/>
                </a:lnTo>
                <a:lnTo>
                  <a:pt x="904014" y="516579"/>
                </a:lnTo>
                <a:lnTo>
                  <a:pt x="0" y="1033158"/>
                </a:lnTo>
                <a:close/>
              </a:path>
            </a:pathLst>
          </a:custGeom>
          <a:solidFill>
            <a:srgbClr val="B40C1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4697" rIns="0" bIns="0" rtlCol="0">
            <a:spAutoFit/>
          </a:bodyPr>
          <a:lstStyle/>
          <a:p>
            <a:pPr marL="298450">
              <a:lnSpc>
                <a:spcPct val="100000"/>
              </a:lnSpc>
              <a:spcBef>
                <a:spcPts val="140"/>
              </a:spcBef>
            </a:pPr>
            <a:r>
              <a:rPr sz="4400" dirty="0"/>
              <a:t>Le</a:t>
            </a:r>
            <a:r>
              <a:rPr sz="4400" spc="25" dirty="0"/>
              <a:t> </a:t>
            </a:r>
            <a:r>
              <a:rPr sz="4400" dirty="0"/>
              <a:t>certificat</a:t>
            </a:r>
            <a:r>
              <a:rPr sz="4400" spc="30" dirty="0"/>
              <a:t> </a:t>
            </a:r>
            <a:r>
              <a:rPr sz="4400" dirty="0"/>
              <a:t>numérique</a:t>
            </a:r>
            <a:r>
              <a:rPr sz="4400" spc="30" dirty="0"/>
              <a:t> </a:t>
            </a:r>
            <a:r>
              <a:rPr sz="4400" dirty="0"/>
              <a:t>:</a:t>
            </a:r>
            <a:r>
              <a:rPr sz="4400" spc="25" dirty="0"/>
              <a:t> </a:t>
            </a:r>
            <a:r>
              <a:rPr sz="4400" dirty="0"/>
              <a:t>Gestion</a:t>
            </a:r>
            <a:r>
              <a:rPr sz="4400" spc="30" dirty="0"/>
              <a:t> </a:t>
            </a:r>
            <a:r>
              <a:rPr sz="4400" dirty="0"/>
              <a:t>de</a:t>
            </a:r>
            <a:r>
              <a:rPr sz="4400" spc="30" dirty="0"/>
              <a:t> </a:t>
            </a:r>
            <a:r>
              <a:rPr sz="4400" dirty="0"/>
              <a:t>la</a:t>
            </a:r>
            <a:r>
              <a:rPr sz="4400" spc="30" dirty="0"/>
              <a:t> </a:t>
            </a:r>
            <a:r>
              <a:rPr sz="4400" spc="-10" dirty="0"/>
              <a:t>validité</a:t>
            </a:r>
            <a:endParaRPr sz="4400"/>
          </a:p>
        </p:txBody>
      </p:sp>
      <p:sp>
        <p:nvSpPr>
          <p:cNvPr id="5" name="object 5"/>
          <p:cNvSpPr txBox="1"/>
          <p:nvPr/>
        </p:nvSpPr>
        <p:spPr>
          <a:xfrm>
            <a:off x="17389510" y="9554081"/>
            <a:ext cx="365125" cy="35433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z="1900" spc="-25" dirty="0">
                <a:latin typeface="Lucida Sans Unicode"/>
                <a:cs typeface="Lucida Sans Unicode"/>
              </a:rPr>
              <a:t>29</a:t>
            </a:fld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6000" y="3217771"/>
            <a:ext cx="16299815" cy="2414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50" spc="165" dirty="0">
                <a:latin typeface="Times New Roman"/>
                <a:cs typeface="Times New Roman"/>
              </a:rPr>
              <a:t>La</a:t>
            </a:r>
            <a:r>
              <a:rPr sz="3050" spc="20" dirty="0">
                <a:latin typeface="Times New Roman"/>
                <a:cs typeface="Times New Roman"/>
              </a:rPr>
              <a:t> </a:t>
            </a:r>
            <a:r>
              <a:rPr sz="3050" spc="50" dirty="0">
                <a:latin typeface="Times New Roman"/>
                <a:cs typeface="Times New Roman"/>
              </a:rPr>
              <a:t>gestion</a:t>
            </a:r>
            <a:r>
              <a:rPr sz="3050" spc="30" dirty="0">
                <a:latin typeface="Times New Roman"/>
                <a:cs typeface="Times New Roman"/>
              </a:rPr>
              <a:t> </a:t>
            </a:r>
            <a:r>
              <a:rPr sz="3050" spc="65" dirty="0">
                <a:latin typeface="Times New Roman"/>
                <a:cs typeface="Times New Roman"/>
              </a:rPr>
              <a:t>de</a:t>
            </a:r>
            <a:r>
              <a:rPr sz="3050" spc="35" dirty="0">
                <a:latin typeface="Times New Roman"/>
                <a:cs typeface="Times New Roman"/>
              </a:rPr>
              <a:t> </a:t>
            </a:r>
            <a:r>
              <a:rPr sz="3050" spc="70" dirty="0">
                <a:latin typeface="Times New Roman"/>
                <a:cs typeface="Times New Roman"/>
              </a:rPr>
              <a:t>la</a:t>
            </a:r>
            <a:r>
              <a:rPr sz="3050" spc="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validité</a:t>
            </a:r>
            <a:r>
              <a:rPr sz="3050" spc="4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des</a:t>
            </a:r>
            <a:r>
              <a:rPr sz="3050" spc="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certificats</a:t>
            </a:r>
            <a:r>
              <a:rPr sz="3050" spc="30" dirty="0">
                <a:latin typeface="Times New Roman"/>
                <a:cs typeface="Times New Roman"/>
              </a:rPr>
              <a:t> </a:t>
            </a:r>
            <a:r>
              <a:rPr sz="3050" spc="55" dirty="0">
                <a:latin typeface="Times New Roman"/>
                <a:cs typeface="Times New Roman"/>
              </a:rPr>
              <a:t>repose</a:t>
            </a:r>
            <a:r>
              <a:rPr sz="3050" spc="35" dirty="0">
                <a:latin typeface="Times New Roman"/>
                <a:cs typeface="Times New Roman"/>
              </a:rPr>
              <a:t> </a:t>
            </a:r>
            <a:r>
              <a:rPr sz="3050" spc="125" dirty="0">
                <a:latin typeface="Times New Roman"/>
                <a:cs typeface="Times New Roman"/>
              </a:rPr>
              <a:t>notamment</a:t>
            </a:r>
            <a:r>
              <a:rPr sz="3050" spc="35" dirty="0">
                <a:latin typeface="Times New Roman"/>
                <a:cs typeface="Times New Roman"/>
              </a:rPr>
              <a:t> </a:t>
            </a:r>
            <a:r>
              <a:rPr sz="3050" spc="90" dirty="0">
                <a:latin typeface="Times New Roman"/>
                <a:cs typeface="Times New Roman"/>
              </a:rPr>
              <a:t>sur</a:t>
            </a:r>
            <a:r>
              <a:rPr sz="3050" spc="35" dirty="0">
                <a:latin typeface="Times New Roman"/>
                <a:cs typeface="Times New Roman"/>
              </a:rPr>
              <a:t> </a:t>
            </a:r>
            <a:r>
              <a:rPr sz="3050" b="1" dirty="0">
                <a:latin typeface="Times New Roman"/>
                <a:cs typeface="Times New Roman"/>
              </a:rPr>
              <a:t>la</a:t>
            </a:r>
            <a:r>
              <a:rPr sz="3050" b="1" spc="40" dirty="0">
                <a:latin typeface="Times New Roman"/>
                <a:cs typeface="Times New Roman"/>
              </a:rPr>
              <a:t> </a:t>
            </a:r>
            <a:r>
              <a:rPr sz="3050" b="1" spc="-25" dirty="0">
                <a:latin typeface="Times New Roman"/>
                <a:cs typeface="Times New Roman"/>
              </a:rPr>
              <a:t>Certificate</a:t>
            </a:r>
            <a:r>
              <a:rPr sz="3050" b="1" spc="35" dirty="0">
                <a:latin typeface="Times New Roman"/>
                <a:cs typeface="Times New Roman"/>
              </a:rPr>
              <a:t> </a:t>
            </a:r>
            <a:r>
              <a:rPr sz="3050" b="1" spc="-65" dirty="0">
                <a:latin typeface="Times New Roman"/>
                <a:cs typeface="Times New Roman"/>
              </a:rPr>
              <a:t>Revocation</a:t>
            </a:r>
            <a:r>
              <a:rPr sz="3050" b="1" spc="35" dirty="0">
                <a:latin typeface="Times New Roman"/>
                <a:cs typeface="Times New Roman"/>
              </a:rPr>
              <a:t> </a:t>
            </a:r>
            <a:r>
              <a:rPr sz="3050" b="1" dirty="0">
                <a:latin typeface="Times New Roman"/>
                <a:cs typeface="Times New Roman"/>
              </a:rPr>
              <a:t>List</a:t>
            </a:r>
            <a:r>
              <a:rPr sz="3050" b="1" spc="35" dirty="0">
                <a:latin typeface="Times New Roman"/>
                <a:cs typeface="Times New Roman"/>
              </a:rPr>
              <a:t> </a:t>
            </a:r>
            <a:r>
              <a:rPr sz="3050" b="1" spc="-10" dirty="0">
                <a:latin typeface="Times New Roman"/>
                <a:cs typeface="Times New Roman"/>
              </a:rPr>
              <a:t>(CRL)</a:t>
            </a:r>
            <a:r>
              <a:rPr sz="3050" spc="-10" dirty="0">
                <a:latin typeface="Times New Roman"/>
                <a:cs typeface="Times New Roman"/>
              </a:rPr>
              <a:t>,</a:t>
            </a:r>
            <a:endParaRPr sz="3050">
              <a:latin typeface="Times New Roman"/>
              <a:cs typeface="Times New Roman"/>
            </a:endParaRPr>
          </a:p>
          <a:p>
            <a:pPr marL="12700" marR="5080">
              <a:lnSpc>
                <a:spcPts val="7580"/>
              </a:lnSpc>
              <a:spcBef>
                <a:spcPts val="700"/>
              </a:spcBef>
            </a:pPr>
            <a:r>
              <a:rPr sz="3050" spc="90" dirty="0">
                <a:latin typeface="Times New Roman"/>
                <a:cs typeface="Times New Roman"/>
              </a:rPr>
              <a:t>une</a:t>
            </a:r>
            <a:r>
              <a:rPr sz="3050" spc="-5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liste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spc="85" dirty="0">
                <a:latin typeface="Times New Roman"/>
                <a:cs typeface="Times New Roman"/>
              </a:rPr>
              <a:t>qui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spc="100" dirty="0">
                <a:latin typeface="Times New Roman"/>
                <a:cs typeface="Times New Roman"/>
              </a:rPr>
              <a:t>permet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spc="65" dirty="0">
                <a:latin typeface="Times New Roman"/>
                <a:cs typeface="Times New Roman"/>
              </a:rPr>
              <a:t>de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b="1" spc="-145" dirty="0">
                <a:latin typeface="Times New Roman"/>
                <a:cs typeface="Times New Roman"/>
              </a:rPr>
              <a:t>révoquer</a:t>
            </a:r>
            <a:r>
              <a:rPr sz="3050" b="1" spc="-25" dirty="0">
                <a:latin typeface="Times New Roman"/>
                <a:cs typeface="Times New Roman"/>
              </a:rPr>
              <a:t> </a:t>
            </a:r>
            <a:r>
              <a:rPr sz="3050" b="1" spc="-190" dirty="0">
                <a:latin typeface="Times New Roman"/>
                <a:cs typeface="Times New Roman"/>
              </a:rPr>
              <a:t>un</a:t>
            </a:r>
            <a:r>
              <a:rPr sz="3050" b="1" dirty="0">
                <a:latin typeface="Times New Roman"/>
                <a:cs typeface="Times New Roman"/>
              </a:rPr>
              <a:t> </a:t>
            </a:r>
            <a:r>
              <a:rPr sz="3050" b="1" spc="-25" dirty="0">
                <a:latin typeface="Times New Roman"/>
                <a:cs typeface="Times New Roman"/>
              </a:rPr>
              <a:t>certificat </a:t>
            </a:r>
            <a:r>
              <a:rPr sz="3050" b="1" spc="-80" dirty="0">
                <a:latin typeface="Times New Roman"/>
                <a:cs typeface="Times New Roman"/>
              </a:rPr>
              <a:t>avant</a:t>
            </a:r>
            <a:r>
              <a:rPr sz="3050" b="1" spc="-30" dirty="0">
                <a:latin typeface="Times New Roman"/>
                <a:cs typeface="Times New Roman"/>
              </a:rPr>
              <a:t> </a:t>
            </a:r>
            <a:r>
              <a:rPr sz="3050" b="1" dirty="0">
                <a:latin typeface="Times New Roman"/>
                <a:cs typeface="Times New Roman"/>
              </a:rPr>
              <a:t>sa</a:t>
            </a:r>
            <a:r>
              <a:rPr sz="3050" b="1" spc="-25" dirty="0">
                <a:latin typeface="Times New Roman"/>
                <a:cs typeface="Times New Roman"/>
              </a:rPr>
              <a:t> </a:t>
            </a:r>
            <a:r>
              <a:rPr sz="3050" b="1" spc="-10" dirty="0">
                <a:latin typeface="Times New Roman"/>
                <a:cs typeface="Times New Roman"/>
              </a:rPr>
              <a:t>date</a:t>
            </a:r>
            <a:r>
              <a:rPr sz="3050" b="1" spc="-25" dirty="0">
                <a:latin typeface="Times New Roman"/>
                <a:cs typeface="Times New Roman"/>
              </a:rPr>
              <a:t> </a:t>
            </a:r>
            <a:r>
              <a:rPr sz="3050" b="1" spc="-70" dirty="0">
                <a:latin typeface="Times New Roman"/>
                <a:cs typeface="Times New Roman"/>
              </a:rPr>
              <a:t>d’expiration.</a:t>
            </a:r>
            <a:r>
              <a:rPr sz="3050" b="1" spc="-2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Elle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spc="60" dirty="0">
                <a:latin typeface="Times New Roman"/>
                <a:cs typeface="Times New Roman"/>
              </a:rPr>
              <a:t>assure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spc="90" dirty="0">
                <a:latin typeface="Times New Roman"/>
                <a:cs typeface="Times New Roman"/>
              </a:rPr>
              <a:t>que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les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spc="-10" dirty="0">
                <a:latin typeface="Times New Roman"/>
                <a:cs typeface="Times New Roman"/>
              </a:rPr>
              <a:t>certificats </a:t>
            </a:r>
            <a:r>
              <a:rPr sz="3050" spc="70" dirty="0">
                <a:latin typeface="Times New Roman"/>
                <a:cs typeface="Times New Roman"/>
              </a:rPr>
              <a:t>compromis</a:t>
            </a:r>
            <a:r>
              <a:rPr sz="3050" spc="55" dirty="0">
                <a:latin typeface="Times New Roman"/>
                <a:cs typeface="Times New Roman"/>
              </a:rPr>
              <a:t> </a:t>
            </a:r>
            <a:r>
              <a:rPr sz="3050" spc="150" dirty="0">
                <a:latin typeface="Times New Roman"/>
                <a:cs typeface="Times New Roman"/>
              </a:rPr>
              <a:t>ou</a:t>
            </a:r>
            <a:r>
              <a:rPr sz="3050" spc="6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invalides</a:t>
            </a:r>
            <a:r>
              <a:rPr sz="3050" spc="70" dirty="0">
                <a:latin typeface="Times New Roman"/>
                <a:cs typeface="Times New Roman"/>
              </a:rPr>
              <a:t> </a:t>
            </a:r>
            <a:r>
              <a:rPr sz="3050" spc="65" dirty="0">
                <a:latin typeface="Times New Roman"/>
                <a:cs typeface="Times New Roman"/>
              </a:rPr>
              <a:t>ne </a:t>
            </a:r>
            <a:r>
              <a:rPr sz="3050" spc="60" dirty="0">
                <a:latin typeface="Times New Roman"/>
                <a:cs typeface="Times New Roman"/>
              </a:rPr>
              <a:t>soient</a:t>
            </a:r>
            <a:r>
              <a:rPr sz="3050" spc="70" dirty="0">
                <a:latin typeface="Times New Roman"/>
                <a:cs typeface="Times New Roman"/>
              </a:rPr>
              <a:t> </a:t>
            </a:r>
            <a:r>
              <a:rPr sz="3050" spc="60" dirty="0">
                <a:latin typeface="Times New Roman"/>
                <a:cs typeface="Times New Roman"/>
              </a:rPr>
              <a:t>plus</a:t>
            </a:r>
            <a:r>
              <a:rPr sz="3050" spc="6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utilisés,</a:t>
            </a:r>
            <a:r>
              <a:rPr sz="3050" spc="65" dirty="0">
                <a:latin typeface="Times New Roman"/>
                <a:cs typeface="Times New Roman"/>
              </a:rPr>
              <a:t> </a:t>
            </a:r>
            <a:r>
              <a:rPr sz="3050" spc="85" dirty="0">
                <a:latin typeface="Times New Roman"/>
                <a:cs typeface="Times New Roman"/>
              </a:rPr>
              <a:t>renforçant</a:t>
            </a:r>
            <a:r>
              <a:rPr sz="3050" spc="7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ainsi</a:t>
            </a:r>
            <a:r>
              <a:rPr sz="3050" spc="65" dirty="0">
                <a:latin typeface="Times New Roman"/>
                <a:cs typeface="Times New Roman"/>
              </a:rPr>
              <a:t> </a:t>
            </a:r>
            <a:r>
              <a:rPr sz="3050" spc="70" dirty="0">
                <a:latin typeface="Times New Roman"/>
                <a:cs typeface="Times New Roman"/>
              </a:rPr>
              <a:t>la</a:t>
            </a:r>
            <a:r>
              <a:rPr sz="3050" spc="7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sécurité</a:t>
            </a:r>
            <a:r>
              <a:rPr sz="3050" spc="6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des</a:t>
            </a:r>
            <a:r>
              <a:rPr sz="3050" spc="70" dirty="0">
                <a:latin typeface="Times New Roman"/>
                <a:cs typeface="Times New Roman"/>
              </a:rPr>
              <a:t> </a:t>
            </a:r>
            <a:r>
              <a:rPr sz="3050" spc="45" dirty="0">
                <a:latin typeface="Times New Roman"/>
                <a:cs typeface="Times New Roman"/>
              </a:rPr>
              <a:t>communications.</a:t>
            </a:r>
            <a:endParaRPr sz="3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612" y="512176"/>
            <a:ext cx="904240" cy="1033780"/>
          </a:xfrm>
          <a:custGeom>
            <a:avLst/>
            <a:gdLst/>
            <a:ahLst/>
            <a:cxnLst/>
            <a:rect l="l" t="t" r="r" b="b"/>
            <a:pathLst>
              <a:path w="904239" h="1033780">
                <a:moveTo>
                  <a:pt x="0" y="1033158"/>
                </a:moveTo>
                <a:lnTo>
                  <a:pt x="0" y="0"/>
                </a:lnTo>
                <a:lnTo>
                  <a:pt x="904014" y="516579"/>
                </a:lnTo>
                <a:lnTo>
                  <a:pt x="0" y="1033158"/>
                </a:lnTo>
                <a:close/>
              </a:path>
            </a:pathLst>
          </a:custGeom>
          <a:solidFill>
            <a:srgbClr val="B40C1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4697" rIns="0" bIns="0" rtlCol="0">
            <a:spAutoFit/>
          </a:bodyPr>
          <a:lstStyle/>
          <a:p>
            <a:pPr marL="298450">
              <a:lnSpc>
                <a:spcPct val="100000"/>
              </a:lnSpc>
              <a:spcBef>
                <a:spcPts val="140"/>
              </a:spcBef>
            </a:pPr>
            <a:r>
              <a:rPr sz="4400" dirty="0"/>
              <a:t>Infrastructure</a:t>
            </a:r>
            <a:r>
              <a:rPr sz="4400" spc="35" dirty="0"/>
              <a:t> </a:t>
            </a:r>
            <a:r>
              <a:rPr sz="4400" dirty="0"/>
              <a:t>de</a:t>
            </a:r>
            <a:r>
              <a:rPr sz="4400" spc="35" dirty="0"/>
              <a:t> </a:t>
            </a:r>
            <a:r>
              <a:rPr sz="4400" dirty="0"/>
              <a:t>gestion</a:t>
            </a:r>
            <a:r>
              <a:rPr sz="4400" spc="35" dirty="0"/>
              <a:t> </a:t>
            </a:r>
            <a:r>
              <a:rPr sz="4400" dirty="0"/>
              <a:t>de</a:t>
            </a:r>
            <a:r>
              <a:rPr sz="4400" spc="35" dirty="0"/>
              <a:t> </a:t>
            </a:r>
            <a:r>
              <a:rPr sz="4400" spc="-20" dirty="0"/>
              <a:t>clés</a:t>
            </a:r>
            <a:endParaRPr sz="44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5030" y="6453023"/>
            <a:ext cx="95250" cy="952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5030" y="7415048"/>
            <a:ext cx="95250" cy="952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5030" y="8377073"/>
            <a:ext cx="95250" cy="9524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12755" y="2337906"/>
            <a:ext cx="17285335" cy="7225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50" b="1" dirty="0">
                <a:latin typeface="Times New Roman"/>
                <a:cs typeface="Times New Roman"/>
              </a:rPr>
              <a:t>Une</a:t>
            </a:r>
            <a:r>
              <a:rPr sz="3050" b="1" spc="5" dirty="0">
                <a:latin typeface="Times New Roman"/>
                <a:cs typeface="Times New Roman"/>
              </a:rPr>
              <a:t> </a:t>
            </a:r>
            <a:r>
              <a:rPr sz="3050" b="1" spc="-90" dirty="0">
                <a:latin typeface="Times New Roman"/>
                <a:cs typeface="Times New Roman"/>
              </a:rPr>
              <a:t>Infrastructure</a:t>
            </a:r>
            <a:r>
              <a:rPr sz="3050" b="1" spc="5" dirty="0">
                <a:latin typeface="Times New Roman"/>
                <a:cs typeface="Times New Roman"/>
              </a:rPr>
              <a:t> </a:t>
            </a:r>
            <a:r>
              <a:rPr sz="3050" b="1" dirty="0">
                <a:latin typeface="Times New Roman"/>
                <a:cs typeface="Times New Roman"/>
              </a:rPr>
              <a:t>à</a:t>
            </a:r>
            <a:r>
              <a:rPr sz="3050" b="1" spc="5" dirty="0">
                <a:latin typeface="Times New Roman"/>
                <a:cs typeface="Times New Roman"/>
              </a:rPr>
              <a:t> </a:t>
            </a:r>
            <a:r>
              <a:rPr sz="3050" b="1" dirty="0">
                <a:latin typeface="Times New Roman"/>
                <a:cs typeface="Times New Roman"/>
              </a:rPr>
              <a:t>Clé</a:t>
            </a:r>
            <a:r>
              <a:rPr sz="3050" b="1" spc="5" dirty="0">
                <a:latin typeface="Times New Roman"/>
                <a:cs typeface="Times New Roman"/>
              </a:rPr>
              <a:t> </a:t>
            </a:r>
            <a:r>
              <a:rPr sz="3050" b="1" spc="-70" dirty="0">
                <a:latin typeface="Times New Roman"/>
                <a:cs typeface="Times New Roman"/>
              </a:rPr>
              <a:t>Publique</a:t>
            </a:r>
            <a:r>
              <a:rPr sz="3050" b="1" dirty="0">
                <a:latin typeface="Times New Roman"/>
                <a:cs typeface="Times New Roman"/>
              </a:rPr>
              <a:t> (PKI</a:t>
            </a:r>
            <a:r>
              <a:rPr sz="3050" b="1" spc="5" dirty="0">
                <a:latin typeface="Times New Roman"/>
                <a:cs typeface="Times New Roman"/>
              </a:rPr>
              <a:t> </a:t>
            </a:r>
            <a:r>
              <a:rPr sz="3050" b="1" spc="-10" dirty="0">
                <a:latin typeface="Times New Roman"/>
                <a:cs typeface="Times New Roman"/>
              </a:rPr>
              <a:t>ou</a:t>
            </a:r>
            <a:r>
              <a:rPr sz="3050" b="1" dirty="0">
                <a:latin typeface="Times New Roman"/>
                <a:cs typeface="Times New Roman"/>
              </a:rPr>
              <a:t> IGC)</a:t>
            </a:r>
            <a:r>
              <a:rPr sz="3050" b="1" spc="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est </a:t>
            </a:r>
            <a:r>
              <a:rPr sz="3050" spc="150" dirty="0">
                <a:latin typeface="Times New Roman"/>
                <a:cs typeface="Times New Roman"/>
              </a:rPr>
              <a:t>un</a:t>
            </a:r>
            <a:r>
              <a:rPr sz="3050" dirty="0">
                <a:latin typeface="Times New Roman"/>
                <a:cs typeface="Times New Roman"/>
              </a:rPr>
              <a:t> ensemble</a:t>
            </a:r>
            <a:r>
              <a:rPr sz="3050" spc="5" dirty="0">
                <a:latin typeface="Times New Roman"/>
                <a:cs typeface="Times New Roman"/>
              </a:rPr>
              <a:t> </a:t>
            </a:r>
            <a:r>
              <a:rPr sz="3050" spc="65" dirty="0">
                <a:latin typeface="Times New Roman"/>
                <a:cs typeface="Times New Roman"/>
              </a:rPr>
              <a:t>de</a:t>
            </a:r>
            <a:r>
              <a:rPr sz="3050" spc="5" dirty="0">
                <a:latin typeface="Times New Roman"/>
                <a:cs typeface="Times New Roman"/>
              </a:rPr>
              <a:t> </a:t>
            </a:r>
            <a:r>
              <a:rPr sz="3050" spc="55" dirty="0">
                <a:latin typeface="Times New Roman"/>
                <a:cs typeface="Times New Roman"/>
              </a:rPr>
              <a:t>personnes,</a:t>
            </a:r>
            <a:r>
              <a:rPr sz="3050" spc="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matériels</a:t>
            </a:r>
            <a:r>
              <a:rPr sz="3050" spc="5" dirty="0">
                <a:latin typeface="Times New Roman"/>
                <a:cs typeface="Times New Roman"/>
              </a:rPr>
              <a:t> </a:t>
            </a:r>
            <a:r>
              <a:rPr sz="3050" spc="70" dirty="0">
                <a:latin typeface="Times New Roman"/>
                <a:cs typeface="Times New Roman"/>
              </a:rPr>
              <a:t>et</a:t>
            </a:r>
            <a:r>
              <a:rPr sz="3050" spc="5" dirty="0">
                <a:latin typeface="Times New Roman"/>
                <a:cs typeface="Times New Roman"/>
              </a:rPr>
              <a:t> </a:t>
            </a:r>
            <a:r>
              <a:rPr sz="3050" spc="-10" dirty="0">
                <a:latin typeface="Times New Roman"/>
                <a:cs typeface="Times New Roman"/>
              </a:rPr>
              <a:t>logiciels,</a:t>
            </a:r>
            <a:endParaRPr sz="3050">
              <a:latin typeface="Times New Roman"/>
              <a:cs typeface="Times New Roman"/>
            </a:endParaRPr>
          </a:p>
          <a:p>
            <a:pPr marL="12700" marR="701040">
              <a:lnSpc>
                <a:spcPts val="7580"/>
              </a:lnSpc>
              <a:spcBef>
                <a:spcPts val="900"/>
              </a:spcBef>
            </a:pPr>
            <a:r>
              <a:rPr sz="3050" spc="60" dirty="0">
                <a:latin typeface="Times New Roman"/>
                <a:cs typeface="Times New Roman"/>
              </a:rPr>
              <a:t>encadrés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spc="160" dirty="0">
                <a:latin typeface="Times New Roman"/>
                <a:cs typeface="Times New Roman"/>
              </a:rPr>
              <a:t>par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des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règles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spc="70" dirty="0">
                <a:latin typeface="Times New Roman"/>
                <a:cs typeface="Times New Roman"/>
              </a:rPr>
              <a:t>et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spc="50" dirty="0">
                <a:latin typeface="Times New Roman"/>
                <a:cs typeface="Times New Roman"/>
              </a:rPr>
              <a:t>procédures,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b="1" spc="-75" dirty="0">
                <a:latin typeface="Times New Roman"/>
                <a:cs typeface="Times New Roman"/>
              </a:rPr>
              <a:t>permettant</a:t>
            </a:r>
            <a:r>
              <a:rPr sz="3050" b="1" spc="-30" dirty="0">
                <a:latin typeface="Times New Roman"/>
                <a:cs typeface="Times New Roman"/>
              </a:rPr>
              <a:t> </a:t>
            </a:r>
            <a:r>
              <a:rPr sz="3050" b="1" spc="-20" dirty="0">
                <a:latin typeface="Times New Roman"/>
                <a:cs typeface="Times New Roman"/>
              </a:rPr>
              <a:t>de</a:t>
            </a:r>
            <a:r>
              <a:rPr sz="3050" b="1" spc="-25" dirty="0">
                <a:latin typeface="Times New Roman"/>
                <a:cs typeface="Times New Roman"/>
              </a:rPr>
              <a:t> </a:t>
            </a:r>
            <a:r>
              <a:rPr sz="3050" b="1" spc="-80" dirty="0">
                <a:latin typeface="Times New Roman"/>
                <a:cs typeface="Times New Roman"/>
              </a:rPr>
              <a:t>créer,</a:t>
            </a:r>
            <a:r>
              <a:rPr sz="3050" b="1" spc="-25" dirty="0">
                <a:latin typeface="Times New Roman"/>
                <a:cs typeface="Times New Roman"/>
              </a:rPr>
              <a:t> </a:t>
            </a:r>
            <a:r>
              <a:rPr sz="3050" b="1" spc="-70" dirty="0">
                <a:latin typeface="Times New Roman"/>
                <a:cs typeface="Times New Roman"/>
              </a:rPr>
              <a:t>gérer</a:t>
            </a:r>
            <a:r>
              <a:rPr sz="3050" b="1" spc="-30" dirty="0">
                <a:latin typeface="Times New Roman"/>
                <a:cs typeface="Times New Roman"/>
              </a:rPr>
              <a:t> </a:t>
            </a:r>
            <a:r>
              <a:rPr sz="3050" b="1" dirty="0">
                <a:latin typeface="Times New Roman"/>
                <a:cs typeface="Times New Roman"/>
              </a:rPr>
              <a:t>et</a:t>
            </a:r>
            <a:r>
              <a:rPr sz="3050" b="1" spc="-25" dirty="0">
                <a:latin typeface="Times New Roman"/>
                <a:cs typeface="Times New Roman"/>
              </a:rPr>
              <a:t> </a:t>
            </a:r>
            <a:r>
              <a:rPr sz="3050" b="1" spc="-100" dirty="0">
                <a:latin typeface="Times New Roman"/>
                <a:cs typeface="Times New Roman"/>
              </a:rPr>
              <a:t>distribuer</a:t>
            </a:r>
            <a:r>
              <a:rPr sz="3050" b="1" spc="-25" dirty="0">
                <a:latin typeface="Times New Roman"/>
                <a:cs typeface="Times New Roman"/>
              </a:rPr>
              <a:t> </a:t>
            </a:r>
            <a:r>
              <a:rPr sz="3050" b="1" spc="-30" dirty="0">
                <a:latin typeface="Times New Roman"/>
                <a:cs typeface="Times New Roman"/>
              </a:rPr>
              <a:t>des </a:t>
            </a:r>
            <a:r>
              <a:rPr sz="3050" b="1" spc="-25" dirty="0">
                <a:latin typeface="Times New Roman"/>
                <a:cs typeface="Times New Roman"/>
              </a:rPr>
              <a:t>certificats </a:t>
            </a:r>
            <a:r>
              <a:rPr sz="3050" b="1" dirty="0">
                <a:latin typeface="Times New Roman"/>
                <a:cs typeface="Times New Roman"/>
              </a:rPr>
              <a:t>X.509</a:t>
            </a:r>
            <a:r>
              <a:rPr sz="3050" dirty="0">
                <a:latin typeface="Times New Roman"/>
                <a:cs typeface="Times New Roman"/>
              </a:rPr>
              <a:t>.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spc="-20" dirty="0">
                <a:latin typeface="Times New Roman"/>
                <a:cs typeface="Times New Roman"/>
              </a:rPr>
              <a:t>Elle </a:t>
            </a:r>
            <a:r>
              <a:rPr sz="3050" spc="70" dirty="0">
                <a:latin typeface="Times New Roman"/>
                <a:cs typeface="Times New Roman"/>
              </a:rPr>
              <a:t>combine</a:t>
            </a:r>
            <a:r>
              <a:rPr sz="3050" spc="15" dirty="0">
                <a:latin typeface="Times New Roman"/>
                <a:cs typeface="Times New Roman"/>
              </a:rPr>
              <a:t> </a:t>
            </a:r>
            <a:r>
              <a:rPr sz="3050" spc="70" dirty="0">
                <a:latin typeface="Times New Roman"/>
                <a:cs typeface="Times New Roman"/>
              </a:rPr>
              <a:t>fonction</a:t>
            </a:r>
            <a:r>
              <a:rPr sz="3050" spc="20" dirty="0">
                <a:latin typeface="Times New Roman"/>
                <a:cs typeface="Times New Roman"/>
              </a:rPr>
              <a:t> </a:t>
            </a:r>
            <a:r>
              <a:rPr sz="3050" spc="60" dirty="0">
                <a:latin typeface="Times New Roman"/>
                <a:cs typeface="Times New Roman"/>
              </a:rPr>
              <a:t>administrative</a:t>
            </a:r>
            <a:r>
              <a:rPr sz="3050" spc="30" dirty="0">
                <a:latin typeface="Times New Roman"/>
                <a:cs typeface="Times New Roman"/>
              </a:rPr>
              <a:t> </a:t>
            </a:r>
            <a:r>
              <a:rPr sz="3050" spc="70" dirty="0">
                <a:latin typeface="Times New Roman"/>
                <a:cs typeface="Times New Roman"/>
              </a:rPr>
              <a:t>et</a:t>
            </a:r>
            <a:r>
              <a:rPr sz="3050" spc="25" dirty="0">
                <a:latin typeface="Times New Roman"/>
                <a:cs typeface="Times New Roman"/>
              </a:rPr>
              <a:t> </a:t>
            </a:r>
            <a:r>
              <a:rPr sz="3050" spc="70" dirty="0">
                <a:latin typeface="Times New Roman"/>
                <a:cs typeface="Times New Roman"/>
              </a:rPr>
              <a:t>fonction</a:t>
            </a:r>
            <a:r>
              <a:rPr sz="3050" spc="20" dirty="0">
                <a:latin typeface="Times New Roman"/>
                <a:cs typeface="Times New Roman"/>
              </a:rPr>
              <a:t> </a:t>
            </a:r>
            <a:r>
              <a:rPr sz="3050" spc="55" dirty="0">
                <a:latin typeface="Times New Roman"/>
                <a:cs typeface="Times New Roman"/>
              </a:rPr>
              <a:t>technique,</a:t>
            </a:r>
            <a:r>
              <a:rPr sz="3050" spc="30" dirty="0">
                <a:latin typeface="Times New Roman"/>
                <a:cs typeface="Times New Roman"/>
              </a:rPr>
              <a:t> </a:t>
            </a:r>
            <a:r>
              <a:rPr sz="3050" spc="105" dirty="0">
                <a:latin typeface="Times New Roman"/>
                <a:cs typeface="Times New Roman"/>
              </a:rPr>
              <a:t>assurant</a:t>
            </a:r>
            <a:r>
              <a:rPr sz="3050" spc="25" dirty="0">
                <a:latin typeface="Times New Roman"/>
                <a:cs typeface="Times New Roman"/>
              </a:rPr>
              <a:t> </a:t>
            </a:r>
            <a:r>
              <a:rPr sz="3050" spc="70" dirty="0">
                <a:latin typeface="Times New Roman"/>
                <a:cs typeface="Times New Roman"/>
              </a:rPr>
              <a:t>la</a:t>
            </a:r>
            <a:r>
              <a:rPr sz="3050" spc="25" dirty="0">
                <a:latin typeface="Times New Roman"/>
                <a:cs typeface="Times New Roman"/>
              </a:rPr>
              <a:t> </a:t>
            </a:r>
            <a:r>
              <a:rPr sz="3050" spc="50" dirty="0">
                <a:latin typeface="Times New Roman"/>
                <a:cs typeface="Times New Roman"/>
              </a:rPr>
              <a:t>gestion</a:t>
            </a:r>
            <a:r>
              <a:rPr sz="3050" spc="25" dirty="0">
                <a:latin typeface="Times New Roman"/>
                <a:cs typeface="Times New Roman"/>
              </a:rPr>
              <a:t> </a:t>
            </a:r>
            <a:r>
              <a:rPr sz="3050" spc="60" dirty="0">
                <a:latin typeface="Times New Roman"/>
                <a:cs typeface="Times New Roman"/>
              </a:rPr>
              <a:t>complète</a:t>
            </a:r>
            <a:r>
              <a:rPr sz="3050" spc="2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des</a:t>
            </a:r>
            <a:r>
              <a:rPr sz="3050" spc="30" dirty="0">
                <a:latin typeface="Times New Roman"/>
                <a:cs typeface="Times New Roman"/>
              </a:rPr>
              <a:t> </a:t>
            </a:r>
            <a:r>
              <a:rPr sz="3050" spc="-10" dirty="0">
                <a:latin typeface="Times New Roman"/>
                <a:cs typeface="Times New Roman"/>
              </a:rPr>
              <a:t>certificats.</a:t>
            </a:r>
            <a:endParaRPr sz="3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05"/>
              </a:spcBef>
            </a:pPr>
            <a:r>
              <a:rPr sz="3050" b="1" spc="-10" dirty="0">
                <a:solidFill>
                  <a:srgbClr val="8B0101"/>
                </a:solidFill>
                <a:latin typeface="Times New Roman"/>
                <a:cs typeface="Times New Roman"/>
              </a:rPr>
              <a:t>Missions</a:t>
            </a:r>
            <a:r>
              <a:rPr sz="3050" b="1" spc="-105" dirty="0">
                <a:solidFill>
                  <a:srgbClr val="8B0101"/>
                </a:solidFill>
                <a:latin typeface="Times New Roman"/>
                <a:cs typeface="Times New Roman"/>
              </a:rPr>
              <a:t> </a:t>
            </a:r>
            <a:r>
              <a:rPr sz="3050" b="1" spc="-75" dirty="0">
                <a:solidFill>
                  <a:srgbClr val="8B0101"/>
                </a:solidFill>
                <a:latin typeface="Times New Roman"/>
                <a:cs typeface="Times New Roman"/>
              </a:rPr>
              <a:t>principales</a:t>
            </a:r>
            <a:r>
              <a:rPr sz="3050" b="1" spc="-105" dirty="0">
                <a:solidFill>
                  <a:srgbClr val="8B0101"/>
                </a:solidFill>
                <a:latin typeface="Times New Roman"/>
                <a:cs typeface="Times New Roman"/>
              </a:rPr>
              <a:t> </a:t>
            </a:r>
            <a:r>
              <a:rPr sz="3050" b="1" spc="-50" dirty="0">
                <a:solidFill>
                  <a:srgbClr val="8B0101"/>
                </a:solidFill>
                <a:latin typeface="Times New Roman"/>
                <a:cs typeface="Times New Roman"/>
              </a:rPr>
              <a:t>:</a:t>
            </a:r>
            <a:endParaRPr sz="3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3050">
              <a:latin typeface="Times New Roman"/>
              <a:cs typeface="Times New Roman"/>
            </a:endParaRPr>
          </a:p>
          <a:p>
            <a:pPr marL="671195">
              <a:lnSpc>
                <a:spcPct val="100000"/>
              </a:lnSpc>
            </a:pPr>
            <a:r>
              <a:rPr sz="3050" spc="90" dirty="0">
                <a:latin typeface="Times New Roman"/>
                <a:cs typeface="Times New Roman"/>
              </a:rPr>
              <a:t>Création</a:t>
            </a:r>
            <a:r>
              <a:rPr sz="3050" spc="120" dirty="0">
                <a:latin typeface="Times New Roman"/>
                <a:cs typeface="Times New Roman"/>
              </a:rPr>
              <a:t> </a:t>
            </a:r>
            <a:r>
              <a:rPr sz="3050" spc="70" dirty="0">
                <a:latin typeface="Times New Roman"/>
                <a:cs typeface="Times New Roman"/>
              </a:rPr>
              <a:t>et</a:t>
            </a:r>
            <a:r>
              <a:rPr sz="3050" spc="125" dirty="0">
                <a:latin typeface="Times New Roman"/>
                <a:cs typeface="Times New Roman"/>
              </a:rPr>
              <a:t> </a:t>
            </a:r>
            <a:r>
              <a:rPr sz="3050" spc="60" dirty="0">
                <a:latin typeface="Times New Roman"/>
                <a:cs typeface="Times New Roman"/>
              </a:rPr>
              <a:t>révocation</a:t>
            </a:r>
            <a:r>
              <a:rPr sz="3050" spc="12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des</a:t>
            </a:r>
            <a:r>
              <a:rPr sz="3050" spc="1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certificats</a:t>
            </a:r>
            <a:r>
              <a:rPr sz="3050" spc="125" dirty="0">
                <a:latin typeface="Times New Roman"/>
                <a:cs typeface="Times New Roman"/>
              </a:rPr>
              <a:t> </a:t>
            </a:r>
            <a:r>
              <a:rPr sz="3050" spc="-10" dirty="0">
                <a:latin typeface="Times New Roman"/>
                <a:cs typeface="Times New Roman"/>
              </a:rPr>
              <a:t>X.509.</a:t>
            </a:r>
            <a:endParaRPr sz="3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3050">
              <a:latin typeface="Times New Roman"/>
              <a:cs typeface="Times New Roman"/>
            </a:endParaRPr>
          </a:p>
          <a:p>
            <a:pPr marL="671195">
              <a:lnSpc>
                <a:spcPct val="100000"/>
              </a:lnSpc>
            </a:pPr>
            <a:r>
              <a:rPr sz="3050" spc="60" dirty="0">
                <a:latin typeface="Times New Roman"/>
                <a:cs typeface="Times New Roman"/>
              </a:rPr>
              <a:t>Diffusion</a:t>
            </a:r>
            <a:r>
              <a:rPr sz="3050" spc="80" dirty="0">
                <a:latin typeface="Times New Roman"/>
                <a:cs typeface="Times New Roman"/>
              </a:rPr>
              <a:t> </a:t>
            </a:r>
            <a:r>
              <a:rPr sz="3050" spc="70" dirty="0">
                <a:latin typeface="Times New Roman"/>
                <a:cs typeface="Times New Roman"/>
              </a:rPr>
              <a:t>et</a:t>
            </a:r>
            <a:r>
              <a:rPr sz="3050" spc="90" dirty="0">
                <a:latin typeface="Times New Roman"/>
                <a:cs typeface="Times New Roman"/>
              </a:rPr>
              <a:t> </a:t>
            </a:r>
            <a:r>
              <a:rPr sz="3050" spc="75" dirty="0">
                <a:latin typeface="Times New Roman"/>
                <a:cs typeface="Times New Roman"/>
              </a:rPr>
              <a:t>publication</a:t>
            </a:r>
            <a:r>
              <a:rPr sz="3050" spc="8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des</a:t>
            </a:r>
            <a:r>
              <a:rPr sz="3050" spc="8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certificats</a:t>
            </a:r>
            <a:r>
              <a:rPr sz="3050" spc="8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(ex.</a:t>
            </a:r>
            <a:r>
              <a:rPr sz="3050" spc="9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via</a:t>
            </a:r>
            <a:r>
              <a:rPr sz="3050" spc="85" dirty="0">
                <a:latin typeface="Times New Roman"/>
                <a:cs typeface="Times New Roman"/>
              </a:rPr>
              <a:t> </a:t>
            </a:r>
            <a:r>
              <a:rPr sz="3050" spc="150" dirty="0">
                <a:latin typeface="Times New Roman"/>
                <a:cs typeface="Times New Roman"/>
              </a:rPr>
              <a:t>un</a:t>
            </a:r>
            <a:r>
              <a:rPr sz="3050" spc="80" dirty="0">
                <a:latin typeface="Times New Roman"/>
                <a:cs typeface="Times New Roman"/>
              </a:rPr>
              <a:t> </a:t>
            </a:r>
            <a:r>
              <a:rPr sz="3050" spc="90" dirty="0">
                <a:latin typeface="Times New Roman"/>
                <a:cs typeface="Times New Roman"/>
              </a:rPr>
              <a:t>annuaire</a:t>
            </a:r>
            <a:r>
              <a:rPr sz="3050" spc="85" dirty="0">
                <a:latin typeface="Times New Roman"/>
                <a:cs typeface="Times New Roman"/>
              </a:rPr>
              <a:t> LDAP).</a:t>
            </a:r>
            <a:endParaRPr sz="3050">
              <a:latin typeface="Times New Roman"/>
              <a:cs typeface="Times New Roman"/>
            </a:endParaRPr>
          </a:p>
          <a:p>
            <a:pPr marL="671195" marR="5080">
              <a:lnSpc>
                <a:spcPts val="7580"/>
              </a:lnSpc>
              <a:spcBef>
                <a:spcPts val="705"/>
              </a:spcBef>
            </a:pPr>
            <a:r>
              <a:rPr sz="3050" dirty="0">
                <a:latin typeface="Times New Roman"/>
                <a:cs typeface="Times New Roman"/>
              </a:rPr>
              <a:t>Parfois,</a:t>
            </a:r>
            <a:r>
              <a:rPr sz="3050" spc="80" dirty="0">
                <a:latin typeface="Times New Roman"/>
                <a:cs typeface="Times New Roman"/>
              </a:rPr>
              <a:t> </a:t>
            </a:r>
            <a:r>
              <a:rPr sz="3050" spc="50" dirty="0">
                <a:latin typeface="Times New Roman"/>
                <a:cs typeface="Times New Roman"/>
              </a:rPr>
              <a:t>gestion</a:t>
            </a:r>
            <a:r>
              <a:rPr sz="3050" spc="7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des</a:t>
            </a:r>
            <a:r>
              <a:rPr sz="3050" spc="8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clés</a:t>
            </a:r>
            <a:r>
              <a:rPr sz="3050" spc="7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privées</a:t>
            </a:r>
            <a:r>
              <a:rPr sz="3050" spc="80" dirty="0">
                <a:latin typeface="Times New Roman"/>
                <a:cs typeface="Times New Roman"/>
              </a:rPr>
              <a:t> </a:t>
            </a:r>
            <a:r>
              <a:rPr sz="3050" spc="70" dirty="0">
                <a:latin typeface="Times New Roman"/>
                <a:cs typeface="Times New Roman"/>
              </a:rPr>
              <a:t>perdues</a:t>
            </a:r>
            <a:r>
              <a:rPr sz="3050" spc="7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via</a:t>
            </a:r>
            <a:r>
              <a:rPr sz="3050" spc="75" dirty="0">
                <a:latin typeface="Times New Roman"/>
                <a:cs typeface="Times New Roman"/>
              </a:rPr>
              <a:t> </a:t>
            </a:r>
            <a:r>
              <a:rPr sz="3050" spc="150" dirty="0">
                <a:latin typeface="Times New Roman"/>
                <a:cs typeface="Times New Roman"/>
              </a:rPr>
              <a:t>un</a:t>
            </a:r>
            <a:r>
              <a:rPr sz="3050" spc="7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service</a:t>
            </a:r>
            <a:r>
              <a:rPr sz="3050" spc="80" dirty="0">
                <a:latin typeface="Times New Roman"/>
                <a:cs typeface="Times New Roman"/>
              </a:rPr>
              <a:t> </a:t>
            </a:r>
            <a:r>
              <a:rPr sz="3050" spc="65" dirty="0">
                <a:latin typeface="Times New Roman"/>
                <a:cs typeface="Times New Roman"/>
              </a:rPr>
              <a:t>de</a:t>
            </a:r>
            <a:r>
              <a:rPr sz="3050" spc="8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séquestre,</a:t>
            </a:r>
            <a:r>
              <a:rPr sz="3050" spc="7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utile</a:t>
            </a:r>
            <a:r>
              <a:rPr sz="3050" spc="75" dirty="0">
                <a:latin typeface="Times New Roman"/>
                <a:cs typeface="Times New Roman"/>
              </a:rPr>
              <a:t> </a:t>
            </a:r>
            <a:r>
              <a:rPr sz="3050" spc="150" dirty="0">
                <a:latin typeface="Times New Roman"/>
                <a:cs typeface="Times New Roman"/>
              </a:rPr>
              <a:t>pour</a:t>
            </a:r>
            <a:r>
              <a:rPr sz="3050" spc="80" dirty="0">
                <a:latin typeface="Times New Roman"/>
                <a:cs typeface="Times New Roman"/>
              </a:rPr>
              <a:t> </a:t>
            </a:r>
            <a:r>
              <a:rPr sz="3050" spc="65" dirty="0">
                <a:latin typeface="Times New Roman"/>
                <a:cs typeface="Times New Roman"/>
              </a:rPr>
              <a:t>récupérer</a:t>
            </a:r>
            <a:r>
              <a:rPr sz="3050" spc="75" dirty="0">
                <a:latin typeface="Times New Roman"/>
                <a:cs typeface="Times New Roman"/>
              </a:rPr>
              <a:t> </a:t>
            </a:r>
            <a:r>
              <a:rPr sz="3050" spc="90" dirty="0">
                <a:latin typeface="Times New Roman"/>
                <a:cs typeface="Times New Roman"/>
              </a:rPr>
              <a:t>une</a:t>
            </a:r>
            <a:r>
              <a:rPr sz="3050" spc="8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clé</a:t>
            </a:r>
            <a:r>
              <a:rPr sz="3050" spc="80" dirty="0">
                <a:latin typeface="Times New Roman"/>
                <a:cs typeface="Times New Roman"/>
              </a:rPr>
              <a:t> </a:t>
            </a:r>
            <a:r>
              <a:rPr sz="3050" spc="-10" dirty="0">
                <a:latin typeface="Times New Roman"/>
                <a:cs typeface="Times New Roman"/>
              </a:rPr>
              <a:t>privée </a:t>
            </a:r>
            <a:r>
              <a:rPr sz="3050" spc="65" dirty="0">
                <a:latin typeface="Times New Roman"/>
                <a:cs typeface="Times New Roman"/>
              </a:rPr>
              <a:t>en</a:t>
            </a:r>
            <a:r>
              <a:rPr sz="3050" spc="2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cas</a:t>
            </a:r>
            <a:r>
              <a:rPr sz="3050" spc="35" dirty="0">
                <a:latin typeface="Times New Roman"/>
                <a:cs typeface="Times New Roman"/>
              </a:rPr>
              <a:t> </a:t>
            </a:r>
            <a:r>
              <a:rPr sz="3050" spc="65" dirty="0">
                <a:latin typeface="Times New Roman"/>
                <a:cs typeface="Times New Roman"/>
              </a:rPr>
              <a:t>de</a:t>
            </a:r>
            <a:r>
              <a:rPr sz="3050" spc="35" dirty="0">
                <a:latin typeface="Times New Roman"/>
                <a:cs typeface="Times New Roman"/>
              </a:rPr>
              <a:t> </a:t>
            </a:r>
            <a:r>
              <a:rPr sz="3050" spc="55" dirty="0">
                <a:latin typeface="Times New Roman"/>
                <a:cs typeface="Times New Roman"/>
              </a:rPr>
              <a:t>perte,</a:t>
            </a:r>
            <a:r>
              <a:rPr sz="3050" spc="30" dirty="0">
                <a:latin typeface="Times New Roman"/>
                <a:cs typeface="Times New Roman"/>
              </a:rPr>
              <a:t> </a:t>
            </a:r>
            <a:r>
              <a:rPr sz="3050" spc="60" dirty="0">
                <a:latin typeface="Times New Roman"/>
                <a:cs typeface="Times New Roman"/>
              </a:rPr>
              <a:t>bien</a:t>
            </a:r>
            <a:r>
              <a:rPr sz="3050" spc="30" dirty="0">
                <a:latin typeface="Times New Roman"/>
                <a:cs typeface="Times New Roman"/>
              </a:rPr>
              <a:t> </a:t>
            </a:r>
            <a:r>
              <a:rPr sz="3050" spc="90" dirty="0">
                <a:latin typeface="Times New Roman"/>
                <a:cs typeface="Times New Roman"/>
              </a:rPr>
              <a:t>que</a:t>
            </a:r>
            <a:r>
              <a:rPr sz="3050" spc="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cela</a:t>
            </a:r>
            <a:r>
              <a:rPr sz="3050" spc="30" dirty="0">
                <a:latin typeface="Times New Roman"/>
                <a:cs typeface="Times New Roman"/>
              </a:rPr>
              <a:t> </a:t>
            </a:r>
            <a:r>
              <a:rPr sz="3050" spc="55" dirty="0">
                <a:latin typeface="Times New Roman"/>
                <a:cs typeface="Times New Roman"/>
              </a:rPr>
              <a:t>implique</a:t>
            </a:r>
            <a:r>
              <a:rPr sz="3050" spc="35" dirty="0">
                <a:latin typeface="Times New Roman"/>
                <a:cs typeface="Times New Roman"/>
              </a:rPr>
              <a:t> </a:t>
            </a:r>
            <a:r>
              <a:rPr sz="3050" spc="150" dirty="0">
                <a:latin typeface="Times New Roman"/>
                <a:cs typeface="Times New Roman"/>
              </a:rPr>
              <a:t>un</a:t>
            </a:r>
            <a:r>
              <a:rPr sz="3050" spc="30" dirty="0">
                <a:latin typeface="Times New Roman"/>
                <a:cs typeface="Times New Roman"/>
              </a:rPr>
              <a:t> </a:t>
            </a:r>
            <a:r>
              <a:rPr sz="3050" spc="100" dirty="0">
                <a:latin typeface="Times New Roman"/>
                <a:cs typeface="Times New Roman"/>
              </a:rPr>
              <a:t>partage</a:t>
            </a:r>
            <a:r>
              <a:rPr sz="3050" spc="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avec</a:t>
            </a:r>
            <a:r>
              <a:rPr sz="3050" spc="35" dirty="0">
                <a:latin typeface="Times New Roman"/>
                <a:cs typeface="Times New Roman"/>
              </a:rPr>
              <a:t> </a:t>
            </a:r>
            <a:r>
              <a:rPr sz="3050" spc="150" dirty="0">
                <a:latin typeface="Times New Roman"/>
                <a:cs typeface="Times New Roman"/>
              </a:rPr>
              <a:t>un</a:t>
            </a:r>
            <a:r>
              <a:rPr sz="3050" spc="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tiers</a:t>
            </a:r>
            <a:r>
              <a:rPr sz="3050" spc="30" dirty="0">
                <a:latin typeface="Times New Roman"/>
                <a:cs typeface="Times New Roman"/>
              </a:rPr>
              <a:t> </a:t>
            </a:r>
            <a:r>
              <a:rPr sz="3050" spc="70" dirty="0">
                <a:latin typeface="Times New Roman"/>
                <a:cs typeface="Times New Roman"/>
              </a:rPr>
              <a:t>et</a:t>
            </a:r>
            <a:r>
              <a:rPr sz="3050" spc="35" dirty="0">
                <a:latin typeface="Times New Roman"/>
                <a:cs typeface="Times New Roman"/>
              </a:rPr>
              <a:t> </a:t>
            </a:r>
            <a:r>
              <a:rPr sz="3050" spc="90" dirty="0">
                <a:latin typeface="Times New Roman"/>
                <a:cs typeface="Times New Roman"/>
              </a:rPr>
              <a:t>une</a:t>
            </a:r>
            <a:r>
              <a:rPr sz="3050" spc="35" dirty="0">
                <a:latin typeface="Times New Roman"/>
                <a:cs typeface="Times New Roman"/>
              </a:rPr>
              <a:t> </a:t>
            </a:r>
            <a:r>
              <a:rPr sz="3050" spc="85" dirty="0">
                <a:latin typeface="Times New Roman"/>
                <a:cs typeface="Times New Roman"/>
              </a:rPr>
              <a:t>perte</a:t>
            </a:r>
            <a:r>
              <a:rPr sz="3050" spc="30" dirty="0">
                <a:latin typeface="Times New Roman"/>
                <a:cs typeface="Times New Roman"/>
              </a:rPr>
              <a:t> </a:t>
            </a:r>
            <a:r>
              <a:rPr sz="3050" spc="65" dirty="0">
                <a:latin typeface="Times New Roman"/>
                <a:cs typeface="Times New Roman"/>
              </a:rPr>
              <a:t>de</a:t>
            </a:r>
            <a:r>
              <a:rPr sz="3050" spc="35" dirty="0">
                <a:latin typeface="Times New Roman"/>
                <a:cs typeface="Times New Roman"/>
              </a:rPr>
              <a:t> </a:t>
            </a:r>
            <a:r>
              <a:rPr sz="3050" spc="-10" dirty="0">
                <a:latin typeface="Times New Roman"/>
                <a:cs typeface="Times New Roman"/>
              </a:rPr>
              <a:t>confidentialité.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389510" y="9554081"/>
            <a:ext cx="365125" cy="35433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z="1900" spc="-25" dirty="0">
                <a:latin typeface="Lucida Sans Unicode"/>
                <a:cs typeface="Lucida Sans Unicode"/>
              </a:rPr>
              <a:t>30</a:t>
            </a:fld>
            <a:endParaRPr sz="19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612" y="512176"/>
            <a:ext cx="904240" cy="1033780"/>
          </a:xfrm>
          <a:custGeom>
            <a:avLst/>
            <a:gdLst/>
            <a:ahLst/>
            <a:cxnLst/>
            <a:rect l="l" t="t" r="r" b="b"/>
            <a:pathLst>
              <a:path w="904239" h="1033780">
                <a:moveTo>
                  <a:pt x="0" y="1033158"/>
                </a:moveTo>
                <a:lnTo>
                  <a:pt x="0" y="0"/>
                </a:lnTo>
                <a:lnTo>
                  <a:pt x="904014" y="516579"/>
                </a:lnTo>
                <a:lnTo>
                  <a:pt x="0" y="1033158"/>
                </a:lnTo>
                <a:close/>
              </a:path>
            </a:pathLst>
          </a:custGeom>
          <a:solidFill>
            <a:srgbClr val="B40C1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6928523" y="4922204"/>
            <a:ext cx="3012440" cy="152400"/>
            <a:chOff x="6928523" y="4922204"/>
            <a:chExt cx="3012440" cy="152400"/>
          </a:xfrm>
        </p:grpSpPr>
        <p:sp>
          <p:nvSpPr>
            <p:cNvPr id="4" name="object 4"/>
            <p:cNvSpPr/>
            <p:nvPr/>
          </p:nvSpPr>
          <p:spPr>
            <a:xfrm>
              <a:off x="6947573" y="4998464"/>
              <a:ext cx="2888615" cy="18415"/>
            </a:xfrm>
            <a:custGeom>
              <a:avLst/>
              <a:gdLst/>
              <a:ahLst/>
              <a:cxnLst/>
              <a:rect l="l" t="t" r="r" b="b"/>
              <a:pathLst>
                <a:path w="2888615" h="18414">
                  <a:moveTo>
                    <a:pt x="0" y="18383"/>
                  </a:moveTo>
                  <a:lnTo>
                    <a:pt x="2888487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26171" y="4922204"/>
              <a:ext cx="114662" cy="152397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10265405" y="4356706"/>
            <a:ext cx="4060195" cy="1352550"/>
            <a:chOff x="10265405" y="4356706"/>
            <a:chExt cx="3686175" cy="1352550"/>
          </a:xfrm>
        </p:grpSpPr>
        <p:sp>
          <p:nvSpPr>
            <p:cNvPr id="7" name="object 7"/>
            <p:cNvSpPr/>
            <p:nvPr/>
          </p:nvSpPr>
          <p:spPr>
            <a:xfrm>
              <a:off x="10274913" y="4366231"/>
              <a:ext cx="3669665" cy="1337310"/>
            </a:xfrm>
            <a:custGeom>
              <a:avLst/>
              <a:gdLst/>
              <a:ahLst/>
              <a:cxnLst/>
              <a:rect l="l" t="t" r="r" b="b"/>
              <a:pathLst>
                <a:path w="3669665" h="1337310">
                  <a:moveTo>
                    <a:pt x="3669263" y="1337104"/>
                  </a:moveTo>
                  <a:lnTo>
                    <a:pt x="0" y="1337104"/>
                  </a:lnTo>
                  <a:lnTo>
                    <a:pt x="0" y="0"/>
                  </a:lnTo>
                  <a:lnTo>
                    <a:pt x="3669263" y="0"/>
                  </a:lnTo>
                  <a:lnTo>
                    <a:pt x="3669263" y="1337104"/>
                  </a:lnTo>
                  <a:close/>
                </a:path>
              </a:pathLst>
            </a:custGeom>
            <a:solidFill>
              <a:srgbClr val="D8ECFE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74930" y="4366231"/>
              <a:ext cx="3667125" cy="1333500"/>
            </a:xfrm>
            <a:custGeom>
              <a:avLst/>
              <a:gdLst/>
              <a:ahLst/>
              <a:cxnLst/>
              <a:rect l="l" t="t" r="r" b="b"/>
              <a:pathLst>
                <a:path w="3667125" h="1333500">
                  <a:moveTo>
                    <a:pt x="0" y="1333499"/>
                  </a:moveTo>
                  <a:lnTo>
                    <a:pt x="0" y="0"/>
                  </a:lnTo>
                  <a:lnTo>
                    <a:pt x="3667107" y="0"/>
                  </a:lnTo>
                </a:path>
              </a:pathLst>
            </a:custGeom>
            <a:ln w="19049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pPr algn="l" rtl="0"/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839" rIns="0" bIns="0" rtlCol="0">
            <a:spAutoFit/>
          </a:bodyPr>
          <a:lstStyle/>
          <a:p>
            <a:pPr marL="298450" marR="5080">
              <a:lnSpc>
                <a:spcPct val="116500"/>
              </a:lnSpc>
              <a:spcBef>
                <a:spcPts val="90"/>
              </a:spcBef>
            </a:pPr>
            <a:r>
              <a:rPr sz="4400" dirty="0"/>
              <a:t>Infrastructure</a:t>
            </a:r>
            <a:r>
              <a:rPr sz="4400" spc="35" dirty="0"/>
              <a:t> </a:t>
            </a:r>
            <a:r>
              <a:rPr sz="4400" dirty="0"/>
              <a:t>de</a:t>
            </a:r>
            <a:r>
              <a:rPr sz="4400" spc="35" dirty="0"/>
              <a:t> </a:t>
            </a:r>
            <a:r>
              <a:rPr sz="4400" dirty="0"/>
              <a:t>gestion</a:t>
            </a:r>
            <a:r>
              <a:rPr sz="4400" spc="35" dirty="0"/>
              <a:t> </a:t>
            </a:r>
            <a:r>
              <a:rPr sz="4400" dirty="0"/>
              <a:t>de</a:t>
            </a:r>
            <a:r>
              <a:rPr sz="4400" spc="35" dirty="0"/>
              <a:t> </a:t>
            </a:r>
            <a:r>
              <a:rPr sz="4400" dirty="0"/>
              <a:t>clés</a:t>
            </a:r>
            <a:r>
              <a:rPr sz="4400" spc="35" dirty="0"/>
              <a:t> </a:t>
            </a:r>
            <a:r>
              <a:rPr sz="4400" dirty="0"/>
              <a:t>:</a:t>
            </a:r>
            <a:r>
              <a:rPr sz="4400" spc="35" dirty="0"/>
              <a:t> </a:t>
            </a:r>
            <a:r>
              <a:rPr sz="4400" dirty="0"/>
              <a:t>Demande</a:t>
            </a:r>
            <a:r>
              <a:rPr sz="4400" spc="35" dirty="0"/>
              <a:t> </a:t>
            </a:r>
            <a:r>
              <a:rPr sz="4400" spc="-25" dirty="0"/>
              <a:t>de </a:t>
            </a:r>
            <a:r>
              <a:rPr sz="4400" spc="-10" dirty="0"/>
              <a:t>certificat</a:t>
            </a:r>
            <a:endParaRPr sz="4400"/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04184" y="4072614"/>
            <a:ext cx="1491117" cy="155584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605781" y="3007473"/>
            <a:ext cx="13076555" cy="13516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solidFill>
                  <a:srgbClr val="3F7D34"/>
                </a:solidFill>
                <a:latin typeface="Arial Black"/>
                <a:cs typeface="Arial Black"/>
              </a:rPr>
              <a:t>Alice envoie sa requête à l’AE pour obtenir ou renouveler son certificat.</a:t>
            </a:r>
            <a:endParaRPr sz="2900" dirty="0">
              <a:latin typeface="Arial Black"/>
              <a:cs typeface="Arial Black"/>
            </a:endParaRPr>
          </a:p>
          <a:p>
            <a:pPr marL="5781675" algn="ctr">
              <a:lnSpc>
                <a:spcPct val="100000"/>
              </a:lnSpc>
            </a:pPr>
            <a:endParaRPr lang="fr-FR" sz="2900" dirty="0">
              <a:latin typeface="Arial Black"/>
              <a:cs typeface="Arial Black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95031" y="7237219"/>
            <a:ext cx="123824" cy="12382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2093977" y="7037258"/>
            <a:ext cx="13821410" cy="21170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solidFill>
                  <a:srgbClr val="9D0000"/>
                </a:solidFill>
                <a:latin typeface="Arial Black"/>
                <a:cs typeface="Arial Black"/>
              </a:rPr>
              <a:t>L’Autorité d’Enregistrement (AE) </a:t>
            </a:r>
            <a:r>
              <a:rPr sz="2900" spc="-70" dirty="0">
                <a:latin typeface="Lucida Sans Unicode"/>
                <a:cs typeface="Lucida Sans Unicode"/>
              </a:rPr>
              <a:t>reçoit</a:t>
            </a:r>
            <a:r>
              <a:rPr sz="2900" spc="-150" dirty="0">
                <a:latin typeface="Lucida Sans Unicode"/>
                <a:cs typeface="Lucida Sans Unicode"/>
              </a:rPr>
              <a:t> </a:t>
            </a:r>
            <a:r>
              <a:rPr sz="2900" spc="-10" dirty="0">
                <a:latin typeface="Lucida Sans Unicode"/>
                <a:cs typeface="Lucida Sans Unicode"/>
              </a:rPr>
              <a:t>et</a:t>
            </a:r>
            <a:r>
              <a:rPr sz="2900" spc="-155" dirty="0">
                <a:latin typeface="Lucida Sans Unicode"/>
                <a:cs typeface="Lucida Sans Unicode"/>
              </a:rPr>
              <a:t> </a:t>
            </a:r>
            <a:r>
              <a:rPr sz="2900" spc="-45" dirty="0">
                <a:latin typeface="Lucida Sans Unicode"/>
                <a:cs typeface="Lucida Sans Unicode"/>
              </a:rPr>
              <a:t>traite</a:t>
            </a:r>
            <a:r>
              <a:rPr sz="2900" spc="-155" dirty="0">
                <a:latin typeface="Lucida Sans Unicode"/>
                <a:cs typeface="Lucida Sans Unicode"/>
              </a:rPr>
              <a:t> </a:t>
            </a:r>
            <a:r>
              <a:rPr sz="2900" spc="-75" dirty="0">
                <a:latin typeface="Lucida Sans Unicode"/>
                <a:cs typeface="Lucida Sans Unicode"/>
              </a:rPr>
              <a:t>les</a:t>
            </a:r>
            <a:r>
              <a:rPr sz="2900" spc="-150" dirty="0">
                <a:latin typeface="Lucida Sans Unicode"/>
                <a:cs typeface="Lucida Sans Unicode"/>
              </a:rPr>
              <a:t> </a:t>
            </a:r>
            <a:r>
              <a:rPr sz="2900" spc="-40" dirty="0">
                <a:latin typeface="Lucida Sans Unicode"/>
                <a:cs typeface="Lucida Sans Unicode"/>
              </a:rPr>
              <a:t>demandes</a:t>
            </a:r>
            <a:r>
              <a:rPr sz="2900" spc="-155" dirty="0">
                <a:latin typeface="Lucida Sans Unicode"/>
                <a:cs typeface="Lucida Sans Unicode"/>
              </a:rPr>
              <a:t> </a:t>
            </a:r>
            <a:r>
              <a:rPr sz="2900" dirty="0">
                <a:latin typeface="Lucida Sans Unicode"/>
                <a:cs typeface="Lucida Sans Unicode"/>
              </a:rPr>
              <a:t>de</a:t>
            </a:r>
            <a:r>
              <a:rPr sz="2900" spc="-155" dirty="0">
                <a:latin typeface="Lucida Sans Unicode"/>
                <a:cs typeface="Lucida Sans Unicode"/>
              </a:rPr>
              <a:t> </a:t>
            </a:r>
            <a:r>
              <a:rPr sz="2900" spc="-10" dirty="0">
                <a:latin typeface="Lucida Sans Unicode"/>
                <a:cs typeface="Lucida Sans Unicode"/>
              </a:rPr>
              <a:t>création,</a:t>
            </a:r>
            <a:endParaRPr sz="2900" dirty="0">
              <a:latin typeface="Lucida Sans Unicode"/>
              <a:cs typeface="Lucida Sans Unicode"/>
            </a:endParaRPr>
          </a:p>
          <a:p>
            <a:pPr marL="12700" marR="5080">
              <a:lnSpc>
                <a:spcPct val="198300"/>
              </a:lnSpc>
            </a:pPr>
            <a:r>
              <a:rPr sz="2900" spc="-45" dirty="0">
                <a:latin typeface="Lucida Sans Unicode"/>
                <a:cs typeface="Lucida Sans Unicode"/>
              </a:rPr>
              <a:t>renouvellement</a:t>
            </a:r>
            <a:r>
              <a:rPr sz="2900" spc="-155" dirty="0">
                <a:latin typeface="Lucida Sans Unicode"/>
                <a:cs typeface="Lucida Sans Unicode"/>
              </a:rPr>
              <a:t> </a:t>
            </a:r>
            <a:r>
              <a:rPr sz="2900" spc="-35" dirty="0">
                <a:latin typeface="Lucida Sans Unicode"/>
                <a:cs typeface="Lucida Sans Unicode"/>
              </a:rPr>
              <a:t>ou</a:t>
            </a:r>
            <a:r>
              <a:rPr sz="2900" spc="-150" dirty="0">
                <a:latin typeface="Lucida Sans Unicode"/>
                <a:cs typeface="Lucida Sans Unicode"/>
              </a:rPr>
              <a:t> </a:t>
            </a:r>
            <a:r>
              <a:rPr sz="2900" spc="-55" dirty="0">
                <a:latin typeface="Lucida Sans Unicode"/>
                <a:cs typeface="Lucida Sans Unicode"/>
              </a:rPr>
              <a:t>révocation</a:t>
            </a:r>
            <a:r>
              <a:rPr sz="2900" spc="-155" dirty="0">
                <a:latin typeface="Lucida Sans Unicode"/>
                <a:cs typeface="Lucida Sans Unicode"/>
              </a:rPr>
              <a:t> </a:t>
            </a:r>
            <a:r>
              <a:rPr sz="2900" dirty="0">
                <a:latin typeface="Lucida Sans Unicode"/>
                <a:cs typeface="Lucida Sans Unicode"/>
              </a:rPr>
              <a:t>de</a:t>
            </a:r>
            <a:r>
              <a:rPr sz="2900" spc="-150" dirty="0">
                <a:latin typeface="Lucida Sans Unicode"/>
                <a:cs typeface="Lucida Sans Unicode"/>
              </a:rPr>
              <a:t> </a:t>
            </a:r>
            <a:r>
              <a:rPr sz="2900" spc="-85" dirty="0">
                <a:latin typeface="Lucida Sans Unicode"/>
                <a:cs typeface="Lucida Sans Unicode"/>
              </a:rPr>
              <a:t>certificats.</a:t>
            </a:r>
            <a:r>
              <a:rPr sz="2900" spc="-155" dirty="0">
                <a:latin typeface="Lucida Sans Unicode"/>
                <a:cs typeface="Lucida Sans Unicode"/>
              </a:rPr>
              <a:t> </a:t>
            </a:r>
            <a:r>
              <a:rPr sz="2900" spc="-50" dirty="0">
                <a:latin typeface="Lucida Sans Unicode"/>
                <a:cs typeface="Lucida Sans Unicode"/>
              </a:rPr>
              <a:t>Elle</a:t>
            </a:r>
            <a:r>
              <a:rPr sz="2900" spc="-150" dirty="0">
                <a:latin typeface="Lucida Sans Unicode"/>
                <a:cs typeface="Lucida Sans Unicode"/>
              </a:rPr>
              <a:t> </a:t>
            </a:r>
            <a:r>
              <a:rPr sz="2900" spc="-65" dirty="0">
                <a:latin typeface="Lucida Sans Unicode"/>
                <a:cs typeface="Lucida Sans Unicode"/>
              </a:rPr>
              <a:t>vérifie</a:t>
            </a:r>
            <a:r>
              <a:rPr sz="2900" spc="-155" dirty="0">
                <a:latin typeface="Lucida Sans Unicode"/>
                <a:cs typeface="Lucida Sans Unicode"/>
              </a:rPr>
              <a:t> </a:t>
            </a:r>
            <a:r>
              <a:rPr sz="2900" spc="-40" dirty="0">
                <a:latin typeface="Lucida Sans Unicode"/>
                <a:cs typeface="Lucida Sans Unicode"/>
              </a:rPr>
              <a:t>notamment</a:t>
            </a:r>
            <a:r>
              <a:rPr sz="2900" spc="-150" dirty="0">
                <a:latin typeface="Lucida Sans Unicode"/>
                <a:cs typeface="Lucida Sans Unicode"/>
              </a:rPr>
              <a:t> </a:t>
            </a:r>
            <a:r>
              <a:rPr sz="2900" spc="-110" dirty="0">
                <a:latin typeface="Lucida Sans Unicode"/>
                <a:cs typeface="Lucida Sans Unicode"/>
              </a:rPr>
              <a:t>l’identité</a:t>
            </a:r>
            <a:r>
              <a:rPr sz="2900" spc="-155" dirty="0">
                <a:latin typeface="Lucida Sans Unicode"/>
                <a:cs typeface="Lucida Sans Unicode"/>
              </a:rPr>
              <a:t> </a:t>
            </a:r>
            <a:r>
              <a:rPr sz="2900" spc="-25" dirty="0">
                <a:latin typeface="Lucida Sans Unicode"/>
                <a:cs typeface="Lucida Sans Unicode"/>
              </a:rPr>
              <a:t>des </a:t>
            </a:r>
            <a:r>
              <a:rPr sz="2900" spc="-10" dirty="0">
                <a:latin typeface="Lucida Sans Unicode"/>
                <a:cs typeface="Lucida Sans Unicode"/>
              </a:rPr>
              <a:t>demandeurs.</a:t>
            </a:r>
            <a:endParaRPr sz="2900" dirty="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389510" y="9554081"/>
            <a:ext cx="365125" cy="35433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z="1900" spc="-25" dirty="0">
                <a:latin typeface="Lucida Sans Unicode"/>
                <a:cs typeface="Lucida Sans Unicode"/>
              </a:rPr>
              <a:t>31</a:t>
            </a:fld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29AD01DD-E3A5-6F42-B477-8172CCF144B4}"/>
              </a:ext>
            </a:extLst>
          </p:cNvPr>
          <p:cNvSpPr txBox="1"/>
          <p:nvPr/>
        </p:nvSpPr>
        <p:spPr>
          <a:xfrm>
            <a:off x="2046658" y="4602350"/>
            <a:ext cx="14686187" cy="861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81675" algn="ctr">
              <a:lnSpc>
                <a:spcPct val="100000"/>
              </a:lnSpc>
            </a:pPr>
            <a:r>
              <a:rPr lang="fr-FR" sz="2400" spc="-10" dirty="0">
                <a:latin typeface="Arial Black"/>
                <a:cs typeface="Arial Black"/>
              </a:rPr>
              <a:t>Autorité</a:t>
            </a:r>
            <a:endParaRPr lang="fr-FR" sz="2400" dirty="0">
              <a:latin typeface="Arial Black"/>
              <a:cs typeface="Arial Black"/>
            </a:endParaRPr>
          </a:p>
          <a:p>
            <a:pPr marL="8115300" marR="2246630" algn="ctr">
              <a:lnSpc>
                <a:spcPct val="114599"/>
              </a:lnSpc>
            </a:pPr>
            <a:r>
              <a:rPr lang="fr-FR" sz="2400" spc="-130" dirty="0">
                <a:latin typeface="Arial Black"/>
                <a:cs typeface="Arial Black"/>
              </a:rPr>
              <a:t>d’</a:t>
            </a:r>
            <a:r>
              <a:rPr lang="fr-FR" sz="2400" spc="-170" dirty="0">
                <a:latin typeface="Arial Black"/>
                <a:cs typeface="Arial Black"/>
              </a:rPr>
              <a:t> </a:t>
            </a:r>
            <a:r>
              <a:rPr lang="fr-FR" sz="2400" spc="-125" dirty="0">
                <a:latin typeface="Arial Black"/>
                <a:cs typeface="Arial Black"/>
              </a:rPr>
              <a:t>Enregistrement </a:t>
            </a:r>
            <a:r>
              <a:rPr lang="fr-FR" sz="2400" spc="-20" dirty="0">
                <a:latin typeface="Arial Black"/>
                <a:cs typeface="Arial Black"/>
              </a:rPr>
              <a:t>(AE)</a:t>
            </a:r>
            <a:endParaRPr lang="fr-FR" sz="2400" dirty="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612" y="512176"/>
            <a:ext cx="904240" cy="1033780"/>
          </a:xfrm>
          <a:custGeom>
            <a:avLst/>
            <a:gdLst/>
            <a:ahLst/>
            <a:cxnLst/>
            <a:rect l="l" t="t" r="r" b="b"/>
            <a:pathLst>
              <a:path w="904239" h="1033780">
                <a:moveTo>
                  <a:pt x="0" y="1033158"/>
                </a:moveTo>
                <a:lnTo>
                  <a:pt x="0" y="0"/>
                </a:lnTo>
                <a:lnTo>
                  <a:pt x="904014" y="516579"/>
                </a:lnTo>
                <a:lnTo>
                  <a:pt x="0" y="1033158"/>
                </a:lnTo>
                <a:close/>
              </a:path>
            </a:pathLst>
          </a:custGeom>
          <a:solidFill>
            <a:srgbClr val="B40C1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3155346" y="5152188"/>
            <a:ext cx="3012440" cy="152400"/>
            <a:chOff x="3155346" y="5152188"/>
            <a:chExt cx="3012440" cy="152400"/>
          </a:xfrm>
        </p:grpSpPr>
        <p:sp>
          <p:nvSpPr>
            <p:cNvPr id="4" name="object 4"/>
            <p:cNvSpPr/>
            <p:nvPr/>
          </p:nvSpPr>
          <p:spPr>
            <a:xfrm>
              <a:off x="3174396" y="5228447"/>
              <a:ext cx="2888615" cy="18415"/>
            </a:xfrm>
            <a:custGeom>
              <a:avLst/>
              <a:gdLst/>
              <a:ahLst/>
              <a:cxnLst/>
              <a:rect l="l" t="t" r="r" b="b"/>
              <a:pathLst>
                <a:path w="2888615" h="18414">
                  <a:moveTo>
                    <a:pt x="0" y="18383"/>
                  </a:moveTo>
                  <a:lnTo>
                    <a:pt x="2888487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52994" y="5152188"/>
              <a:ext cx="114662" cy="152397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6492228" y="4586690"/>
            <a:ext cx="3686175" cy="1271752"/>
            <a:chOff x="6492228" y="4586690"/>
            <a:chExt cx="3686175" cy="1352550"/>
          </a:xfrm>
        </p:grpSpPr>
        <p:sp>
          <p:nvSpPr>
            <p:cNvPr id="7" name="object 7"/>
            <p:cNvSpPr/>
            <p:nvPr/>
          </p:nvSpPr>
          <p:spPr>
            <a:xfrm>
              <a:off x="6501736" y="4596215"/>
              <a:ext cx="3669665" cy="1337310"/>
            </a:xfrm>
            <a:custGeom>
              <a:avLst/>
              <a:gdLst/>
              <a:ahLst/>
              <a:cxnLst/>
              <a:rect l="l" t="t" r="r" b="b"/>
              <a:pathLst>
                <a:path w="3669665" h="1337310">
                  <a:moveTo>
                    <a:pt x="3669262" y="1337104"/>
                  </a:moveTo>
                  <a:lnTo>
                    <a:pt x="0" y="1337104"/>
                  </a:lnTo>
                  <a:lnTo>
                    <a:pt x="0" y="0"/>
                  </a:lnTo>
                  <a:lnTo>
                    <a:pt x="3669262" y="0"/>
                  </a:lnTo>
                  <a:lnTo>
                    <a:pt x="3669262" y="1337104"/>
                  </a:lnTo>
                  <a:close/>
                </a:path>
              </a:pathLst>
            </a:custGeom>
            <a:solidFill>
              <a:srgbClr val="D8EC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501753" y="4596215"/>
              <a:ext cx="3667125" cy="1333500"/>
            </a:xfrm>
            <a:custGeom>
              <a:avLst/>
              <a:gdLst/>
              <a:ahLst/>
              <a:cxnLst/>
              <a:rect l="l" t="t" r="r" b="b"/>
              <a:pathLst>
                <a:path w="3667125" h="1333500">
                  <a:moveTo>
                    <a:pt x="0" y="1333499"/>
                  </a:moveTo>
                  <a:lnTo>
                    <a:pt x="0" y="0"/>
                  </a:lnTo>
                  <a:lnTo>
                    <a:pt x="3667107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839" rIns="0" bIns="0" rtlCol="0">
            <a:spAutoFit/>
          </a:bodyPr>
          <a:lstStyle/>
          <a:p>
            <a:pPr marL="298450" marR="5080">
              <a:lnSpc>
                <a:spcPct val="116500"/>
              </a:lnSpc>
              <a:spcBef>
                <a:spcPts val="90"/>
              </a:spcBef>
            </a:pPr>
            <a:r>
              <a:rPr sz="4400" dirty="0"/>
              <a:t>Infrastructure</a:t>
            </a:r>
            <a:r>
              <a:rPr sz="4400" spc="35" dirty="0"/>
              <a:t> </a:t>
            </a:r>
            <a:r>
              <a:rPr sz="4400" dirty="0"/>
              <a:t>de</a:t>
            </a:r>
            <a:r>
              <a:rPr sz="4400" spc="35" dirty="0"/>
              <a:t> </a:t>
            </a:r>
            <a:r>
              <a:rPr sz="4400" dirty="0"/>
              <a:t>gestion</a:t>
            </a:r>
            <a:r>
              <a:rPr sz="4400" spc="35" dirty="0"/>
              <a:t> </a:t>
            </a:r>
            <a:r>
              <a:rPr sz="4400" dirty="0"/>
              <a:t>de</a:t>
            </a:r>
            <a:r>
              <a:rPr sz="4400" spc="35" dirty="0"/>
              <a:t> </a:t>
            </a:r>
            <a:r>
              <a:rPr sz="4400" dirty="0"/>
              <a:t>clés</a:t>
            </a:r>
            <a:r>
              <a:rPr sz="4400" spc="35" dirty="0"/>
              <a:t> </a:t>
            </a:r>
            <a:r>
              <a:rPr sz="4400" dirty="0"/>
              <a:t>:</a:t>
            </a:r>
            <a:r>
              <a:rPr sz="4400" spc="35" dirty="0"/>
              <a:t> </a:t>
            </a:r>
            <a:r>
              <a:rPr sz="4400" dirty="0"/>
              <a:t>Demande</a:t>
            </a:r>
            <a:r>
              <a:rPr sz="4400" spc="35" dirty="0"/>
              <a:t> </a:t>
            </a:r>
            <a:r>
              <a:rPr sz="4400" spc="-25" dirty="0"/>
              <a:t>de </a:t>
            </a:r>
            <a:r>
              <a:rPr sz="4400" spc="-10" dirty="0"/>
              <a:t>certificat</a:t>
            </a:r>
            <a:endParaRPr sz="4400"/>
          </a:p>
        </p:txBody>
      </p:sp>
      <p:sp>
        <p:nvSpPr>
          <p:cNvPr id="10" name="object 10"/>
          <p:cNvSpPr txBox="1"/>
          <p:nvPr/>
        </p:nvSpPr>
        <p:spPr>
          <a:xfrm>
            <a:off x="6512679" y="4592405"/>
            <a:ext cx="3634589" cy="126034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wrap="square" lIns="0" tIns="66040" rIns="0" bIns="0" rtlCol="0">
            <a:spAutoFit/>
          </a:bodyPr>
          <a:lstStyle/>
          <a:p>
            <a:pPr marR="150495" algn="ctr">
              <a:lnSpc>
                <a:spcPct val="100000"/>
              </a:lnSpc>
              <a:spcBef>
                <a:spcPts val="520"/>
              </a:spcBef>
            </a:pPr>
            <a:r>
              <a:rPr sz="2400" spc="-10" dirty="0">
                <a:latin typeface="Arial Black"/>
                <a:cs typeface="Arial Black"/>
              </a:rPr>
              <a:t>Autorité</a:t>
            </a:r>
            <a:endParaRPr sz="2400" dirty="0">
              <a:latin typeface="Arial Black"/>
              <a:cs typeface="Arial Black"/>
            </a:endParaRPr>
          </a:p>
          <a:p>
            <a:pPr marL="436880" marR="508634" algn="ctr">
              <a:lnSpc>
                <a:spcPct val="114599"/>
              </a:lnSpc>
            </a:pPr>
            <a:r>
              <a:rPr sz="2400" spc="-130" dirty="0">
                <a:latin typeface="Arial Black"/>
                <a:cs typeface="Arial Black"/>
              </a:rPr>
              <a:t>d’</a:t>
            </a:r>
            <a:r>
              <a:rPr sz="2400" spc="-170" dirty="0">
                <a:latin typeface="Arial Black"/>
                <a:cs typeface="Arial Black"/>
              </a:rPr>
              <a:t> </a:t>
            </a:r>
            <a:r>
              <a:rPr sz="2400" spc="-125" dirty="0">
                <a:latin typeface="Arial Black"/>
                <a:cs typeface="Arial Black"/>
              </a:rPr>
              <a:t>Enregistrement </a:t>
            </a:r>
            <a:r>
              <a:rPr sz="2400" spc="-20" dirty="0">
                <a:latin typeface="Arial Black"/>
                <a:cs typeface="Arial Black"/>
              </a:rPr>
              <a:t>(AE)</a:t>
            </a:r>
            <a:endParaRPr sz="2400" dirty="0">
              <a:latin typeface="Arial Black"/>
              <a:cs typeface="Arial Black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1007" y="4302599"/>
            <a:ext cx="1491117" cy="155584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128328" y="3007473"/>
            <a:ext cx="16931072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solidFill>
                  <a:srgbClr val="3F7D34"/>
                </a:solidFill>
                <a:latin typeface="Arial Black"/>
                <a:cs typeface="Arial Black"/>
              </a:rPr>
              <a:t>L’AE vérifie l’identité d’Alice et transmet sa demande à l’Opérateur de Certification (OC)</a:t>
            </a:r>
            <a:endParaRPr sz="2900" dirty="0">
              <a:latin typeface="Arial Black"/>
              <a:cs typeface="Arial Black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0761670" y="5123917"/>
            <a:ext cx="2993390" cy="246379"/>
            <a:chOff x="10761670" y="5123917"/>
            <a:chExt cx="2993390" cy="246379"/>
          </a:xfrm>
        </p:grpSpPr>
        <p:sp>
          <p:nvSpPr>
            <p:cNvPr id="14" name="object 14"/>
            <p:cNvSpPr/>
            <p:nvPr/>
          </p:nvSpPr>
          <p:spPr>
            <a:xfrm>
              <a:off x="10918830" y="5238306"/>
              <a:ext cx="2679065" cy="17145"/>
            </a:xfrm>
            <a:custGeom>
              <a:avLst/>
              <a:gdLst/>
              <a:ahLst/>
              <a:cxnLst/>
              <a:rect l="l" t="t" r="r" b="b"/>
              <a:pathLst>
                <a:path w="2679065" h="17145">
                  <a:moveTo>
                    <a:pt x="0" y="17049"/>
                  </a:moveTo>
                  <a:lnTo>
                    <a:pt x="2678941" y="0"/>
                  </a:lnTo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61670" y="5141148"/>
              <a:ext cx="171993" cy="22859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582938" y="5123917"/>
              <a:ext cx="171993" cy="228596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14078979" y="4653481"/>
            <a:ext cx="3686175" cy="1352550"/>
            <a:chOff x="14078979" y="4653481"/>
            <a:chExt cx="3686175" cy="1352550"/>
          </a:xfrm>
        </p:grpSpPr>
        <p:sp>
          <p:nvSpPr>
            <p:cNvPr id="18" name="object 18"/>
            <p:cNvSpPr/>
            <p:nvPr/>
          </p:nvSpPr>
          <p:spPr>
            <a:xfrm>
              <a:off x="14088487" y="4663006"/>
              <a:ext cx="3669665" cy="1337310"/>
            </a:xfrm>
            <a:custGeom>
              <a:avLst/>
              <a:gdLst/>
              <a:ahLst/>
              <a:cxnLst/>
              <a:rect l="l" t="t" r="r" b="b"/>
              <a:pathLst>
                <a:path w="3669665" h="1337310">
                  <a:moveTo>
                    <a:pt x="3669263" y="1337104"/>
                  </a:moveTo>
                  <a:lnTo>
                    <a:pt x="0" y="1337104"/>
                  </a:lnTo>
                  <a:lnTo>
                    <a:pt x="0" y="0"/>
                  </a:lnTo>
                  <a:lnTo>
                    <a:pt x="3669263" y="0"/>
                  </a:lnTo>
                  <a:lnTo>
                    <a:pt x="3669263" y="1337104"/>
                  </a:lnTo>
                  <a:close/>
                </a:path>
              </a:pathLst>
            </a:custGeom>
            <a:solidFill>
              <a:srgbClr val="D8ECFE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4088504" y="4663006"/>
              <a:ext cx="3667125" cy="1333500"/>
            </a:xfrm>
            <a:custGeom>
              <a:avLst/>
              <a:gdLst/>
              <a:ahLst/>
              <a:cxnLst/>
              <a:rect l="l" t="t" r="r" b="b"/>
              <a:pathLst>
                <a:path w="3667125" h="1333500">
                  <a:moveTo>
                    <a:pt x="0" y="1333499"/>
                  </a:moveTo>
                  <a:lnTo>
                    <a:pt x="0" y="0"/>
                  </a:lnTo>
                  <a:lnTo>
                    <a:pt x="3667107" y="0"/>
                  </a:lnTo>
                </a:path>
              </a:pathLst>
            </a:custGeom>
            <a:ln w="19049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4098029" y="4855925"/>
            <a:ext cx="3660140" cy="86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1809" marR="513715" indent="292100">
              <a:lnSpc>
                <a:spcPct val="114599"/>
              </a:lnSpc>
              <a:spcBef>
                <a:spcPts val="100"/>
              </a:spcBef>
            </a:pPr>
            <a:r>
              <a:rPr sz="2400" spc="-95" dirty="0">
                <a:latin typeface="Arial Black"/>
                <a:cs typeface="Arial Black"/>
              </a:rPr>
              <a:t>Opérateur</a:t>
            </a:r>
            <a:r>
              <a:rPr sz="2400" spc="-120" dirty="0">
                <a:latin typeface="Arial Black"/>
                <a:cs typeface="Arial Black"/>
              </a:rPr>
              <a:t> </a:t>
            </a:r>
            <a:r>
              <a:rPr sz="2400" spc="-25" dirty="0">
                <a:latin typeface="Arial Black"/>
                <a:cs typeface="Arial Black"/>
              </a:rPr>
              <a:t>de </a:t>
            </a:r>
            <a:r>
              <a:rPr sz="2400" spc="-125" dirty="0">
                <a:latin typeface="Arial Black"/>
                <a:cs typeface="Arial Black"/>
              </a:rPr>
              <a:t>Certification</a:t>
            </a:r>
            <a:r>
              <a:rPr sz="2400" spc="-80" dirty="0">
                <a:latin typeface="Arial Black"/>
                <a:cs typeface="Arial Black"/>
              </a:rPr>
              <a:t> </a:t>
            </a:r>
            <a:r>
              <a:rPr sz="2400" spc="-150" dirty="0">
                <a:latin typeface="Arial Black"/>
                <a:cs typeface="Arial Black"/>
              </a:rPr>
              <a:t>(OC)</a:t>
            </a:r>
            <a:endParaRPr sz="2400" dirty="0">
              <a:latin typeface="Arial Black"/>
              <a:cs typeface="Arial Black"/>
            </a:endParaRPr>
          </a:p>
        </p:txBody>
      </p:sp>
      <p:pic>
        <p:nvPicPr>
          <p:cNvPr id="21" name="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86433" y="7659241"/>
            <a:ext cx="123824" cy="123824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1385379" y="7459279"/>
            <a:ext cx="16257269" cy="12958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sz="2900" dirty="0">
                <a:solidFill>
                  <a:srgbClr val="8B0101"/>
                </a:solidFill>
                <a:latin typeface="Arial Black"/>
                <a:cs typeface="Arial Black"/>
              </a:rPr>
              <a:t>l’Opérateur de Certification (OC)</a:t>
            </a:r>
            <a:r>
              <a:rPr sz="2900" dirty="0">
                <a:latin typeface="Lucida Sans Unicode"/>
                <a:cs typeface="Lucida Sans Unicode"/>
              </a:rPr>
              <a:t>, </a:t>
            </a:r>
            <a:r>
              <a:rPr sz="2900" spc="-70" dirty="0">
                <a:latin typeface="Lucida Sans Unicode"/>
                <a:cs typeface="Lucida Sans Unicode"/>
              </a:rPr>
              <a:t>qui</a:t>
            </a:r>
            <a:r>
              <a:rPr sz="2900" spc="-145" dirty="0">
                <a:latin typeface="Lucida Sans Unicode"/>
                <a:cs typeface="Lucida Sans Unicode"/>
              </a:rPr>
              <a:t> </a:t>
            </a:r>
            <a:r>
              <a:rPr sz="2900" spc="-50" dirty="0">
                <a:latin typeface="Lucida Sans Unicode"/>
                <a:cs typeface="Lucida Sans Unicode"/>
              </a:rPr>
              <a:t>réalise</a:t>
            </a:r>
            <a:r>
              <a:rPr sz="2900" spc="-140" dirty="0">
                <a:latin typeface="Lucida Sans Unicode"/>
                <a:cs typeface="Lucida Sans Unicode"/>
              </a:rPr>
              <a:t> </a:t>
            </a:r>
            <a:r>
              <a:rPr sz="2900" spc="-75" dirty="0">
                <a:latin typeface="Lucida Sans Unicode"/>
                <a:cs typeface="Lucida Sans Unicode"/>
              </a:rPr>
              <a:t>les</a:t>
            </a:r>
            <a:r>
              <a:rPr sz="2900" spc="-145" dirty="0">
                <a:latin typeface="Lucida Sans Unicode"/>
                <a:cs typeface="Lucida Sans Unicode"/>
              </a:rPr>
              <a:t> </a:t>
            </a:r>
            <a:r>
              <a:rPr sz="2900" spc="-55" dirty="0">
                <a:latin typeface="Lucida Sans Unicode"/>
                <a:cs typeface="Lucida Sans Unicode"/>
              </a:rPr>
              <a:t>opérations</a:t>
            </a:r>
            <a:r>
              <a:rPr sz="2900" spc="-140" dirty="0">
                <a:latin typeface="Lucida Sans Unicode"/>
                <a:cs typeface="Lucida Sans Unicode"/>
              </a:rPr>
              <a:t> </a:t>
            </a:r>
            <a:r>
              <a:rPr sz="2900" spc="-65" dirty="0">
                <a:latin typeface="Lucida Sans Unicode"/>
                <a:cs typeface="Lucida Sans Unicode"/>
              </a:rPr>
              <a:t>requises</a:t>
            </a:r>
            <a:r>
              <a:rPr sz="2900" spc="-145" dirty="0">
                <a:latin typeface="Lucida Sans Unicode"/>
                <a:cs typeface="Lucida Sans Unicode"/>
              </a:rPr>
              <a:t> </a:t>
            </a:r>
            <a:r>
              <a:rPr sz="2900" spc="-65" dirty="0">
                <a:latin typeface="Lucida Sans Unicode"/>
                <a:cs typeface="Lucida Sans Unicode"/>
              </a:rPr>
              <a:t>nécessitant</a:t>
            </a:r>
            <a:r>
              <a:rPr sz="2900" spc="-140" dirty="0">
                <a:latin typeface="Lucida Sans Unicode"/>
                <a:cs typeface="Lucida Sans Unicode"/>
              </a:rPr>
              <a:t> </a:t>
            </a:r>
            <a:r>
              <a:rPr sz="2900" spc="-55" dirty="0">
                <a:latin typeface="Lucida Sans Unicode"/>
                <a:cs typeface="Lucida Sans Unicode"/>
              </a:rPr>
              <a:t>la</a:t>
            </a:r>
            <a:r>
              <a:rPr sz="2900" spc="-140" dirty="0">
                <a:latin typeface="Lucida Sans Unicode"/>
                <a:cs typeface="Lucida Sans Unicode"/>
              </a:rPr>
              <a:t> </a:t>
            </a:r>
            <a:r>
              <a:rPr sz="2900" spc="-85" dirty="0">
                <a:latin typeface="Lucida Sans Unicode"/>
                <a:cs typeface="Lucida Sans Unicode"/>
              </a:rPr>
              <a:t>clé</a:t>
            </a:r>
            <a:r>
              <a:rPr sz="2900" spc="-145" dirty="0">
                <a:latin typeface="Lucida Sans Unicode"/>
                <a:cs typeface="Lucida Sans Unicode"/>
              </a:rPr>
              <a:t> </a:t>
            </a:r>
            <a:r>
              <a:rPr sz="2900" spc="-10" dirty="0" err="1">
                <a:latin typeface="Lucida Sans Unicode"/>
                <a:cs typeface="Lucida Sans Unicode"/>
              </a:rPr>
              <a:t>privée</a:t>
            </a:r>
            <a:r>
              <a:rPr sz="2900" spc="-10" dirty="0">
                <a:latin typeface="Lucida Sans Unicode"/>
                <a:cs typeface="Lucida Sans Unicode"/>
              </a:rPr>
              <a:t>.</a:t>
            </a:r>
            <a:r>
              <a:rPr lang="fr-FR" sz="2900" dirty="0">
                <a:latin typeface="Lucida Sans Unicode"/>
                <a:cs typeface="Lucida Sans Unicode"/>
              </a:rPr>
              <a:t> </a:t>
            </a:r>
            <a:r>
              <a:rPr sz="2900" spc="-175" dirty="0">
                <a:latin typeface="Lucida Sans Unicode"/>
                <a:cs typeface="Lucida Sans Unicode"/>
              </a:rPr>
              <a:t>L’OC</a:t>
            </a:r>
            <a:r>
              <a:rPr sz="2900" spc="-160" dirty="0">
                <a:latin typeface="Lucida Sans Unicode"/>
                <a:cs typeface="Lucida Sans Unicode"/>
              </a:rPr>
              <a:t> </a:t>
            </a:r>
            <a:r>
              <a:rPr sz="2900" spc="-135" dirty="0">
                <a:latin typeface="Lucida Sans Unicode"/>
                <a:cs typeface="Lucida Sans Unicode"/>
              </a:rPr>
              <a:t>n’est</a:t>
            </a:r>
            <a:r>
              <a:rPr sz="2900" spc="-160" dirty="0">
                <a:latin typeface="Lucida Sans Unicode"/>
                <a:cs typeface="Lucida Sans Unicode"/>
              </a:rPr>
              <a:t> </a:t>
            </a:r>
            <a:r>
              <a:rPr sz="2900" dirty="0">
                <a:latin typeface="Lucida Sans Unicode"/>
                <a:cs typeface="Lucida Sans Unicode"/>
              </a:rPr>
              <a:t>en</a:t>
            </a:r>
            <a:r>
              <a:rPr sz="2900" spc="-160" dirty="0">
                <a:latin typeface="Lucida Sans Unicode"/>
                <a:cs typeface="Lucida Sans Unicode"/>
              </a:rPr>
              <a:t> </a:t>
            </a:r>
            <a:r>
              <a:rPr sz="2900" spc="-75" dirty="0">
                <a:latin typeface="Lucida Sans Unicode"/>
                <a:cs typeface="Lucida Sans Unicode"/>
              </a:rPr>
              <a:t>principe</a:t>
            </a:r>
            <a:r>
              <a:rPr sz="2900" spc="-160" dirty="0">
                <a:latin typeface="Lucida Sans Unicode"/>
                <a:cs typeface="Lucida Sans Unicode"/>
              </a:rPr>
              <a:t> </a:t>
            </a:r>
            <a:r>
              <a:rPr sz="2900" spc="-55" dirty="0">
                <a:latin typeface="Lucida Sans Unicode"/>
                <a:cs typeface="Lucida Sans Unicode"/>
              </a:rPr>
              <a:t>pas</a:t>
            </a:r>
            <a:r>
              <a:rPr sz="2900" spc="-155" dirty="0">
                <a:latin typeface="Lucida Sans Unicode"/>
                <a:cs typeface="Lucida Sans Unicode"/>
              </a:rPr>
              <a:t> </a:t>
            </a:r>
            <a:r>
              <a:rPr sz="2900" spc="-60" dirty="0">
                <a:latin typeface="Lucida Sans Unicode"/>
                <a:cs typeface="Lucida Sans Unicode"/>
              </a:rPr>
              <a:t>connecté</a:t>
            </a:r>
            <a:r>
              <a:rPr sz="2900" spc="-160" dirty="0">
                <a:latin typeface="Lucida Sans Unicode"/>
                <a:cs typeface="Lucida Sans Unicode"/>
              </a:rPr>
              <a:t> </a:t>
            </a:r>
            <a:r>
              <a:rPr sz="2900" dirty="0">
                <a:latin typeface="Lucida Sans Unicode"/>
                <a:cs typeface="Lucida Sans Unicode"/>
              </a:rPr>
              <a:t>au</a:t>
            </a:r>
            <a:r>
              <a:rPr sz="2900" spc="-160" dirty="0">
                <a:latin typeface="Lucida Sans Unicode"/>
                <a:cs typeface="Lucida Sans Unicode"/>
              </a:rPr>
              <a:t> </a:t>
            </a:r>
            <a:r>
              <a:rPr sz="2900" spc="-25" dirty="0">
                <a:latin typeface="Lucida Sans Unicode"/>
                <a:cs typeface="Lucida Sans Unicode"/>
              </a:rPr>
              <a:t>réseau</a:t>
            </a:r>
            <a:r>
              <a:rPr sz="2900" spc="-160" dirty="0">
                <a:latin typeface="Lucida Sans Unicode"/>
                <a:cs typeface="Lucida Sans Unicode"/>
              </a:rPr>
              <a:t> </a:t>
            </a:r>
            <a:r>
              <a:rPr sz="2900" spc="-45" dirty="0">
                <a:latin typeface="Lucida Sans Unicode"/>
                <a:cs typeface="Lucida Sans Unicode"/>
              </a:rPr>
              <a:t>pour</a:t>
            </a:r>
            <a:r>
              <a:rPr sz="2900" spc="-155" dirty="0">
                <a:latin typeface="Lucida Sans Unicode"/>
                <a:cs typeface="Lucida Sans Unicode"/>
              </a:rPr>
              <a:t> </a:t>
            </a:r>
            <a:r>
              <a:rPr sz="2900" spc="-65" dirty="0">
                <a:latin typeface="Lucida Sans Unicode"/>
                <a:cs typeface="Lucida Sans Unicode"/>
              </a:rPr>
              <a:t>garantir</a:t>
            </a:r>
            <a:r>
              <a:rPr sz="2900" spc="-160" dirty="0">
                <a:latin typeface="Lucida Sans Unicode"/>
                <a:cs typeface="Lucida Sans Unicode"/>
              </a:rPr>
              <a:t> </a:t>
            </a:r>
            <a:r>
              <a:rPr sz="2900" spc="-55" dirty="0">
                <a:latin typeface="Lucida Sans Unicode"/>
                <a:cs typeface="Lucida Sans Unicode"/>
              </a:rPr>
              <a:t>la</a:t>
            </a:r>
            <a:r>
              <a:rPr sz="2900" spc="-160" dirty="0">
                <a:latin typeface="Lucida Sans Unicode"/>
                <a:cs typeface="Lucida Sans Unicode"/>
              </a:rPr>
              <a:t> </a:t>
            </a:r>
            <a:r>
              <a:rPr sz="2900" spc="-60" dirty="0">
                <a:latin typeface="Lucida Sans Unicode"/>
                <a:cs typeface="Lucida Sans Unicode"/>
              </a:rPr>
              <a:t>sécurité</a:t>
            </a:r>
            <a:r>
              <a:rPr sz="2900" spc="-160" dirty="0">
                <a:latin typeface="Lucida Sans Unicode"/>
                <a:cs typeface="Lucida Sans Unicode"/>
              </a:rPr>
              <a:t> </a:t>
            </a:r>
            <a:r>
              <a:rPr sz="2900" spc="-55" dirty="0">
                <a:latin typeface="Lucida Sans Unicode"/>
                <a:cs typeface="Lucida Sans Unicode"/>
              </a:rPr>
              <a:t>des</a:t>
            </a:r>
            <a:r>
              <a:rPr sz="2900" spc="-155" dirty="0">
                <a:latin typeface="Lucida Sans Unicode"/>
                <a:cs typeface="Lucida Sans Unicode"/>
              </a:rPr>
              <a:t> </a:t>
            </a:r>
            <a:r>
              <a:rPr sz="2900" spc="-95" dirty="0">
                <a:latin typeface="Lucida Sans Unicode"/>
                <a:cs typeface="Lucida Sans Unicode"/>
              </a:rPr>
              <a:t>clés</a:t>
            </a:r>
            <a:r>
              <a:rPr sz="2900" spc="-160" dirty="0">
                <a:latin typeface="Lucida Sans Unicode"/>
                <a:cs typeface="Lucida Sans Unicode"/>
              </a:rPr>
              <a:t> </a:t>
            </a:r>
            <a:r>
              <a:rPr sz="2900" spc="-10" dirty="0">
                <a:latin typeface="Lucida Sans Unicode"/>
                <a:cs typeface="Lucida Sans Unicode"/>
              </a:rPr>
              <a:t>privées.</a:t>
            </a:r>
            <a:endParaRPr sz="2900" dirty="0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7389510" y="9554081"/>
            <a:ext cx="365125" cy="35433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z="1900" spc="-25" dirty="0">
                <a:latin typeface="Lucida Sans Unicode"/>
                <a:cs typeface="Lucida Sans Unicode"/>
              </a:rPr>
              <a:t>32</a:t>
            </a:fld>
            <a:endParaRPr sz="19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612" y="512176"/>
            <a:ext cx="904240" cy="1033780"/>
          </a:xfrm>
          <a:custGeom>
            <a:avLst/>
            <a:gdLst/>
            <a:ahLst/>
            <a:cxnLst/>
            <a:rect l="l" t="t" r="r" b="b"/>
            <a:pathLst>
              <a:path w="904239" h="1033780">
                <a:moveTo>
                  <a:pt x="0" y="1033158"/>
                </a:moveTo>
                <a:lnTo>
                  <a:pt x="0" y="0"/>
                </a:lnTo>
                <a:lnTo>
                  <a:pt x="904014" y="516579"/>
                </a:lnTo>
                <a:lnTo>
                  <a:pt x="0" y="1033158"/>
                </a:lnTo>
                <a:close/>
              </a:path>
            </a:pathLst>
          </a:custGeom>
          <a:solidFill>
            <a:srgbClr val="B40C1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2818416" y="5029191"/>
            <a:ext cx="1504950" cy="114300"/>
            <a:chOff x="2818416" y="5029191"/>
            <a:chExt cx="1504950" cy="114300"/>
          </a:xfrm>
        </p:grpSpPr>
        <p:sp>
          <p:nvSpPr>
            <p:cNvPr id="4" name="object 4"/>
            <p:cNvSpPr/>
            <p:nvPr/>
          </p:nvSpPr>
          <p:spPr>
            <a:xfrm>
              <a:off x="2832704" y="5086378"/>
              <a:ext cx="1412240" cy="7620"/>
            </a:xfrm>
            <a:custGeom>
              <a:avLst/>
              <a:gdLst/>
              <a:ahLst/>
              <a:cxnLst/>
              <a:rect l="l" t="t" r="r" b="b"/>
              <a:pathLst>
                <a:path w="1412239" h="7620">
                  <a:moveTo>
                    <a:pt x="0" y="7585"/>
                  </a:moveTo>
                  <a:lnTo>
                    <a:pt x="1411667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36997" y="5029191"/>
              <a:ext cx="85954" cy="114298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4547691" y="4514343"/>
            <a:ext cx="2799080" cy="1145540"/>
            <a:chOff x="4547691" y="4514343"/>
            <a:chExt cx="2799080" cy="1145540"/>
          </a:xfrm>
        </p:grpSpPr>
        <p:sp>
          <p:nvSpPr>
            <p:cNvPr id="7" name="object 7"/>
            <p:cNvSpPr/>
            <p:nvPr/>
          </p:nvSpPr>
          <p:spPr>
            <a:xfrm>
              <a:off x="4557159" y="4523868"/>
              <a:ext cx="2780665" cy="1126490"/>
            </a:xfrm>
            <a:custGeom>
              <a:avLst/>
              <a:gdLst/>
              <a:ahLst/>
              <a:cxnLst/>
              <a:rect l="l" t="t" r="r" b="b"/>
              <a:pathLst>
                <a:path w="2780665" h="1126489">
                  <a:moveTo>
                    <a:pt x="2780080" y="1126108"/>
                  </a:moveTo>
                  <a:lnTo>
                    <a:pt x="0" y="1126108"/>
                  </a:lnTo>
                  <a:lnTo>
                    <a:pt x="0" y="0"/>
                  </a:lnTo>
                  <a:lnTo>
                    <a:pt x="2780080" y="0"/>
                  </a:lnTo>
                  <a:lnTo>
                    <a:pt x="2780080" y="1126108"/>
                  </a:lnTo>
                  <a:close/>
                </a:path>
              </a:pathLst>
            </a:custGeom>
            <a:solidFill>
              <a:srgbClr val="D8EC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57216" y="4523868"/>
              <a:ext cx="2780030" cy="1126490"/>
            </a:xfrm>
            <a:custGeom>
              <a:avLst/>
              <a:gdLst/>
              <a:ahLst/>
              <a:cxnLst/>
              <a:rect l="l" t="t" r="r" b="b"/>
              <a:pathLst>
                <a:path w="2780029" h="1126489">
                  <a:moveTo>
                    <a:pt x="0" y="0"/>
                  </a:moveTo>
                  <a:lnTo>
                    <a:pt x="2779547" y="0"/>
                  </a:lnTo>
                  <a:lnTo>
                    <a:pt x="2779547" y="1126033"/>
                  </a:lnTo>
                  <a:lnTo>
                    <a:pt x="0" y="1126033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839" rIns="0" bIns="0" rtlCol="0">
            <a:spAutoFit/>
          </a:bodyPr>
          <a:lstStyle/>
          <a:p>
            <a:pPr marL="298450" marR="5080">
              <a:lnSpc>
                <a:spcPct val="116500"/>
              </a:lnSpc>
              <a:spcBef>
                <a:spcPts val="90"/>
              </a:spcBef>
            </a:pPr>
            <a:r>
              <a:rPr sz="4400" dirty="0"/>
              <a:t>Infrastructure</a:t>
            </a:r>
            <a:r>
              <a:rPr sz="4400" spc="35" dirty="0"/>
              <a:t> </a:t>
            </a:r>
            <a:r>
              <a:rPr sz="4400" dirty="0"/>
              <a:t>de</a:t>
            </a:r>
            <a:r>
              <a:rPr sz="4400" spc="35" dirty="0"/>
              <a:t> </a:t>
            </a:r>
            <a:r>
              <a:rPr sz="4400" dirty="0"/>
              <a:t>gestion</a:t>
            </a:r>
            <a:r>
              <a:rPr sz="4400" spc="35" dirty="0"/>
              <a:t> </a:t>
            </a:r>
            <a:r>
              <a:rPr sz="4400" dirty="0"/>
              <a:t>de</a:t>
            </a:r>
            <a:r>
              <a:rPr sz="4400" spc="35" dirty="0"/>
              <a:t> </a:t>
            </a:r>
            <a:r>
              <a:rPr sz="4400" dirty="0"/>
              <a:t>clés</a:t>
            </a:r>
            <a:r>
              <a:rPr sz="4400" spc="35" dirty="0"/>
              <a:t> </a:t>
            </a:r>
            <a:r>
              <a:rPr sz="4400" dirty="0"/>
              <a:t>:</a:t>
            </a:r>
            <a:r>
              <a:rPr sz="4400" spc="35" dirty="0"/>
              <a:t> </a:t>
            </a:r>
            <a:r>
              <a:rPr sz="4400" dirty="0"/>
              <a:t>Demande</a:t>
            </a:r>
            <a:r>
              <a:rPr sz="4400" spc="35" dirty="0"/>
              <a:t> </a:t>
            </a:r>
            <a:r>
              <a:rPr sz="4400" spc="-25" dirty="0"/>
              <a:t>de </a:t>
            </a:r>
            <a:r>
              <a:rPr sz="4400" spc="-10" dirty="0"/>
              <a:t>certificat</a:t>
            </a:r>
            <a:endParaRPr sz="4400"/>
          </a:p>
        </p:txBody>
      </p:sp>
      <p:sp>
        <p:nvSpPr>
          <p:cNvPr id="10" name="object 10"/>
          <p:cNvSpPr txBox="1"/>
          <p:nvPr/>
        </p:nvSpPr>
        <p:spPr>
          <a:xfrm>
            <a:off x="4566741" y="4511181"/>
            <a:ext cx="2760980" cy="108267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R="111760" algn="ctr">
              <a:lnSpc>
                <a:spcPct val="100000"/>
              </a:lnSpc>
              <a:spcBef>
                <a:spcPts val="470"/>
              </a:spcBef>
            </a:pPr>
            <a:r>
              <a:rPr sz="2000" spc="-10" dirty="0">
                <a:latin typeface="Arial Black"/>
                <a:cs typeface="Arial Black"/>
              </a:rPr>
              <a:t>Autorité</a:t>
            </a:r>
            <a:endParaRPr sz="2000">
              <a:latin typeface="Arial Black"/>
              <a:cs typeface="Arial Black"/>
            </a:endParaRPr>
          </a:p>
          <a:p>
            <a:pPr marL="215900" marR="261620" algn="ctr">
              <a:lnSpc>
                <a:spcPct val="115599"/>
              </a:lnSpc>
            </a:pPr>
            <a:r>
              <a:rPr sz="2000" spc="-100" dirty="0">
                <a:latin typeface="Arial Black"/>
                <a:cs typeface="Arial Black"/>
              </a:rPr>
              <a:t>d’</a:t>
            </a:r>
            <a:r>
              <a:rPr sz="2000" spc="-135" dirty="0">
                <a:latin typeface="Arial Black"/>
                <a:cs typeface="Arial Black"/>
              </a:rPr>
              <a:t> </a:t>
            </a:r>
            <a:r>
              <a:rPr sz="2000" spc="-95" dirty="0">
                <a:latin typeface="Arial Black"/>
                <a:cs typeface="Arial Black"/>
              </a:rPr>
              <a:t>Enregistrement </a:t>
            </a:r>
            <a:r>
              <a:rPr sz="2000" spc="-20" dirty="0">
                <a:latin typeface="Arial Black"/>
                <a:cs typeface="Arial Black"/>
              </a:rPr>
              <a:t>(AE)</a:t>
            </a:r>
            <a:endParaRPr sz="2000">
              <a:latin typeface="Arial Black"/>
              <a:cs typeface="Arial Black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694" y="4300687"/>
            <a:ext cx="1257256" cy="131009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979890" y="3007163"/>
            <a:ext cx="16328390" cy="8934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71085" marR="5080" indent="-4859020">
              <a:lnSpc>
                <a:spcPct val="116199"/>
              </a:lnSpc>
              <a:spcBef>
                <a:spcPts val="95"/>
              </a:spcBef>
            </a:pPr>
            <a:r>
              <a:rPr sz="2450" dirty="0">
                <a:solidFill>
                  <a:srgbClr val="3F7D34"/>
                </a:solidFill>
                <a:latin typeface="Arial Black"/>
                <a:cs typeface="Arial Black"/>
              </a:rPr>
              <a:t>L’OC signe le certificat avec la clé privée de l’AC et peut, si nécessaire, faire appel au Service de Séquestre (SS) pour stocker temporairement les clés.</a:t>
            </a:r>
            <a:endParaRPr sz="2450" dirty="0">
              <a:latin typeface="Arial Black"/>
              <a:cs typeface="Arial Black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575166" y="4976648"/>
            <a:ext cx="1094105" cy="203200"/>
            <a:chOff x="7575166" y="4976648"/>
            <a:chExt cx="1094105" cy="203200"/>
          </a:xfrm>
        </p:grpSpPr>
        <p:sp>
          <p:nvSpPr>
            <p:cNvPr id="14" name="object 14"/>
            <p:cNvSpPr/>
            <p:nvPr/>
          </p:nvSpPr>
          <p:spPr>
            <a:xfrm>
              <a:off x="7706123" y="5072062"/>
              <a:ext cx="832485" cy="12065"/>
            </a:xfrm>
            <a:custGeom>
              <a:avLst/>
              <a:gdLst/>
              <a:ahLst/>
              <a:cxnLst/>
              <a:rect l="l" t="t" r="r" b="b"/>
              <a:pathLst>
                <a:path w="832484" h="12064">
                  <a:moveTo>
                    <a:pt x="0" y="0"/>
                  </a:moveTo>
                  <a:lnTo>
                    <a:pt x="831885" y="12003"/>
                  </a:lnTo>
                </a:path>
              </a:pathLst>
            </a:custGeom>
            <a:ln w="47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75166" y="4976648"/>
              <a:ext cx="143895" cy="19048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25071" y="4988995"/>
              <a:ext cx="143895" cy="190485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8897913" y="4554172"/>
            <a:ext cx="2799080" cy="1028700"/>
            <a:chOff x="8897913" y="4554172"/>
            <a:chExt cx="2799080" cy="1028700"/>
          </a:xfrm>
        </p:grpSpPr>
        <p:sp>
          <p:nvSpPr>
            <p:cNvPr id="18" name="object 18"/>
            <p:cNvSpPr/>
            <p:nvPr/>
          </p:nvSpPr>
          <p:spPr>
            <a:xfrm>
              <a:off x="8907433" y="4563696"/>
              <a:ext cx="2781935" cy="1013460"/>
            </a:xfrm>
            <a:custGeom>
              <a:avLst/>
              <a:gdLst/>
              <a:ahLst/>
              <a:cxnLst/>
              <a:rect l="l" t="t" r="r" b="b"/>
              <a:pathLst>
                <a:path w="2781934" h="1013460">
                  <a:moveTo>
                    <a:pt x="2781666" y="1012953"/>
                  </a:moveTo>
                  <a:lnTo>
                    <a:pt x="0" y="1012953"/>
                  </a:lnTo>
                  <a:lnTo>
                    <a:pt x="0" y="0"/>
                  </a:lnTo>
                  <a:lnTo>
                    <a:pt x="2781666" y="0"/>
                  </a:lnTo>
                  <a:lnTo>
                    <a:pt x="2781666" y="1012953"/>
                  </a:lnTo>
                  <a:close/>
                </a:path>
              </a:pathLst>
            </a:custGeom>
            <a:solidFill>
              <a:srgbClr val="D8ECFE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907438" y="4563697"/>
              <a:ext cx="2780030" cy="1009650"/>
            </a:xfrm>
            <a:custGeom>
              <a:avLst/>
              <a:gdLst/>
              <a:ahLst/>
              <a:cxnLst/>
              <a:rect l="l" t="t" r="r" b="b"/>
              <a:pathLst>
                <a:path w="2780029" h="1009650">
                  <a:moveTo>
                    <a:pt x="0" y="1009650"/>
                  </a:moveTo>
                  <a:lnTo>
                    <a:pt x="0" y="0"/>
                  </a:lnTo>
                  <a:lnTo>
                    <a:pt x="2779651" y="0"/>
                  </a:lnTo>
                  <a:lnTo>
                    <a:pt x="2779651" y="1009650"/>
                  </a:lnTo>
                </a:path>
              </a:pathLst>
            </a:custGeom>
            <a:ln w="19049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8916963" y="4640046"/>
            <a:ext cx="2760980" cy="768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3835" marR="230504" indent="292735">
              <a:lnSpc>
                <a:spcPct val="116100"/>
              </a:lnSpc>
              <a:spcBef>
                <a:spcPts val="95"/>
              </a:spcBef>
            </a:pPr>
            <a:r>
              <a:rPr sz="2100" spc="-75" dirty="0">
                <a:latin typeface="Arial Black"/>
                <a:cs typeface="Arial Black"/>
              </a:rPr>
              <a:t>Opérateur</a:t>
            </a:r>
            <a:r>
              <a:rPr sz="2100" spc="-90" dirty="0">
                <a:latin typeface="Arial Black"/>
                <a:cs typeface="Arial Black"/>
              </a:rPr>
              <a:t> </a:t>
            </a:r>
            <a:r>
              <a:rPr sz="2100" spc="-25" dirty="0">
                <a:latin typeface="Arial Black"/>
                <a:cs typeface="Arial Black"/>
              </a:rPr>
              <a:t>de </a:t>
            </a:r>
            <a:r>
              <a:rPr sz="2100" spc="-105" dirty="0">
                <a:latin typeface="Arial Black"/>
                <a:cs typeface="Arial Black"/>
              </a:rPr>
              <a:t>Certification</a:t>
            </a:r>
            <a:r>
              <a:rPr sz="2100" spc="-50" dirty="0">
                <a:latin typeface="Arial Black"/>
                <a:cs typeface="Arial Black"/>
              </a:rPr>
              <a:t> </a:t>
            </a:r>
            <a:r>
              <a:rPr sz="2100" spc="-120" dirty="0">
                <a:latin typeface="Arial Black"/>
                <a:cs typeface="Arial Black"/>
              </a:rPr>
              <a:t>(OC)</a:t>
            </a:r>
            <a:endParaRPr sz="2100">
              <a:latin typeface="Arial Black"/>
              <a:cs typeface="Arial Black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2101580" y="5014903"/>
            <a:ext cx="1504950" cy="114300"/>
            <a:chOff x="12101580" y="5014903"/>
            <a:chExt cx="1504950" cy="114300"/>
          </a:xfrm>
        </p:grpSpPr>
        <p:sp>
          <p:nvSpPr>
            <p:cNvPr id="22" name="object 22"/>
            <p:cNvSpPr/>
            <p:nvPr/>
          </p:nvSpPr>
          <p:spPr>
            <a:xfrm>
              <a:off x="12115868" y="5072091"/>
              <a:ext cx="1412240" cy="7620"/>
            </a:xfrm>
            <a:custGeom>
              <a:avLst/>
              <a:gdLst/>
              <a:ahLst/>
              <a:cxnLst/>
              <a:rect l="l" t="t" r="r" b="b"/>
              <a:pathLst>
                <a:path w="1412240" h="7620">
                  <a:moveTo>
                    <a:pt x="0" y="7585"/>
                  </a:moveTo>
                  <a:lnTo>
                    <a:pt x="1411667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20161" y="5014903"/>
              <a:ext cx="85954" cy="114298"/>
            </a:xfrm>
            <a:prstGeom prst="rect">
              <a:avLst/>
            </a:prstGeom>
          </p:spPr>
        </p:pic>
      </p:grpSp>
      <p:grpSp>
        <p:nvGrpSpPr>
          <p:cNvPr id="24" name="object 24"/>
          <p:cNvGrpSpPr/>
          <p:nvPr/>
        </p:nvGrpSpPr>
        <p:grpSpPr>
          <a:xfrm>
            <a:off x="13872898" y="4627498"/>
            <a:ext cx="2799080" cy="1028700"/>
            <a:chOff x="13872898" y="4627498"/>
            <a:chExt cx="2799080" cy="1028700"/>
          </a:xfrm>
        </p:grpSpPr>
        <p:sp>
          <p:nvSpPr>
            <p:cNvPr id="25" name="object 25"/>
            <p:cNvSpPr/>
            <p:nvPr/>
          </p:nvSpPr>
          <p:spPr>
            <a:xfrm>
              <a:off x="13882418" y="4637023"/>
              <a:ext cx="2781935" cy="1013460"/>
            </a:xfrm>
            <a:custGeom>
              <a:avLst/>
              <a:gdLst/>
              <a:ahLst/>
              <a:cxnLst/>
              <a:rect l="l" t="t" r="r" b="b"/>
              <a:pathLst>
                <a:path w="2781934" h="1013460">
                  <a:moveTo>
                    <a:pt x="2781666" y="1012953"/>
                  </a:moveTo>
                  <a:lnTo>
                    <a:pt x="0" y="1012953"/>
                  </a:lnTo>
                  <a:lnTo>
                    <a:pt x="0" y="0"/>
                  </a:lnTo>
                  <a:lnTo>
                    <a:pt x="2781666" y="0"/>
                  </a:lnTo>
                  <a:lnTo>
                    <a:pt x="2781666" y="1012953"/>
                  </a:lnTo>
                  <a:close/>
                </a:path>
              </a:pathLst>
            </a:custGeom>
            <a:solidFill>
              <a:srgbClr val="D8ECFE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3882423" y="4637023"/>
              <a:ext cx="2780030" cy="1009650"/>
            </a:xfrm>
            <a:custGeom>
              <a:avLst/>
              <a:gdLst/>
              <a:ahLst/>
              <a:cxnLst/>
              <a:rect l="l" t="t" r="r" b="b"/>
              <a:pathLst>
                <a:path w="2780030" h="1009650">
                  <a:moveTo>
                    <a:pt x="0" y="1009650"/>
                  </a:moveTo>
                  <a:lnTo>
                    <a:pt x="0" y="0"/>
                  </a:lnTo>
                  <a:lnTo>
                    <a:pt x="2779652" y="0"/>
                  </a:lnTo>
                  <a:lnTo>
                    <a:pt x="2779651" y="1009650"/>
                  </a:lnTo>
                </a:path>
              </a:pathLst>
            </a:custGeom>
            <a:ln w="19049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3891947" y="4717872"/>
            <a:ext cx="2760980" cy="768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79425" marR="380365" indent="266065">
              <a:lnSpc>
                <a:spcPct val="116100"/>
              </a:lnSpc>
              <a:spcBef>
                <a:spcPts val="95"/>
              </a:spcBef>
            </a:pPr>
            <a:r>
              <a:rPr sz="2100" spc="-165" dirty="0">
                <a:latin typeface="Arial Black"/>
                <a:cs typeface="Arial Black"/>
              </a:rPr>
              <a:t>Service</a:t>
            </a:r>
            <a:r>
              <a:rPr sz="2100" spc="-140" dirty="0">
                <a:latin typeface="Arial Black"/>
                <a:cs typeface="Arial Black"/>
              </a:rPr>
              <a:t> </a:t>
            </a:r>
            <a:r>
              <a:rPr sz="2100" spc="-25" dirty="0">
                <a:latin typeface="Arial Black"/>
                <a:cs typeface="Arial Black"/>
              </a:rPr>
              <a:t>de </a:t>
            </a:r>
            <a:r>
              <a:rPr sz="2100" spc="-135" dirty="0">
                <a:latin typeface="Arial Black"/>
                <a:cs typeface="Arial Black"/>
              </a:rPr>
              <a:t>Séquestre</a:t>
            </a:r>
            <a:r>
              <a:rPr sz="2100" spc="-120" dirty="0">
                <a:latin typeface="Arial Black"/>
                <a:cs typeface="Arial Black"/>
              </a:rPr>
              <a:t> </a:t>
            </a:r>
            <a:r>
              <a:rPr sz="2100" spc="-215" dirty="0">
                <a:latin typeface="Arial Black"/>
                <a:cs typeface="Arial Black"/>
              </a:rPr>
              <a:t>(SS)</a:t>
            </a:r>
            <a:endParaRPr sz="2100" dirty="0">
              <a:latin typeface="Arial Black"/>
              <a:cs typeface="Arial Black"/>
            </a:endParaRPr>
          </a:p>
        </p:txBody>
      </p:sp>
      <p:pic>
        <p:nvPicPr>
          <p:cNvPr id="28" name="object 2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98674" y="7354901"/>
            <a:ext cx="123825" cy="123824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1404019" y="7167988"/>
            <a:ext cx="16097250" cy="18973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95"/>
              </a:spcBef>
            </a:pPr>
            <a:r>
              <a:rPr sz="2800" dirty="0">
                <a:solidFill>
                  <a:srgbClr val="8B0101"/>
                </a:solidFill>
                <a:latin typeface="Arial Black"/>
                <a:cs typeface="Arial Black"/>
              </a:rPr>
              <a:t>Le Service de Séquestre (SS) </a:t>
            </a:r>
            <a:r>
              <a:rPr sz="2800" spc="-35" dirty="0">
                <a:latin typeface="Lucida Sans Unicode"/>
                <a:cs typeface="Lucida Sans Unicode"/>
              </a:rPr>
              <a:t>peut</a:t>
            </a:r>
            <a:r>
              <a:rPr sz="2800" spc="-150" dirty="0">
                <a:latin typeface="Lucida Sans Unicode"/>
                <a:cs typeface="Lucida Sans Unicode"/>
              </a:rPr>
              <a:t> </a:t>
            </a:r>
            <a:r>
              <a:rPr sz="2800" spc="-85" dirty="0">
                <a:latin typeface="Lucida Sans Unicode"/>
                <a:cs typeface="Lucida Sans Unicode"/>
              </a:rPr>
              <a:t>stocker</a:t>
            </a:r>
            <a:r>
              <a:rPr sz="2800" spc="-155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au</a:t>
            </a:r>
            <a:r>
              <a:rPr sz="2800" spc="-150" dirty="0">
                <a:latin typeface="Lucida Sans Unicode"/>
                <a:cs typeface="Lucida Sans Unicode"/>
              </a:rPr>
              <a:t> </a:t>
            </a:r>
            <a:r>
              <a:rPr sz="2800" spc="-65" dirty="0">
                <a:latin typeface="Lucida Sans Unicode"/>
                <a:cs typeface="Lucida Sans Unicode"/>
              </a:rPr>
              <a:t>sein</a:t>
            </a:r>
            <a:r>
              <a:rPr sz="2800" spc="-155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de</a:t>
            </a:r>
            <a:r>
              <a:rPr sz="2800" spc="-150" dirty="0">
                <a:latin typeface="Lucida Sans Unicode"/>
                <a:cs typeface="Lucida Sans Unicode"/>
              </a:rPr>
              <a:t> </a:t>
            </a:r>
            <a:r>
              <a:rPr sz="2800" spc="-160" dirty="0">
                <a:latin typeface="Lucida Sans Unicode"/>
                <a:cs typeface="Lucida Sans Unicode"/>
              </a:rPr>
              <a:t>l’IGC</a:t>
            </a:r>
            <a:r>
              <a:rPr sz="2800" spc="-155" dirty="0">
                <a:latin typeface="Lucida Sans Unicode"/>
                <a:cs typeface="Lucida Sans Unicode"/>
              </a:rPr>
              <a:t> </a:t>
            </a:r>
            <a:r>
              <a:rPr sz="2800" spc="-75" dirty="0">
                <a:latin typeface="Lucida Sans Unicode"/>
                <a:cs typeface="Lucida Sans Unicode"/>
              </a:rPr>
              <a:t>les</a:t>
            </a:r>
            <a:r>
              <a:rPr sz="2800" spc="-150" dirty="0">
                <a:latin typeface="Lucida Sans Unicode"/>
                <a:cs typeface="Lucida Sans Unicode"/>
              </a:rPr>
              <a:t> </a:t>
            </a:r>
            <a:r>
              <a:rPr sz="2800" spc="-70" dirty="0">
                <a:latin typeface="Lucida Sans Unicode"/>
                <a:cs typeface="Lucida Sans Unicode"/>
              </a:rPr>
              <a:t>couples</a:t>
            </a:r>
            <a:r>
              <a:rPr sz="2800" spc="-155" dirty="0">
                <a:latin typeface="Lucida Sans Unicode"/>
                <a:cs typeface="Lucida Sans Unicode"/>
              </a:rPr>
              <a:t> </a:t>
            </a:r>
            <a:r>
              <a:rPr sz="2800" spc="-80" dirty="0">
                <a:latin typeface="Lucida Sans Unicode"/>
                <a:cs typeface="Lucida Sans Unicode"/>
              </a:rPr>
              <a:t>clé</a:t>
            </a:r>
            <a:r>
              <a:rPr sz="2800" spc="-150" dirty="0">
                <a:latin typeface="Lucida Sans Unicode"/>
                <a:cs typeface="Lucida Sans Unicode"/>
              </a:rPr>
              <a:t> </a:t>
            </a:r>
            <a:r>
              <a:rPr sz="2800" spc="-95" dirty="0">
                <a:latin typeface="Lucida Sans Unicode"/>
                <a:cs typeface="Lucida Sans Unicode"/>
              </a:rPr>
              <a:t>privée/clé</a:t>
            </a:r>
            <a:r>
              <a:rPr sz="2800" spc="-155" dirty="0">
                <a:latin typeface="Lucida Sans Unicode"/>
                <a:cs typeface="Lucida Sans Unicode"/>
              </a:rPr>
              <a:t> </a:t>
            </a:r>
            <a:r>
              <a:rPr sz="2800" spc="-60" dirty="0" err="1">
                <a:latin typeface="Lucida Sans Unicode"/>
                <a:cs typeface="Lucida Sans Unicode"/>
              </a:rPr>
              <a:t>publique</a:t>
            </a:r>
            <a:r>
              <a:rPr sz="2800" spc="-150" dirty="0">
                <a:latin typeface="Lucida Sans Unicode"/>
                <a:cs typeface="Lucida Sans Unicode"/>
              </a:rPr>
              <a:t> </a:t>
            </a:r>
            <a:r>
              <a:rPr sz="2800" spc="-25" dirty="0">
                <a:latin typeface="Lucida Sans Unicode"/>
                <a:cs typeface="Lucida Sans Unicode"/>
              </a:rPr>
              <a:t>des</a:t>
            </a:r>
            <a:r>
              <a:rPr lang="fr-FR" sz="2800" dirty="0">
                <a:latin typeface="Lucida Sans Unicode"/>
                <a:cs typeface="Lucida Sans Unicode"/>
              </a:rPr>
              <a:t> </a:t>
            </a:r>
            <a:r>
              <a:rPr sz="2800" spc="-75" dirty="0" err="1">
                <a:latin typeface="Lucida Sans Unicode"/>
                <a:cs typeface="Lucida Sans Unicode"/>
              </a:rPr>
              <a:t>certificats</a:t>
            </a:r>
            <a:r>
              <a:rPr sz="2800" spc="-145" dirty="0">
                <a:latin typeface="Lucida Sans Unicode"/>
                <a:cs typeface="Lucida Sans Unicode"/>
              </a:rPr>
              <a:t> </a:t>
            </a:r>
            <a:r>
              <a:rPr sz="2800" spc="-90" dirty="0">
                <a:latin typeface="Lucida Sans Unicode"/>
                <a:cs typeface="Lucida Sans Unicode"/>
              </a:rPr>
              <a:t>émis.</a:t>
            </a:r>
            <a:r>
              <a:rPr sz="2800" spc="-140" dirty="0">
                <a:latin typeface="Lucida Sans Unicode"/>
                <a:cs typeface="Lucida Sans Unicode"/>
              </a:rPr>
              <a:t> </a:t>
            </a:r>
            <a:r>
              <a:rPr sz="2800" spc="-70" dirty="0">
                <a:latin typeface="Lucida Sans Unicode"/>
                <a:cs typeface="Lucida Sans Unicode"/>
              </a:rPr>
              <a:t>Cette</a:t>
            </a:r>
            <a:r>
              <a:rPr sz="2800" spc="-145" dirty="0">
                <a:latin typeface="Lucida Sans Unicode"/>
                <a:cs typeface="Lucida Sans Unicode"/>
              </a:rPr>
              <a:t> </a:t>
            </a:r>
            <a:r>
              <a:rPr sz="2800" spc="-45" dirty="0">
                <a:latin typeface="Lucida Sans Unicode"/>
                <a:cs typeface="Lucida Sans Unicode"/>
              </a:rPr>
              <a:t>pratique</a:t>
            </a:r>
            <a:r>
              <a:rPr sz="2800" spc="-140" dirty="0">
                <a:latin typeface="Lucida Sans Unicode"/>
                <a:cs typeface="Lucida Sans Unicode"/>
              </a:rPr>
              <a:t> </a:t>
            </a:r>
            <a:r>
              <a:rPr sz="2800" spc="-65" dirty="0">
                <a:latin typeface="Lucida Sans Unicode"/>
                <a:cs typeface="Lucida Sans Unicode"/>
              </a:rPr>
              <a:t>est</a:t>
            </a:r>
            <a:r>
              <a:rPr sz="2800" spc="-140" dirty="0">
                <a:latin typeface="Lucida Sans Unicode"/>
                <a:cs typeface="Lucida Sans Unicode"/>
              </a:rPr>
              <a:t> </a:t>
            </a:r>
            <a:r>
              <a:rPr sz="2800" spc="-70" dirty="0">
                <a:latin typeface="Lucida Sans Unicode"/>
                <a:cs typeface="Lucida Sans Unicode"/>
              </a:rPr>
              <a:t>risquée,</a:t>
            </a:r>
            <a:r>
              <a:rPr sz="2800" spc="-145" dirty="0">
                <a:latin typeface="Lucida Sans Unicode"/>
                <a:cs typeface="Lucida Sans Unicode"/>
              </a:rPr>
              <a:t> </a:t>
            </a:r>
            <a:r>
              <a:rPr sz="2800" spc="-40" dirty="0">
                <a:latin typeface="Lucida Sans Unicode"/>
                <a:cs typeface="Lucida Sans Unicode"/>
              </a:rPr>
              <a:t>car</a:t>
            </a:r>
            <a:r>
              <a:rPr sz="2800" spc="-140" dirty="0">
                <a:latin typeface="Lucida Sans Unicode"/>
                <a:cs typeface="Lucida Sans Unicode"/>
              </a:rPr>
              <a:t> </a:t>
            </a:r>
            <a:r>
              <a:rPr sz="2800" spc="-60" dirty="0">
                <a:latin typeface="Lucida Sans Unicode"/>
                <a:cs typeface="Lucida Sans Unicode"/>
              </a:rPr>
              <a:t>elle</a:t>
            </a:r>
            <a:r>
              <a:rPr sz="2800" spc="-140" dirty="0">
                <a:latin typeface="Lucida Sans Unicode"/>
                <a:cs typeface="Lucida Sans Unicode"/>
              </a:rPr>
              <a:t> </a:t>
            </a:r>
            <a:r>
              <a:rPr sz="2800" spc="-50" dirty="0">
                <a:latin typeface="Lucida Sans Unicode"/>
                <a:cs typeface="Lucida Sans Unicode"/>
              </a:rPr>
              <a:t>compromet</a:t>
            </a:r>
            <a:r>
              <a:rPr sz="2800" spc="-145" dirty="0">
                <a:latin typeface="Lucida Sans Unicode"/>
                <a:cs typeface="Lucida Sans Unicode"/>
              </a:rPr>
              <a:t> </a:t>
            </a:r>
            <a:r>
              <a:rPr sz="2800" spc="-50" dirty="0">
                <a:latin typeface="Lucida Sans Unicode"/>
                <a:cs typeface="Lucida Sans Unicode"/>
              </a:rPr>
              <a:t>la</a:t>
            </a:r>
            <a:r>
              <a:rPr sz="2800" spc="-140" dirty="0">
                <a:latin typeface="Lucida Sans Unicode"/>
                <a:cs typeface="Lucida Sans Unicode"/>
              </a:rPr>
              <a:t> </a:t>
            </a:r>
            <a:r>
              <a:rPr sz="2800" spc="-70" dirty="0">
                <a:latin typeface="Lucida Sans Unicode"/>
                <a:cs typeface="Lucida Sans Unicode"/>
              </a:rPr>
              <a:t>confidentialité</a:t>
            </a:r>
            <a:r>
              <a:rPr sz="2800" spc="-145" dirty="0">
                <a:latin typeface="Lucida Sans Unicode"/>
                <a:cs typeface="Lucida Sans Unicode"/>
              </a:rPr>
              <a:t> </a:t>
            </a:r>
            <a:r>
              <a:rPr sz="2800" spc="-60" dirty="0">
                <a:latin typeface="Lucida Sans Unicode"/>
                <a:cs typeface="Lucida Sans Unicode"/>
              </a:rPr>
              <a:t>des</a:t>
            </a:r>
            <a:r>
              <a:rPr sz="2800" spc="-140" dirty="0">
                <a:latin typeface="Lucida Sans Unicode"/>
                <a:cs typeface="Lucida Sans Unicode"/>
              </a:rPr>
              <a:t> </a:t>
            </a:r>
            <a:r>
              <a:rPr sz="2800" spc="-90" dirty="0">
                <a:latin typeface="Lucida Sans Unicode"/>
                <a:cs typeface="Lucida Sans Unicode"/>
              </a:rPr>
              <a:t>clés</a:t>
            </a:r>
            <a:r>
              <a:rPr sz="2800" spc="-140" dirty="0">
                <a:latin typeface="Lucida Sans Unicode"/>
                <a:cs typeface="Lucida Sans Unicode"/>
              </a:rPr>
              <a:t> </a:t>
            </a:r>
            <a:r>
              <a:rPr sz="2800" spc="-10" dirty="0">
                <a:latin typeface="Lucida Sans Unicode"/>
                <a:cs typeface="Lucida Sans Unicode"/>
              </a:rPr>
              <a:t>privées.</a:t>
            </a:r>
            <a:endParaRPr sz="2800" dirty="0">
              <a:latin typeface="Lucida Sans Unicode"/>
              <a:cs typeface="Lucida Sans Unicode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7389510" y="9554081"/>
            <a:ext cx="365125" cy="35433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z="1900" spc="-25" dirty="0">
                <a:latin typeface="Lucida Sans Unicode"/>
                <a:cs typeface="Lucida Sans Unicode"/>
              </a:rPr>
              <a:t>33</a:t>
            </a:fld>
            <a:endParaRPr sz="19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612" y="512176"/>
            <a:ext cx="904240" cy="1033780"/>
          </a:xfrm>
          <a:custGeom>
            <a:avLst/>
            <a:gdLst/>
            <a:ahLst/>
            <a:cxnLst/>
            <a:rect l="l" t="t" r="r" b="b"/>
            <a:pathLst>
              <a:path w="904239" h="1033780">
                <a:moveTo>
                  <a:pt x="0" y="1033158"/>
                </a:moveTo>
                <a:lnTo>
                  <a:pt x="0" y="0"/>
                </a:lnTo>
                <a:lnTo>
                  <a:pt x="904014" y="516579"/>
                </a:lnTo>
                <a:lnTo>
                  <a:pt x="0" y="1033158"/>
                </a:lnTo>
                <a:close/>
              </a:path>
            </a:pathLst>
          </a:custGeom>
          <a:solidFill>
            <a:srgbClr val="B40C1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2818416" y="4352721"/>
            <a:ext cx="1504950" cy="114300"/>
            <a:chOff x="2818416" y="4352721"/>
            <a:chExt cx="1504950" cy="114300"/>
          </a:xfrm>
        </p:grpSpPr>
        <p:sp>
          <p:nvSpPr>
            <p:cNvPr id="4" name="object 4"/>
            <p:cNvSpPr/>
            <p:nvPr/>
          </p:nvSpPr>
          <p:spPr>
            <a:xfrm>
              <a:off x="2832704" y="4409909"/>
              <a:ext cx="1412240" cy="7620"/>
            </a:xfrm>
            <a:custGeom>
              <a:avLst/>
              <a:gdLst/>
              <a:ahLst/>
              <a:cxnLst/>
              <a:rect l="l" t="t" r="r" b="b"/>
              <a:pathLst>
                <a:path w="1412239" h="7620">
                  <a:moveTo>
                    <a:pt x="0" y="7585"/>
                  </a:moveTo>
                  <a:lnTo>
                    <a:pt x="1411667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36997" y="4352721"/>
              <a:ext cx="85954" cy="114298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4547691" y="3837873"/>
            <a:ext cx="2799080" cy="1145540"/>
            <a:chOff x="4547691" y="3837873"/>
            <a:chExt cx="2799080" cy="1145540"/>
          </a:xfrm>
        </p:grpSpPr>
        <p:sp>
          <p:nvSpPr>
            <p:cNvPr id="7" name="object 7"/>
            <p:cNvSpPr/>
            <p:nvPr/>
          </p:nvSpPr>
          <p:spPr>
            <a:xfrm>
              <a:off x="4557159" y="3847398"/>
              <a:ext cx="2780665" cy="1126490"/>
            </a:xfrm>
            <a:custGeom>
              <a:avLst/>
              <a:gdLst/>
              <a:ahLst/>
              <a:cxnLst/>
              <a:rect l="l" t="t" r="r" b="b"/>
              <a:pathLst>
                <a:path w="2780665" h="1126489">
                  <a:moveTo>
                    <a:pt x="2780080" y="1126108"/>
                  </a:moveTo>
                  <a:lnTo>
                    <a:pt x="0" y="1126108"/>
                  </a:lnTo>
                  <a:lnTo>
                    <a:pt x="0" y="0"/>
                  </a:lnTo>
                  <a:lnTo>
                    <a:pt x="2780080" y="0"/>
                  </a:lnTo>
                  <a:lnTo>
                    <a:pt x="2780080" y="1126108"/>
                  </a:lnTo>
                  <a:close/>
                </a:path>
              </a:pathLst>
            </a:custGeom>
            <a:solidFill>
              <a:srgbClr val="D8EC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57216" y="3847398"/>
              <a:ext cx="2780030" cy="1126490"/>
            </a:xfrm>
            <a:custGeom>
              <a:avLst/>
              <a:gdLst/>
              <a:ahLst/>
              <a:cxnLst/>
              <a:rect l="l" t="t" r="r" b="b"/>
              <a:pathLst>
                <a:path w="2780029" h="1126489">
                  <a:moveTo>
                    <a:pt x="0" y="0"/>
                  </a:moveTo>
                  <a:lnTo>
                    <a:pt x="2779547" y="0"/>
                  </a:lnTo>
                  <a:lnTo>
                    <a:pt x="2779547" y="1126033"/>
                  </a:lnTo>
                  <a:lnTo>
                    <a:pt x="0" y="1126033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839" rIns="0" bIns="0" rtlCol="0">
            <a:spAutoFit/>
          </a:bodyPr>
          <a:lstStyle/>
          <a:p>
            <a:pPr marL="298450" marR="5080">
              <a:lnSpc>
                <a:spcPct val="116500"/>
              </a:lnSpc>
              <a:spcBef>
                <a:spcPts val="90"/>
              </a:spcBef>
            </a:pPr>
            <a:r>
              <a:rPr sz="4400" dirty="0"/>
              <a:t>Infrastructure</a:t>
            </a:r>
            <a:r>
              <a:rPr sz="4400" spc="35" dirty="0"/>
              <a:t> </a:t>
            </a:r>
            <a:r>
              <a:rPr sz="4400" dirty="0"/>
              <a:t>de</a:t>
            </a:r>
            <a:r>
              <a:rPr sz="4400" spc="35" dirty="0"/>
              <a:t> </a:t>
            </a:r>
            <a:r>
              <a:rPr sz="4400" dirty="0"/>
              <a:t>gestion</a:t>
            </a:r>
            <a:r>
              <a:rPr sz="4400" spc="35" dirty="0"/>
              <a:t> </a:t>
            </a:r>
            <a:r>
              <a:rPr sz="4400" dirty="0"/>
              <a:t>de</a:t>
            </a:r>
            <a:r>
              <a:rPr sz="4400" spc="35" dirty="0"/>
              <a:t> </a:t>
            </a:r>
            <a:r>
              <a:rPr sz="4400" dirty="0"/>
              <a:t>clés</a:t>
            </a:r>
            <a:r>
              <a:rPr sz="4400" spc="35" dirty="0"/>
              <a:t> </a:t>
            </a:r>
            <a:r>
              <a:rPr sz="4400" dirty="0"/>
              <a:t>:</a:t>
            </a:r>
            <a:r>
              <a:rPr sz="4400" spc="35" dirty="0"/>
              <a:t> </a:t>
            </a:r>
            <a:r>
              <a:rPr sz="4400" dirty="0"/>
              <a:t>Demande</a:t>
            </a:r>
            <a:r>
              <a:rPr sz="4400" spc="35" dirty="0"/>
              <a:t> </a:t>
            </a:r>
            <a:r>
              <a:rPr sz="4400" spc="-25" dirty="0"/>
              <a:t>de </a:t>
            </a:r>
            <a:r>
              <a:rPr sz="4400" spc="-10" dirty="0"/>
              <a:t>certificat</a:t>
            </a:r>
            <a:endParaRPr sz="4400"/>
          </a:p>
        </p:txBody>
      </p:sp>
      <p:sp>
        <p:nvSpPr>
          <p:cNvPr id="10" name="object 10"/>
          <p:cNvSpPr txBox="1"/>
          <p:nvPr/>
        </p:nvSpPr>
        <p:spPr>
          <a:xfrm>
            <a:off x="4566741" y="3834712"/>
            <a:ext cx="2760980" cy="108267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R="111760" algn="ctr">
              <a:lnSpc>
                <a:spcPct val="100000"/>
              </a:lnSpc>
              <a:spcBef>
                <a:spcPts val="470"/>
              </a:spcBef>
            </a:pPr>
            <a:r>
              <a:rPr sz="2000" spc="-10" dirty="0">
                <a:latin typeface="Arial Black"/>
                <a:cs typeface="Arial Black"/>
              </a:rPr>
              <a:t>Autorité</a:t>
            </a:r>
            <a:endParaRPr sz="2000">
              <a:latin typeface="Arial Black"/>
              <a:cs typeface="Arial Black"/>
            </a:endParaRPr>
          </a:p>
          <a:p>
            <a:pPr marL="215900" marR="261620" algn="ctr">
              <a:lnSpc>
                <a:spcPct val="115599"/>
              </a:lnSpc>
            </a:pPr>
            <a:r>
              <a:rPr sz="2000" spc="-100" dirty="0">
                <a:latin typeface="Arial Black"/>
                <a:cs typeface="Arial Black"/>
              </a:rPr>
              <a:t>d’</a:t>
            </a:r>
            <a:r>
              <a:rPr sz="2000" spc="-135" dirty="0">
                <a:latin typeface="Arial Black"/>
                <a:cs typeface="Arial Black"/>
              </a:rPr>
              <a:t> </a:t>
            </a:r>
            <a:r>
              <a:rPr sz="2000" spc="-95" dirty="0">
                <a:latin typeface="Arial Black"/>
                <a:cs typeface="Arial Black"/>
              </a:rPr>
              <a:t>Enregistrement </a:t>
            </a:r>
            <a:r>
              <a:rPr sz="2000" spc="-20" dirty="0">
                <a:latin typeface="Arial Black"/>
                <a:cs typeface="Arial Black"/>
              </a:rPr>
              <a:t>(AE)</a:t>
            </a:r>
            <a:endParaRPr sz="2000">
              <a:latin typeface="Arial Black"/>
              <a:cs typeface="Arial Black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694" y="3624218"/>
            <a:ext cx="1257256" cy="131009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844143" y="2790565"/>
            <a:ext cx="12685452" cy="43729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50" dirty="0">
                <a:solidFill>
                  <a:srgbClr val="3F7D34"/>
                </a:solidFill>
                <a:latin typeface="Arial Black"/>
                <a:cs typeface="Arial Black"/>
              </a:rPr>
              <a:t>Le certificat signé est transmis au Service de Publication (SP)</a:t>
            </a:r>
            <a:endParaRPr sz="2750" dirty="0">
              <a:latin typeface="Arial Black"/>
              <a:cs typeface="Arial Black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575166" y="4300179"/>
            <a:ext cx="1094105" cy="203200"/>
            <a:chOff x="7575166" y="4300179"/>
            <a:chExt cx="1094105" cy="203200"/>
          </a:xfrm>
        </p:grpSpPr>
        <p:sp>
          <p:nvSpPr>
            <p:cNvPr id="14" name="object 14"/>
            <p:cNvSpPr/>
            <p:nvPr/>
          </p:nvSpPr>
          <p:spPr>
            <a:xfrm>
              <a:off x="7706123" y="4395594"/>
              <a:ext cx="832485" cy="12065"/>
            </a:xfrm>
            <a:custGeom>
              <a:avLst/>
              <a:gdLst/>
              <a:ahLst/>
              <a:cxnLst/>
              <a:rect l="l" t="t" r="r" b="b"/>
              <a:pathLst>
                <a:path w="832484" h="12064">
                  <a:moveTo>
                    <a:pt x="0" y="0"/>
                  </a:moveTo>
                  <a:lnTo>
                    <a:pt x="831885" y="12003"/>
                  </a:lnTo>
                </a:path>
              </a:pathLst>
            </a:custGeom>
            <a:ln w="47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75166" y="4300179"/>
              <a:ext cx="143895" cy="19048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25071" y="4312527"/>
              <a:ext cx="143895" cy="190485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8897913" y="3877702"/>
            <a:ext cx="2799080" cy="1028700"/>
            <a:chOff x="8897913" y="3877702"/>
            <a:chExt cx="2799080" cy="1028700"/>
          </a:xfrm>
        </p:grpSpPr>
        <p:sp>
          <p:nvSpPr>
            <p:cNvPr id="18" name="object 18"/>
            <p:cNvSpPr/>
            <p:nvPr/>
          </p:nvSpPr>
          <p:spPr>
            <a:xfrm>
              <a:off x="8907433" y="3887226"/>
              <a:ext cx="2781935" cy="1013460"/>
            </a:xfrm>
            <a:custGeom>
              <a:avLst/>
              <a:gdLst/>
              <a:ahLst/>
              <a:cxnLst/>
              <a:rect l="l" t="t" r="r" b="b"/>
              <a:pathLst>
                <a:path w="2781934" h="1013460">
                  <a:moveTo>
                    <a:pt x="2781666" y="1012953"/>
                  </a:moveTo>
                  <a:lnTo>
                    <a:pt x="0" y="1012953"/>
                  </a:lnTo>
                  <a:lnTo>
                    <a:pt x="0" y="0"/>
                  </a:lnTo>
                  <a:lnTo>
                    <a:pt x="2781666" y="0"/>
                  </a:lnTo>
                  <a:lnTo>
                    <a:pt x="2781666" y="1012953"/>
                  </a:lnTo>
                  <a:close/>
                </a:path>
              </a:pathLst>
            </a:custGeom>
            <a:solidFill>
              <a:srgbClr val="D8ECFE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907438" y="3887227"/>
              <a:ext cx="2780030" cy="1009650"/>
            </a:xfrm>
            <a:custGeom>
              <a:avLst/>
              <a:gdLst/>
              <a:ahLst/>
              <a:cxnLst/>
              <a:rect l="l" t="t" r="r" b="b"/>
              <a:pathLst>
                <a:path w="2780029" h="1009650">
                  <a:moveTo>
                    <a:pt x="0" y="1009650"/>
                  </a:moveTo>
                  <a:lnTo>
                    <a:pt x="0" y="0"/>
                  </a:lnTo>
                  <a:lnTo>
                    <a:pt x="2779651" y="0"/>
                  </a:lnTo>
                  <a:lnTo>
                    <a:pt x="2779651" y="1009650"/>
                  </a:lnTo>
                </a:path>
              </a:pathLst>
            </a:custGeom>
            <a:ln w="19049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8916963" y="3963577"/>
            <a:ext cx="2760980" cy="768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3835" marR="230504" indent="292735">
              <a:lnSpc>
                <a:spcPct val="116100"/>
              </a:lnSpc>
              <a:spcBef>
                <a:spcPts val="95"/>
              </a:spcBef>
            </a:pPr>
            <a:r>
              <a:rPr sz="2100" spc="-75" dirty="0">
                <a:latin typeface="Arial Black"/>
                <a:cs typeface="Arial Black"/>
              </a:rPr>
              <a:t>Opérateur</a:t>
            </a:r>
            <a:r>
              <a:rPr sz="2100" spc="-90" dirty="0">
                <a:latin typeface="Arial Black"/>
                <a:cs typeface="Arial Black"/>
              </a:rPr>
              <a:t> </a:t>
            </a:r>
            <a:r>
              <a:rPr sz="2100" spc="-25" dirty="0">
                <a:latin typeface="Arial Black"/>
                <a:cs typeface="Arial Black"/>
              </a:rPr>
              <a:t>de </a:t>
            </a:r>
            <a:r>
              <a:rPr sz="2100" spc="-105" dirty="0">
                <a:latin typeface="Arial Black"/>
                <a:cs typeface="Arial Black"/>
              </a:rPr>
              <a:t>Certification</a:t>
            </a:r>
            <a:r>
              <a:rPr sz="2100" spc="-50" dirty="0">
                <a:latin typeface="Arial Black"/>
                <a:cs typeface="Arial Black"/>
              </a:rPr>
              <a:t> </a:t>
            </a:r>
            <a:r>
              <a:rPr sz="2100" spc="-120" dirty="0">
                <a:latin typeface="Arial Black"/>
                <a:cs typeface="Arial Black"/>
              </a:rPr>
              <a:t>(OC)</a:t>
            </a:r>
            <a:endParaRPr sz="2100">
              <a:latin typeface="Arial Black"/>
              <a:cs typeface="Arial Black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2101580" y="4338434"/>
            <a:ext cx="1504950" cy="114300"/>
            <a:chOff x="12101580" y="4338434"/>
            <a:chExt cx="1504950" cy="114300"/>
          </a:xfrm>
        </p:grpSpPr>
        <p:sp>
          <p:nvSpPr>
            <p:cNvPr id="22" name="object 22"/>
            <p:cNvSpPr/>
            <p:nvPr/>
          </p:nvSpPr>
          <p:spPr>
            <a:xfrm>
              <a:off x="12115868" y="4395622"/>
              <a:ext cx="1412240" cy="7620"/>
            </a:xfrm>
            <a:custGeom>
              <a:avLst/>
              <a:gdLst/>
              <a:ahLst/>
              <a:cxnLst/>
              <a:rect l="l" t="t" r="r" b="b"/>
              <a:pathLst>
                <a:path w="1412240" h="7620">
                  <a:moveTo>
                    <a:pt x="0" y="7585"/>
                  </a:moveTo>
                  <a:lnTo>
                    <a:pt x="1411667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20161" y="4338434"/>
              <a:ext cx="85954" cy="114298"/>
            </a:xfrm>
            <a:prstGeom prst="rect">
              <a:avLst/>
            </a:prstGeom>
          </p:spPr>
        </p:pic>
      </p:grpSp>
      <p:grpSp>
        <p:nvGrpSpPr>
          <p:cNvPr id="24" name="object 24"/>
          <p:cNvGrpSpPr/>
          <p:nvPr/>
        </p:nvGrpSpPr>
        <p:grpSpPr>
          <a:xfrm>
            <a:off x="13872898" y="3951028"/>
            <a:ext cx="2799080" cy="1028700"/>
            <a:chOff x="13872898" y="3951028"/>
            <a:chExt cx="2799080" cy="1028700"/>
          </a:xfrm>
        </p:grpSpPr>
        <p:sp>
          <p:nvSpPr>
            <p:cNvPr id="25" name="object 25"/>
            <p:cNvSpPr/>
            <p:nvPr/>
          </p:nvSpPr>
          <p:spPr>
            <a:xfrm>
              <a:off x="13882418" y="3960553"/>
              <a:ext cx="2781935" cy="1013460"/>
            </a:xfrm>
            <a:custGeom>
              <a:avLst/>
              <a:gdLst/>
              <a:ahLst/>
              <a:cxnLst/>
              <a:rect l="l" t="t" r="r" b="b"/>
              <a:pathLst>
                <a:path w="2781934" h="1013460">
                  <a:moveTo>
                    <a:pt x="2781666" y="1012953"/>
                  </a:moveTo>
                  <a:lnTo>
                    <a:pt x="0" y="1012953"/>
                  </a:lnTo>
                  <a:lnTo>
                    <a:pt x="0" y="0"/>
                  </a:lnTo>
                  <a:lnTo>
                    <a:pt x="2781666" y="0"/>
                  </a:lnTo>
                  <a:lnTo>
                    <a:pt x="2781666" y="1012953"/>
                  </a:lnTo>
                  <a:close/>
                </a:path>
              </a:pathLst>
            </a:custGeom>
            <a:solidFill>
              <a:srgbClr val="D8ECFE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3882423" y="3960553"/>
              <a:ext cx="2780030" cy="1009650"/>
            </a:xfrm>
            <a:custGeom>
              <a:avLst/>
              <a:gdLst/>
              <a:ahLst/>
              <a:cxnLst/>
              <a:rect l="l" t="t" r="r" b="b"/>
              <a:pathLst>
                <a:path w="2780030" h="1009650">
                  <a:moveTo>
                    <a:pt x="0" y="1009650"/>
                  </a:moveTo>
                  <a:lnTo>
                    <a:pt x="0" y="0"/>
                  </a:lnTo>
                  <a:lnTo>
                    <a:pt x="2779652" y="0"/>
                  </a:lnTo>
                  <a:lnTo>
                    <a:pt x="2779651" y="1009650"/>
                  </a:lnTo>
                </a:path>
              </a:pathLst>
            </a:custGeom>
            <a:ln w="19049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3891947" y="4041402"/>
            <a:ext cx="2760980" cy="768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79425" marR="380365" indent="266065">
              <a:lnSpc>
                <a:spcPct val="116100"/>
              </a:lnSpc>
              <a:spcBef>
                <a:spcPts val="95"/>
              </a:spcBef>
            </a:pPr>
            <a:r>
              <a:rPr sz="2100" spc="-165" dirty="0">
                <a:latin typeface="Arial Black"/>
                <a:cs typeface="Arial Black"/>
              </a:rPr>
              <a:t>Service</a:t>
            </a:r>
            <a:r>
              <a:rPr sz="2100" spc="-140" dirty="0">
                <a:latin typeface="Arial Black"/>
                <a:cs typeface="Arial Black"/>
              </a:rPr>
              <a:t> </a:t>
            </a:r>
            <a:r>
              <a:rPr sz="2100" spc="-25" dirty="0">
                <a:latin typeface="Arial Black"/>
                <a:cs typeface="Arial Black"/>
              </a:rPr>
              <a:t>de </a:t>
            </a:r>
            <a:r>
              <a:rPr sz="2100" spc="-135" dirty="0">
                <a:latin typeface="Arial Black"/>
                <a:cs typeface="Arial Black"/>
              </a:rPr>
              <a:t>Séquestre</a:t>
            </a:r>
            <a:r>
              <a:rPr sz="2100" spc="-120" dirty="0">
                <a:latin typeface="Arial Black"/>
                <a:cs typeface="Arial Black"/>
              </a:rPr>
              <a:t> </a:t>
            </a:r>
            <a:r>
              <a:rPr sz="2100" spc="-215" dirty="0">
                <a:latin typeface="Arial Black"/>
                <a:cs typeface="Arial Black"/>
              </a:rPr>
              <a:t>(SS)</a:t>
            </a:r>
            <a:endParaRPr sz="2100" dirty="0">
              <a:latin typeface="Arial Black"/>
              <a:cs typeface="Arial Black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0224035" y="5173408"/>
            <a:ext cx="206375" cy="674370"/>
            <a:chOff x="10224035" y="5173408"/>
            <a:chExt cx="206375" cy="674370"/>
          </a:xfrm>
        </p:grpSpPr>
        <p:sp>
          <p:nvSpPr>
            <p:cNvPr id="29" name="object 29"/>
            <p:cNvSpPr/>
            <p:nvPr/>
          </p:nvSpPr>
          <p:spPr>
            <a:xfrm>
              <a:off x="10319661" y="5304310"/>
              <a:ext cx="14604" cy="412750"/>
            </a:xfrm>
            <a:custGeom>
              <a:avLst/>
              <a:gdLst/>
              <a:ahLst/>
              <a:cxnLst/>
              <a:rect l="l" t="t" r="r" b="b"/>
              <a:pathLst>
                <a:path w="14604" h="412750">
                  <a:moveTo>
                    <a:pt x="14564" y="0"/>
                  </a:moveTo>
                  <a:lnTo>
                    <a:pt x="0" y="412258"/>
                  </a:lnTo>
                </a:path>
              </a:pathLst>
            </a:custGeom>
            <a:ln w="47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239440" y="5173408"/>
              <a:ext cx="190410" cy="145337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224035" y="5702132"/>
              <a:ext cx="190410" cy="145337"/>
            </a:xfrm>
            <a:prstGeom prst="rect">
              <a:avLst/>
            </a:prstGeom>
          </p:spPr>
        </p:pic>
      </p:grpSp>
      <p:grpSp>
        <p:nvGrpSpPr>
          <p:cNvPr id="32" name="object 32"/>
          <p:cNvGrpSpPr/>
          <p:nvPr/>
        </p:nvGrpSpPr>
        <p:grpSpPr>
          <a:xfrm>
            <a:off x="8939520" y="6114940"/>
            <a:ext cx="2799080" cy="1028700"/>
            <a:chOff x="8939520" y="6114940"/>
            <a:chExt cx="2799080" cy="1028700"/>
          </a:xfrm>
        </p:grpSpPr>
        <p:sp>
          <p:nvSpPr>
            <p:cNvPr id="33" name="object 33"/>
            <p:cNvSpPr/>
            <p:nvPr/>
          </p:nvSpPr>
          <p:spPr>
            <a:xfrm>
              <a:off x="8949039" y="6124465"/>
              <a:ext cx="2781935" cy="1013460"/>
            </a:xfrm>
            <a:custGeom>
              <a:avLst/>
              <a:gdLst/>
              <a:ahLst/>
              <a:cxnLst/>
              <a:rect l="l" t="t" r="r" b="b"/>
              <a:pathLst>
                <a:path w="2781934" h="1013459">
                  <a:moveTo>
                    <a:pt x="2781666" y="1012953"/>
                  </a:moveTo>
                  <a:lnTo>
                    <a:pt x="0" y="1012953"/>
                  </a:lnTo>
                  <a:lnTo>
                    <a:pt x="0" y="0"/>
                  </a:lnTo>
                  <a:lnTo>
                    <a:pt x="2781666" y="0"/>
                  </a:lnTo>
                  <a:lnTo>
                    <a:pt x="2781666" y="1012953"/>
                  </a:lnTo>
                  <a:close/>
                </a:path>
              </a:pathLst>
            </a:custGeom>
            <a:solidFill>
              <a:srgbClr val="D8ECFE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949045" y="6124465"/>
              <a:ext cx="2780030" cy="1009650"/>
            </a:xfrm>
            <a:custGeom>
              <a:avLst/>
              <a:gdLst/>
              <a:ahLst/>
              <a:cxnLst/>
              <a:rect l="l" t="t" r="r" b="b"/>
              <a:pathLst>
                <a:path w="2780029" h="1009650">
                  <a:moveTo>
                    <a:pt x="0" y="1009649"/>
                  </a:moveTo>
                  <a:lnTo>
                    <a:pt x="0" y="0"/>
                  </a:lnTo>
                  <a:lnTo>
                    <a:pt x="2779651" y="0"/>
                  </a:lnTo>
                  <a:lnTo>
                    <a:pt x="2779651" y="1009649"/>
                  </a:lnTo>
                </a:path>
              </a:pathLst>
            </a:custGeom>
            <a:ln w="19049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8958570" y="6200815"/>
            <a:ext cx="2760980" cy="768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1790" marR="308610" indent="365760">
              <a:lnSpc>
                <a:spcPct val="116100"/>
              </a:lnSpc>
              <a:spcBef>
                <a:spcPts val="95"/>
              </a:spcBef>
            </a:pPr>
            <a:r>
              <a:rPr sz="2100" spc="-165" dirty="0">
                <a:latin typeface="Arial Black"/>
                <a:cs typeface="Arial Black"/>
              </a:rPr>
              <a:t>Service</a:t>
            </a:r>
            <a:r>
              <a:rPr sz="2100" spc="-140" dirty="0">
                <a:latin typeface="Arial Black"/>
                <a:cs typeface="Arial Black"/>
              </a:rPr>
              <a:t> </a:t>
            </a:r>
            <a:r>
              <a:rPr sz="2100" spc="-35" dirty="0">
                <a:latin typeface="Arial Black"/>
                <a:cs typeface="Arial Black"/>
              </a:rPr>
              <a:t>de </a:t>
            </a:r>
            <a:r>
              <a:rPr sz="2100" spc="-105" dirty="0">
                <a:latin typeface="Arial Black"/>
                <a:cs typeface="Arial Black"/>
              </a:rPr>
              <a:t>Publication</a:t>
            </a:r>
            <a:r>
              <a:rPr sz="2100" spc="-80" dirty="0">
                <a:latin typeface="Arial Black"/>
                <a:cs typeface="Arial Black"/>
              </a:rPr>
              <a:t> </a:t>
            </a:r>
            <a:r>
              <a:rPr sz="2100" spc="-165" dirty="0">
                <a:latin typeface="Arial Black"/>
                <a:cs typeface="Arial Black"/>
              </a:rPr>
              <a:t>(SP)</a:t>
            </a:r>
            <a:endParaRPr sz="2100">
              <a:latin typeface="Arial Black"/>
              <a:cs typeface="Arial Black"/>
            </a:endParaRPr>
          </a:p>
        </p:txBody>
      </p:sp>
      <p:pic>
        <p:nvPicPr>
          <p:cNvPr id="36" name="object 3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14449" y="8162975"/>
            <a:ext cx="123825" cy="123824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1619795" y="7976062"/>
            <a:ext cx="14909800" cy="125098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95"/>
              </a:spcBef>
            </a:pPr>
            <a:r>
              <a:rPr sz="2800" dirty="0">
                <a:solidFill>
                  <a:srgbClr val="8B0101"/>
                </a:solidFill>
                <a:latin typeface="Arial Black"/>
                <a:cs typeface="Arial Black"/>
              </a:rPr>
              <a:t>Le Service de Publication (SP) </a:t>
            </a:r>
            <a:r>
              <a:rPr sz="2800" spc="-70" dirty="0">
                <a:latin typeface="Lucida Sans Unicode"/>
                <a:cs typeface="Lucida Sans Unicode"/>
              </a:rPr>
              <a:t>publie</a:t>
            </a:r>
            <a:r>
              <a:rPr sz="2800" spc="-155" dirty="0">
                <a:latin typeface="Lucida Sans Unicode"/>
                <a:cs typeface="Lucida Sans Unicode"/>
              </a:rPr>
              <a:t> </a:t>
            </a:r>
            <a:r>
              <a:rPr sz="2800" spc="-75" dirty="0">
                <a:latin typeface="Lucida Sans Unicode"/>
                <a:cs typeface="Lucida Sans Unicode"/>
              </a:rPr>
              <a:t>les</a:t>
            </a:r>
            <a:r>
              <a:rPr sz="2800" spc="-150" dirty="0">
                <a:latin typeface="Lucida Sans Unicode"/>
                <a:cs typeface="Lucida Sans Unicode"/>
              </a:rPr>
              <a:t> </a:t>
            </a:r>
            <a:r>
              <a:rPr sz="2800" spc="-75" dirty="0">
                <a:latin typeface="Lucida Sans Unicode"/>
                <a:cs typeface="Lucida Sans Unicode"/>
              </a:rPr>
              <a:t>certificats</a:t>
            </a:r>
            <a:r>
              <a:rPr sz="2800" spc="-155" dirty="0">
                <a:latin typeface="Lucida Sans Unicode"/>
                <a:cs typeface="Lucida Sans Unicode"/>
              </a:rPr>
              <a:t> </a:t>
            </a:r>
            <a:r>
              <a:rPr sz="2800" spc="-10" dirty="0">
                <a:latin typeface="Lucida Sans Unicode"/>
                <a:cs typeface="Lucida Sans Unicode"/>
              </a:rPr>
              <a:t>et</a:t>
            </a:r>
            <a:r>
              <a:rPr sz="2800" spc="-150" dirty="0">
                <a:latin typeface="Lucida Sans Unicode"/>
                <a:cs typeface="Lucida Sans Unicode"/>
              </a:rPr>
              <a:t> </a:t>
            </a:r>
            <a:r>
              <a:rPr sz="2800" spc="-50" dirty="0">
                <a:latin typeface="Lucida Sans Unicode"/>
                <a:cs typeface="Lucida Sans Unicode"/>
              </a:rPr>
              <a:t>la</a:t>
            </a:r>
            <a:r>
              <a:rPr sz="2800" spc="-155" dirty="0">
                <a:latin typeface="Lucida Sans Unicode"/>
                <a:cs typeface="Lucida Sans Unicode"/>
              </a:rPr>
              <a:t> </a:t>
            </a:r>
            <a:r>
              <a:rPr sz="2800" spc="-100" dirty="0">
                <a:latin typeface="Lucida Sans Unicode"/>
                <a:cs typeface="Lucida Sans Unicode"/>
              </a:rPr>
              <a:t>CRL</a:t>
            </a:r>
            <a:r>
              <a:rPr sz="2800" spc="-150" dirty="0">
                <a:latin typeface="Lucida Sans Unicode"/>
                <a:cs typeface="Lucida Sans Unicode"/>
              </a:rPr>
              <a:t> </a:t>
            </a:r>
            <a:r>
              <a:rPr sz="2800" spc="-55" dirty="0">
                <a:latin typeface="Lucida Sans Unicode"/>
                <a:cs typeface="Lucida Sans Unicode"/>
              </a:rPr>
              <a:t>dans</a:t>
            </a:r>
            <a:r>
              <a:rPr sz="2800" spc="-155" dirty="0">
                <a:latin typeface="Lucida Sans Unicode"/>
                <a:cs typeface="Lucida Sans Unicode"/>
              </a:rPr>
              <a:t> </a:t>
            </a:r>
            <a:r>
              <a:rPr sz="2800" spc="-20" dirty="0">
                <a:latin typeface="Lucida Sans Unicode"/>
                <a:cs typeface="Lucida Sans Unicode"/>
              </a:rPr>
              <a:t>un</a:t>
            </a:r>
            <a:r>
              <a:rPr sz="2800" spc="-155" dirty="0">
                <a:latin typeface="Lucida Sans Unicode"/>
                <a:cs typeface="Lucida Sans Unicode"/>
              </a:rPr>
              <a:t> </a:t>
            </a:r>
            <a:r>
              <a:rPr sz="2800" spc="-30" dirty="0">
                <a:latin typeface="Lucida Sans Unicode"/>
                <a:cs typeface="Lucida Sans Unicode"/>
              </a:rPr>
              <a:t>annuaire</a:t>
            </a:r>
            <a:r>
              <a:rPr sz="2800" spc="-150" dirty="0">
                <a:latin typeface="Lucida Sans Unicode"/>
                <a:cs typeface="Lucida Sans Unicode"/>
              </a:rPr>
              <a:t> </a:t>
            </a:r>
            <a:r>
              <a:rPr sz="2800" spc="-20" dirty="0">
                <a:latin typeface="Lucida Sans Unicode"/>
                <a:cs typeface="Lucida Sans Unicode"/>
              </a:rPr>
              <a:t>accessible,</a:t>
            </a:r>
            <a:r>
              <a:rPr lang="fr-FR" sz="2800" dirty="0">
                <a:latin typeface="Lucida Sans Unicode"/>
                <a:cs typeface="Lucida Sans Unicode"/>
              </a:rPr>
              <a:t> </a:t>
            </a:r>
            <a:r>
              <a:rPr sz="2800" spc="-35" dirty="0" err="1">
                <a:latin typeface="Lucida Sans Unicode"/>
                <a:cs typeface="Lucida Sans Unicode"/>
              </a:rPr>
              <a:t>permettant</a:t>
            </a:r>
            <a:r>
              <a:rPr sz="2800" spc="-190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de</a:t>
            </a:r>
            <a:r>
              <a:rPr sz="2800" spc="-190" dirty="0">
                <a:latin typeface="Lucida Sans Unicode"/>
                <a:cs typeface="Lucida Sans Unicode"/>
              </a:rPr>
              <a:t> </a:t>
            </a:r>
            <a:r>
              <a:rPr sz="2800" spc="-50" dirty="0">
                <a:latin typeface="Lucida Sans Unicode"/>
                <a:cs typeface="Lucida Sans Unicode"/>
              </a:rPr>
              <a:t>vérifier</a:t>
            </a:r>
            <a:r>
              <a:rPr sz="2800" spc="-170" dirty="0">
                <a:latin typeface="Lucida Sans Unicode"/>
                <a:cs typeface="Lucida Sans Unicode"/>
              </a:rPr>
              <a:t> </a:t>
            </a:r>
            <a:r>
              <a:rPr sz="2800" spc="-35" dirty="0">
                <a:latin typeface="Lucida Sans Unicode"/>
                <a:cs typeface="Lucida Sans Unicode"/>
              </a:rPr>
              <a:t>leur</a:t>
            </a:r>
            <a:r>
              <a:rPr sz="2800" spc="-180" dirty="0">
                <a:latin typeface="Lucida Sans Unicode"/>
                <a:cs typeface="Lucida Sans Unicode"/>
              </a:rPr>
              <a:t> </a:t>
            </a:r>
            <a:r>
              <a:rPr sz="2800" spc="-60" dirty="0">
                <a:latin typeface="Lucida Sans Unicode"/>
                <a:cs typeface="Lucida Sans Unicode"/>
              </a:rPr>
              <a:t>authenticité</a:t>
            </a:r>
            <a:r>
              <a:rPr sz="2800" spc="-160" dirty="0">
                <a:latin typeface="Lucida Sans Unicode"/>
                <a:cs typeface="Lucida Sans Unicode"/>
              </a:rPr>
              <a:t> </a:t>
            </a:r>
            <a:r>
              <a:rPr sz="2800" spc="-10" dirty="0">
                <a:latin typeface="Lucida Sans Unicode"/>
                <a:cs typeface="Lucida Sans Unicode"/>
              </a:rPr>
              <a:t>et</a:t>
            </a:r>
            <a:r>
              <a:rPr sz="2800" spc="-180" dirty="0">
                <a:latin typeface="Lucida Sans Unicode"/>
                <a:cs typeface="Lucida Sans Unicode"/>
              </a:rPr>
              <a:t> </a:t>
            </a:r>
            <a:r>
              <a:rPr sz="2800" spc="-10" dirty="0">
                <a:latin typeface="Lucida Sans Unicode"/>
                <a:cs typeface="Lucida Sans Unicode"/>
              </a:rPr>
              <a:t>validité.</a:t>
            </a:r>
            <a:endParaRPr sz="2800" dirty="0">
              <a:latin typeface="Lucida Sans Unicode"/>
              <a:cs typeface="Lucida Sans Unicode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7389510" y="9554081"/>
            <a:ext cx="365125" cy="35433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z="1900" spc="-25" dirty="0">
                <a:latin typeface="Lucida Sans Unicode"/>
                <a:cs typeface="Lucida Sans Unicode"/>
              </a:rPr>
              <a:t>34</a:t>
            </a:fld>
            <a:endParaRPr sz="19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612" y="512176"/>
            <a:ext cx="904240" cy="1033780"/>
          </a:xfrm>
          <a:custGeom>
            <a:avLst/>
            <a:gdLst/>
            <a:ahLst/>
            <a:cxnLst/>
            <a:rect l="l" t="t" r="r" b="b"/>
            <a:pathLst>
              <a:path w="904239" h="1033780">
                <a:moveTo>
                  <a:pt x="0" y="1033158"/>
                </a:moveTo>
                <a:lnTo>
                  <a:pt x="0" y="0"/>
                </a:lnTo>
                <a:lnTo>
                  <a:pt x="904014" y="516579"/>
                </a:lnTo>
                <a:lnTo>
                  <a:pt x="0" y="1033158"/>
                </a:lnTo>
                <a:close/>
              </a:path>
            </a:pathLst>
          </a:custGeom>
          <a:solidFill>
            <a:srgbClr val="B40C1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2818416" y="4446027"/>
            <a:ext cx="1504950" cy="114300"/>
            <a:chOff x="2818416" y="4446027"/>
            <a:chExt cx="1504950" cy="114300"/>
          </a:xfrm>
        </p:grpSpPr>
        <p:sp>
          <p:nvSpPr>
            <p:cNvPr id="4" name="object 4"/>
            <p:cNvSpPr/>
            <p:nvPr/>
          </p:nvSpPr>
          <p:spPr>
            <a:xfrm>
              <a:off x="2832704" y="4503215"/>
              <a:ext cx="1412240" cy="7620"/>
            </a:xfrm>
            <a:custGeom>
              <a:avLst/>
              <a:gdLst/>
              <a:ahLst/>
              <a:cxnLst/>
              <a:rect l="l" t="t" r="r" b="b"/>
              <a:pathLst>
                <a:path w="1412239" h="7620">
                  <a:moveTo>
                    <a:pt x="0" y="7585"/>
                  </a:moveTo>
                  <a:lnTo>
                    <a:pt x="1411667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36997" y="4446027"/>
              <a:ext cx="85954" cy="114298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4547691" y="3931179"/>
            <a:ext cx="2799080" cy="1145540"/>
            <a:chOff x="4547691" y="3931179"/>
            <a:chExt cx="2799080" cy="1145540"/>
          </a:xfrm>
        </p:grpSpPr>
        <p:sp>
          <p:nvSpPr>
            <p:cNvPr id="7" name="object 7"/>
            <p:cNvSpPr/>
            <p:nvPr/>
          </p:nvSpPr>
          <p:spPr>
            <a:xfrm>
              <a:off x="4557159" y="3940704"/>
              <a:ext cx="2780665" cy="1126490"/>
            </a:xfrm>
            <a:custGeom>
              <a:avLst/>
              <a:gdLst/>
              <a:ahLst/>
              <a:cxnLst/>
              <a:rect l="l" t="t" r="r" b="b"/>
              <a:pathLst>
                <a:path w="2780665" h="1126489">
                  <a:moveTo>
                    <a:pt x="2780080" y="1126108"/>
                  </a:moveTo>
                  <a:lnTo>
                    <a:pt x="0" y="1126108"/>
                  </a:lnTo>
                  <a:lnTo>
                    <a:pt x="0" y="0"/>
                  </a:lnTo>
                  <a:lnTo>
                    <a:pt x="2780080" y="0"/>
                  </a:lnTo>
                  <a:lnTo>
                    <a:pt x="2780080" y="1126108"/>
                  </a:lnTo>
                  <a:close/>
                </a:path>
              </a:pathLst>
            </a:custGeom>
            <a:solidFill>
              <a:srgbClr val="D8EC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57216" y="3940704"/>
              <a:ext cx="2780030" cy="1126490"/>
            </a:xfrm>
            <a:custGeom>
              <a:avLst/>
              <a:gdLst/>
              <a:ahLst/>
              <a:cxnLst/>
              <a:rect l="l" t="t" r="r" b="b"/>
              <a:pathLst>
                <a:path w="2780029" h="1126489">
                  <a:moveTo>
                    <a:pt x="0" y="0"/>
                  </a:moveTo>
                  <a:lnTo>
                    <a:pt x="2779547" y="0"/>
                  </a:lnTo>
                  <a:lnTo>
                    <a:pt x="2779547" y="1126033"/>
                  </a:lnTo>
                  <a:lnTo>
                    <a:pt x="0" y="1126033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694" y="3717524"/>
            <a:ext cx="1257256" cy="1310095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7575166" y="4393485"/>
            <a:ext cx="1094105" cy="203200"/>
            <a:chOff x="7575166" y="4393485"/>
            <a:chExt cx="1094105" cy="203200"/>
          </a:xfrm>
        </p:grpSpPr>
        <p:sp>
          <p:nvSpPr>
            <p:cNvPr id="11" name="object 11"/>
            <p:cNvSpPr/>
            <p:nvPr/>
          </p:nvSpPr>
          <p:spPr>
            <a:xfrm>
              <a:off x="7706123" y="4488900"/>
              <a:ext cx="832485" cy="12065"/>
            </a:xfrm>
            <a:custGeom>
              <a:avLst/>
              <a:gdLst/>
              <a:ahLst/>
              <a:cxnLst/>
              <a:rect l="l" t="t" r="r" b="b"/>
              <a:pathLst>
                <a:path w="832484" h="12064">
                  <a:moveTo>
                    <a:pt x="0" y="0"/>
                  </a:moveTo>
                  <a:lnTo>
                    <a:pt x="831885" y="12003"/>
                  </a:lnTo>
                </a:path>
              </a:pathLst>
            </a:custGeom>
            <a:ln w="47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75166" y="4393485"/>
              <a:ext cx="143895" cy="19048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25071" y="4405833"/>
              <a:ext cx="143895" cy="190485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8848565" y="3816391"/>
            <a:ext cx="2799080" cy="1285371"/>
            <a:chOff x="8897913" y="3971008"/>
            <a:chExt cx="2799080" cy="1028700"/>
          </a:xfrm>
        </p:grpSpPr>
        <p:sp>
          <p:nvSpPr>
            <p:cNvPr id="15" name="object 15"/>
            <p:cNvSpPr/>
            <p:nvPr/>
          </p:nvSpPr>
          <p:spPr>
            <a:xfrm>
              <a:off x="8907433" y="3980533"/>
              <a:ext cx="2781935" cy="1013460"/>
            </a:xfrm>
            <a:custGeom>
              <a:avLst/>
              <a:gdLst/>
              <a:ahLst/>
              <a:cxnLst/>
              <a:rect l="l" t="t" r="r" b="b"/>
              <a:pathLst>
                <a:path w="2781934" h="1013460">
                  <a:moveTo>
                    <a:pt x="2781666" y="1012953"/>
                  </a:moveTo>
                  <a:lnTo>
                    <a:pt x="0" y="1012953"/>
                  </a:lnTo>
                  <a:lnTo>
                    <a:pt x="0" y="0"/>
                  </a:lnTo>
                  <a:lnTo>
                    <a:pt x="2781666" y="0"/>
                  </a:lnTo>
                  <a:lnTo>
                    <a:pt x="2781666" y="1012953"/>
                  </a:lnTo>
                  <a:close/>
                </a:path>
              </a:pathLst>
            </a:custGeom>
            <a:solidFill>
              <a:srgbClr val="D8ECFE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907438" y="3980533"/>
              <a:ext cx="2780030" cy="1009650"/>
            </a:xfrm>
            <a:custGeom>
              <a:avLst/>
              <a:gdLst/>
              <a:ahLst/>
              <a:cxnLst/>
              <a:rect l="l" t="t" r="r" b="b"/>
              <a:pathLst>
                <a:path w="2780029" h="1009650">
                  <a:moveTo>
                    <a:pt x="0" y="1009650"/>
                  </a:moveTo>
                  <a:lnTo>
                    <a:pt x="0" y="0"/>
                  </a:lnTo>
                  <a:lnTo>
                    <a:pt x="2779651" y="0"/>
                  </a:lnTo>
                  <a:lnTo>
                    <a:pt x="2779651" y="1009650"/>
                  </a:lnTo>
                </a:path>
              </a:pathLst>
            </a:custGeom>
            <a:ln w="19049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12101580" y="4431740"/>
            <a:ext cx="1504950" cy="114300"/>
            <a:chOff x="12101580" y="4431740"/>
            <a:chExt cx="1504950" cy="114300"/>
          </a:xfrm>
        </p:grpSpPr>
        <p:sp>
          <p:nvSpPr>
            <p:cNvPr id="18" name="object 18"/>
            <p:cNvSpPr/>
            <p:nvPr/>
          </p:nvSpPr>
          <p:spPr>
            <a:xfrm>
              <a:off x="12115868" y="4488928"/>
              <a:ext cx="1412240" cy="7620"/>
            </a:xfrm>
            <a:custGeom>
              <a:avLst/>
              <a:gdLst/>
              <a:ahLst/>
              <a:cxnLst/>
              <a:rect l="l" t="t" r="r" b="b"/>
              <a:pathLst>
                <a:path w="1412240" h="7620">
                  <a:moveTo>
                    <a:pt x="0" y="7585"/>
                  </a:moveTo>
                  <a:lnTo>
                    <a:pt x="1411667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20161" y="4431740"/>
              <a:ext cx="85954" cy="114298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13872898" y="4044334"/>
            <a:ext cx="2799080" cy="1028700"/>
            <a:chOff x="13872898" y="4044334"/>
            <a:chExt cx="2799080" cy="1028700"/>
          </a:xfrm>
        </p:grpSpPr>
        <p:sp>
          <p:nvSpPr>
            <p:cNvPr id="21" name="object 21"/>
            <p:cNvSpPr/>
            <p:nvPr/>
          </p:nvSpPr>
          <p:spPr>
            <a:xfrm>
              <a:off x="13882418" y="4053859"/>
              <a:ext cx="2781935" cy="1013460"/>
            </a:xfrm>
            <a:custGeom>
              <a:avLst/>
              <a:gdLst/>
              <a:ahLst/>
              <a:cxnLst/>
              <a:rect l="l" t="t" r="r" b="b"/>
              <a:pathLst>
                <a:path w="2781934" h="1013460">
                  <a:moveTo>
                    <a:pt x="2781666" y="1012953"/>
                  </a:moveTo>
                  <a:lnTo>
                    <a:pt x="0" y="1012953"/>
                  </a:lnTo>
                  <a:lnTo>
                    <a:pt x="0" y="0"/>
                  </a:lnTo>
                  <a:lnTo>
                    <a:pt x="2781666" y="0"/>
                  </a:lnTo>
                  <a:lnTo>
                    <a:pt x="2781666" y="1012953"/>
                  </a:lnTo>
                  <a:close/>
                </a:path>
              </a:pathLst>
            </a:custGeom>
            <a:solidFill>
              <a:srgbClr val="D8ECFE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3882423" y="4053859"/>
              <a:ext cx="2780030" cy="1009650"/>
            </a:xfrm>
            <a:custGeom>
              <a:avLst/>
              <a:gdLst/>
              <a:ahLst/>
              <a:cxnLst/>
              <a:rect l="l" t="t" r="r" b="b"/>
              <a:pathLst>
                <a:path w="2780030" h="1009650">
                  <a:moveTo>
                    <a:pt x="0" y="1009650"/>
                  </a:moveTo>
                  <a:lnTo>
                    <a:pt x="0" y="0"/>
                  </a:lnTo>
                  <a:lnTo>
                    <a:pt x="2779652" y="0"/>
                  </a:lnTo>
                  <a:lnTo>
                    <a:pt x="2779651" y="1009650"/>
                  </a:lnTo>
                </a:path>
              </a:pathLst>
            </a:custGeom>
            <a:ln w="19049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10224035" y="5266714"/>
            <a:ext cx="206375" cy="674370"/>
            <a:chOff x="10224035" y="5266714"/>
            <a:chExt cx="206375" cy="674370"/>
          </a:xfrm>
        </p:grpSpPr>
        <p:sp>
          <p:nvSpPr>
            <p:cNvPr id="24" name="object 24"/>
            <p:cNvSpPr/>
            <p:nvPr/>
          </p:nvSpPr>
          <p:spPr>
            <a:xfrm>
              <a:off x="10319661" y="5397616"/>
              <a:ext cx="14604" cy="412750"/>
            </a:xfrm>
            <a:custGeom>
              <a:avLst/>
              <a:gdLst/>
              <a:ahLst/>
              <a:cxnLst/>
              <a:rect l="l" t="t" r="r" b="b"/>
              <a:pathLst>
                <a:path w="14604" h="412750">
                  <a:moveTo>
                    <a:pt x="14564" y="0"/>
                  </a:moveTo>
                  <a:lnTo>
                    <a:pt x="0" y="412258"/>
                  </a:lnTo>
                </a:path>
              </a:pathLst>
            </a:custGeom>
            <a:ln w="47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239440" y="5266714"/>
              <a:ext cx="190410" cy="14533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224035" y="5795438"/>
              <a:ext cx="190410" cy="145337"/>
            </a:xfrm>
            <a:prstGeom prst="rect">
              <a:avLst/>
            </a:prstGeom>
          </p:spPr>
        </p:pic>
      </p:grpSp>
      <p:grpSp>
        <p:nvGrpSpPr>
          <p:cNvPr id="27" name="object 27"/>
          <p:cNvGrpSpPr/>
          <p:nvPr/>
        </p:nvGrpSpPr>
        <p:grpSpPr>
          <a:xfrm>
            <a:off x="8939520" y="6208246"/>
            <a:ext cx="2799080" cy="1028700"/>
            <a:chOff x="8939520" y="6208246"/>
            <a:chExt cx="2799080" cy="1028700"/>
          </a:xfrm>
        </p:grpSpPr>
        <p:sp>
          <p:nvSpPr>
            <p:cNvPr id="28" name="object 28"/>
            <p:cNvSpPr/>
            <p:nvPr/>
          </p:nvSpPr>
          <p:spPr>
            <a:xfrm>
              <a:off x="8949039" y="6217771"/>
              <a:ext cx="2781935" cy="1013460"/>
            </a:xfrm>
            <a:custGeom>
              <a:avLst/>
              <a:gdLst/>
              <a:ahLst/>
              <a:cxnLst/>
              <a:rect l="l" t="t" r="r" b="b"/>
              <a:pathLst>
                <a:path w="2781934" h="1013459">
                  <a:moveTo>
                    <a:pt x="2781666" y="1012953"/>
                  </a:moveTo>
                  <a:lnTo>
                    <a:pt x="0" y="1012953"/>
                  </a:lnTo>
                  <a:lnTo>
                    <a:pt x="0" y="0"/>
                  </a:lnTo>
                  <a:lnTo>
                    <a:pt x="2781666" y="0"/>
                  </a:lnTo>
                  <a:lnTo>
                    <a:pt x="2781666" y="1012953"/>
                  </a:lnTo>
                  <a:close/>
                </a:path>
              </a:pathLst>
            </a:custGeom>
            <a:solidFill>
              <a:srgbClr val="D8ECFE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949045" y="6217771"/>
              <a:ext cx="2780030" cy="1009650"/>
            </a:xfrm>
            <a:custGeom>
              <a:avLst/>
              <a:gdLst/>
              <a:ahLst/>
              <a:cxnLst/>
              <a:rect l="l" t="t" r="r" b="b"/>
              <a:pathLst>
                <a:path w="2780029" h="1009650">
                  <a:moveTo>
                    <a:pt x="0" y="1009649"/>
                  </a:moveTo>
                  <a:lnTo>
                    <a:pt x="0" y="0"/>
                  </a:lnTo>
                  <a:lnTo>
                    <a:pt x="2779651" y="0"/>
                  </a:lnTo>
                  <a:lnTo>
                    <a:pt x="2779651" y="1009649"/>
                  </a:lnTo>
                </a:path>
              </a:pathLst>
            </a:custGeom>
            <a:ln w="19049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7994399" y="6684016"/>
            <a:ext cx="675005" cy="190500"/>
            <a:chOff x="7994399" y="6684016"/>
            <a:chExt cx="675005" cy="190500"/>
          </a:xfrm>
        </p:grpSpPr>
        <p:sp>
          <p:nvSpPr>
            <p:cNvPr id="31" name="object 31"/>
            <p:cNvSpPr/>
            <p:nvPr/>
          </p:nvSpPr>
          <p:spPr>
            <a:xfrm>
              <a:off x="8125368" y="6779266"/>
              <a:ext cx="412750" cy="0"/>
            </a:xfrm>
            <a:custGeom>
              <a:avLst/>
              <a:gdLst/>
              <a:ahLst/>
              <a:cxnLst/>
              <a:rect l="l" t="t" r="r" b="b"/>
              <a:pathLst>
                <a:path w="412750">
                  <a:moveTo>
                    <a:pt x="412515" y="0"/>
                  </a:moveTo>
                  <a:lnTo>
                    <a:pt x="0" y="0"/>
                  </a:lnTo>
                </a:path>
              </a:pathLst>
            </a:custGeom>
            <a:ln w="47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525977" y="6684016"/>
              <a:ext cx="142874" cy="19049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994399" y="6684016"/>
              <a:ext cx="142874" cy="190499"/>
            </a:xfrm>
            <a:prstGeom prst="rect">
              <a:avLst/>
            </a:prstGeom>
          </p:spPr>
        </p:pic>
      </p:grpSp>
      <p:grpSp>
        <p:nvGrpSpPr>
          <p:cNvPr id="34" name="object 34"/>
          <p:cNvGrpSpPr/>
          <p:nvPr/>
        </p:nvGrpSpPr>
        <p:grpSpPr>
          <a:xfrm>
            <a:off x="4929034" y="6203746"/>
            <a:ext cx="2799080" cy="1028700"/>
            <a:chOff x="4929034" y="6203746"/>
            <a:chExt cx="2799080" cy="1028700"/>
          </a:xfrm>
        </p:grpSpPr>
        <p:sp>
          <p:nvSpPr>
            <p:cNvPr id="35" name="object 35"/>
            <p:cNvSpPr/>
            <p:nvPr/>
          </p:nvSpPr>
          <p:spPr>
            <a:xfrm>
              <a:off x="4938554" y="6213272"/>
              <a:ext cx="2781935" cy="1013460"/>
            </a:xfrm>
            <a:custGeom>
              <a:avLst/>
              <a:gdLst/>
              <a:ahLst/>
              <a:cxnLst/>
              <a:rect l="l" t="t" r="r" b="b"/>
              <a:pathLst>
                <a:path w="2781934" h="1013459">
                  <a:moveTo>
                    <a:pt x="2781666" y="1012953"/>
                  </a:moveTo>
                  <a:lnTo>
                    <a:pt x="0" y="1012953"/>
                  </a:lnTo>
                  <a:lnTo>
                    <a:pt x="0" y="0"/>
                  </a:lnTo>
                  <a:lnTo>
                    <a:pt x="2781666" y="0"/>
                  </a:lnTo>
                  <a:lnTo>
                    <a:pt x="2781666" y="1012953"/>
                  </a:lnTo>
                  <a:close/>
                </a:path>
              </a:pathLst>
            </a:custGeom>
            <a:solidFill>
              <a:srgbClr val="D8ECFE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38559" y="6213271"/>
              <a:ext cx="2780030" cy="1009650"/>
            </a:xfrm>
            <a:custGeom>
              <a:avLst/>
              <a:gdLst/>
              <a:ahLst/>
              <a:cxnLst/>
              <a:rect l="l" t="t" r="r" b="b"/>
              <a:pathLst>
                <a:path w="2780029" h="1009650">
                  <a:moveTo>
                    <a:pt x="0" y="1009649"/>
                  </a:moveTo>
                  <a:lnTo>
                    <a:pt x="0" y="0"/>
                  </a:lnTo>
                  <a:lnTo>
                    <a:pt x="2779651" y="0"/>
                  </a:lnTo>
                  <a:lnTo>
                    <a:pt x="2779651" y="1009649"/>
                  </a:lnTo>
                </a:path>
              </a:pathLst>
            </a:custGeom>
            <a:ln w="19049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1580561" y="5336952"/>
            <a:ext cx="2993390" cy="1896745"/>
            <a:chOff x="1580561" y="5336952"/>
            <a:chExt cx="2993390" cy="1896745"/>
          </a:xfrm>
        </p:grpSpPr>
        <p:sp>
          <p:nvSpPr>
            <p:cNvPr id="38" name="object 38"/>
            <p:cNvSpPr/>
            <p:nvPr/>
          </p:nvSpPr>
          <p:spPr>
            <a:xfrm>
              <a:off x="1753207" y="5411516"/>
              <a:ext cx="2802255" cy="1372235"/>
            </a:xfrm>
            <a:custGeom>
              <a:avLst/>
              <a:gdLst/>
              <a:ahLst/>
              <a:cxnLst/>
              <a:rect l="l" t="t" r="r" b="b"/>
              <a:pathLst>
                <a:path w="2802254" h="1372234">
                  <a:moveTo>
                    <a:pt x="2801677" y="1372217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57170" y="5336952"/>
              <a:ext cx="131670" cy="140749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80561" y="6243098"/>
              <a:ext cx="1247774" cy="990599"/>
            </a:xfrm>
            <a:prstGeom prst="rect">
              <a:avLst/>
            </a:prstGeom>
          </p:spPr>
        </p:pic>
      </p:grp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839" rIns="0" bIns="0" rtlCol="0">
            <a:spAutoFit/>
          </a:bodyPr>
          <a:lstStyle/>
          <a:p>
            <a:pPr marL="298450" marR="5080">
              <a:lnSpc>
                <a:spcPct val="116500"/>
              </a:lnSpc>
              <a:spcBef>
                <a:spcPts val="90"/>
              </a:spcBef>
            </a:pPr>
            <a:r>
              <a:rPr sz="4400" dirty="0"/>
              <a:t>Infrastructure</a:t>
            </a:r>
            <a:r>
              <a:rPr sz="4400" spc="35" dirty="0"/>
              <a:t> </a:t>
            </a:r>
            <a:r>
              <a:rPr sz="4400" dirty="0"/>
              <a:t>de</a:t>
            </a:r>
            <a:r>
              <a:rPr sz="4400" spc="35" dirty="0"/>
              <a:t> </a:t>
            </a:r>
            <a:r>
              <a:rPr sz="4400" dirty="0"/>
              <a:t>gestion</a:t>
            </a:r>
            <a:r>
              <a:rPr sz="4400" spc="35" dirty="0"/>
              <a:t> </a:t>
            </a:r>
            <a:r>
              <a:rPr sz="4400" dirty="0"/>
              <a:t>de</a:t>
            </a:r>
            <a:r>
              <a:rPr sz="4400" spc="35" dirty="0"/>
              <a:t> </a:t>
            </a:r>
            <a:r>
              <a:rPr sz="4400" dirty="0"/>
              <a:t>clés</a:t>
            </a:r>
            <a:r>
              <a:rPr sz="4400" spc="35" dirty="0"/>
              <a:t> </a:t>
            </a:r>
            <a:r>
              <a:rPr sz="4400" dirty="0"/>
              <a:t>:</a:t>
            </a:r>
            <a:r>
              <a:rPr sz="4400" spc="35" dirty="0"/>
              <a:t> </a:t>
            </a:r>
            <a:r>
              <a:rPr sz="4400" dirty="0"/>
              <a:t>Demande</a:t>
            </a:r>
            <a:r>
              <a:rPr sz="4400" spc="35" dirty="0"/>
              <a:t> </a:t>
            </a:r>
            <a:r>
              <a:rPr sz="4400" spc="-25" dirty="0"/>
              <a:t>de </a:t>
            </a:r>
            <a:r>
              <a:rPr sz="4400" spc="-10" dirty="0"/>
              <a:t>certificat</a:t>
            </a:r>
            <a:endParaRPr sz="4400"/>
          </a:p>
        </p:txBody>
      </p:sp>
      <p:sp>
        <p:nvSpPr>
          <p:cNvPr id="42" name="object 42"/>
          <p:cNvSpPr txBox="1"/>
          <p:nvPr/>
        </p:nvSpPr>
        <p:spPr>
          <a:xfrm>
            <a:off x="4566741" y="3928017"/>
            <a:ext cx="2760980" cy="108267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R="111760" algn="ctr">
              <a:lnSpc>
                <a:spcPct val="100000"/>
              </a:lnSpc>
              <a:spcBef>
                <a:spcPts val="470"/>
              </a:spcBef>
            </a:pPr>
            <a:r>
              <a:rPr sz="2000" spc="-10" dirty="0">
                <a:latin typeface="Arial Black"/>
                <a:cs typeface="Arial Black"/>
              </a:rPr>
              <a:t>Autorité</a:t>
            </a:r>
            <a:endParaRPr sz="2000">
              <a:latin typeface="Arial Black"/>
              <a:cs typeface="Arial Black"/>
            </a:endParaRPr>
          </a:p>
          <a:p>
            <a:pPr marL="215900" marR="261620" algn="ctr">
              <a:lnSpc>
                <a:spcPct val="115599"/>
              </a:lnSpc>
            </a:pPr>
            <a:r>
              <a:rPr sz="2000" spc="-100" dirty="0">
                <a:latin typeface="Arial Black"/>
                <a:cs typeface="Arial Black"/>
              </a:rPr>
              <a:t>d’</a:t>
            </a:r>
            <a:r>
              <a:rPr sz="2000" spc="-135" dirty="0">
                <a:latin typeface="Arial Black"/>
                <a:cs typeface="Arial Black"/>
              </a:rPr>
              <a:t> </a:t>
            </a:r>
            <a:r>
              <a:rPr sz="2000" spc="-95" dirty="0">
                <a:latin typeface="Arial Black"/>
                <a:cs typeface="Arial Black"/>
              </a:rPr>
              <a:t>Enregistrement </a:t>
            </a:r>
            <a:r>
              <a:rPr sz="2000" spc="-20" dirty="0">
                <a:latin typeface="Arial Black"/>
                <a:cs typeface="Arial Black"/>
              </a:rPr>
              <a:t>(AE)</a:t>
            </a:r>
            <a:endParaRPr sz="2000">
              <a:latin typeface="Arial Black"/>
              <a:cs typeface="Arial Black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916963" y="4056882"/>
            <a:ext cx="2760980" cy="768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3835" marR="230504" indent="292735">
              <a:lnSpc>
                <a:spcPct val="116100"/>
              </a:lnSpc>
              <a:spcBef>
                <a:spcPts val="95"/>
              </a:spcBef>
            </a:pPr>
            <a:r>
              <a:rPr sz="2100" spc="-75" dirty="0">
                <a:latin typeface="Arial Black"/>
                <a:cs typeface="Arial Black"/>
              </a:rPr>
              <a:t>Opérateur</a:t>
            </a:r>
            <a:r>
              <a:rPr sz="2100" spc="-90" dirty="0">
                <a:latin typeface="Arial Black"/>
                <a:cs typeface="Arial Black"/>
              </a:rPr>
              <a:t> </a:t>
            </a:r>
            <a:r>
              <a:rPr sz="2100" spc="-25" dirty="0">
                <a:latin typeface="Arial Black"/>
                <a:cs typeface="Arial Black"/>
              </a:rPr>
              <a:t>de </a:t>
            </a:r>
            <a:r>
              <a:rPr sz="2100" spc="-105" dirty="0">
                <a:latin typeface="Arial Black"/>
                <a:cs typeface="Arial Black"/>
              </a:rPr>
              <a:t>Certification</a:t>
            </a:r>
            <a:r>
              <a:rPr sz="2100" spc="-50" dirty="0">
                <a:latin typeface="Arial Black"/>
                <a:cs typeface="Arial Black"/>
              </a:rPr>
              <a:t> </a:t>
            </a:r>
            <a:r>
              <a:rPr sz="2100" spc="-120" dirty="0">
                <a:latin typeface="Arial Black"/>
                <a:cs typeface="Arial Black"/>
              </a:rPr>
              <a:t>(OC)</a:t>
            </a:r>
            <a:endParaRPr sz="2100">
              <a:latin typeface="Arial Black"/>
              <a:cs typeface="Arial Black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3891947" y="4134708"/>
            <a:ext cx="2760980" cy="768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79425" marR="380365" indent="266065">
              <a:lnSpc>
                <a:spcPct val="116100"/>
              </a:lnSpc>
              <a:spcBef>
                <a:spcPts val="95"/>
              </a:spcBef>
            </a:pPr>
            <a:r>
              <a:rPr sz="2100" spc="-165" dirty="0">
                <a:latin typeface="Arial Black"/>
                <a:cs typeface="Arial Black"/>
              </a:rPr>
              <a:t>Service</a:t>
            </a:r>
            <a:r>
              <a:rPr sz="2100" spc="-140" dirty="0">
                <a:latin typeface="Arial Black"/>
                <a:cs typeface="Arial Black"/>
              </a:rPr>
              <a:t> </a:t>
            </a:r>
            <a:r>
              <a:rPr sz="2100" spc="-25" dirty="0">
                <a:latin typeface="Arial Black"/>
                <a:cs typeface="Arial Black"/>
              </a:rPr>
              <a:t>de </a:t>
            </a:r>
            <a:r>
              <a:rPr sz="2100" spc="-135" dirty="0">
                <a:latin typeface="Arial Black"/>
                <a:cs typeface="Arial Black"/>
              </a:rPr>
              <a:t>Séquestre</a:t>
            </a:r>
            <a:r>
              <a:rPr sz="2100" spc="-120" dirty="0">
                <a:latin typeface="Arial Black"/>
                <a:cs typeface="Arial Black"/>
              </a:rPr>
              <a:t> </a:t>
            </a:r>
            <a:r>
              <a:rPr sz="2100" spc="-215" dirty="0">
                <a:latin typeface="Arial Black"/>
                <a:cs typeface="Arial Black"/>
              </a:rPr>
              <a:t>(SS)</a:t>
            </a:r>
            <a:endParaRPr sz="2100">
              <a:latin typeface="Arial Black"/>
              <a:cs typeface="Arial Black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958570" y="6294120"/>
            <a:ext cx="2760980" cy="768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1790" marR="308610" indent="365760">
              <a:lnSpc>
                <a:spcPct val="116100"/>
              </a:lnSpc>
              <a:spcBef>
                <a:spcPts val="95"/>
              </a:spcBef>
            </a:pPr>
            <a:r>
              <a:rPr sz="2100" spc="-165" dirty="0">
                <a:latin typeface="Arial Black"/>
                <a:cs typeface="Arial Black"/>
              </a:rPr>
              <a:t>Service</a:t>
            </a:r>
            <a:r>
              <a:rPr sz="2100" spc="-140" dirty="0">
                <a:latin typeface="Arial Black"/>
                <a:cs typeface="Arial Black"/>
              </a:rPr>
              <a:t> </a:t>
            </a:r>
            <a:r>
              <a:rPr sz="2100" spc="-35" dirty="0">
                <a:latin typeface="Arial Black"/>
                <a:cs typeface="Arial Black"/>
              </a:rPr>
              <a:t>de </a:t>
            </a:r>
            <a:r>
              <a:rPr sz="2100" spc="-105" dirty="0">
                <a:latin typeface="Arial Black"/>
                <a:cs typeface="Arial Black"/>
              </a:rPr>
              <a:t>Publication</a:t>
            </a:r>
            <a:r>
              <a:rPr sz="2100" spc="-80" dirty="0">
                <a:latin typeface="Arial Black"/>
                <a:cs typeface="Arial Black"/>
              </a:rPr>
              <a:t> </a:t>
            </a:r>
            <a:r>
              <a:rPr sz="2100" spc="-165" dirty="0">
                <a:latin typeface="Arial Black"/>
                <a:cs typeface="Arial Black"/>
              </a:rPr>
              <a:t>(SP)</a:t>
            </a:r>
            <a:endParaRPr sz="2100">
              <a:latin typeface="Arial Black"/>
              <a:cs typeface="Arial Black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948084" y="6289622"/>
            <a:ext cx="2760980" cy="768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22275" marR="379095" indent="295275">
              <a:lnSpc>
                <a:spcPct val="116100"/>
              </a:lnSpc>
              <a:spcBef>
                <a:spcPts val="95"/>
              </a:spcBef>
            </a:pPr>
            <a:r>
              <a:rPr sz="2100" spc="-165" dirty="0">
                <a:latin typeface="Arial Black"/>
                <a:cs typeface="Arial Black"/>
              </a:rPr>
              <a:t>Service</a:t>
            </a:r>
            <a:r>
              <a:rPr sz="2100" spc="-140" dirty="0">
                <a:latin typeface="Arial Black"/>
                <a:cs typeface="Arial Black"/>
              </a:rPr>
              <a:t> </a:t>
            </a:r>
            <a:r>
              <a:rPr sz="2100" spc="-25" dirty="0">
                <a:latin typeface="Arial Black"/>
                <a:cs typeface="Arial Black"/>
              </a:rPr>
              <a:t>de </a:t>
            </a:r>
            <a:r>
              <a:rPr sz="2100" spc="-100" dirty="0">
                <a:latin typeface="Arial Black"/>
                <a:cs typeface="Arial Black"/>
              </a:rPr>
              <a:t>Validation</a:t>
            </a:r>
            <a:r>
              <a:rPr sz="2100" spc="-85" dirty="0">
                <a:latin typeface="Arial Black"/>
                <a:cs typeface="Arial Black"/>
              </a:rPr>
              <a:t> </a:t>
            </a:r>
            <a:r>
              <a:rPr sz="2100" spc="-190" dirty="0">
                <a:latin typeface="Arial Black"/>
                <a:cs typeface="Arial Black"/>
              </a:rPr>
              <a:t>(SV)</a:t>
            </a:r>
            <a:endParaRPr sz="2100" dirty="0">
              <a:latin typeface="Arial Black"/>
              <a:cs typeface="Arial Black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153570" y="2780759"/>
            <a:ext cx="9619476" cy="4219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50" dirty="0">
                <a:solidFill>
                  <a:srgbClr val="3F7D34"/>
                </a:solidFill>
                <a:latin typeface="Arial Black"/>
                <a:cs typeface="Arial Black"/>
              </a:rPr>
              <a:t>Éventuelle mise à jour du Service de Validation</a:t>
            </a:r>
            <a:endParaRPr sz="2650" dirty="0">
              <a:latin typeface="Arial Black"/>
              <a:cs typeface="Arial Black"/>
            </a:endParaRPr>
          </a:p>
        </p:txBody>
      </p:sp>
      <p:pic>
        <p:nvPicPr>
          <p:cNvPr id="48" name="object 4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942757" y="8431372"/>
            <a:ext cx="123825" cy="123824"/>
          </a:xfrm>
          <a:prstGeom prst="rect">
            <a:avLst/>
          </a:prstGeom>
        </p:spPr>
      </p:pic>
      <p:sp>
        <p:nvSpPr>
          <p:cNvPr id="49" name="object 49"/>
          <p:cNvSpPr txBox="1"/>
          <p:nvPr/>
        </p:nvSpPr>
        <p:spPr>
          <a:xfrm>
            <a:off x="2248103" y="8244461"/>
            <a:ext cx="14968855" cy="125098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95"/>
              </a:spcBef>
            </a:pPr>
            <a:r>
              <a:rPr sz="2800" dirty="0">
                <a:solidFill>
                  <a:srgbClr val="8B0101"/>
                </a:solidFill>
                <a:latin typeface="Arial Black"/>
                <a:cs typeface="Arial Black"/>
              </a:rPr>
              <a:t>Le Service de Validation (SV) </a:t>
            </a:r>
            <a:r>
              <a:rPr sz="2800" spc="-25" dirty="0">
                <a:latin typeface="Lucida Sans Unicode"/>
                <a:cs typeface="Lucida Sans Unicode"/>
              </a:rPr>
              <a:t>permet</a:t>
            </a:r>
            <a:r>
              <a:rPr sz="2800" spc="-145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à</a:t>
            </a:r>
            <a:r>
              <a:rPr sz="2800" spc="-150" dirty="0">
                <a:latin typeface="Lucida Sans Unicode"/>
                <a:cs typeface="Lucida Sans Unicode"/>
              </a:rPr>
              <a:t> </a:t>
            </a:r>
            <a:r>
              <a:rPr sz="2800" spc="-60" dirty="0">
                <a:latin typeface="Lucida Sans Unicode"/>
                <a:cs typeface="Lucida Sans Unicode"/>
              </a:rPr>
              <a:t>tout</a:t>
            </a:r>
            <a:r>
              <a:rPr sz="2800" spc="-150" dirty="0">
                <a:latin typeface="Lucida Sans Unicode"/>
                <a:cs typeface="Lucida Sans Unicode"/>
              </a:rPr>
              <a:t> </a:t>
            </a:r>
            <a:r>
              <a:rPr sz="2800" spc="-65" dirty="0">
                <a:latin typeface="Lucida Sans Unicode"/>
                <a:cs typeface="Lucida Sans Unicode"/>
              </a:rPr>
              <a:t>utilisateur</a:t>
            </a:r>
            <a:r>
              <a:rPr sz="2800" spc="-150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de</a:t>
            </a:r>
            <a:r>
              <a:rPr sz="2800" spc="-150" dirty="0">
                <a:latin typeface="Lucida Sans Unicode"/>
                <a:cs typeface="Lucida Sans Unicode"/>
              </a:rPr>
              <a:t> </a:t>
            </a:r>
            <a:r>
              <a:rPr sz="2800" spc="-50" dirty="0">
                <a:latin typeface="Lucida Sans Unicode"/>
                <a:cs typeface="Lucida Sans Unicode"/>
              </a:rPr>
              <a:t>vérifier</a:t>
            </a:r>
            <a:r>
              <a:rPr sz="2800" spc="-145" dirty="0">
                <a:latin typeface="Lucida Sans Unicode"/>
                <a:cs typeface="Lucida Sans Unicode"/>
              </a:rPr>
              <a:t> </a:t>
            </a:r>
            <a:r>
              <a:rPr sz="2800" spc="-50" dirty="0">
                <a:latin typeface="Lucida Sans Unicode"/>
                <a:cs typeface="Lucida Sans Unicode"/>
              </a:rPr>
              <a:t>la</a:t>
            </a:r>
            <a:r>
              <a:rPr sz="2800" spc="-150" dirty="0">
                <a:latin typeface="Lucida Sans Unicode"/>
                <a:cs typeface="Lucida Sans Unicode"/>
              </a:rPr>
              <a:t> </a:t>
            </a:r>
            <a:r>
              <a:rPr sz="2800" spc="-75" dirty="0">
                <a:latin typeface="Lucida Sans Unicode"/>
                <a:cs typeface="Lucida Sans Unicode"/>
              </a:rPr>
              <a:t>validité</a:t>
            </a:r>
            <a:r>
              <a:rPr sz="2800" spc="-150" dirty="0">
                <a:latin typeface="Lucida Sans Unicode"/>
                <a:cs typeface="Lucida Sans Unicode"/>
              </a:rPr>
              <a:t> </a:t>
            </a:r>
            <a:r>
              <a:rPr sz="2800" spc="-145" dirty="0">
                <a:latin typeface="Lucida Sans Unicode"/>
                <a:cs typeface="Lucida Sans Unicode"/>
              </a:rPr>
              <a:t>d’un</a:t>
            </a:r>
            <a:r>
              <a:rPr sz="2800" spc="-150" dirty="0">
                <a:latin typeface="Lucida Sans Unicode"/>
                <a:cs typeface="Lucida Sans Unicode"/>
              </a:rPr>
              <a:t> </a:t>
            </a:r>
            <a:r>
              <a:rPr sz="2800" spc="-10" dirty="0" err="1">
                <a:latin typeface="Lucida Sans Unicode"/>
                <a:cs typeface="Lucida Sans Unicode"/>
              </a:rPr>
              <a:t>certificat</a:t>
            </a:r>
            <a:r>
              <a:rPr sz="2800" spc="-10" dirty="0">
                <a:latin typeface="Lucida Sans Unicode"/>
                <a:cs typeface="Lucida Sans Unicode"/>
              </a:rPr>
              <a:t>,</a:t>
            </a:r>
            <a:r>
              <a:rPr lang="fr-FR" sz="2800" dirty="0">
                <a:latin typeface="Lucida Sans Unicode"/>
                <a:cs typeface="Lucida Sans Unicode"/>
              </a:rPr>
              <a:t> </a:t>
            </a:r>
            <a:r>
              <a:rPr sz="2800" spc="-40" dirty="0" err="1">
                <a:latin typeface="Lucida Sans Unicode"/>
                <a:cs typeface="Lucida Sans Unicode"/>
              </a:rPr>
              <a:t>notamment</a:t>
            </a:r>
            <a:r>
              <a:rPr sz="2800" spc="-160" dirty="0">
                <a:latin typeface="Lucida Sans Unicode"/>
                <a:cs typeface="Lucida Sans Unicode"/>
              </a:rPr>
              <a:t> </a:t>
            </a:r>
            <a:r>
              <a:rPr sz="2800" spc="-50" dirty="0">
                <a:latin typeface="Lucida Sans Unicode"/>
                <a:cs typeface="Lucida Sans Unicode"/>
              </a:rPr>
              <a:t>sa</a:t>
            </a:r>
            <a:r>
              <a:rPr sz="2800" spc="-160" dirty="0">
                <a:latin typeface="Lucida Sans Unicode"/>
                <a:cs typeface="Lucida Sans Unicode"/>
              </a:rPr>
              <a:t> </a:t>
            </a:r>
            <a:r>
              <a:rPr sz="2800" spc="-25" dirty="0">
                <a:latin typeface="Lucida Sans Unicode"/>
                <a:cs typeface="Lucida Sans Unicode"/>
              </a:rPr>
              <a:t>date</a:t>
            </a:r>
            <a:r>
              <a:rPr sz="2800" spc="-160" dirty="0">
                <a:latin typeface="Lucida Sans Unicode"/>
                <a:cs typeface="Lucida Sans Unicode"/>
              </a:rPr>
              <a:t> </a:t>
            </a:r>
            <a:r>
              <a:rPr sz="2800" spc="-105" dirty="0">
                <a:latin typeface="Lucida Sans Unicode"/>
                <a:cs typeface="Lucida Sans Unicode"/>
              </a:rPr>
              <a:t>d’expiration</a:t>
            </a:r>
            <a:r>
              <a:rPr sz="2800" spc="-160" dirty="0">
                <a:latin typeface="Lucida Sans Unicode"/>
                <a:cs typeface="Lucida Sans Unicode"/>
              </a:rPr>
              <a:t> </a:t>
            </a:r>
            <a:r>
              <a:rPr sz="2800" spc="-30" dirty="0">
                <a:latin typeface="Lucida Sans Unicode"/>
                <a:cs typeface="Lucida Sans Unicode"/>
              </a:rPr>
              <a:t>ou</a:t>
            </a:r>
            <a:r>
              <a:rPr sz="2800" spc="-160" dirty="0">
                <a:latin typeface="Lucida Sans Unicode"/>
                <a:cs typeface="Lucida Sans Unicode"/>
              </a:rPr>
              <a:t> </a:t>
            </a:r>
            <a:r>
              <a:rPr sz="2800" spc="-50" dirty="0">
                <a:latin typeface="Lucida Sans Unicode"/>
                <a:cs typeface="Lucida Sans Unicode"/>
              </a:rPr>
              <a:t>le</a:t>
            </a:r>
            <a:r>
              <a:rPr sz="2800" spc="-160" dirty="0">
                <a:latin typeface="Lucida Sans Unicode"/>
                <a:cs typeface="Lucida Sans Unicode"/>
              </a:rPr>
              <a:t> </a:t>
            </a:r>
            <a:r>
              <a:rPr sz="2800" spc="-100" dirty="0">
                <a:latin typeface="Lucida Sans Unicode"/>
                <a:cs typeface="Lucida Sans Unicode"/>
              </a:rPr>
              <a:t>vol/perte</a:t>
            </a:r>
            <a:r>
              <a:rPr sz="2800" spc="-160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de</a:t>
            </a:r>
            <a:r>
              <a:rPr sz="2800" spc="-160" dirty="0">
                <a:latin typeface="Lucida Sans Unicode"/>
                <a:cs typeface="Lucida Sans Unicode"/>
              </a:rPr>
              <a:t> </a:t>
            </a:r>
            <a:r>
              <a:rPr sz="2800" spc="-50" dirty="0">
                <a:latin typeface="Lucida Sans Unicode"/>
                <a:cs typeface="Lucida Sans Unicode"/>
              </a:rPr>
              <a:t>la</a:t>
            </a:r>
            <a:r>
              <a:rPr sz="2800" spc="-160" dirty="0">
                <a:latin typeface="Lucida Sans Unicode"/>
                <a:cs typeface="Lucida Sans Unicode"/>
              </a:rPr>
              <a:t> </a:t>
            </a:r>
            <a:r>
              <a:rPr sz="2800" spc="-80" dirty="0">
                <a:latin typeface="Lucida Sans Unicode"/>
                <a:cs typeface="Lucida Sans Unicode"/>
              </a:rPr>
              <a:t>clé</a:t>
            </a:r>
            <a:r>
              <a:rPr sz="2800" spc="-160" dirty="0">
                <a:latin typeface="Lucida Sans Unicode"/>
                <a:cs typeface="Lucida Sans Unicode"/>
              </a:rPr>
              <a:t> </a:t>
            </a:r>
            <a:r>
              <a:rPr sz="2800" spc="-40" dirty="0">
                <a:latin typeface="Lucida Sans Unicode"/>
                <a:cs typeface="Lucida Sans Unicode"/>
              </a:rPr>
              <a:t>privée</a:t>
            </a:r>
            <a:r>
              <a:rPr sz="2800" spc="-160" dirty="0">
                <a:latin typeface="Lucida Sans Unicode"/>
                <a:cs typeface="Lucida Sans Unicode"/>
              </a:rPr>
              <a:t> </a:t>
            </a:r>
            <a:r>
              <a:rPr sz="2800" spc="-10" dirty="0">
                <a:latin typeface="Lucida Sans Unicode"/>
                <a:cs typeface="Lucida Sans Unicode"/>
              </a:rPr>
              <a:t>associée.</a:t>
            </a:r>
            <a:endParaRPr sz="2800" dirty="0">
              <a:latin typeface="Lucida Sans Unicode"/>
              <a:cs typeface="Lucida Sans Unicode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7389510" y="9554081"/>
            <a:ext cx="365125" cy="35433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z="1900" spc="-25" dirty="0">
                <a:latin typeface="Lucida Sans Unicode"/>
                <a:cs typeface="Lucida Sans Unicode"/>
              </a:rPr>
              <a:t>35</a:t>
            </a:fld>
            <a:endParaRPr sz="19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612" y="512176"/>
            <a:ext cx="904240" cy="1033780"/>
          </a:xfrm>
          <a:custGeom>
            <a:avLst/>
            <a:gdLst/>
            <a:ahLst/>
            <a:cxnLst/>
            <a:rect l="l" t="t" r="r" b="b"/>
            <a:pathLst>
              <a:path w="904239" h="1033780">
                <a:moveTo>
                  <a:pt x="0" y="1033158"/>
                </a:moveTo>
                <a:lnTo>
                  <a:pt x="0" y="0"/>
                </a:lnTo>
                <a:lnTo>
                  <a:pt x="904014" y="516579"/>
                </a:lnTo>
                <a:lnTo>
                  <a:pt x="0" y="1033158"/>
                </a:lnTo>
                <a:close/>
              </a:path>
            </a:pathLst>
          </a:custGeom>
          <a:solidFill>
            <a:srgbClr val="B40C1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88458" y="2280017"/>
            <a:ext cx="685799" cy="8858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524" rIns="0" bIns="0" rtlCol="0">
            <a:spAutoFit/>
          </a:bodyPr>
          <a:lstStyle/>
          <a:p>
            <a:pPr marL="298450">
              <a:lnSpc>
                <a:spcPct val="100000"/>
              </a:lnSpc>
              <a:spcBef>
                <a:spcPts val="140"/>
              </a:spcBef>
            </a:pPr>
            <a:r>
              <a:rPr dirty="0"/>
              <a:t>Infrastructure</a:t>
            </a:r>
            <a:r>
              <a:rPr spc="35" dirty="0"/>
              <a:t> </a:t>
            </a:r>
            <a:r>
              <a:rPr dirty="0"/>
              <a:t>de</a:t>
            </a:r>
            <a:r>
              <a:rPr spc="40" dirty="0"/>
              <a:t> </a:t>
            </a:r>
            <a:r>
              <a:rPr dirty="0"/>
              <a:t>gestion</a:t>
            </a:r>
            <a:r>
              <a:rPr spc="35" dirty="0"/>
              <a:t> </a:t>
            </a:r>
            <a:r>
              <a:rPr dirty="0"/>
              <a:t>de</a:t>
            </a:r>
            <a:r>
              <a:rPr spc="40" dirty="0"/>
              <a:t> </a:t>
            </a:r>
            <a:r>
              <a:rPr dirty="0"/>
              <a:t>clés</a:t>
            </a:r>
            <a:r>
              <a:rPr spc="35" dirty="0"/>
              <a:t> </a:t>
            </a:r>
            <a:r>
              <a:rPr dirty="0"/>
              <a:t>:</a:t>
            </a:r>
            <a:r>
              <a:rPr spc="40" dirty="0"/>
              <a:t> </a:t>
            </a:r>
            <a:r>
              <a:rPr dirty="0"/>
              <a:t>Les</a:t>
            </a:r>
            <a:r>
              <a:rPr spc="35" dirty="0"/>
              <a:t> </a:t>
            </a:r>
            <a:r>
              <a:rPr spc="-10" dirty="0"/>
              <a:t>avantages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968738" y="2450567"/>
            <a:ext cx="850138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Gestion centralisée du cycle de vie des certificats.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968738" y="3908400"/>
            <a:ext cx="11878945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</a:t>
            </a:r>
            <a:r>
              <a:rPr sz="2700" b="1" spc="-180" dirty="0">
                <a:latin typeface="Arial Black"/>
                <a:cs typeface="Arial Black"/>
              </a:rPr>
              <a:t> </a:t>
            </a:r>
            <a:r>
              <a:rPr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sûre des clés publiques grâce au format normalisé X.509.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968738" y="5490559"/>
            <a:ext cx="11558905" cy="123174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Compatibilité avec différents tokens et standards (carte à puce, clé USB,</a:t>
            </a:r>
          </a:p>
          <a:p>
            <a:pPr marL="12700">
              <a:lnSpc>
                <a:spcPct val="100000"/>
              </a:lnSpc>
              <a:spcBef>
                <a:spcPts val="3000"/>
              </a:spcBef>
            </a:pPr>
            <a:r>
              <a:rPr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MSCAPI, PKCS#11).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968738" y="7606724"/>
            <a:ext cx="12860655" cy="43152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de la gestion des droits et privilèges via annuaires ou bases de données.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968738" y="8960890"/>
            <a:ext cx="9019540" cy="43152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Intégration avec les principales applications de sécurité.</a:t>
            </a: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88458" y="3693717"/>
            <a:ext cx="685799" cy="88582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88458" y="5504301"/>
            <a:ext cx="685799" cy="8858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88458" y="7374420"/>
            <a:ext cx="685799" cy="88582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88458" y="8728585"/>
            <a:ext cx="685799" cy="88582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7389510" y="9554081"/>
            <a:ext cx="365125" cy="35433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z="1900" spc="-25" dirty="0">
                <a:latin typeface="Lucida Sans Unicode"/>
                <a:cs typeface="Lucida Sans Unicode"/>
              </a:rPr>
              <a:t>36</a:t>
            </a:fld>
            <a:endParaRPr sz="19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612" y="512176"/>
            <a:ext cx="904240" cy="1033780"/>
          </a:xfrm>
          <a:custGeom>
            <a:avLst/>
            <a:gdLst/>
            <a:ahLst/>
            <a:cxnLst/>
            <a:rect l="l" t="t" r="r" b="b"/>
            <a:pathLst>
              <a:path w="904239" h="1033780">
                <a:moveTo>
                  <a:pt x="0" y="1033158"/>
                </a:moveTo>
                <a:lnTo>
                  <a:pt x="0" y="0"/>
                </a:lnTo>
                <a:lnTo>
                  <a:pt x="904014" y="516579"/>
                </a:lnTo>
                <a:lnTo>
                  <a:pt x="0" y="1033158"/>
                </a:lnTo>
                <a:close/>
              </a:path>
            </a:pathLst>
          </a:custGeom>
          <a:solidFill>
            <a:srgbClr val="B40C1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266532" y="465797"/>
            <a:ext cx="13811668" cy="1559728"/>
          </a:xfrm>
          <a:prstGeom prst="rect">
            <a:avLst/>
          </a:prstGeom>
        </p:spPr>
        <p:txBody>
          <a:bodyPr vert="horz" wrap="square" lIns="0" tIns="203524" rIns="0" bIns="0" rtlCol="0">
            <a:spAutoFit/>
          </a:bodyPr>
          <a:lstStyle/>
          <a:p>
            <a:pPr marL="298450">
              <a:lnSpc>
                <a:spcPct val="100000"/>
              </a:lnSpc>
              <a:spcBef>
                <a:spcPts val="140"/>
              </a:spcBef>
            </a:pPr>
            <a:r>
              <a:rPr lang="fr-FR" sz="4400" dirty="0"/>
              <a:t>Infrastructure</a:t>
            </a:r>
            <a:r>
              <a:rPr lang="fr-FR" sz="4400" spc="35" dirty="0"/>
              <a:t> </a:t>
            </a:r>
            <a:r>
              <a:rPr lang="fr-FR" sz="4400" dirty="0"/>
              <a:t>de</a:t>
            </a:r>
            <a:r>
              <a:rPr lang="fr-FR" sz="4400" spc="40" dirty="0"/>
              <a:t> </a:t>
            </a:r>
            <a:r>
              <a:rPr lang="fr-FR" sz="4400" dirty="0"/>
              <a:t>gestion</a:t>
            </a:r>
            <a:r>
              <a:rPr lang="fr-FR" sz="4400" spc="35" dirty="0"/>
              <a:t> </a:t>
            </a:r>
            <a:r>
              <a:rPr lang="fr-FR" sz="4400" dirty="0"/>
              <a:t>de</a:t>
            </a:r>
            <a:r>
              <a:rPr lang="fr-FR" sz="4400" spc="40" dirty="0"/>
              <a:t> </a:t>
            </a:r>
            <a:r>
              <a:rPr lang="fr-FR" sz="4400" dirty="0"/>
              <a:t>clés</a:t>
            </a:r>
            <a:r>
              <a:rPr lang="fr-FR" sz="4400" spc="35" dirty="0"/>
              <a:t> </a:t>
            </a:r>
            <a:r>
              <a:rPr lang="fr-FR" sz="4400" dirty="0"/>
              <a:t>:</a:t>
            </a:r>
            <a:r>
              <a:rPr lang="fr-FR" sz="4400" spc="40" dirty="0"/>
              <a:t> </a:t>
            </a:r>
            <a:r>
              <a:rPr lang="fr-FR" sz="4400" dirty="0"/>
              <a:t>Rôle dans SSL/TLS</a:t>
            </a:r>
            <a:endParaRPr sz="4400" spc="-10" dirty="0"/>
          </a:p>
        </p:txBody>
      </p:sp>
      <p:sp>
        <p:nvSpPr>
          <p:cNvPr id="7" name="object 7"/>
          <p:cNvSpPr txBox="1"/>
          <p:nvPr/>
        </p:nvSpPr>
        <p:spPr>
          <a:xfrm>
            <a:off x="1600200" y="2552700"/>
            <a:ext cx="16273903" cy="123078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25"/>
              </a:spcBef>
            </a:pPr>
            <a:r>
              <a:rPr lang="fr-FR" sz="2800" dirty="0"/>
              <a:t>Les protocoles </a:t>
            </a:r>
            <a:r>
              <a:rPr lang="fr-FR" sz="2800" b="1" dirty="0"/>
              <a:t>SSL (Secure Socket Layer)</a:t>
            </a:r>
            <a:r>
              <a:rPr lang="fr-FR" sz="2800" dirty="0"/>
              <a:t> et </a:t>
            </a:r>
            <a:r>
              <a:rPr lang="fr-FR" sz="2800" b="1" dirty="0"/>
              <a:t>TLS (Transport Layer Security)</a:t>
            </a:r>
            <a:r>
              <a:rPr lang="fr-FR" sz="2800" dirty="0"/>
              <a:t> utilisent la PKI pour sécuriser les communications sur Internet (ex. HTTPS).</a:t>
            </a:r>
            <a:endParaRPr sz="2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389510" y="9554081"/>
            <a:ext cx="365125" cy="35433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z="1900" spc="-25" dirty="0">
                <a:latin typeface="Lucida Sans Unicode"/>
                <a:cs typeface="Lucida Sans Unicode"/>
              </a:rPr>
              <a:t>37</a:t>
            </a:fld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44652838-BA0A-804B-8F72-7C82787016A1}"/>
              </a:ext>
            </a:extLst>
          </p:cNvPr>
          <p:cNvSpPr txBox="1"/>
          <p:nvPr/>
        </p:nvSpPr>
        <p:spPr>
          <a:xfrm>
            <a:off x="1577788" y="4009216"/>
            <a:ext cx="15511868" cy="5910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3200" b="1" dirty="0">
                <a:solidFill>
                  <a:srgbClr val="C00000"/>
                </a:solidFill>
              </a:rPr>
              <a:t>Principe</a:t>
            </a:r>
            <a:r>
              <a:rPr lang="fr-FR" sz="3200" dirty="0">
                <a:solidFill>
                  <a:srgbClr val="C00000"/>
                </a:solidFill>
              </a:rPr>
              <a:t> :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fr-FR" sz="3200" dirty="0"/>
              <a:t>Lorsqu’un client se connecte à un serveur, celui-ci présente son </a:t>
            </a:r>
            <a:r>
              <a:rPr lang="fr-FR" sz="3200" b="1" dirty="0"/>
              <a:t>certificat X.509</a:t>
            </a:r>
            <a:r>
              <a:rPr lang="fr-FR" sz="3200" dirty="0"/>
              <a:t>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fr-FR" sz="3200" dirty="0"/>
              <a:t>Le client vérifie que le certificat est signé par une AC de confiance.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fr-FR" sz="3200" dirty="0"/>
              <a:t>Une </a:t>
            </a:r>
            <a:r>
              <a:rPr lang="fr-FR" sz="3200" b="1" dirty="0"/>
              <a:t>négociation (</a:t>
            </a:r>
            <a:r>
              <a:rPr lang="fr-FR" sz="3200" b="1" dirty="0" err="1"/>
              <a:t>handshake</a:t>
            </a:r>
            <a:r>
              <a:rPr lang="fr-FR" sz="3200" b="1" dirty="0"/>
              <a:t>)</a:t>
            </a:r>
            <a:r>
              <a:rPr lang="fr-FR" sz="3200" dirty="0"/>
              <a:t> a lieu 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3200" dirty="0"/>
              <a:t>Échange des algorithmes supportés.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3200" dirty="0"/>
              <a:t>Vérification d’authenticité du serveur (et parfois du client).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3200" dirty="0"/>
              <a:t>Établissement d’une clé de session (chiffrement symétrique).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fr-FR" sz="3200" dirty="0"/>
              <a:t>Les données échangées sont ensuite chiffrées et protégées par cette clé.</a:t>
            </a:r>
          </a:p>
        </p:txBody>
      </p:sp>
    </p:spTree>
    <p:extLst>
      <p:ext uri="{BB962C8B-B14F-4D97-AF65-F5344CB8AC3E}">
        <p14:creationId xmlns:p14="http://schemas.microsoft.com/office/powerpoint/2010/main" val="36213691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612" y="512176"/>
            <a:ext cx="904240" cy="1033780"/>
          </a:xfrm>
          <a:custGeom>
            <a:avLst/>
            <a:gdLst/>
            <a:ahLst/>
            <a:cxnLst/>
            <a:rect l="l" t="t" r="r" b="b"/>
            <a:pathLst>
              <a:path w="904239" h="1033780">
                <a:moveTo>
                  <a:pt x="0" y="1033158"/>
                </a:moveTo>
                <a:lnTo>
                  <a:pt x="0" y="0"/>
                </a:lnTo>
                <a:lnTo>
                  <a:pt x="904014" y="516579"/>
                </a:lnTo>
                <a:lnTo>
                  <a:pt x="0" y="1033158"/>
                </a:lnTo>
                <a:close/>
              </a:path>
            </a:pathLst>
          </a:custGeom>
          <a:solidFill>
            <a:srgbClr val="B40C1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266532" y="465797"/>
            <a:ext cx="13811668" cy="1559728"/>
          </a:xfrm>
          <a:prstGeom prst="rect">
            <a:avLst/>
          </a:prstGeom>
        </p:spPr>
        <p:txBody>
          <a:bodyPr vert="horz" wrap="square" lIns="0" tIns="203524" rIns="0" bIns="0" rtlCol="0">
            <a:spAutoFit/>
          </a:bodyPr>
          <a:lstStyle/>
          <a:p>
            <a:pPr marL="298450">
              <a:lnSpc>
                <a:spcPct val="100000"/>
              </a:lnSpc>
              <a:spcBef>
                <a:spcPts val="140"/>
              </a:spcBef>
            </a:pPr>
            <a:r>
              <a:rPr lang="fr-FR" sz="4400" dirty="0"/>
              <a:t>Infrastructure</a:t>
            </a:r>
            <a:r>
              <a:rPr lang="fr-FR" sz="4400" spc="35" dirty="0"/>
              <a:t> </a:t>
            </a:r>
            <a:r>
              <a:rPr lang="fr-FR" sz="4400" dirty="0"/>
              <a:t>de</a:t>
            </a:r>
            <a:r>
              <a:rPr lang="fr-FR" sz="4400" spc="40" dirty="0"/>
              <a:t> </a:t>
            </a:r>
            <a:r>
              <a:rPr lang="fr-FR" sz="4400" dirty="0"/>
              <a:t>gestion</a:t>
            </a:r>
            <a:r>
              <a:rPr lang="fr-FR" sz="4400" spc="35" dirty="0"/>
              <a:t> </a:t>
            </a:r>
            <a:r>
              <a:rPr lang="fr-FR" sz="4400" dirty="0"/>
              <a:t>de</a:t>
            </a:r>
            <a:r>
              <a:rPr lang="fr-FR" sz="4400" spc="40" dirty="0"/>
              <a:t> </a:t>
            </a:r>
            <a:r>
              <a:rPr lang="fr-FR" sz="4400" dirty="0"/>
              <a:t>clés</a:t>
            </a:r>
            <a:r>
              <a:rPr lang="fr-FR" sz="4400" spc="35" dirty="0"/>
              <a:t> </a:t>
            </a:r>
            <a:r>
              <a:rPr lang="fr-FR" sz="4400" dirty="0"/>
              <a:t>:</a:t>
            </a:r>
            <a:r>
              <a:rPr lang="fr-FR" sz="4400" spc="40" dirty="0"/>
              <a:t> </a:t>
            </a:r>
            <a:r>
              <a:rPr lang="fr-FR" sz="4400" dirty="0"/>
              <a:t>Rôle dans SSL/TLS</a:t>
            </a:r>
            <a:endParaRPr sz="4400" spc="-10" dirty="0"/>
          </a:p>
        </p:txBody>
      </p:sp>
      <p:sp>
        <p:nvSpPr>
          <p:cNvPr id="7" name="object 7"/>
          <p:cNvSpPr txBox="1"/>
          <p:nvPr/>
        </p:nvSpPr>
        <p:spPr>
          <a:xfrm>
            <a:off x="1663294" y="3238500"/>
            <a:ext cx="15908778" cy="246958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200000"/>
              </a:lnSpc>
              <a:spcBef>
                <a:spcPts val="125"/>
              </a:spcBef>
            </a:pPr>
            <a:r>
              <a:rPr lang="fr-FR" sz="2800" b="1" dirty="0"/>
              <a:t>PKI</a:t>
            </a:r>
            <a:r>
              <a:rPr lang="fr-FR" sz="2800" dirty="0"/>
              <a:t> fournit le cadre de confiance nécessaire pour utiliser les certificats numériques. Elle gère leur cycle de vie et permet, grâce à des protocoles comme </a:t>
            </a:r>
            <a:r>
              <a:rPr lang="fr-FR" sz="2800" b="1" dirty="0"/>
              <a:t>SSL/TLS</a:t>
            </a:r>
            <a:r>
              <a:rPr lang="fr-FR" sz="2800" dirty="0"/>
              <a:t>, de sécuriser les échanges sur Internet (HTTPS, VPN, messageries sécurisées, etc.).</a:t>
            </a:r>
            <a:endParaRPr sz="2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389510" y="9554081"/>
            <a:ext cx="365125" cy="35433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z="1900" spc="-25" dirty="0">
                <a:latin typeface="Lucida Sans Unicode"/>
                <a:cs typeface="Lucida Sans Unicode"/>
              </a:rPr>
              <a:t>38</a:t>
            </a:fld>
            <a:endParaRPr sz="1900">
              <a:latin typeface="Lucida Sans Unicode"/>
              <a:cs typeface="Lucida Sans Unicode"/>
            </a:endParaRPr>
          </a:p>
        </p:txBody>
      </p:sp>
    </p:spTree>
    <p:extLst>
      <p:ext uri="{BB962C8B-B14F-4D97-AF65-F5344CB8AC3E}">
        <p14:creationId xmlns:p14="http://schemas.microsoft.com/office/powerpoint/2010/main" val="35577699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44910" y="4026757"/>
            <a:ext cx="4950460" cy="9848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6300" spc="-90" dirty="0">
                <a:latin typeface="Times New Roman"/>
                <a:cs typeface="Times New Roman"/>
              </a:rPr>
              <a:t>Fin</a:t>
            </a:r>
            <a:r>
              <a:rPr sz="6300" spc="-295" dirty="0">
                <a:latin typeface="Times New Roman"/>
                <a:cs typeface="Times New Roman"/>
              </a:rPr>
              <a:t> </a:t>
            </a:r>
            <a:r>
              <a:rPr sz="6300" spc="-85" dirty="0">
                <a:latin typeface="Times New Roman"/>
                <a:cs typeface="Times New Roman"/>
              </a:rPr>
              <a:t>de</a:t>
            </a:r>
            <a:r>
              <a:rPr sz="6300" spc="-295" dirty="0">
                <a:latin typeface="Times New Roman"/>
                <a:cs typeface="Times New Roman"/>
              </a:rPr>
              <a:t> </a:t>
            </a:r>
            <a:r>
              <a:rPr sz="6300" spc="-145" dirty="0">
                <a:latin typeface="Times New Roman"/>
                <a:cs typeface="Times New Roman"/>
              </a:rPr>
              <a:t>chapitre</a:t>
            </a:r>
            <a:endParaRPr sz="6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2351</Words>
  <Application>Microsoft Office PowerPoint</Application>
  <PresentationFormat>Personnalisé</PresentationFormat>
  <Paragraphs>316</Paragraphs>
  <Slides>39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39</vt:i4>
      </vt:variant>
    </vt:vector>
  </HeadingPairs>
  <TitlesOfParts>
    <vt:vector size="46" baseType="lpstr">
      <vt:lpstr>Arial</vt:lpstr>
      <vt:lpstr>Arial Black</vt:lpstr>
      <vt:lpstr>Lucida Sans Unicode</vt:lpstr>
      <vt:lpstr>Roboto</vt:lpstr>
      <vt:lpstr>Times New Roman</vt:lpstr>
      <vt:lpstr>Trebuchet MS</vt:lpstr>
      <vt:lpstr>Office Theme</vt:lpstr>
      <vt:lpstr>Module : Sécurité Informatique</vt:lpstr>
      <vt:lpstr>Plan du chapitre</vt:lpstr>
      <vt:lpstr>Introduction</vt:lpstr>
      <vt:lpstr>Introduction à la cryptographie</vt:lpstr>
      <vt:lpstr>Moyens cryptographiques</vt:lpstr>
      <vt:lpstr>Principes fondamentaux du chiffrement</vt:lpstr>
      <vt:lpstr>Les types de chiffrement</vt:lpstr>
      <vt:lpstr>Le chiffrement symétrique</vt:lpstr>
      <vt:lpstr>Avantages et limites du chiffrement symétrique</vt:lpstr>
      <vt:lpstr>Le chiffrement Asymétrique</vt:lpstr>
      <vt:lpstr>Le chiffrement Asymétrique : Principe de fonctionnement</vt:lpstr>
      <vt:lpstr>Avantages et limites du chiffrement Asymétrique</vt:lpstr>
      <vt:lpstr>Scénario d’utilisation : La confidentialité</vt:lpstr>
      <vt:lpstr>Scénario d’utilisation : l’Authentification et la non-répudiation d’envoi</vt:lpstr>
      <vt:lpstr>Le chiffrement hybride</vt:lpstr>
      <vt:lpstr>Le chiffrement hybride : Principe de fonctionnement</vt:lpstr>
      <vt:lpstr>Avantages et limites du chiffrement hybride</vt:lpstr>
      <vt:lpstr>Les fonctions de hachage</vt:lpstr>
      <vt:lpstr>Les fonctions de hachage : Utilisations principales</vt:lpstr>
      <vt:lpstr>Les fonctions de hachage : Exemple d’algorithmes</vt:lpstr>
      <vt:lpstr>La signature numérique</vt:lpstr>
      <vt:lpstr>La signature numérique : Principe de fonctionnement</vt:lpstr>
      <vt:lpstr>La signature numérique : Principe de fonctionnement</vt:lpstr>
      <vt:lpstr>La signature numérique : Principe de fonctionnement</vt:lpstr>
      <vt:lpstr>La signature numérique : Principe de fonctionnement</vt:lpstr>
      <vt:lpstr>Le certificat numérique</vt:lpstr>
      <vt:lpstr>Le certificat numérique</vt:lpstr>
      <vt:lpstr>Le certificat numérique : Autorité de Certification (CA)</vt:lpstr>
      <vt:lpstr>Le certificat numérique : Gestion de la validité</vt:lpstr>
      <vt:lpstr>Infrastructure de gestion de clés</vt:lpstr>
      <vt:lpstr>Infrastructure de gestion de clés : Demande de certificat</vt:lpstr>
      <vt:lpstr>Infrastructure de gestion de clés : Demande de certificat</vt:lpstr>
      <vt:lpstr>Infrastructure de gestion de clés : Demande de certificat</vt:lpstr>
      <vt:lpstr>Infrastructure de gestion de clés : Demande de certificat</vt:lpstr>
      <vt:lpstr>Infrastructure de gestion de clés : Demande de certificat</vt:lpstr>
      <vt:lpstr>Infrastructure de gestion de clés : Les avantages</vt:lpstr>
      <vt:lpstr>Infrastructure de gestion de clés : Rôle dans SSL/TLS</vt:lpstr>
      <vt:lpstr>Infrastructure de gestion de clés : Rôle dans SSL/TLS</vt:lpstr>
      <vt:lpstr>Fin de chapitre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4ème Année Esprit 2024/2025</dc:title>
  <dc:creator>Nawel hammami</dc:creator>
  <cp:keywords>DAGy2dxHU5k,BAFOuHbehSo,0</cp:keywords>
  <cp:lastModifiedBy>ksentini amel</cp:lastModifiedBy>
  <cp:revision>5</cp:revision>
  <dcterms:created xsi:type="dcterms:W3CDTF">2025-09-17T15:02:56Z</dcterms:created>
  <dcterms:modified xsi:type="dcterms:W3CDTF">2025-10-19T18:02:27Z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2025-09-17T00:00:00Z</vt:filetime>
  </property>
  <property fmtid="{D5CDD505-2E9C-101B-9397-08002B2CF9AE}" pid="3" name="Creator">
    <vt:lpwstr>Canva</vt:lpwstr>
  </property>
  <property fmtid="{D5CDD505-2E9C-101B-9397-08002B2CF9AE}" pid="4" name="LastSaved">
    <vt:filetime>2025-09-17T00:00:00Z</vt:filetime>
  </property>
  <property fmtid="{D5CDD505-2E9C-101B-9397-08002B2CF9AE}" pid="5" name="Producer">
    <vt:lpwstr>Canva</vt:lpwstr>
  </property>
</Properties>
</file>